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6"/>
  </p:notesMasterIdLst>
  <p:handoutMasterIdLst>
    <p:handoutMasterId r:id="rId107"/>
  </p:handoutMasterIdLst>
  <p:sldIdLst>
    <p:sldId id="256" r:id="rId2"/>
    <p:sldId id="562" r:id="rId3"/>
    <p:sldId id="527" r:id="rId4"/>
    <p:sldId id="648" r:id="rId5"/>
    <p:sldId id="404" r:id="rId6"/>
    <p:sldId id="649" r:id="rId7"/>
    <p:sldId id="657" r:id="rId8"/>
    <p:sldId id="708" r:id="rId9"/>
    <p:sldId id="709" r:id="rId10"/>
    <p:sldId id="721" r:id="rId11"/>
    <p:sldId id="722" r:id="rId12"/>
    <p:sldId id="723" r:id="rId13"/>
    <p:sldId id="710" r:id="rId14"/>
    <p:sldId id="711" r:id="rId15"/>
    <p:sldId id="713" r:id="rId16"/>
    <p:sldId id="650" r:id="rId17"/>
    <p:sldId id="716" r:id="rId18"/>
    <p:sldId id="771" r:id="rId19"/>
    <p:sldId id="770" r:id="rId20"/>
    <p:sldId id="717" r:id="rId21"/>
    <p:sldId id="724" r:id="rId22"/>
    <p:sldId id="714" r:id="rId23"/>
    <p:sldId id="715" r:id="rId24"/>
    <p:sldId id="667" r:id="rId25"/>
    <p:sldId id="668" r:id="rId26"/>
    <p:sldId id="669" r:id="rId27"/>
    <p:sldId id="670" r:id="rId28"/>
    <p:sldId id="671" r:id="rId29"/>
    <p:sldId id="672" r:id="rId30"/>
    <p:sldId id="673" r:id="rId31"/>
    <p:sldId id="779" r:id="rId32"/>
    <p:sldId id="674" r:id="rId33"/>
    <p:sldId id="725" r:id="rId34"/>
    <p:sldId id="726" r:id="rId35"/>
    <p:sldId id="727" r:id="rId36"/>
    <p:sldId id="728" r:id="rId37"/>
    <p:sldId id="774" r:id="rId38"/>
    <p:sldId id="775" r:id="rId39"/>
    <p:sldId id="705" r:id="rId40"/>
    <p:sldId id="731" r:id="rId41"/>
    <p:sldId id="729" r:id="rId42"/>
    <p:sldId id="677" r:id="rId43"/>
    <p:sldId id="732" r:id="rId44"/>
    <p:sldId id="678" r:id="rId45"/>
    <p:sldId id="679" r:id="rId46"/>
    <p:sldId id="681" r:id="rId47"/>
    <p:sldId id="730" r:id="rId48"/>
    <p:sldId id="682" r:id="rId49"/>
    <p:sldId id="777" r:id="rId50"/>
    <p:sldId id="683" r:id="rId51"/>
    <p:sldId id="684" r:id="rId52"/>
    <p:sldId id="685" r:id="rId53"/>
    <p:sldId id="687" r:id="rId54"/>
    <p:sldId id="688" r:id="rId55"/>
    <p:sldId id="689" r:id="rId56"/>
    <p:sldId id="659" r:id="rId57"/>
    <p:sldId id="690" r:id="rId58"/>
    <p:sldId id="691" r:id="rId59"/>
    <p:sldId id="692" r:id="rId60"/>
    <p:sldId id="693" r:id="rId61"/>
    <p:sldId id="733" r:id="rId62"/>
    <p:sldId id="734" r:id="rId63"/>
    <p:sldId id="780" r:id="rId64"/>
    <p:sldId id="694" r:id="rId65"/>
    <p:sldId id="695" r:id="rId66"/>
    <p:sldId id="696" r:id="rId67"/>
    <p:sldId id="408" r:id="rId68"/>
    <p:sldId id="654" r:id="rId69"/>
    <p:sldId id="697" r:id="rId70"/>
    <p:sldId id="698" r:id="rId71"/>
    <p:sldId id="736" r:id="rId72"/>
    <p:sldId id="735" r:id="rId73"/>
    <p:sldId id="737" r:id="rId74"/>
    <p:sldId id="745" r:id="rId75"/>
    <p:sldId id="738" r:id="rId76"/>
    <p:sldId id="739" r:id="rId77"/>
    <p:sldId id="740" r:id="rId78"/>
    <p:sldId id="741" r:id="rId79"/>
    <p:sldId id="746" r:id="rId80"/>
    <p:sldId id="747" r:id="rId81"/>
    <p:sldId id="742" r:id="rId82"/>
    <p:sldId id="743" r:id="rId83"/>
    <p:sldId id="748" r:id="rId84"/>
    <p:sldId id="744" r:id="rId85"/>
    <p:sldId id="655" r:id="rId86"/>
    <p:sldId id="700" r:id="rId87"/>
    <p:sldId id="701" r:id="rId88"/>
    <p:sldId id="702" r:id="rId89"/>
    <p:sldId id="750" r:id="rId90"/>
    <p:sldId id="751" r:id="rId91"/>
    <p:sldId id="753" r:id="rId92"/>
    <p:sldId id="752" r:id="rId93"/>
    <p:sldId id="755" r:id="rId94"/>
    <p:sldId id="760" r:id="rId95"/>
    <p:sldId id="757" r:id="rId96"/>
    <p:sldId id="758" r:id="rId97"/>
    <p:sldId id="759" r:id="rId98"/>
    <p:sldId id="761" r:id="rId99"/>
    <p:sldId id="762" r:id="rId100"/>
    <p:sldId id="763" r:id="rId101"/>
    <p:sldId id="764" r:id="rId102"/>
    <p:sldId id="704" r:id="rId103"/>
    <p:sldId id="765" r:id="rId104"/>
    <p:sldId id="414" r:id="rId105"/>
  </p:sldIdLst>
  <p:sldSz cx="9144000" cy="6858000" type="screen4x3"/>
  <p:notesSz cx="6648450" cy="9782175"/>
  <p:custDataLst>
    <p:tags r:id="rId108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buClr>
        <a:srgbClr val="800080"/>
      </a:buClr>
      <a:buFont typeface="Wingdings" panose="05000000000000000000" pitchFamily="2" charset="2"/>
      <a:buChar char="²"/>
      <a:defRPr kumimoji="1" sz="2400" kern="1200">
        <a:solidFill>
          <a:srgbClr val="333399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Clr>
        <a:srgbClr val="800080"/>
      </a:buClr>
      <a:buFont typeface="Wingdings" panose="05000000000000000000" pitchFamily="2" charset="2"/>
      <a:buChar char="²"/>
      <a:defRPr kumimoji="1" sz="2400" kern="1200">
        <a:solidFill>
          <a:srgbClr val="333399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Clr>
        <a:srgbClr val="800080"/>
      </a:buClr>
      <a:buFont typeface="Wingdings" panose="05000000000000000000" pitchFamily="2" charset="2"/>
      <a:buChar char="²"/>
      <a:defRPr kumimoji="1" sz="2400" kern="1200">
        <a:solidFill>
          <a:srgbClr val="333399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Clr>
        <a:srgbClr val="800080"/>
      </a:buClr>
      <a:buFont typeface="Wingdings" panose="05000000000000000000" pitchFamily="2" charset="2"/>
      <a:buChar char="²"/>
      <a:defRPr kumimoji="1" sz="2400" kern="1200">
        <a:solidFill>
          <a:srgbClr val="333399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Clr>
        <a:srgbClr val="800080"/>
      </a:buClr>
      <a:buFont typeface="Wingdings" panose="05000000000000000000" pitchFamily="2" charset="2"/>
      <a:buChar char="²"/>
      <a:defRPr kumimoji="1" sz="2400" kern="1200">
        <a:solidFill>
          <a:srgbClr val="333399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rgbClr val="333399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rgbClr val="333399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rgbClr val="333399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rgbClr val="333399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69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99"/>
    <a:srgbClr val="00FF00"/>
    <a:srgbClr val="990099"/>
    <a:srgbClr val="CC66FF"/>
    <a:srgbClr val="CC99FF"/>
    <a:srgbClr val="993366"/>
    <a:srgbClr val="800080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51" autoAdjust="0"/>
    <p:restoredTop sz="99818" autoAdjust="0"/>
  </p:normalViewPr>
  <p:slideViewPr>
    <p:cSldViewPr>
      <p:cViewPr varScale="1">
        <p:scale>
          <a:sx n="99" d="100"/>
          <a:sy n="99" d="100"/>
        </p:scale>
        <p:origin x="820" y="68"/>
      </p:cViewPr>
      <p:guideLst>
        <p:guide orient="horz" pos="2160"/>
        <p:guide pos="269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1638" y="-84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handoutMaster" Target="handoutMasters/handoutMaster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ags" Target="tags/tag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presProps" Target="pres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buClrTx/>
              <a:buFontTx/>
              <a:buNone/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buClrTx/>
              <a:buFontTx/>
              <a:buNone/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buClrTx/>
              <a:buFontTx/>
              <a:buNone/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buClrTx/>
              <a:buFontTx/>
              <a:buNone/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3425F13B-4451-4E05-962E-F65A91692F20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9475" y="733425"/>
            <a:ext cx="4889500" cy="3668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4" name="Line 1038"/>
          <p:cNvSpPr>
            <a:spLocks noChangeShapeType="1"/>
          </p:cNvSpPr>
          <p:nvPr userDrawn="1"/>
        </p:nvSpPr>
        <p:spPr bwMode="auto">
          <a:xfrm>
            <a:off x="945207" y="981075"/>
            <a:ext cx="7515225" cy="9525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/>
          </a:p>
        </p:txBody>
      </p:sp>
      <p:sp>
        <p:nvSpPr>
          <p:cNvPr id="5137" name="AutoShape 1041"/>
          <p:cNvSpPr>
            <a:spLocks noChangeArrowheads="1"/>
          </p:cNvSpPr>
          <p:nvPr userDrawn="1"/>
        </p:nvSpPr>
        <p:spPr bwMode="auto">
          <a:xfrm>
            <a:off x="1116013" y="188913"/>
            <a:ext cx="3311525" cy="6477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pPr algn="ctr">
              <a:buClrTx/>
              <a:buFontTx/>
              <a:buNone/>
            </a:pPr>
            <a:endParaRPr lang="zh-CN" altLang="zh-CN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wipe dir="r"/>
  </p:transition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kumimoji="1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7" Type="http://schemas.openxmlformats.org/officeDocument/2006/relationships/slide" Target="slide104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02.xml"/><Relationship Id="rId5" Type="http://schemas.openxmlformats.org/officeDocument/2006/relationships/slide" Target="slide98.xml"/><Relationship Id="rId4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7" Type="http://schemas.openxmlformats.org/officeDocument/2006/relationships/slide" Target="slide8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4.xml"/><Relationship Id="rId5" Type="http://schemas.openxmlformats.org/officeDocument/2006/relationships/slide" Target="slide37.xml"/><Relationship Id="rId4" Type="http://schemas.openxmlformats.org/officeDocument/2006/relationships/slide" Target="slide5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6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7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8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2" name="Text Box 14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731875" y="2924944"/>
            <a:ext cx="7416800" cy="6463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buNone/>
            </a:pPr>
            <a:r>
              <a:rPr lang="zh-CN" altLang="en-US" sz="3600" b="1" dirty="0">
                <a:solidFill>
                  <a:srgbClr val="800080"/>
                </a:solidFill>
                <a:latin typeface="楷体_GB2312" pitchFamily="49" charset="-122"/>
              </a:rPr>
              <a:t>第六章 </a:t>
            </a:r>
            <a:r>
              <a:rPr lang="en-US" altLang="zh-CN" sz="3600" b="1" dirty="0">
                <a:solidFill>
                  <a:srgbClr val="800080"/>
                </a:solidFill>
                <a:latin typeface="楷体_GB2312" pitchFamily="49" charset="-122"/>
              </a:rPr>
              <a:t>LR</a:t>
            </a:r>
            <a:r>
              <a:rPr lang="zh-CN" altLang="en-US" sz="3600" b="1" dirty="0">
                <a:solidFill>
                  <a:srgbClr val="800080"/>
                </a:solidFill>
                <a:latin typeface="楷体_GB2312" pitchFamily="49" charset="-122"/>
              </a:rPr>
              <a:t>分析</a:t>
            </a:r>
          </a:p>
        </p:txBody>
      </p:sp>
    </p:spTree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001" name="Text Box 9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042988" y="2128838"/>
            <a:ext cx="5033962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3200" b="1" dirty="0">
                <a:solidFill>
                  <a:srgbClr val="800080"/>
                </a:solidFill>
              </a:rPr>
              <a:t> </a:t>
            </a:r>
            <a:r>
              <a:rPr lang="zh-CN" altLang="en-US" sz="3200" b="1" dirty="0">
                <a:solidFill>
                  <a:srgbClr val="800080"/>
                </a:solidFill>
              </a:rPr>
              <a:t>移进</a:t>
            </a:r>
            <a:r>
              <a:rPr lang="zh-CN" altLang="en-US" sz="3200" b="1" dirty="0">
                <a:solidFill>
                  <a:srgbClr val="800080"/>
                </a:solidFill>
                <a:sym typeface="Symbol" panose="05050102010706020507" pitchFamily="18" charset="2"/>
              </a:rPr>
              <a:t></a:t>
            </a:r>
            <a:r>
              <a:rPr lang="zh-CN" altLang="en-US" sz="3200" b="1" dirty="0">
                <a:solidFill>
                  <a:srgbClr val="800080"/>
                </a:solidFill>
              </a:rPr>
              <a:t>归约分析</a:t>
            </a:r>
          </a:p>
        </p:txBody>
      </p:sp>
      <p:sp>
        <p:nvSpPr>
          <p:cNvPr id="341002" name="Text Box 10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1042988" y="2852738"/>
            <a:ext cx="4384675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rgbClr val="800080"/>
                </a:solidFill>
              </a:rPr>
              <a:t>  </a:t>
            </a:r>
            <a:r>
              <a:rPr lang="en-US" altLang="zh-CN" sz="3200">
                <a:solidFill>
                  <a:srgbClr val="800080"/>
                </a:solidFill>
              </a:rPr>
              <a:t>LR</a:t>
            </a: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zh-CN" altLang="en-US" sz="3200" b="1">
                <a:solidFill>
                  <a:srgbClr val="800080"/>
                </a:solidFill>
              </a:rPr>
              <a:t>分析</a:t>
            </a:r>
          </a:p>
        </p:txBody>
      </p:sp>
      <p:sp>
        <p:nvSpPr>
          <p:cNvPr id="341003" name="Rectangle 11"/>
          <p:cNvSpPr>
            <a:spLocks noChangeArrowheads="1"/>
          </p:cNvSpPr>
          <p:nvPr/>
        </p:nvSpPr>
        <p:spPr bwMode="auto">
          <a:xfrm>
            <a:off x="35496" y="188913"/>
            <a:ext cx="4248150" cy="66172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zh-CN" altLang="en-US" sz="4000" b="1" dirty="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主要内容</a:t>
            </a:r>
          </a:p>
        </p:txBody>
      </p:sp>
      <p:sp>
        <p:nvSpPr>
          <p:cNvPr id="341004" name="Text Box 12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1042988" y="1412875"/>
            <a:ext cx="5176837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3200" b="1" dirty="0">
                <a:solidFill>
                  <a:srgbClr val="800080"/>
                </a:solidFill>
              </a:rPr>
              <a:t> </a:t>
            </a:r>
            <a:r>
              <a:rPr lang="zh-CN" altLang="en-US" sz="3200" b="1" dirty="0">
                <a:solidFill>
                  <a:srgbClr val="800080"/>
                </a:solidFill>
              </a:rPr>
              <a:t>自底向上分析思想的回顾</a:t>
            </a:r>
          </a:p>
        </p:txBody>
      </p:sp>
      <p:sp>
        <p:nvSpPr>
          <p:cNvPr id="341006" name="Text Box 14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1042988" y="3570288"/>
            <a:ext cx="6121400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rgbClr val="800080"/>
                </a:solidFill>
              </a:rPr>
              <a:t>  </a:t>
            </a:r>
            <a:r>
              <a:rPr lang="zh-CN" altLang="en-US" sz="3200" b="1">
                <a:solidFill>
                  <a:srgbClr val="800080"/>
                </a:solidFill>
              </a:rPr>
              <a:t>二义文法在</a:t>
            </a:r>
            <a:r>
              <a:rPr lang="en-US" altLang="zh-CN" sz="3200">
                <a:solidFill>
                  <a:srgbClr val="800080"/>
                </a:solidFill>
              </a:rPr>
              <a:t>LR</a:t>
            </a: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zh-CN" altLang="en-US" sz="3200" b="1">
                <a:solidFill>
                  <a:srgbClr val="800080"/>
                </a:solidFill>
              </a:rPr>
              <a:t>分析中的应用</a:t>
            </a:r>
          </a:p>
        </p:txBody>
      </p:sp>
      <p:sp>
        <p:nvSpPr>
          <p:cNvPr id="341007" name="AutoShape 1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1008" name="AutoShape 1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1009" name="AutoShape 1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1010" name="AutoShape 1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1012" name="Text Box 20">
            <a:hlinkClick r:id="rId6" action="ppaction://hlinksldjump"/>
          </p:cNvPr>
          <p:cNvSpPr txBox="1">
            <a:spLocks noChangeArrowheads="1"/>
          </p:cNvSpPr>
          <p:nvPr/>
        </p:nvSpPr>
        <p:spPr bwMode="auto">
          <a:xfrm>
            <a:off x="1042988" y="4289425"/>
            <a:ext cx="5724525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3200" b="1" dirty="0">
                <a:solidFill>
                  <a:srgbClr val="800080"/>
                </a:solidFill>
              </a:rPr>
              <a:t>  </a:t>
            </a:r>
            <a:r>
              <a:rPr lang="en-US" altLang="zh-CN" sz="3200" dirty="0">
                <a:solidFill>
                  <a:srgbClr val="800080"/>
                </a:solidFill>
              </a:rPr>
              <a:t>LR </a:t>
            </a:r>
            <a:r>
              <a:rPr lang="zh-CN" altLang="en-US" sz="3200" b="1" dirty="0">
                <a:solidFill>
                  <a:srgbClr val="800080"/>
                </a:solidFill>
              </a:rPr>
              <a:t>分析中的出错处理</a:t>
            </a:r>
          </a:p>
        </p:txBody>
      </p:sp>
      <p:sp>
        <p:nvSpPr>
          <p:cNvPr id="13" name="Text Box 21">
            <a:hlinkClick r:id="rId7" action="ppaction://hlinksldjump"/>
          </p:cNvPr>
          <p:cNvSpPr txBox="1">
            <a:spLocks noChangeArrowheads="1"/>
          </p:cNvSpPr>
          <p:nvPr/>
        </p:nvSpPr>
        <p:spPr bwMode="auto">
          <a:xfrm>
            <a:off x="1042988" y="5013176"/>
            <a:ext cx="8101012" cy="584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800080"/>
                </a:solidFill>
              </a:rPr>
              <a:t> </a:t>
            </a:r>
            <a:r>
              <a:rPr lang="zh-CN" altLang="en-US" sz="3200" b="1" dirty="0">
                <a:solidFill>
                  <a:srgbClr val="800080"/>
                </a:solidFill>
              </a:rPr>
              <a:t>几类分析文法之间的关系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76" name="Rectangle 24"/>
          <p:cNvSpPr>
            <a:spLocks noChangeArrowheads="1"/>
          </p:cNvSpPr>
          <p:nvPr/>
        </p:nvSpPr>
        <p:spPr bwMode="auto">
          <a:xfrm>
            <a:off x="1116013" y="2068513"/>
            <a:ext cx="7677150" cy="43926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anose="05050102010706020507" pitchFamily="18" charset="2"/>
              <a:buChar char="-"/>
            </a:pPr>
            <a:r>
              <a:rPr lang="en-US" altLang="zh-CN" sz="2800" b="1" dirty="0">
                <a:solidFill>
                  <a:srgbClr val="800080"/>
                </a:solidFill>
              </a:rPr>
              <a:t>  </a:t>
            </a:r>
            <a:r>
              <a:rPr lang="zh-CN" altLang="en-US" sz="2800" b="1" dirty="0">
                <a:solidFill>
                  <a:srgbClr val="800080"/>
                </a:solidFill>
              </a:rPr>
              <a:t>从所要分析的终结符串开始</a:t>
            </a:r>
            <a:r>
              <a:rPr lang="zh-CN" altLang="en-US" sz="2800" b="1" dirty="0"/>
              <a:t>进行归约；</a:t>
            </a:r>
          </a:p>
          <a:p>
            <a:pPr>
              <a:buClrTx/>
              <a:buFont typeface="Symbol" panose="05050102010706020507" pitchFamily="18" charset="2"/>
              <a:buNone/>
            </a:pPr>
            <a:endParaRPr lang="zh-CN" altLang="en-US" sz="1000" b="1" dirty="0"/>
          </a:p>
          <a:p>
            <a:pPr>
              <a:buFont typeface="Symbol" panose="05050102010706020507" pitchFamily="18" charset="2"/>
              <a:buChar char="-"/>
            </a:pPr>
            <a:r>
              <a:rPr lang="zh-CN" altLang="en-US" sz="2800" b="1" dirty="0"/>
              <a:t>  </a:t>
            </a:r>
            <a:r>
              <a:rPr lang="zh-CN" altLang="en-US" sz="2800" b="1" dirty="0">
                <a:solidFill>
                  <a:srgbClr val="800080"/>
                </a:solidFill>
              </a:rPr>
              <a:t>每一步归约</a:t>
            </a:r>
            <a:r>
              <a:rPr lang="zh-CN" altLang="en-US" sz="2800" b="1" dirty="0"/>
              <a:t>是在当前串中找到与某个产生式</a:t>
            </a:r>
          </a:p>
          <a:p>
            <a:pPr>
              <a:buClrTx/>
              <a:buFont typeface="Symbol" panose="05050102010706020507" pitchFamily="18" charset="2"/>
              <a:buNone/>
            </a:pPr>
            <a:r>
              <a:rPr lang="zh-CN" altLang="en-US" sz="2800" b="1" dirty="0"/>
              <a:t>    的右部相匹配的子串，然后将该子串用这一</a:t>
            </a:r>
          </a:p>
          <a:p>
            <a:pPr>
              <a:buClrTx/>
              <a:buFont typeface="Symbol" panose="05050102010706020507" pitchFamily="18" charset="2"/>
              <a:buNone/>
            </a:pPr>
            <a:r>
              <a:rPr lang="zh-CN" altLang="en-US" sz="2800" b="1" dirty="0"/>
              <a:t>    产生式的左部非终结符进行替换；如果找不</a:t>
            </a:r>
          </a:p>
          <a:p>
            <a:pPr>
              <a:buClrTx/>
              <a:buFont typeface="Symbol" panose="05050102010706020507" pitchFamily="18" charset="2"/>
              <a:buNone/>
            </a:pPr>
            <a:r>
              <a:rPr lang="zh-CN" altLang="en-US" sz="2800" b="1" dirty="0"/>
              <a:t>    到这样的子串，则回退到上一步归约前的状</a:t>
            </a:r>
          </a:p>
          <a:p>
            <a:pPr>
              <a:buClrTx/>
              <a:buFont typeface="Symbol" panose="05050102010706020507" pitchFamily="18" charset="2"/>
              <a:buNone/>
            </a:pPr>
            <a:r>
              <a:rPr lang="zh-CN" altLang="en-US" sz="2800" b="1" dirty="0"/>
              <a:t>    态，选择不同的子串或不同的产生式重试；</a:t>
            </a:r>
          </a:p>
          <a:p>
            <a:pPr>
              <a:buFont typeface="Symbol" panose="05050102010706020507" pitchFamily="18" charset="2"/>
              <a:buNone/>
            </a:pPr>
            <a:endParaRPr lang="zh-CN" altLang="en-US" sz="1000" b="1" dirty="0"/>
          </a:p>
          <a:p>
            <a:pPr>
              <a:buFont typeface="Symbol" panose="05050102010706020507" pitchFamily="18" charset="2"/>
              <a:buChar char="-"/>
            </a:pPr>
            <a:r>
              <a:rPr lang="zh-CN" altLang="en-US" sz="2800" b="1" dirty="0">
                <a:latin typeface="楷体_GB2312" pitchFamily="49" charset="-122"/>
              </a:rPr>
              <a:t> 重复上一步骤，直到</a:t>
            </a:r>
            <a:r>
              <a:rPr lang="zh-CN" altLang="en-US" sz="2800" b="1" dirty="0">
                <a:solidFill>
                  <a:srgbClr val="800080"/>
                </a:solidFill>
                <a:latin typeface="楷体_GB2312" pitchFamily="49" charset="-122"/>
              </a:rPr>
              <a:t>归约至文法开始符号</a:t>
            </a:r>
            <a:r>
              <a:rPr lang="zh-CN" altLang="en-US" sz="2800" b="1" dirty="0">
                <a:latin typeface="楷体_GB2312" pitchFamily="49" charset="-122"/>
              </a:rPr>
              <a:t>；</a:t>
            </a:r>
          </a:p>
          <a:p>
            <a:pPr>
              <a:buFont typeface="Symbol" panose="05050102010706020507" pitchFamily="18" charset="2"/>
              <a:buNone/>
            </a:pPr>
            <a:endParaRPr lang="zh-CN" altLang="en-US" sz="1000" b="1" dirty="0">
              <a:latin typeface="楷体_GB2312" pitchFamily="49" charset="-122"/>
            </a:endParaRPr>
          </a:p>
          <a:p>
            <a:pPr>
              <a:buFont typeface="Symbol" panose="05050102010706020507" pitchFamily="18" charset="2"/>
              <a:buChar char="-"/>
            </a:pPr>
            <a:r>
              <a:rPr lang="zh-CN" altLang="en-US" sz="2800" b="1" dirty="0">
                <a:latin typeface="楷体_GB2312" pitchFamily="49" charset="-122"/>
              </a:rPr>
              <a:t> 如果不存在任何一个这样的归约，则表明该</a:t>
            </a:r>
          </a:p>
          <a:p>
            <a:pPr>
              <a:buFont typeface="Symbol" panose="05050102010706020507" pitchFamily="18" charset="2"/>
              <a:buNone/>
            </a:pPr>
            <a:r>
              <a:rPr lang="zh-CN" altLang="en-US" sz="2800" b="1" dirty="0">
                <a:latin typeface="楷体_GB2312" pitchFamily="49" charset="-122"/>
              </a:rPr>
              <a:t>  终结符串存在语法错误</a:t>
            </a:r>
          </a:p>
        </p:txBody>
      </p:sp>
      <p:sp>
        <p:nvSpPr>
          <p:cNvPr id="305178" name="Text Box 26"/>
          <p:cNvSpPr txBox="1">
            <a:spLocks noChangeArrowheads="1"/>
          </p:cNvSpPr>
          <p:nvPr/>
        </p:nvSpPr>
        <p:spPr bwMode="auto">
          <a:xfrm>
            <a:off x="755650" y="1265238"/>
            <a:ext cx="7129463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3200" b="1">
                <a:solidFill>
                  <a:srgbClr val="800080"/>
                </a:solidFill>
                <a:latin typeface="楷体_GB2312" pitchFamily="49" charset="-122"/>
              </a:rPr>
              <a:t>自底向上分析的一般过程</a:t>
            </a:r>
          </a:p>
        </p:txBody>
      </p:sp>
      <p:sp>
        <p:nvSpPr>
          <p:cNvPr id="305179" name="AutoShape 2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5180" name="AutoShape 2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5181" name="AutoShape 2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5182" name="AutoShape 3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5185" name="Rectangle 33"/>
          <p:cNvSpPr>
            <a:spLocks noChangeArrowheads="1"/>
          </p:cNvSpPr>
          <p:nvPr/>
        </p:nvSpPr>
        <p:spPr bwMode="auto">
          <a:xfrm>
            <a:off x="-252536" y="188913"/>
            <a:ext cx="6048672" cy="66172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自底向上分析思想的回顾</a:t>
            </a: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302" name="Text Box 6"/>
          <p:cNvSpPr txBox="1">
            <a:spLocks noChangeArrowheads="1"/>
          </p:cNvSpPr>
          <p:nvPr/>
        </p:nvSpPr>
        <p:spPr bwMode="auto">
          <a:xfrm>
            <a:off x="755650" y="1409700"/>
            <a:ext cx="7129463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3200" b="1">
                <a:solidFill>
                  <a:srgbClr val="800080"/>
                </a:solidFill>
                <a:latin typeface="楷体_GB2312" pitchFamily="49" charset="-122"/>
              </a:rPr>
              <a:t>自底向上分析举例</a:t>
            </a:r>
          </a:p>
        </p:txBody>
      </p:sp>
      <p:sp>
        <p:nvSpPr>
          <p:cNvPr id="439303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9304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9305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9306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9307" name="Rectangle 11"/>
          <p:cNvSpPr>
            <a:spLocks noChangeArrowheads="1"/>
          </p:cNvSpPr>
          <p:nvPr/>
        </p:nvSpPr>
        <p:spPr bwMode="auto">
          <a:xfrm>
            <a:off x="4284663" y="2997200"/>
            <a:ext cx="4535487" cy="26479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/>
              <a:t>    aaab            </a:t>
            </a:r>
            <a:r>
              <a:rPr lang="zh-CN" altLang="en-US"/>
              <a:t>（</a:t>
            </a:r>
            <a:r>
              <a:rPr lang="en-US" altLang="zh-CN"/>
              <a:t>A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</a:t>
            </a:r>
            <a:r>
              <a:rPr lang="zh-CN" altLang="en-US"/>
              <a:t>）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>
                <a:sym typeface="Symbol" panose="05050102010706020507" pitchFamily="18" charset="2"/>
              </a:rPr>
              <a:t> </a:t>
            </a:r>
            <a:r>
              <a:rPr lang="en-US" altLang="zh-CN"/>
              <a:t>aaaAb         </a:t>
            </a:r>
            <a:r>
              <a:rPr lang="zh-CN" altLang="en-US"/>
              <a:t>（</a:t>
            </a:r>
            <a:r>
              <a:rPr lang="en-US" altLang="zh-CN"/>
              <a:t>A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aA</a:t>
            </a:r>
            <a:r>
              <a:rPr lang="zh-CN" altLang="en-US"/>
              <a:t>）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>
                <a:sym typeface="Symbol" panose="05050102010706020507" pitchFamily="18" charset="2"/>
              </a:rPr>
              <a:t></a:t>
            </a:r>
            <a:r>
              <a:rPr lang="zh-CN" altLang="en-US" b="1"/>
              <a:t> </a:t>
            </a:r>
            <a:r>
              <a:rPr lang="en-US" altLang="zh-CN"/>
              <a:t>aaAb           </a:t>
            </a:r>
            <a:r>
              <a:rPr lang="zh-CN" altLang="en-US"/>
              <a:t>（</a:t>
            </a:r>
            <a:r>
              <a:rPr lang="en-US" altLang="zh-CN"/>
              <a:t>A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aA</a:t>
            </a:r>
            <a:r>
              <a:rPr lang="zh-CN" altLang="en-US"/>
              <a:t>）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>
                <a:sym typeface="Symbol" panose="05050102010706020507" pitchFamily="18" charset="2"/>
              </a:rPr>
              <a:t></a:t>
            </a:r>
            <a:r>
              <a:rPr lang="zh-CN" altLang="en-US" b="1"/>
              <a:t> </a:t>
            </a:r>
            <a:r>
              <a:rPr lang="en-US" altLang="zh-CN"/>
              <a:t>aAb             </a:t>
            </a:r>
            <a:r>
              <a:rPr lang="zh-CN" altLang="en-US"/>
              <a:t>（</a:t>
            </a:r>
            <a:r>
              <a:rPr lang="en-US" altLang="zh-CN"/>
              <a:t>B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b</a:t>
            </a:r>
            <a:r>
              <a:rPr lang="zh-CN" altLang="en-US"/>
              <a:t>）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>
                <a:sym typeface="Symbol" panose="05050102010706020507" pitchFamily="18" charset="2"/>
              </a:rPr>
              <a:t></a:t>
            </a:r>
            <a:r>
              <a:rPr lang="zh-CN" altLang="en-US" b="1"/>
              <a:t> </a:t>
            </a:r>
            <a:r>
              <a:rPr lang="en-US" altLang="zh-CN"/>
              <a:t>aAB             </a:t>
            </a:r>
            <a:r>
              <a:rPr lang="zh-CN" altLang="en-US"/>
              <a:t>（</a:t>
            </a:r>
            <a:r>
              <a:rPr lang="en-US" altLang="zh-CN"/>
              <a:t>A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aA</a:t>
            </a:r>
            <a:r>
              <a:rPr lang="zh-CN" altLang="en-US"/>
              <a:t>）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>
                <a:sym typeface="Symbol" panose="05050102010706020507" pitchFamily="18" charset="2"/>
              </a:rPr>
              <a:t></a:t>
            </a:r>
            <a:r>
              <a:rPr lang="zh-CN" altLang="en-US" b="1"/>
              <a:t> </a:t>
            </a:r>
            <a:r>
              <a:rPr lang="en-US" altLang="zh-CN"/>
              <a:t>AB               </a:t>
            </a:r>
            <a:r>
              <a:rPr lang="zh-CN" altLang="en-US"/>
              <a:t>（</a:t>
            </a:r>
            <a:r>
              <a:rPr lang="en-US" altLang="zh-CN"/>
              <a:t>S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AB</a:t>
            </a:r>
            <a:r>
              <a:rPr lang="zh-CN" altLang="en-US"/>
              <a:t>）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>
                <a:sym typeface="Symbol" panose="05050102010706020507" pitchFamily="18" charset="2"/>
              </a:rPr>
              <a:t></a:t>
            </a:r>
            <a:r>
              <a:rPr lang="zh-CN" altLang="en-US" b="1"/>
              <a:t> </a:t>
            </a:r>
            <a:r>
              <a:rPr lang="en-US" altLang="zh-CN"/>
              <a:t>S</a:t>
            </a:r>
          </a:p>
        </p:txBody>
      </p:sp>
      <p:sp>
        <p:nvSpPr>
          <p:cNvPr id="439308" name="Rectangle 12"/>
          <p:cNvSpPr>
            <a:spLocks noChangeArrowheads="1"/>
          </p:cNvSpPr>
          <p:nvPr/>
        </p:nvSpPr>
        <p:spPr bwMode="auto">
          <a:xfrm>
            <a:off x="1474788" y="3068638"/>
            <a:ext cx="2520950" cy="195262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b="1"/>
              <a:t>文法 </a:t>
            </a:r>
            <a:r>
              <a:rPr lang="en-US" altLang="zh-CN" sz="2800"/>
              <a:t>G</a:t>
            </a:r>
            <a:r>
              <a:rPr lang="zh-CN" altLang="en-US" sz="2800"/>
              <a:t>（</a:t>
            </a:r>
            <a:r>
              <a:rPr lang="en-US" altLang="zh-CN" sz="2800"/>
              <a:t>S</a:t>
            </a:r>
            <a:r>
              <a:rPr lang="zh-CN" altLang="en-US" sz="2800"/>
              <a:t>）</a:t>
            </a:r>
            <a:r>
              <a:rPr lang="en-US" altLang="zh-CN" sz="2800"/>
              <a:t>: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0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/>
              <a:t>  S </a:t>
            </a:r>
            <a:r>
              <a:rPr lang="en-US" altLang="zh-CN" sz="2800">
                <a:sym typeface="Symbol" panose="05050102010706020507" pitchFamily="18" charset="2"/>
              </a:rPr>
              <a:t></a:t>
            </a:r>
            <a:r>
              <a:rPr lang="en-US" altLang="zh-CN" sz="2800"/>
              <a:t> AB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/>
              <a:t>  A </a:t>
            </a:r>
            <a:r>
              <a:rPr lang="en-US" altLang="zh-CN" sz="2800">
                <a:sym typeface="Symbol" panose="05050102010706020507" pitchFamily="18" charset="2"/>
              </a:rPr>
              <a:t></a:t>
            </a:r>
            <a:r>
              <a:rPr lang="en-US" altLang="zh-CN" sz="2800"/>
              <a:t> aA | </a:t>
            </a:r>
            <a:r>
              <a:rPr lang="en-US" altLang="zh-CN" sz="2800">
                <a:sym typeface="Symbol" panose="05050102010706020507" pitchFamily="18" charset="2"/>
              </a:rPr>
              <a:t>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/>
              <a:t>  B </a:t>
            </a:r>
            <a:r>
              <a:rPr lang="en-US" altLang="zh-CN" sz="2800">
                <a:sym typeface="Symbol" panose="05050102010706020507" pitchFamily="18" charset="2"/>
              </a:rPr>
              <a:t></a:t>
            </a:r>
            <a:r>
              <a:rPr lang="en-US" altLang="zh-CN" sz="2800"/>
              <a:t> b | bB</a:t>
            </a:r>
          </a:p>
        </p:txBody>
      </p:sp>
      <p:sp>
        <p:nvSpPr>
          <p:cNvPr id="439309" name="Rectangle 13"/>
          <p:cNvSpPr>
            <a:spLocks noChangeArrowheads="1"/>
          </p:cNvSpPr>
          <p:nvPr/>
        </p:nvSpPr>
        <p:spPr bwMode="auto">
          <a:xfrm>
            <a:off x="1312863" y="2133600"/>
            <a:ext cx="7069137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Symbol" panose="05050102010706020507" pitchFamily="18" charset="2"/>
              <a:buChar char="-"/>
            </a:pPr>
            <a:r>
              <a:rPr lang="en-US" altLang="zh-CN" sz="2800" b="1">
                <a:latin typeface="楷体_GB2312" pitchFamily="49" charset="-122"/>
              </a:rPr>
              <a:t> </a:t>
            </a:r>
            <a:r>
              <a:rPr lang="zh-CN" altLang="en-US" sz="2800" b="1">
                <a:latin typeface="楷体_GB2312" pitchFamily="49" charset="-122"/>
              </a:rPr>
              <a:t>单词序列 </a:t>
            </a:r>
            <a:r>
              <a:rPr lang="en-US" altLang="zh-CN" sz="2800"/>
              <a:t>aaab</a:t>
            </a:r>
            <a:r>
              <a:rPr lang="en-US" altLang="zh-CN" sz="2800" b="1">
                <a:latin typeface="楷体_GB2312" pitchFamily="49" charset="-122"/>
              </a:rPr>
              <a:t> </a:t>
            </a:r>
            <a:r>
              <a:rPr lang="zh-CN" altLang="en-US" sz="2800" b="1">
                <a:latin typeface="楷体_GB2312" pitchFamily="49" charset="-122"/>
              </a:rPr>
              <a:t>的一个自底向上分析过程</a:t>
            </a:r>
          </a:p>
        </p:txBody>
      </p:sp>
      <p:sp>
        <p:nvSpPr>
          <p:cNvPr id="11" name="Rectangle 33"/>
          <p:cNvSpPr>
            <a:spLocks noChangeArrowheads="1"/>
          </p:cNvSpPr>
          <p:nvPr/>
        </p:nvSpPr>
        <p:spPr bwMode="auto">
          <a:xfrm>
            <a:off x="-252536" y="188913"/>
            <a:ext cx="6048672" cy="66172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自底向上分析思想的回顾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39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39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439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439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439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439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439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93" name="Rectangle 17"/>
          <p:cNvSpPr>
            <a:spLocks noChangeArrowheads="1"/>
          </p:cNvSpPr>
          <p:nvPr/>
        </p:nvSpPr>
        <p:spPr bwMode="auto">
          <a:xfrm>
            <a:off x="971550" y="2276475"/>
            <a:ext cx="7848600" cy="15255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anose="05050102010706020507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</a:rPr>
              <a:t>  </a:t>
            </a:r>
            <a:r>
              <a:rPr lang="zh-CN" altLang="en-US" sz="2800" b="1"/>
              <a:t>在每一步归约中，选择哪一个产生式以及匹配</a:t>
            </a:r>
          </a:p>
          <a:p>
            <a:pPr>
              <a:buClrTx/>
              <a:buFont typeface="Symbol" panose="05050102010706020507" pitchFamily="18" charset="2"/>
              <a:buNone/>
            </a:pPr>
            <a:r>
              <a:rPr lang="zh-CN" altLang="en-US" sz="2800" b="1"/>
              <a:t>    哪一个位置上的子串都可能是非确定的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/>
          </a:p>
          <a:p>
            <a:pPr>
              <a:buFont typeface="Symbol" panose="05050102010706020507" pitchFamily="18" charset="2"/>
              <a:buChar char="-"/>
            </a:pPr>
            <a:r>
              <a:rPr lang="zh-CN" altLang="en-US" sz="2800"/>
              <a:t>  </a:t>
            </a:r>
            <a:r>
              <a:rPr lang="zh-CN" altLang="en-US" sz="2800" b="1"/>
              <a:t>这些非确定性导致分析过程会有很高的复杂性</a:t>
            </a:r>
            <a:endParaRPr lang="zh-CN" altLang="en-US" sz="2800" b="1">
              <a:solidFill>
                <a:srgbClr val="800080"/>
              </a:solidFill>
              <a:latin typeface="楷体_GB2312" pitchFamily="49" charset="-122"/>
            </a:endParaRPr>
          </a:p>
        </p:txBody>
      </p:sp>
      <p:sp>
        <p:nvSpPr>
          <p:cNvPr id="178195" name="Text Box 19"/>
          <p:cNvSpPr txBox="1">
            <a:spLocks noChangeArrowheads="1"/>
          </p:cNvSpPr>
          <p:nvPr/>
        </p:nvSpPr>
        <p:spPr bwMode="auto">
          <a:xfrm>
            <a:off x="684213" y="1409700"/>
            <a:ext cx="7129462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3200" b="1">
                <a:solidFill>
                  <a:srgbClr val="800080"/>
                </a:solidFill>
                <a:latin typeface="楷体_GB2312" pitchFamily="49" charset="-122"/>
              </a:rPr>
              <a:t>自底向上分析中的非确定性</a:t>
            </a:r>
          </a:p>
        </p:txBody>
      </p:sp>
      <p:sp>
        <p:nvSpPr>
          <p:cNvPr id="178196" name="AutoShape 2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197" name="AutoShape 2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198" name="AutoShape 22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199" name="AutoShape 23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03" name="Rectangle 27"/>
          <p:cNvSpPr>
            <a:spLocks noChangeArrowheads="1"/>
          </p:cNvSpPr>
          <p:nvPr/>
        </p:nvSpPr>
        <p:spPr bwMode="auto">
          <a:xfrm>
            <a:off x="37976" y="188913"/>
            <a:ext cx="5830168" cy="66172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自底向上分析思想的回顾</a:t>
            </a: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26" name="Text Box 6"/>
          <p:cNvSpPr txBox="1">
            <a:spLocks noChangeArrowheads="1"/>
          </p:cNvSpPr>
          <p:nvPr/>
        </p:nvSpPr>
        <p:spPr bwMode="auto">
          <a:xfrm>
            <a:off x="755650" y="1125538"/>
            <a:ext cx="7129463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3200" b="1">
                <a:solidFill>
                  <a:srgbClr val="800080"/>
                </a:solidFill>
                <a:latin typeface="楷体_GB2312" pitchFamily="49" charset="-122"/>
              </a:rPr>
              <a:t>改进的方法</a:t>
            </a:r>
          </a:p>
        </p:txBody>
      </p:sp>
      <p:sp>
        <p:nvSpPr>
          <p:cNvPr id="440327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28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29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30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32" name="Rectangle 12"/>
          <p:cNvSpPr>
            <a:spLocks noChangeArrowheads="1"/>
          </p:cNvSpPr>
          <p:nvPr/>
        </p:nvSpPr>
        <p:spPr bwMode="auto">
          <a:xfrm>
            <a:off x="35496" y="188913"/>
            <a:ext cx="5904656" cy="66172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自底向上分析思想的回顾</a:t>
            </a:r>
          </a:p>
        </p:txBody>
      </p:sp>
      <p:grpSp>
        <p:nvGrpSpPr>
          <p:cNvPr id="440335" name="Group 15"/>
          <p:cNvGrpSpPr/>
          <p:nvPr/>
        </p:nvGrpSpPr>
        <p:grpSpPr bwMode="auto">
          <a:xfrm>
            <a:off x="971600" y="1916113"/>
            <a:ext cx="8027987" cy="3538537"/>
            <a:chOff x="703" y="1207"/>
            <a:chExt cx="4836" cy="2229"/>
          </a:xfrm>
        </p:grpSpPr>
        <p:sp>
          <p:nvSpPr>
            <p:cNvPr id="440325" name="Rectangle 5"/>
            <p:cNvSpPr>
              <a:spLocks noChangeArrowheads="1"/>
            </p:cNvSpPr>
            <p:nvPr/>
          </p:nvSpPr>
          <p:spPr bwMode="auto">
            <a:xfrm>
              <a:off x="703" y="1207"/>
              <a:ext cx="4836" cy="222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ClrTx/>
                <a:buFont typeface="Symbol" panose="05050102010706020507" pitchFamily="18" charset="2"/>
                <a:buChar char="-"/>
              </a:pPr>
              <a:r>
                <a:rPr lang="en-US" altLang="zh-CN" sz="2800" b="1" dirty="0">
                  <a:solidFill>
                    <a:srgbClr val="800080"/>
                  </a:solidFill>
                  <a:latin typeface="楷体_GB2312" pitchFamily="49" charset="-122"/>
                </a:rPr>
                <a:t> </a:t>
              </a:r>
              <a:r>
                <a:rPr lang="zh-CN" altLang="en-US" sz="2800" b="1" dirty="0">
                  <a:solidFill>
                    <a:srgbClr val="800080"/>
                  </a:solidFill>
                  <a:latin typeface="楷体_GB2312" pitchFamily="49" charset="-122"/>
                </a:rPr>
                <a:t>选择</a:t>
              </a:r>
              <a:r>
                <a:rPr lang="zh-CN" altLang="en-US" sz="2800" b="1" dirty="0">
                  <a:solidFill>
                    <a:srgbClr val="800080"/>
                  </a:solidFill>
                  <a:latin typeface="Arial" panose="020B0604020202020204"/>
                </a:rPr>
                <a:t>“</a:t>
              </a:r>
              <a:r>
                <a:rPr lang="zh-CN" altLang="en-US" sz="2800" b="1" dirty="0">
                  <a:solidFill>
                    <a:srgbClr val="800080"/>
                  </a:solidFill>
                  <a:latin typeface="楷体_GB2312" pitchFamily="49" charset="-122"/>
                </a:rPr>
                <a:t>可归约串</a:t>
              </a:r>
              <a:r>
                <a:rPr lang="zh-CN" altLang="en-US" sz="2800" b="1" dirty="0">
                  <a:solidFill>
                    <a:srgbClr val="800080"/>
                  </a:solidFill>
                  <a:latin typeface="Arial" panose="020B0604020202020204"/>
                </a:rPr>
                <a:t>”</a:t>
              </a:r>
              <a:r>
                <a:rPr lang="zh-CN" altLang="en-US" sz="2800" b="1" dirty="0">
                  <a:solidFill>
                    <a:srgbClr val="800080"/>
                  </a:solidFill>
                  <a:latin typeface="楷体_GB2312" pitchFamily="49" charset="-122"/>
                </a:rPr>
                <a:t>进行归约</a:t>
              </a:r>
              <a:endParaRPr lang="zh-CN" altLang="en-US" sz="2800" b="1" dirty="0">
                <a:solidFill>
                  <a:srgbClr val="800080"/>
                </a:solidFill>
              </a:endParaRPr>
            </a:p>
            <a:p>
              <a:pPr>
                <a:buClrTx/>
                <a:buFont typeface="Wingdings" panose="05000000000000000000" pitchFamily="2" charset="2"/>
                <a:buNone/>
              </a:pPr>
              <a:endParaRPr lang="zh-CN" altLang="en-US" sz="1000" b="1" dirty="0">
                <a:solidFill>
                  <a:srgbClr val="800080"/>
                </a:solidFill>
                <a:sym typeface="Symbol" panose="05050102010706020507" pitchFamily="18" charset="2"/>
              </a:endParaRPr>
            </a:p>
            <a:p>
              <a:pPr>
                <a:buClrTx/>
                <a:buFont typeface="Wingdings" panose="05000000000000000000" pitchFamily="2" charset="2"/>
                <a:buNone/>
              </a:pPr>
              <a:r>
                <a:rPr lang="zh-CN" altLang="en-US" b="1" dirty="0"/>
                <a:t>     </a:t>
              </a:r>
              <a:r>
                <a:rPr lang="zh-CN" altLang="en-US" sz="2800" b="1" dirty="0"/>
                <a:t>在实用的自底向上分析中，总是选择某个“可</a:t>
              </a:r>
            </a:p>
            <a:p>
              <a:pPr>
                <a:buClrTx/>
                <a:buFont typeface="Wingdings" panose="05000000000000000000" pitchFamily="2" charset="2"/>
                <a:buNone/>
              </a:pPr>
              <a:r>
                <a:rPr lang="zh-CN" altLang="en-US" sz="2800" b="1" dirty="0"/>
                <a:t>    归约串”进行归约，可大大减少回溯</a:t>
              </a:r>
            </a:p>
            <a:p>
              <a:pPr>
                <a:buClrTx/>
                <a:buFont typeface="Wingdings" panose="05000000000000000000" pitchFamily="2" charset="2"/>
                <a:buNone/>
              </a:pPr>
              <a:endParaRPr lang="zh-CN" altLang="en-US" sz="1000" b="1" dirty="0"/>
            </a:p>
            <a:p>
              <a:pPr>
                <a:buClrTx/>
                <a:buFont typeface="Wingdings" panose="05000000000000000000" pitchFamily="2" charset="2"/>
                <a:buNone/>
              </a:pPr>
              <a:r>
                <a:rPr lang="zh-CN" altLang="en-US" sz="2800" b="1" dirty="0"/>
                <a:t>    对于一个句型而言，“可归约串” 一定是该句</a:t>
              </a:r>
            </a:p>
            <a:p>
              <a:pPr>
                <a:buClrTx/>
                <a:buFont typeface="Wingdings" panose="05000000000000000000" pitchFamily="2" charset="2"/>
                <a:buNone/>
              </a:pPr>
              <a:r>
                <a:rPr lang="zh-CN" altLang="en-US" sz="2800" b="1" dirty="0"/>
                <a:t>    型的</a:t>
              </a:r>
              <a:r>
                <a:rPr lang="zh-CN" altLang="en-US" sz="2800" b="1" dirty="0">
                  <a:solidFill>
                    <a:srgbClr val="800080"/>
                  </a:solidFill>
                </a:rPr>
                <a:t>短语</a:t>
              </a:r>
            </a:p>
            <a:p>
              <a:pPr>
                <a:buClrTx/>
                <a:buFont typeface="Wingdings" panose="05000000000000000000" pitchFamily="2" charset="2"/>
                <a:buNone/>
              </a:pPr>
              <a:endParaRPr lang="zh-CN" altLang="en-US" sz="1000" b="1" dirty="0"/>
            </a:p>
            <a:p>
              <a:pPr>
                <a:buClrTx/>
                <a:buFont typeface="Wingdings" panose="05000000000000000000" pitchFamily="2" charset="2"/>
                <a:buNone/>
              </a:pPr>
              <a:r>
                <a:rPr lang="zh-CN" altLang="en-US" sz="2800" b="1" dirty="0"/>
                <a:t>    对于文法</a:t>
              </a:r>
              <a:r>
                <a:rPr kumimoji="0" lang="en-US" altLang="zh-CN" b="1" dirty="0"/>
                <a:t>G</a:t>
              </a:r>
              <a:r>
                <a:rPr kumimoji="0" lang="en-US" altLang="zh-CN" dirty="0"/>
                <a:t>[</a:t>
              </a:r>
              <a:r>
                <a:rPr kumimoji="0" lang="en-US" altLang="zh-CN" b="1" dirty="0"/>
                <a:t>S</a:t>
              </a:r>
              <a:r>
                <a:rPr kumimoji="0" lang="en-US" altLang="zh-CN" dirty="0"/>
                <a:t>]</a:t>
              </a:r>
              <a:r>
                <a:rPr lang="en-US" altLang="zh-CN" dirty="0"/>
                <a:t> </a:t>
              </a:r>
              <a:r>
                <a:rPr lang="zh-CN" altLang="en-US" sz="2800" b="1" dirty="0"/>
                <a:t>，若 </a:t>
              </a:r>
              <a:r>
                <a:rPr kumimoji="0" lang="en-US" altLang="zh-CN" sz="2800" b="1" dirty="0"/>
                <a:t>S </a:t>
              </a:r>
              <a:r>
                <a:rPr kumimoji="0" lang="en-US" altLang="zh-CN" sz="2800" dirty="0">
                  <a:sym typeface="Symbol" panose="05050102010706020507" pitchFamily="18" charset="2"/>
                </a:rPr>
                <a:t></a:t>
              </a:r>
              <a:r>
                <a:rPr kumimoji="0" lang="en-US" altLang="zh-CN" sz="2800" b="1" dirty="0" err="1"/>
                <a:t>αAδ</a:t>
              </a:r>
              <a:r>
                <a:rPr kumimoji="0" lang="zh-CN" altLang="en-US" sz="2800" b="1" dirty="0"/>
                <a:t>且  </a:t>
              </a:r>
              <a:r>
                <a:rPr kumimoji="0" lang="en-US" altLang="zh-CN" sz="2800" b="1" dirty="0"/>
                <a:t>A </a:t>
              </a:r>
              <a:r>
                <a:rPr kumimoji="0" lang="en-US" altLang="zh-CN" dirty="0">
                  <a:sym typeface="Symbol" panose="05050102010706020507" pitchFamily="18" charset="2"/>
                </a:rPr>
                <a:t></a:t>
              </a:r>
              <a:r>
                <a:rPr kumimoji="0" lang="en-US" altLang="zh-CN" sz="2800" b="1" dirty="0"/>
                <a:t>β</a:t>
              </a:r>
              <a:r>
                <a:rPr kumimoji="0" lang="zh-CN" altLang="en-US" sz="2800" b="1" dirty="0"/>
                <a:t>，</a:t>
              </a:r>
            </a:p>
            <a:p>
              <a:pPr>
                <a:buClrTx/>
                <a:buFont typeface="Wingdings" panose="05000000000000000000" pitchFamily="2" charset="2"/>
                <a:buNone/>
              </a:pPr>
              <a:r>
                <a:rPr kumimoji="0" lang="zh-CN" altLang="en-US" sz="2800" b="1" dirty="0"/>
                <a:t>    则称</a:t>
              </a:r>
              <a:r>
                <a:rPr kumimoji="0" lang="en-US" altLang="zh-CN" sz="2800" b="1" dirty="0">
                  <a:solidFill>
                    <a:srgbClr val="800080"/>
                  </a:solidFill>
                </a:rPr>
                <a:t>β</a:t>
              </a:r>
              <a:r>
                <a:rPr kumimoji="0" lang="zh-CN" altLang="en-US" sz="2800" b="1" dirty="0">
                  <a:solidFill>
                    <a:srgbClr val="800080"/>
                  </a:solidFill>
                </a:rPr>
                <a:t>是句型</a:t>
              </a:r>
              <a:r>
                <a:rPr kumimoji="0" lang="en-US" altLang="zh-CN" sz="2800" b="1" dirty="0" err="1">
                  <a:solidFill>
                    <a:srgbClr val="800080"/>
                  </a:solidFill>
                </a:rPr>
                <a:t>αβδ</a:t>
              </a:r>
              <a:r>
                <a:rPr kumimoji="0" lang="zh-CN" altLang="en-US" sz="2800" b="1" dirty="0">
                  <a:solidFill>
                    <a:srgbClr val="800080"/>
                  </a:solidFill>
                </a:rPr>
                <a:t>相对于非终结符</a:t>
              </a:r>
              <a:r>
                <a:rPr kumimoji="0" lang="en-US" altLang="zh-CN" sz="2800" b="1" dirty="0">
                  <a:solidFill>
                    <a:srgbClr val="800080"/>
                  </a:solidFill>
                </a:rPr>
                <a:t>A</a:t>
              </a:r>
              <a:r>
                <a:rPr kumimoji="0" lang="zh-CN" altLang="en-US" sz="2800" b="1" dirty="0">
                  <a:solidFill>
                    <a:srgbClr val="800080"/>
                  </a:solidFill>
                </a:rPr>
                <a:t>的短语</a:t>
              </a:r>
            </a:p>
          </p:txBody>
        </p:sp>
        <p:sp>
          <p:nvSpPr>
            <p:cNvPr id="440333" name="Rectangle 13"/>
            <p:cNvSpPr>
              <a:spLocks noChangeArrowheads="1"/>
            </p:cNvSpPr>
            <p:nvPr/>
          </p:nvSpPr>
          <p:spPr bwMode="auto">
            <a:xfrm>
              <a:off x="2915" y="2795"/>
              <a:ext cx="188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en-US" altLang="zh-CN" sz="1800" b="1" dirty="0">
                  <a:ea typeface="华文行楷" pitchFamily="2" charset="-122"/>
                  <a:sym typeface="Symbol" panose="05050102010706020507" pitchFamily="18" charset="2"/>
                </a:rPr>
                <a:t></a:t>
              </a:r>
            </a:p>
          </p:txBody>
        </p:sp>
        <p:sp>
          <p:nvSpPr>
            <p:cNvPr id="440334" name="Rectangle 14"/>
            <p:cNvSpPr>
              <a:spLocks noChangeArrowheads="1"/>
            </p:cNvSpPr>
            <p:nvPr/>
          </p:nvSpPr>
          <p:spPr bwMode="auto">
            <a:xfrm>
              <a:off x="4103" y="2797"/>
              <a:ext cx="200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en-US" altLang="zh-CN" sz="1800" dirty="0">
                  <a:ea typeface="华文行楷" pitchFamily="2" charset="-122"/>
                  <a:sym typeface="Symbol" panose="05050102010706020507" pitchFamily="18" charset="2"/>
                </a:rPr>
                <a:t>+</a:t>
              </a:r>
            </a:p>
          </p:txBody>
        </p:sp>
      </p:grp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4" name="Text Box 4"/>
          <p:cNvSpPr txBox="1">
            <a:spLocks noChangeArrowheads="1"/>
          </p:cNvSpPr>
          <p:nvPr/>
        </p:nvSpPr>
        <p:spPr bwMode="auto">
          <a:xfrm>
            <a:off x="827088" y="1052513"/>
            <a:ext cx="7129462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3200" b="1">
                <a:solidFill>
                  <a:srgbClr val="800080"/>
                </a:solidFill>
                <a:latin typeface="楷体_GB2312" pitchFamily="49" charset="-122"/>
              </a:rPr>
              <a:t>举例：</a:t>
            </a:r>
            <a:r>
              <a:rPr lang="zh-CN" altLang="en-US" sz="3200" b="1"/>
              <a:t>短语</a:t>
            </a:r>
          </a:p>
        </p:txBody>
      </p:sp>
      <p:sp>
        <p:nvSpPr>
          <p:cNvPr id="450565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566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567" name="AutoShape 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568" name="AutoShape 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570" name="Rectangle 10"/>
          <p:cNvSpPr>
            <a:spLocks noChangeArrowheads="1"/>
          </p:cNvSpPr>
          <p:nvPr/>
        </p:nvSpPr>
        <p:spPr bwMode="auto">
          <a:xfrm>
            <a:off x="5795963" y="1773238"/>
            <a:ext cx="2232025" cy="243522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b="1"/>
              <a:t>文法 </a:t>
            </a:r>
            <a:r>
              <a:rPr lang="en-US" altLang="zh-CN"/>
              <a:t>G</a:t>
            </a:r>
            <a:r>
              <a:rPr lang="zh-CN" altLang="en-US"/>
              <a:t>（</a:t>
            </a:r>
            <a:r>
              <a:rPr lang="en-US" altLang="zh-CN"/>
              <a:t>S</a:t>
            </a:r>
            <a:r>
              <a:rPr lang="zh-CN" altLang="en-US"/>
              <a:t>）</a:t>
            </a:r>
            <a:r>
              <a:rPr lang="en-US" altLang="zh-CN"/>
              <a:t>: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000"/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/>
              <a:t>S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AB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  <a:r>
              <a:rPr lang="en-US" altLang="zh-CN"/>
              <a:t>A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aA</a:t>
            </a:r>
            <a:endParaRPr lang="en-US" altLang="zh-CN"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</a:t>
            </a:r>
            <a:r>
              <a:rPr lang="en-US" altLang="zh-CN"/>
              <a:t>A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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（</a:t>
            </a:r>
            <a:r>
              <a:rPr lang="en-US" altLang="zh-CN"/>
              <a:t>4</a:t>
            </a:r>
            <a:r>
              <a:rPr lang="zh-CN" altLang="en-US"/>
              <a:t>）</a:t>
            </a:r>
            <a:r>
              <a:rPr lang="en-US" altLang="zh-CN"/>
              <a:t>B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b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（</a:t>
            </a:r>
            <a:r>
              <a:rPr lang="en-US" altLang="zh-CN"/>
              <a:t>5</a:t>
            </a:r>
            <a:r>
              <a:rPr lang="zh-CN" altLang="en-US"/>
              <a:t>）</a:t>
            </a:r>
            <a:r>
              <a:rPr lang="en-US" altLang="zh-CN"/>
              <a:t>B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bB</a:t>
            </a:r>
          </a:p>
        </p:txBody>
      </p:sp>
      <p:sp>
        <p:nvSpPr>
          <p:cNvPr id="450571" name="Rectangle 11"/>
          <p:cNvSpPr>
            <a:spLocks noChangeArrowheads="1"/>
          </p:cNvSpPr>
          <p:nvPr/>
        </p:nvSpPr>
        <p:spPr bwMode="auto">
          <a:xfrm>
            <a:off x="1258888" y="1628775"/>
            <a:ext cx="4549775" cy="51435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Symbol" panose="05050102010706020507" pitchFamily="18" charset="2"/>
              <a:buChar char="-"/>
            </a:pPr>
            <a:r>
              <a:rPr lang="en-US" altLang="zh-CN" b="1" dirty="0">
                <a:latin typeface="楷体_GB2312" pitchFamily="49" charset="-122"/>
              </a:rPr>
              <a:t> </a:t>
            </a:r>
            <a:r>
              <a:rPr lang="zh-CN" altLang="en-US" b="1" dirty="0">
                <a:latin typeface="楷体_GB2312" pitchFamily="49" charset="-122"/>
              </a:rPr>
              <a:t>对于右边的文法</a:t>
            </a:r>
            <a:r>
              <a:rPr lang="en-US" altLang="zh-CN" dirty="0"/>
              <a:t>G(S)</a:t>
            </a:r>
            <a:r>
              <a:rPr lang="en-US" altLang="zh-CN" b="1" dirty="0">
                <a:latin typeface="楷体_GB2312" pitchFamily="49" charset="-122"/>
              </a:rPr>
              <a:t>,</a:t>
            </a:r>
          </a:p>
          <a:p>
            <a:pPr>
              <a:buFont typeface="Symbol" panose="05050102010706020507" pitchFamily="18" charset="2"/>
              <a:buNone/>
            </a:pPr>
            <a:endParaRPr lang="en-US" altLang="zh-CN" sz="1000" b="1" dirty="0">
              <a:latin typeface="楷体_GB2312" pitchFamily="49" charset="-122"/>
            </a:endParaRPr>
          </a:p>
          <a:p>
            <a:pPr>
              <a:buFont typeface="Symbol" panose="05050102010706020507" pitchFamily="18" charset="2"/>
              <a:buNone/>
            </a:pPr>
            <a:r>
              <a:rPr lang="en-US" altLang="zh-CN" b="1" dirty="0">
                <a:latin typeface="楷体_GB2312" pitchFamily="49" charset="-122"/>
              </a:rPr>
              <a:t>  </a:t>
            </a:r>
            <a:r>
              <a:rPr lang="zh-CN" altLang="en-US" b="1" dirty="0">
                <a:latin typeface="楷体_GB2312" pitchFamily="49" charset="-122"/>
              </a:rPr>
              <a:t>句子 </a:t>
            </a:r>
            <a:r>
              <a:rPr lang="en-US" altLang="zh-CN" dirty="0" err="1"/>
              <a:t>aaab</a:t>
            </a:r>
            <a:r>
              <a:rPr lang="en-US" altLang="zh-CN" b="1" dirty="0">
                <a:latin typeface="楷体_GB2312" pitchFamily="49" charset="-122"/>
              </a:rPr>
              <a:t> </a:t>
            </a:r>
            <a:r>
              <a:rPr lang="zh-CN" altLang="en-US" b="1" dirty="0">
                <a:latin typeface="楷体_GB2312" pitchFamily="49" charset="-122"/>
              </a:rPr>
              <a:t>的短语有：</a:t>
            </a:r>
          </a:p>
          <a:p>
            <a:pPr>
              <a:buFont typeface="Symbol" panose="05050102010706020507" pitchFamily="18" charset="2"/>
              <a:buNone/>
            </a:pPr>
            <a:r>
              <a:rPr lang="zh-CN" altLang="en-US" dirty="0">
                <a:solidFill>
                  <a:srgbClr val="800080"/>
                </a:solidFill>
              </a:rPr>
              <a:t>              </a:t>
            </a:r>
            <a:r>
              <a:rPr lang="zh-CN" altLang="en-US" dirty="0">
                <a:solidFill>
                  <a:srgbClr val="800080"/>
                </a:solidFill>
                <a:sym typeface="Symbol" panose="05050102010706020507" pitchFamily="18" charset="2"/>
              </a:rPr>
              <a:t></a:t>
            </a:r>
            <a:r>
              <a:rPr lang="zh-CN" altLang="en-US" dirty="0"/>
              <a:t> ：</a:t>
            </a:r>
            <a:r>
              <a:rPr lang="en-US" altLang="zh-CN" dirty="0" err="1"/>
              <a:t>aaa</a:t>
            </a:r>
            <a:r>
              <a:rPr lang="en-US" altLang="zh-CN" dirty="0" err="1">
                <a:solidFill>
                  <a:srgbClr val="800080"/>
                </a:solidFill>
                <a:sym typeface="Symbol" panose="05050102010706020507" pitchFamily="18" charset="2"/>
              </a:rPr>
              <a:t></a:t>
            </a:r>
            <a:r>
              <a:rPr lang="en-US" altLang="zh-CN" dirty="0" err="1"/>
              <a:t>b</a:t>
            </a:r>
            <a:r>
              <a:rPr lang="zh-CN" altLang="en-US" dirty="0"/>
              <a:t>；</a:t>
            </a:r>
            <a:endParaRPr lang="zh-CN" altLang="en-US" b="1" dirty="0">
              <a:latin typeface="楷体_GB2312" pitchFamily="49" charset="-122"/>
            </a:endParaRPr>
          </a:p>
          <a:p>
            <a:pPr>
              <a:buFont typeface="Symbol" panose="05050102010706020507" pitchFamily="18" charset="2"/>
              <a:buNone/>
            </a:pPr>
            <a:r>
              <a:rPr lang="zh-CN" altLang="en-US" b="1" dirty="0">
                <a:latin typeface="楷体_GB2312" pitchFamily="49" charset="-122"/>
              </a:rPr>
              <a:t>        </a:t>
            </a:r>
            <a:r>
              <a:rPr lang="en-US" altLang="zh-CN" dirty="0">
                <a:solidFill>
                  <a:srgbClr val="800080"/>
                </a:solidFill>
              </a:rPr>
              <a:t>a</a:t>
            </a:r>
            <a:r>
              <a:rPr lang="zh-CN" altLang="en-US" dirty="0"/>
              <a:t>：</a:t>
            </a:r>
            <a:r>
              <a:rPr lang="en-US" altLang="zh-CN" dirty="0" err="1"/>
              <a:t>aa</a:t>
            </a:r>
            <a:r>
              <a:rPr lang="en-US" altLang="zh-CN" dirty="0" err="1">
                <a:solidFill>
                  <a:srgbClr val="800080"/>
                </a:solidFill>
              </a:rPr>
              <a:t>a</a:t>
            </a:r>
            <a:r>
              <a:rPr lang="en-US" altLang="zh-CN" dirty="0" err="1">
                <a:solidFill>
                  <a:srgbClr val="800080"/>
                </a:solidFill>
                <a:sym typeface="Symbol" panose="05050102010706020507" pitchFamily="18" charset="2"/>
              </a:rPr>
              <a:t></a:t>
            </a:r>
            <a:r>
              <a:rPr lang="en-US" altLang="zh-CN" dirty="0" err="1"/>
              <a:t>b</a:t>
            </a:r>
            <a:r>
              <a:rPr lang="zh-CN" altLang="en-US" dirty="0"/>
              <a:t>；</a:t>
            </a:r>
          </a:p>
          <a:p>
            <a:pPr>
              <a:buFont typeface="Symbol" panose="05050102010706020507" pitchFamily="18" charset="2"/>
              <a:buNone/>
            </a:pPr>
            <a:r>
              <a:rPr lang="zh-CN" altLang="en-US" dirty="0"/>
              <a:t>             </a:t>
            </a:r>
            <a:r>
              <a:rPr lang="en-US" altLang="zh-CN" dirty="0">
                <a:solidFill>
                  <a:srgbClr val="800080"/>
                </a:solidFill>
              </a:rPr>
              <a:t>aa</a:t>
            </a:r>
            <a:r>
              <a:rPr lang="zh-CN" altLang="en-US" dirty="0"/>
              <a:t>：</a:t>
            </a:r>
            <a:r>
              <a:rPr lang="en-US" altLang="zh-CN" dirty="0" err="1"/>
              <a:t>a</a:t>
            </a:r>
            <a:r>
              <a:rPr lang="en-US" altLang="zh-CN" dirty="0" err="1">
                <a:solidFill>
                  <a:srgbClr val="800080"/>
                </a:solidFill>
              </a:rPr>
              <a:t>aa</a:t>
            </a:r>
            <a:r>
              <a:rPr lang="en-US" altLang="zh-CN" dirty="0" err="1">
                <a:solidFill>
                  <a:srgbClr val="800080"/>
                </a:solidFill>
                <a:sym typeface="Symbol" panose="05050102010706020507" pitchFamily="18" charset="2"/>
              </a:rPr>
              <a:t></a:t>
            </a:r>
            <a:r>
              <a:rPr lang="en-US" altLang="zh-CN" dirty="0" err="1"/>
              <a:t>b</a:t>
            </a:r>
            <a:r>
              <a:rPr lang="zh-CN" altLang="en-US" dirty="0"/>
              <a:t>；</a:t>
            </a:r>
          </a:p>
          <a:p>
            <a:pPr>
              <a:buFont typeface="Symbol" panose="05050102010706020507" pitchFamily="18" charset="2"/>
              <a:buNone/>
            </a:pPr>
            <a:r>
              <a:rPr lang="zh-CN" altLang="en-US" dirty="0"/>
              <a:t>           </a:t>
            </a:r>
            <a:r>
              <a:rPr lang="en-US" altLang="zh-CN" dirty="0" err="1">
                <a:solidFill>
                  <a:srgbClr val="800080"/>
                </a:solidFill>
              </a:rPr>
              <a:t>aaa</a:t>
            </a:r>
            <a:r>
              <a:rPr lang="zh-CN" altLang="en-US" dirty="0"/>
              <a:t>：</a:t>
            </a:r>
            <a:r>
              <a:rPr lang="en-US" altLang="zh-CN" dirty="0" err="1">
                <a:solidFill>
                  <a:srgbClr val="800080"/>
                </a:solidFill>
              </a:rPr>
              <a:t>aaa</a:t>
            </a:r>
            <a:r>
              <a:rPr lang="en-US" altLang="zh-CN" dirty="0" err="1">
                <a:solidFill>
                  <a:srgbClr val="800080"/>
                </a:solidFill>
                <a:sym typeface="Symbol" panose="05050102010706020507" pitchFamily="18" charset="2"/>
              </a:rPr>
              <a:t></a:t>
            </a:r>
            <a:r>
              <a:rPr lang="en-US" altLang="zh-CN" dirty="0" err="1"/>
              <a:t>b</a:t>
            </a:r>
            <a:r>
              <a:rPr lang="zh-CN" altLang="en-US" dirty="0"/>
              <a:t>；</a:t>
            </a:r>
          </a:p>
          <a:p>
            <a:pPr>
              <a:buFont typeface="Symbol" panose="05050102010706020507" pitchFamily="18" charset="2"/>
              <a:buNone/>
            </a:pPr>
            <a:r>
              <a:rPr lang="zh-CN" altLang="en-US" dirty="0"/>
              <a:t>         </a:t>
            </a:r>
            <a:r>
              <a:rPr lang="en-US" altLang="zh-CN" dirty="0" err="1">
                <a:solidFill>
                  <a:srgbClr val="800080"/>
                </a:solidFill>
              </a:rPr>
              <a:t>aaab</a:t>
            </a:r>
            <a:r>
              <a:rPr lang="zh-CN" altLang="en-US" dirty="0"/>
              <a:t>：</a:t>
            </a:r>
            <a:r>
              <a:rPr lang="en-US" altLang="zh-CN" dirty="0" err="1">
                <a:solidFill>
                  <a:srgbClr val="800080"/>
                </a:solidFill>
              </a:rPr>
              <a:t>aaa</a:t>
            </a:r>
            <a:r>
              <a:rPr lang="en-US" altLang="zh-CN" dirty="0" err="1">
                <a:solidFill>
                  <a:srgbClr val="800080"/>
                </a:solidFill>
                <a:sym typeface="Symbol" panose="05050102010706020507" pitchFamily="18" charset="2"/>
              </a:rPr>
              <a:t></a:t>
            </a:r>
            <a:r>
              <a:rPr lang="en-US" altLang="zh-CN" dirty="0" err="1">
                <a:solidFill>
                  <a:srgbClr val="800080"/>
                </a:solidFill>
              </a:rPr>
              <a:t>b</a:t>
            </a:r>
            <a:endParaRPr lang="en-US" altLang="zh-CN" dirty="0">
              <a:solidFill>
                <a:srgbClr val="800080"/>
              </a:solidFill>
            </a:endParaRPr>
          </a:p>
          <a:p>
            <a:pPr>
              <a:buFont typeface="Symbol" panose="05050102010706020507" pitchFamily="18" charset="2"/>
              <a:buNone/>
            </a:pPr>
            <a:r>
              <a:rPr lang="en-US" altLang="zh-CN" dirty="0"/>
              <a:t>               </a:t>
            </a:r>
            <a:r>
              <a:rPr lang="en-US" altLang="zh-CN" dirty="0">
                <a:solidFill>
                  <a:srgbClr val="800080"/>
                </a:solidFill>
              </a:rPr>
              <a:t>b</a:t>
            </a:r>
            <a:r>
              <a:rPr lang="zh-CN" altLang="en-US" dirty="0"/>
              <a:t>：</a:t>
            </a:r>
            <a:r>
              <a:rPr lang="en-US" altLang="zh-CN" dirty="0" err="1"/>
              <a:t>aaa</a:t>
            </a:r>
            <a:r>
              <a:rPr lang="en-US" altLang="zh-CN" dirty="0" err="1">
                <a:solidFill>
                  <a:srgbClr val="800080"/>
                </a:solidFill>
              </a:rPr>
              <a:t>b</a:t>
            </a:r>
            <a:endParaRPr lang="en-US" altLang="zh-CN" dirty="0">
              <a:solidFill>
                <a:srgbClr val="800080"/>
              </a:solidFill>
            </a:endParaRPr>
          </a:p>
          <a:p>
            <a:pPr>
              <a:buFont typeface="Symbol" panose="05050102010706020507" pitchFamily="18" charset="2"/>
              <a:buNone/>
            </a:pPr>
            <a:endParaRPr lang="en-US" altLang="zh-CN" sz="1000" dirty="0">
              <a:solidFill>
                <a:srgbClr val="800080"/>
              </a:solidFill>
            </a:endParaRPr>
          </a:p>
          <a:p>
            <a:pPr>
              <a:buFont typeface="Symbol" panose="05050102010706020507" pitchFamily="18" charset="2"/>
              <a:buNone/>
            </a:pPr>
            <a:r>
              <a:rPr lang="en-US" altLang="zh-CN" dirty="0"/>
              <a:t>    </a:t>
            </a:r>
            <a:r>
              <a:rPr lang="zh-CN" altLang="en-US" b="1" dirty="0"/>
              <a:t>句型</a:t>
            </a:r>
            <a:r>
              <a:rPr lang="en-US" altLang="zh-CN" dirty="0" err="1"/>
              <a:t>aaAb</a:t>
            </a:r>
            <a:r>
              <a:rPr lang="zh-CN" altLang="en-US" b="1" dirty="0"/>
              <a:t>的短语有：</a:t>
            </a: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             </a:t>
            </a:r>
            <a:r>
              <a:rPr lang="en-US" altLang="zh-CN" dirty="0" err="1">
                <a:solidFill>
                  <a:srgbClr val="800080"/>
                </a:solidFill>
              </a:rPr>
              <a:t>aA</a:t>
            </a:r>
            <a:r>
              <a:rPr lang="zh-CN" altLang="en-US" dirty="0"/>
              <a:t>：</a:t>
            </a:r>
            <a:r>
              <a:rPr lang="en-US" altLang="zh-CN" dirty="0" err="1"/>
              <a:t>a</a:t>
            </a:r>
            <a:r>
              <a:rPr lang="en-US" altLang="zh-CN" dirty="0" err="1">
                <a:solidFill>
                  <a:srgbClr val="800080"/>
                </a:solidFill>
              </a:rPr>
              <a:t>aA</a:t>
            </a:r>
            <a:r>
              <a:rPr lang="en-US" altLang="zh-CN" dirty="0" err="1"/>
              <a:t>b</a:t>
            </a:r>
            <a:r>
              <a:rPr lang="zh-CN" altLang="en-US" dirty="0"/>
              <a:t>；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800080"/>
                </a:solidFill>
              </a:rPr>
              <a:t>           </a:t>
            </a:r>
            <a:r>
              <a:rPr lang="en-US" altLang="zh-CN" dirty="0" err="1">
                <a:solidFill>
                  <a:srgbClr val="800080"/>
                </a:solidFill>
              </a:rPr>
              <a:t>aaA</a:t>
            </a:r>
            <a:r>
              <a:rPr lang="zh-CN" altLang="en-US" dirty="0"/>
              <a:t>：</a:t>
            </a:r>
            <a:r>
              <a:rPr lang="en-US" altLang="zh-CN" dirty="0" err="1">
                <a:solidFill>
                  <a:srgbClr val="800080"/>
                </a:solidFill>
              </a:rPr>
              <a:t>aaA</a:t>
            </a:r>
            <a:r>
              <a:rPr lang="en-US" altLang="zh-CN" dirty="0" err="1"/>
              <a:t>b</a:t>
            </a:r>
            <a:r>
              <a:rPr lang="zh-CN" altLang="en-US" dirty="0"/>
              <a:t>；  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         </a:t>
            </a:r>
            <a:r>
              <a:rPr lang="en-US" altLang="zh-CN" dirty="0" err="1">
                <a:solidFill>
                  <a:srgbClr val="800080"/>
                </a:solidFill>
              </a:rPr>
              <a:t>aaAb</a:t>
            </a:r>
            <a:r>
              <a:rPr lang="zh-CN" altLang="en-US" dirty="0"/>
              <a:t>：</a:t>
            </a:r>
            <a:r>
              <a:rPr lang="en-US" altLang="zh-CN" dirty="0" err="1">
                <a:solidFill>
                  <a:srgbClr val="800080"/>
                </a:solidFill>
              </a:rPr>
              <a:t>aaAb</a:t>
            </a: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800080"/>
                </a:solidFill>
              </a:rPr>
              <a:t>               b</a:t>
            </a:r>
            <a:r>
              <a:rPr lang="zh-CN" altLang="en-US" dirty="0"/>
              <a:t>：</a:t>
            </a:r>
            <a:r>
              <a:rPr lang="en-US" altLang="zh-CN" dirty="0" err="1"/>
              <a:t>aaA</a:t>
            </a:r>
            <a:r>
              <a:rPr lang="en-US" altLang="zh-CN" dirty="0" err="1">
                <a:solidFill>
                  <a:srgbClr val="800080"/>
                </a:solidFill>
              </a:rPr>
              <a:t>b</a:t>
            </a:r>
            <a:endParaRPr lang="en-US" altLang="zh-CN" dirty="0">
              <a:solidFill>
                <a:srgbClr val="800080"/>
              </a:solidFill>
            </a:endParaRPr>
          </a:p>
        </p:txBody>
      </p:sp>
      <p:sp>
        <p:nvSpPr>
          <p:cNvPr id="450574" name="Rectangle 14"/>
          <p:cNvSpPr>
            <a:spLocks noChangeArrowheads="1"/>
          </p:cNvSpPr>
          <p:nvPr/>
        </p:nvSpPr>
        <p:spPr bwMode="auto">
          <a:xfrm>
            <a:off x="37976" y="188913"/>
            <a:ext cx="6046912" cy="66172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自底向上分析思想的回顾</a:t>
            </a:r>
          </a:p>
        </p:txBody>
      </p:sp>
      <p:sp>
        <p:nvSpPr>
          <p:cNvPr id="450607" name="Rectangle 47"/>
          <p:cNvSpPr>
            <a:spLocks noChangeArrowheads="1"/>
          </p:cNvSpPr>
          <p:nvPr/>
        </p:nvSpPr>
        <p:spPr bwMode="auto">
          <a:xfrm>
            <a:off x="6981825" y="6053138"/>
            <a:ext cx="354013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 sz="2000" b="1" i="1">
                <a:ea typeface="华文行楷" pitchFamily="2" charset="-122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450576" name="Rectangle 16"/>
          <p:cNvSpPr>
            <a:spLocks noChangeArrowheads="1"/>
          </p:cNvSpPr>
          <p:nvPr/>
        </p:nvSpPr>
        <p:spPr bwMode="auto">
          <a:xfrm>
            <a:off x="6580188" y="5013325"/>
            <a:ext cx="368300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 sz="2000" b="1" i="1">
                <a:ea typeface="华文行楷" pitchFamily="2" charset="-122"/>
              </a:rPr>
              <a:t>A</a:t>
            </a:r>
          </a:p>
        </p:txBody>
      </p:sp>
      <p:sp>
        <p:nvSpPr>
          <p:cNvPr id="450577" name="Rectangle 17"/>
          <p:cNvSpPr>
            <a:spLocks noChangeArrowheads="1"/>
          </p:cNvSpPr>
          <p:nvPr/>
        </p:nvSpPr>
        <p:spPr bwMode="auto">
          <a:xfrm>
            <a:off x="5651500" y="5013325"/>
            <a:ext cx="354013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 sz="2000" b="1" i="1">
                <a:ea typeface="华文行楷" pitchFamily="2" charset="-122"/>
              </a:rPr>
              <a:t>a</a:t>
            </a:r>
          </a:p>
        </p:txBody>
      </p:sp>
      <p:sp>
        <p:nvSpPr>
          <p:cNvPr id="450579" name="Rectangle 19"/>
          <p:cNvSpPr>
            <a:spLocks noChangeArrowheads="1"/>
          </p:cNvSpPr>
          <p:nvPr/>
        </p:nvSpPr>
        <p:spPr bwMode="auto">
          <a:xfrm>
            <a:off x="6148388" y="4652963"/>
            <a:ext cx="368300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 sz="2000" b="1" i="1">
                <a:ea typeface="华文行楷" pitchFamily="2" charset="-122"/>
              </a:rPr>
              <a:t>A</a:t>
            </a:r>
          </a:p>
        </p:txBody>
      </p:sp>
      <p:sp>
        <p:nvSpPr>
          <p:cNvPr id="450581" name="Rectangle 21"/>
          <p:cNvSpPr>
            <a:spLocks noChangeArrowheads="1"/>
          </p:cNvSpPr>
          <p:nvPr/>
        </p:nvSpPr>
        <p:spPr bwMode="auto">
          <a:xfrm>
            <a:off x="7156450" y="4652963"/>
            <a:ext cx="368300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 sz="2000" b="1" i="1">
                <a:ea typeface="华文行楷" pitchFamily="2" charset="-122"/>
              </a:rPr>
              <a:t>B</a:t>
            </a:r>
          </a:p>
        </p:txBody>
      </p:sp>
      <p:sp>
        <p:nvSpPr>
          <p:cNvPr id="450582" name="Rectangle 22"/>
          <p:cNvSpPr>
            <a:spLocks noChangeArrowheads="1"/>
          </p:cNvSpPr>
          <p:nvPr/>
        </p:nvSpPr>
        <p:spPr bwMode="auto">
          <a:xfrm>
            <a:off x="6661150" y="4292600"/>
            <a:ext cx="354013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 sz="2000" b="1" i="1">
                <a:ea typeface="华文行楷" pitchFamily="2" charset="-122"/>
              </a:rPr>
              <a:t>S</a:t>
            </a:r>
          </a:p>
        </p:txBody>
      </p:sp>
      <p:sp>
        <p:nvSpPr>
          <p:cNvPr id="450583" name="Rectangle 23"/>
          <p:cNvSpPr>
            <a:spLocks noChangeArrowheads="1"/>
          </p:cNvSpPr>
          <p:nvPr/>
        </p:nvSpPr>
        <p:spPr bwMode="auto">
          <a:xfrm>
            <a:off x="7667625" y="5013325"/>
            <a:ext cx="339725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 sz="2000" b="1" i="1">
                <a:ea typeface="华文行楷" pitchFamily="2" charset="-122"/>
              </a:rPr>
              <a:t>b</a:t>
            </a:r>
          </a:p>
        </p:txBody>
      </p:sp>
      <p:sp>
        <p:nvSpPr>
          <p:cNvPr id="450584" name="Line 24"/>
          <p:cNvSpPr>
            <a:spLocks noChangeShapeType="1"/>
          </p:cNvSpPr>
          <p:nvPr/>
        </p:nvSpPr>
        <p:spPr bwMode="auto">
          <a:xfrm flipH="1" flipV="1">
            <a:off x="7451725" y="4870450"/>
            <a:ext cx="288925" cy="287338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50593" name="Line 33"/>
          <p:cNvSpPr>
            <a:spLocks noChangeShapeType="1"/>
          </p:cNvSpPr>
          <p:nvPr/>
        </p:nvSpPr>
        <p:spPr bwMode="auto">
          <a:xfrm flipH="1" flipV="1">
            <a:off x="6965950" y="4521200"/>
            <a:ext cx="269875" cy="220663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50595" name="Line 35"/>
          <p:cNvSpPr>
            <a:spLocks noChangeShapeType="1"/>
          </p:cNvSpPr>
          <p:nvPr/>
        </p:nvSpPr>
        <p:spPr bwMode="auto">
          <a:xfrm flipV="1">
            <a:off x="6443663" y="4521200"/>
            <a:ext cx="293687" cy="239713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50597" name="Line 37"/>
          <p:cNvSpPr>
            <a:spLocks noChangeShapeType="1"/>
          </p:cNvSpPr>
          <p:nvPr/>
        </p:nvSpPr>
        <p:spPr bwMode="auto">
          <a:xfrm flipV="1">
            <a:off x="5940425" y="4941888"/>
            <a:ext cx="254000" cy="21590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50598" name="Line 38"/>
          <p:cNvSpPr>
            <a:spLocks noChangeShapeType="1"/>
          </p:cNvSpPr>
          <p:nvPr/>
        </p:nvSpPr>
        <p:spPr bwMode="auto">
          <a:xfrm flipH="1" flipV="1">
            <a:off x="6443663" y="4941888"/>
            <a:ext cx="215900" cy="21590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50599" name="Rectangle 39"/>
          <p:cNvSpPr>
            <a:spLocks noChangeArrowheads="1"/>
          </p:cNvSpPr>
          <p:nvPr/>
        </p:nvSpPr>
        <p:spPr bwMode="auto">
          <a:xfrm>
            <a:off x="7013575" y="5337175"/>
            <a:ext cx="368300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 sz="2000" b="1" i="1">
                <a:ea typeface="华文行楷" pitchFamily="2" charset="-122"/>
              </a:rPr>
              <a:t>A</a:t>
            </a:r>
          </a:p>
        </p:txBody>
      </p:sp>
      <p:sp>
        <p:nvSpPr>
          <p:cNvPr id="450600" name="Rectangle 40"/>
          <p:cNvSpPr>
            <a:spLocks noChangeArrowheads="1"/>
          </p:cNvSpPr>
          <p:nvPr/>
        </p:nvSpPr>
        <p:spPr bwMode="auto">
          <a:xfrm>
            <a:off x="6084888" y="5337175"/>
            <a:ext cx="354012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 sz="2000" b="1" i="1">
                <a:ea typeface="华文行楷" pitchFamily="2" charset="-122"/>
              </a:rPr>
              <a:t>a</a:t>
            </a:r>
          </a:p>
        </p:txBody>
      </p:sp>
      <p:sp>
        <p:nvSpPr>
          <p:cNvPr id="450601" name="Line 41"/>
          <p:cNvSpPr>
            <a:spLocks noChangeShapeType="1"/>
          </p:cNvSpPr>
          <p:nvPr/>
        </p:nvSpPr>
        <p:spPr bwMode="auto">
          <a:xfrm flipV="1">
            <a:off x="6373813" y="5265738"/>
            <a:ext cx="254000" cy="21590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50602" name="Line 42"/>
          <p:cNvSpPr>
            <a:spLocks noChangeShapeType="1"/>
          </p:cNvSpPr>
          <p:nvPr/>
        </p:nvSpPr>
        <p:spPr bwMode="auto">
          <a:xfrm flipH="1" flipV="1">
            <a:off x="6877050" y="5229225"/>
            <a:ext cx="215900" cy="252413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50603" name="Rectangle 43"/>
          <p:cNvSpPr>
            <a:spLocks noChangeArrowheads="1"/>
          </p:cNvSpPr>
          <p:nvPr/>
        </p:nvSpPr>
        <p:spPr bwMode="auto">
          <a:xfrm>
            <a:off x="7443788" y="5695950"/>
            <a:ext cx="368300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 sz="2000" b="1" i="1">
                <a:ea typeface="华文行楷" pitchFamily="2" charset="-122"/>
              </a:rPr>
              <a:t>A</a:t>
            </a:r>
          </a:p>
        </p:txBody>
      </p:sp>
      <p:sp>
        <p:nvSpPr>
          <p:cNvPr id="450604" name="Rectangle 44"/>
          <p:cNvSpPr>
            <a:spLocks noChangeArrowheads="1"/>
          </p:cNvSpPr>
          <p:nvPr/>
        </p:nvSpPr>
        <p:spPr bwMode="auto">
          <a:xfrm>
            <a:off x="6515100" y="5695950"/>
            <a:ext cx="354013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 sz="2000" b="1" i="1">
                <a:ea typeface="华文行楷" pitchFamily="2" charset="-122"/>
              </a:rPr>
              <a:t>a</a:t>
            </a:r>
          </a:p>
        </p:txBody>
      </p:sp>
      <p:sp>
        <p:nvSpPr>
          <p:cNvPr id="450605" name="Line 45"/>
          <p:cNvSpPr>
            <a:spLocks noChangeShapeType="1"/>
          </p:cNvSpPr>
          <p:nvPr/>
        </p:nvSpPr>
        <p:spPr bwMode="auto">
          <a:xfrm flipV="1">
            <a:off x="6804025" y="5624513"/>
            <a:ext cx="254000" cy="21590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50606" name="Line 46"/>
          <p:cNvSpPr>
            <a:spLocks noChangeShapeType="1"/>
          </p:cNvSpPr>
          <p:nvPr/>
        </p:nvSpPr>
        <p:spPr bwMode="auto">
          <a:xfrm flipH="1" flipV="1">
            <a:off x="7307263" y="5624513"/>
            <a:ext cx="215900" cy="21590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50608" name="Line 48"/>
          <p:cNvSpPr>
            <a:spLocks noChangeShapeType="1"/>
          </p:cNvSpPr>
          <p:nvPr/>
        </p:nvSpPr>
        <p:spPr bwMode="auto">
          <a:xfrm flipV="1">
            <a:off x="7270750" y="5984875"/>
            <a:ext cx="254000" cy="21590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06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0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50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50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50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50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50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50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50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50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50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50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50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50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50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450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50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4506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4506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0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4506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0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4506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0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506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0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07" grpId="0"/>
      <p:bldP spid="450576" grpId="0"/>
      <p:bldP spid="450577" grpId="0"/>
      <p:bldP spid="450579" grpId="0"/>
      <p:bldP spid="450581" grpId="0"/>
      <p:bldP spid="450582" grpId="0"/>
      <p:bldP spid="450583" grpId="0"/>
      <p:bldP spid="450584" grpId="0" animBg="1"/>
      <p:bldP spid="450593" grpId="0" animBg="1"/>
      <p:bldP spid="450595" grpId="0" animBg="1"/>
      <p:bldP spid="450597" grpId="0" animBg="1"/>
      <p:bldP spid="450598" grpId="0" animBg="1"/>
      <p:bldP spid="450599" grpId="0"/>
      <p:bldP spid="450600" grpId="0"/>
      <p:bldP spid="450601" grpId="0" animBg="1"/>
      <p:bldP spid="450602" grpId="0" animBg="1"/>
      <p:bldP spid="450603" grpId="0"/>
      <p:bldP spid="450604" grpId="0"/>
      <p:bldP spid="450605" grpId="0" animBg="1"/>
      <p:bldP spid="450606" grpId="0" animBg="1"/>
      <p:bldP spid="45060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861" name="Text Box 5"/>
          <p:cNvSpPr txBox="1">
            <a:spLocks noChangeArrowheads="1"/>
          </p:cNvSpPr>
          <p:nvPr/>
        </p:nvSpPr>
        <p:spPr bwMode="auto">
          <a:xfrm>
            <a:off x="755650" y="1385888"/>
            <a:ext cx="7129463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3200" b="1">
                <a:solidFill>
                  <a:srgbClr val="800080"/>
                </a:solidFill>
                <a:latin typeface="楷体_GB2312" pitchFamily="49" charset="-122"/>
              </a:rPr>
              <a:t>直接短语</a:t>
            </a:r>
          </a:p>
        </p:txBody>
      </p:sp>
      <p:sp>
        <p:nvSpPr>
          <p:cNvPr id="505862" name="AutoShape 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5863" name="AutoShape 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5864" name="AutoShape 8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5865" name="AutoShape 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5866" name="Rectangle 10"/>
          <p:cNvSpPr>
            <a:spLocks noChangeArrowheads="1"/>
          </p:cNvSpPr>
          <p:nvPr/>
        </p:nvSpPr>
        <p:spPr bwMode="auto">
          <a:xfrm>
            <a:off x="0" y="188913"/>
            <a:ext cx="5867400" cy="66172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自底向上分析思想的回顾</a:t>
            </a:r>
          </a:p>
        </p:txBody>
      </p:sp>
      <p:grpSp>
        <p:nvGrpSpPr>
          <p:cNvPr id="505870" name="Group 14"/>
          <p:cNvGrpSpPr/>
          <p:nvPr/>
        </p:nvGrpSpPr>
        <p:grpSpPr bwMode="auto">
          <a:xfrm>
            <a:off x="1116013" y="2176463"/>
            <a:ext cx="7632700" cy="2105025"/>
            <a:chOff x="703" y="1371"/>
            <a:chExt cx="4808" cy="1326"/>
          </a:xfrm>
        </p:grpSpPr>
        <p:sp>
          <p:nvSpPr>
            <p:cNvPr id="505860" name="Rectangle 4"/>
            <p:cNvSpPr>
              <a:spLocks noChangeArrowheads="1"/>
            </p:cNvSpPr>
            <p:nvPr/>
          </p:nvSpPr>
          <p:spPr bwMode="auto">
            <a:xfrm>
              <a:off x="703" y="1371"/>
              <a:ext cx="4808" cy="132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ClrTx/>
                <a:buFont typeface="Symbol" panose="05050102010706020507" pitchFamily="18" charset="2"/>
                <a:buChar char="-"/>
              </a:pPr>
              <a:r>
                <a:rPr lang="en-US" altLang="zh-CN" sz="2800" b="1">
                  <a:solidFill>
                    <a:srgbClr val="800080"/>
                  </a:solidFill>
                  <a:latin typeface="楷体_GB2312" pitchFamily="49" charset="-122"/>
                </a:rPr>
                <a:t> </a:t>
              </a:r>
              <a:r>
                <a:rPr lang="zh-CN" altLang="en-US" sz="2800" b="1"/>
                <a:t>对于文法 </a:t>
              </a:r>
              <a:r>
                <a:rPr lang="en-US" altLang="zh-CN" sz="2800" b="1" i="1"/>
                <a:t>G</a:t>
              </a:r>
              <a:r>
                <a:rPr lang="en-US" altLang="zh-CN" sz="2800" b="1"/>
                <a:t> = (</a:t>
              </a:r>
              <a:r>
                <a:rPr lang="en-US" altLang="zh-CN" sz="2800" b="1" i="1"/>
                <a:t>V</a:t>
              </a:r>
              <a:r>
                <a:rPr lang="en-US" altLang="zh-CN" sz="2800" b="1" i="1" baseline="-25000"/>
                <a:t>N</a:t>
              </a:r>
              <a:r>
                <a:rPr lang="en-US" altLang="zh-CN" sz="2800" b="1" i="1"/>
                <a:t>,</a:t>
              </a:r>
              <a:r>
                <a:rPr lang="en-US" altLang="zh-CN" sz="2800" b="1"/>
                <a:t> </a:t>
              </a:r>
              <a:r>
                <a:rPr lang="en-US" altLang="zh-CN" sz="2800" b="1" i="1"/>
                <a:t>V</a:t>
              </a:r>
              <a:r>
                <a:rPr lang="en-US" altLang="zh-CN" sz="2800" b="1" i="1" baseline="-25000">
                  <a:sym typeface="Symbol" panose="05050102010706020507" pitchFamily="18" charset="2"/>
                </a:rPr>
                <a:t>T</a:t>
              </a:r>
              <a:r>
                <a:rPr lang="en-US" altLang="zh-CN" sz="2800" b="1" i="1"/>
                <a:t>, </a:t>
              </a:r>
              <a:r>
                <a:rPr lang="en-US" altLang="zh-CN" sz="2800" b="1" i="1">
                  <a:sym typeface="Symbol" panose="05050102010706020507" pitchFamily="18" charset="2"/>
                </a:rPr>
                <a:t>P</a:t>
              </a:r>
              <a:r>
                <a:rPr lang="en-US" altLang="zh-CN" sz="2800" b="1" i="1"/>
                <a:t> , S </a:t>
              </a:r>
              <a:r>
                <a:rPr lang="en-US" altLang="zh-CN" sz="2800" b="1"/>
                <a:t>)</a:t>
              </a:r>
              <a:r>
                <a:rPr lang="en-US" altLang="zh-CN" sz="2800"/>
                <a:t> </a:t>
              </a:r>
              <a:r>
                <a:rPr lang="zh-CN" altLang="en-US" sz="2800"/>
                <a:t>，</a:t>
              </a:r>
              <a:r>
                <a:rPr lang="zh-CN" altLang="en-US" sz="2800" b="1"/>
                <a:t>以及</a:t>
              </a:r>
            </a:p>
            <a:p>
              <a:pPr>
                <a:buClrTx/>
                <a:buFont typeface="Symbol" panose="05050102010706020507" pitchFamily="18" charset="2"/>
                <a:buNone/>
              </a:pPr>
              <a:r>
                <a:rPr lang="zh-CN" altLang="en-US" b="1" i="1">
                  <a:sym typeface="Symbol" panose="05050102010706020507" pitchFamily="18" charset="2"/>
                </a:rPr>
                <a:t>             </a:t>
              </a:r>
              <a:r>
                <a:rPr lang="zh-CN" altLang="en-US" sz="2800" b="1" i="1">
                  <a:sym typeface="Symbol" panose="05050102010706020507" pitchFamily="18" charset="2"/>
                </a:rPr>
                <a:t></a:t>
              </a:r>
              <a:r>
                <a:rPr lang="en-US" altLang="zh-CN" sz="2800" b="1" i="1">
                  <a:sym typeface="Symbol" panose="05050102010706020507" pitchFamily="18" charset="2"/>
                </a:rPr>
                <a:t>, </a:t>
              </a:r>
              <a:r>
                <a:rPr kumimoji="0" lang="en-US" altLang="zh-CN" sz="2800" b="1"/>
                <a:t>β</a:t>
              </a:r>
              <a:r>
                <a:rPr lang="en-US" altLang="zh-CN" sz="2800" b="1" i="1">
                  <a:sym typeface="Symbol" panose="05050102010706020507" pitchFamily="18" charset="2"/>
                </a:rPr>
                <a:t>,</a:t>
              </a:r>
              <a:r>
                <a:rPr lang="en-US" altLang="zh-CN" sz="2800">
                  <a:sym typeface="Symbol" panose="05050102010706020507" pitchFamily="18" charset="2"/>
                </a:rPr>
                <a:t> </a:t>
              </a:r>
              <a:r>
                <a:rPr kumimoji="0" lang="en-US" altLang="zh-CN" sz="2800" b="1"/>
                <a:t>δ</a:t>
              </a:r>
              <a:r>
                <a:rPr lang="en-US" altLang="zh-CN" sz="2800" b="1">
                  <a:sym typeface="Symbol" panose="05050102010706020507" pitchFamily="18" charset="2"/>
                </a:rPr>
                <a:t>(</a:t>
              </a:r>
              <a:r>
                <a:rPr lang="en-US" altLang="zh-CN" sz="2800" b="1" i="1">
                  <a:sym typeface="Symbol" panose="05050102010706020507" pitchFamily="18" charset="2"/>
                </a:rPr>
                <a:t>V</a:t>
              </a:r>
              <a:r>
                <a:rPr lang="en-US" altLang="zh-CN" sz="2800" b="1" i="1" baseline="-25000">
                  <a:sym typeface="Symbol" panose="05050102010706020507" pitchFamily="18" charset="2"/>
                </a:rPr>
                <a:t>N</a:t>
              </a:r>
              <a:r>
                <a:rPr lang="en-US" altLang="zh-CN" sz="2800" b="1">
                  <a:sym typeface="Symbol" panose="05050102010706020507" pitchFamily="18" charset="2"/>
                </a:rPr>
                <a:t></a:t>
              </a:r>
              <a:r>
                <a:rPr lang="en-US" altLang="zh-CN" sz="2800" b="1" i="1">
                  <a:sym typeface="Symbol" panose="05050102010706020507" pitchFamily="18" charset="2"/>
                </a:rPr>
                <a:t>V</a:t>
              </a:r>
              <a:r>
                <a:rPr lang="en-US" altLang="zh-CN" sz="2800" b="1" i="1" baseline="-25000">
                  <a:sym typeface="Symbol" panose="05050102010706020507" pitchFamily="18" charset="2"/>
                </a:rPr>
                <a:t>T</a:t>
              </a:r>
              <a:r>
                <a:rPr lang="en-US" altLang="zh-CN" sz="2800" b="1" i="1">
                  <a:sym typeface="Symbol" panose="05050102010706020507" pitchFamily="18" charset="2"/>
                </a:rPr>
                <a:t>)*</a:t>
              </a:r>
              <a:r>
                <a:rPr lang="en-US" altLang="zh-CN">
                  <a:sym typeface="Symbol" panose="05050102010706020507" pitchFamily="18" charset="2"/>
                </a:rPr>
                <a:t> </a:t>
              </a:r>
              <a:endParaRPr lang="en-US" altLang="zh-CN"/>
            </a:p>
            <a:p>
              <a:pPr>
                <a:buClrTx/>
                <a:buFont typeface="Symbol" panose="05050102010706020507" pitchFamily="18" charset="2"/>
                <a:buNone/>
              </a:pPr>
              <a:endParaRPr lang="en-US" altLang="zh-CN" sz="1000"/>
            </a:p>
            <a:p>
              <a:pPr>
                <a:buClrTx/>
                <a:buFont typeface="Symbol" panose="05050102010706020507" pitchFamily="18" charset="2"/>
                <a:buNone/>
              </a:pPr>
              <a:r>
                <a:rPr lang="en-US" altLang="zh-CN" sz="2800" b="1"/>
                <a:t>    </a:t>
              </a:r>
              <a:r>
                <a:rPr lang="zh-CN" altLang="en-US" sz="2800" b="1"/>
                <a:t>若 </a:t>
              </a:r>
              <a:r>
                <a:rPr kumimoji="0" lang="en-US" altLang="zh-CN" sz="2800" b="1"/>
                <a:t>S </a:t>
              </a:r>
              <a:r>
                <a:rPr kumimoji="0" lang="en-US" altLang="zh-CN" sz="2800">
                  <a:sym typeface="Symbol" panose="05050102010706020507" pitchFamily="18" charset="2"/>
                </a:rPr>
                <a:t></a:t>
              </a:r>
              <a:r>
                <a:rPr kumimoji="0" lang="en-US" altLang="zh-CN" sz="2800" b="1"/>
                <a:t>αAδ</a:t>
              </a:r>
              <a:r>
                <a:rPr kumimoji="0" lang="zh-CN" altLang="en-US" sz="2800" b="1"/>
                <a:t>且  </a:t>
              </a:r>
              <a:r>
                <a:rPr kumimoji="0" lang="en-US" altLang="zh-CN" sz="2800" b="1"/>
                <a:t>A </a:t>
              </a:r>
              <a:r>
                <a:rPr kumimoji="0" lang="en-US" altLang="zh-CN">
                  <a:sym typeface="Symbol" panose="05050102010706020507" pitchFamily="18" charset="2"/>
                </a:rPr>
                <a:t></a:t>
              </a:r>
              <a:r>
                <a:rPr kumimoji="0" lang="en-US" altLang="zh-CN" sz="2800" b="1"/>
                <a:t>β</a:t>
              </a:r>
              <a:r>
                <a:rPr kumimoji="0" lang="zh-CN" altLang="en-US" sz="2800" b="1"/>
                <a:t>，则称</a:t>
              </a:r>
            </a:p>
            <a:p>
              <a:pPr>
                <a:buClrTx/>
                <a:buFont typeface="Symbol" panose="05050102010706020507" pitchFamily="18" charset="2"/>
                <a:buNone/>
              </a:pPr>
              <a:endParaRPr kumimoji="0" lang="zh-CN" altLang="en-US" sz="1000" b="1"/>
            </a:p>
            <a:p>
              <a:pPr>
                <a:buClrTx/>
                <a:buFont typeface="Symbol" panose="05050102010706020507" pitchFamily="18" charset="2"/>
                <a:buNone/>
              </a:pPr>
              <a:r>
                <a:rPr kumimoji="0" lang="zh-CN" altLang="en-US" sz="2800" b="1"/>
                <a:t>    </a:t>
              </a:r>
              <a:r>
                <a:rPr kumimoji="0" lang="en-US" altLang="zh-CN" sz="2800" b="1">
                  <a:solidFill>
                    <a:srgbClr val="800080"/>
                  </a:solidFill>
                </a:rPr>
                <a:t>β</a:t>
              </a:r>
              <a:r>
                <a:rPr kumimoji="0" lang="zh-CN" altLang="en-US" sz="2800" b="1">
                  <a:solidFill>
                    <a:srgbClr val="800080"/>
                  </a:solidFill>
                </a:rPr>
                <a:t>是句型</a:t>
              </a:r>
              <a:r>
                <a:rPr kumimoji="0" lang="en-US" altLang="zh-CN" sz="2800" b="1">
                  <a:solidFill>
                    <a:srgbClr val="800080"/>
                  </a:solidFill>
                </a:rPr>
                <a:t>αβδ</a:t>
              </a:r>
              <a:r>
                <a:rPr kumimoji="0" lang="zh-CN" altLang="en-US" sz="2800" b="1">
                  <a:solidFill>
                    <a:srgbClr val="800080"/>
                  </a:solidFill>
                </a:rPr>
                <a:t>相对于非终结符</a:t>
              </a:r>
              <a:r>
                <a:rPr kumimoji="0" lang="en-US" altLang="zh-CN" sz="2800" b="1">
                  <a:solidFill>
                    <a:srgbClr val="800080"/>
                  </a:solidFill>
                </a:rPr>
                <a:t>A</a:t>
              </a:r>
              <a:r>
                <a:rPr kumimoji="0" lang="zh-CN" altLang="en-US" sz="2800" b="1">
                  <a:solidFill>
                    <a:srgbClr val="800080"/>
                  </a:solidFill>
                </a:rPr>
                <a:t>的直接短语</a:t>
              </a:r>
            </a:p>
          </p:txBody>
        </p:sp>
        <p:sp>
          <p:nvSpPr>
            <p:cNvPr id="505867" name="Rectangle 11"/>
            <p:cNvSpPr>
              <a:spLocks noChangeArrowheads="1"/>
            </p:cNvSpPr>
            <p:nvPr/>
          </p:nvSpPr>
          <p:spPr bwMode="auto">
            <a:xfrm>
              <a:off x="1519" y="1979"/>
              <a:ext cx="188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en-US" altLang="zh-CN" sz="1800" b="1">
                  <a:ea typeface="华文行楷" pitchFamily="2" charset="-122"/>
                  <a:sym typeface="Symbol" panose="05050102010706020507" pitchFamily="18" charset="2"/>
                </a:rPr>
                <a:t></a:t>
              </a:r>
            </a:p>
          </p:txBody>
        </p:sp>
      </p:grpSp>
      <p:sp>
        <p:nvSpPr>
          <p:cNvPr id="505871" name="Text Box 15"/>
          <p:cNvSpPr txBox="1">
            <a:spLocks noChangeArrowheads="1"/>
          </p:cNvSpPr>
          <p:nvPr/>
        </p:nvSpPr>
        <p:spPr bwMode="auto">
          <a:xfrm>
            <a:off x="755650" y="4440238"/>
            <a:ext cx="6840538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 </a:t>
            </a:r>
            <a:r>
              <a:rPr lang="zh-CN" altLang="en-US" sz="3200" b="1">
                <a:solidFill>
                  <a:srgbClr val="800080"/>
                </a:solidFill>
              </a:rPr>
              <a:t>直接短语的作用</a:t>
            </a:r>
            <a:endParaRPr lang="zh-CN" altLang="en-US" sz="3200" b="1">
              <a:latin typeface="楷体_GB2312" pitchFamily="49" charset="-122"/>
            </a:endParaRPr>
          </a:p>
        </p:txBody>
      </p:sp>
      <p:sp>
        <p:nvSpPr>
          <p:cNvPr id="505872" name="Rectangle 16"/>
          <p:cNvSpPr>
            <a:spLocks noChangeArrowheads="1"/>
          </p:cNvSpPr>
          <p:nvPr/>
        </p:nvSpPr>
        <p:spPr bwMode="auto">
          <a:xfrm>
            <a:off x="1116013" y="5141913"/>
            <a:ext cx="7416800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anose="05050102010706020507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/>
              <a:t>作为当前句型的一步“可归约串”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05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505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5871" grpId="0"/>
      <p:bldP spid="50587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5" name="Text Box 5"/>
          <p:cNvSpPr txBox="1">
            <a:spLocks noChangeArrowheads="1"/>
          </p:cNvSpPr>
          <p:nvPr/>
        </p:nvSpPr>
        <p:spPr bwMode="auto">
          <a:xfrm>
            <a:off x="755650" y="1268413"/>
            <a:ext cx="7129463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 </a:t>
            </a:r>
            <a:r>
              <a:rPr lang="zh-CN" altLang="en-US" sz="3200" b="1">
                <a:solidFill>
                  <a:srgbClr val="800080"/>
                </a:solidFill>
              </a:rPr>
              <a:t>举例</a:t>
            </a:r>
            <a:r>
              <a:rPr lang="zh-CN" altLang="en-US" sz="3200" b="1"/>
              <a:t>：</a:t>
            </a:r>
            <a:r>
              <a:rPr lang="zh-CN" altLang="en-US" sz="3200" b="1">
                <a:latin typeface="楷体_GB2312" pitchFamily="49" charset="-122"/>
              </a:rPr>
              <a:t>直接短语</a:t>
            </a:r>
          </a:p>
        </p:txBody>
      </p:sp>
      <p:sp>
        <p:nvSpPr>
          <p:cNvPr id="506886" name="AutoShape 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6887" name="AutoShape 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6888" name="AutoShape 8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6889" name="AutoShape 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6891" name="Rectangle 11"/>
          <p:cNvSpPr>
            <a:spLocks noChangeArrowheads="1"/>
          </p:cNvSpPr>
          <p:nvPr/>
        </p:nvSpPr>
        <p:spPr bwMode="auto">
          <a:xfrm>
            <a:off x="6011863" y="1987550"/>
            <a:ext cx="2232025" cy="243522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b="1"/>
              <a:t>文法 </a:t>
            </a:r>
            <a:r>
              <a:rPr lang="en-US" altLang="zh-CN"/>
              <a:t>G</a:t>
            </a:r>
            <a:r>
              <a:rPr lang="zh-CN" altLang="en-US"/>
              <a:t>（</a:t>
            </a:r>
            <a:r>
              <a:rPr lang="en-US" altLang="zh-CN"/>
              <a:t>S</a:t>
            </a:r>
            <a:r>
              <a:rPr lang="zh-CN" altLang="en-US"/>
              <a:t>）</a:t>
            </a:r>
            <a:r>
              <a:rPr lang="en-US" altLang="zh-CN"/>
              <a:t>: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000"/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/>
              <a:t>S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AB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  <a:r>
              <a:rPr lang="en-US" altLang="zh-CN"/>
              <a:t>A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aA</a:t>
            </a:r>
            <a:endParaRPr lang="en-US" altLang="zh-CN"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</a:t>
            </a:r>
            <a:r>
              <a:rPr lang="en-US" altLang="zh-CN"/>
              <a:t>A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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（</a:t>
            </a:r>
            <a:r>
              <a:rPr lang="en-US" altLang="zh-CN"/>
              <a:t>4</a:t>
            </a:r>
            <a:r>
              <a:rPr lang="zh-CN" altLang="en-US"/>
              <a:t>）</a:t>
            </a:r>
            <a:r>
              <a:rPr lang="en-US" altLang="zh-CN"/>
              <a:t>B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b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（</a:t>
            </a:r>
            <a:r>
              <a:rPr lang="en-US" altLang="zh-CN"/>
              <a:t>5</a:t>
            </a:r>
            <a:r>
              <a:rPr lang="zh-CN" altLang="en-US"/>
              <a:t>）</a:t>
            </a:r>
            <a:r>
              <a:rPr lang="en-US" altLang="zh-CN"/>
              <a:t>B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bB</a:t>
            </a:r>
          </a:p>
        </p:txBody>
      </p:sp>
      <p:sp>
        <p:nvSpPr>
          <p:cNvPr id="506893" name="Rectangle 13"/>
          <p:cNvSpPr>
            <a:spLocks noChangeArrowheads="1"/>
          </p:cNvSpPr>
          <p:nvPr/>
        </p:nvSpPr>
        <p:spPr bwMode="auto">
          <a:xfrm>
            <a:off x="1174750" y="2060575"/>
            <a:ext cx="4549775" cy="301466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Symbol" panose="05050102010706020507" pitchFamily="18" charset="2"/>
              <a:buChar char="-"/>
            </a:pPr>
            <a:r>
              <a:rPr lang="en-US" altLang="zh-CN" sz="2800" b="1">
                <a:latin typeface="楷体_GB2312" pitchFamily="49" charset="-122"/>
              </a:rPr>
              <a:t> </a:t>
            </a:r>
            <a:r>
              <a:rPr lang="zh-CN" altLang="en-US" sz="2800" b="1">
                <a:latin typeface="楷体_GB2312" pitchFamily="49" charset="-122"/>
              </a:rPr>
              <a:t>对于右边的文法</a:t>
            </a:r>
            <a:r>
              <a:rPr lang="en-US" altLang="zh-CN" sz="2800"/>
              <a:t>G(S)</a:t>
            </a:r>
            <a:endParaRPr lang="en-US" altLang="zh-CN" sz="2800" b="1">
              <a:latin typeface="楷体_GB2312" pitchFamily="49" charset="-122"/>
            </a:endParaRPr>
          </a:p>
          <a:p>
            <a:pPr>
              <a:buFont typeface="Symbol" panose="05050102010706020507" pitchFamily="18" charset="2"/>
              <a:buNone/>
            </a:pPr>
            <a:endParaRPr lang="en-US" altLang="zh-CN" sz="1000" b="1">
              <a:latin typeface="楷体_GB2312" pitchFamily="49" charset="-122"/>
            </a:endParaRPr>
          </a:p>
          <a:p>
            <a:pPr>
              <a:buFont typeface="Symbol" panose="05050102010706020507" pitchFamily="18" charset="2"/>
              <a:buNone/>
            </a:pPr>
            <a:r>
              <a:rPr lang="en-US" altLang="zh-CN" b="1">
                <a:latin typeface="楷体_GB2312" pitchFamily="49" charset="-122"/>
              </a:rPr>
              <a:t>  </a:t>
            </a:r>
            <a:r>
              <a:rPr lang="zh-CN" altLang="en-US" b="1">
                <a:latin typeface="楷体_GB2312" pitchFamily="49" charset="-122"/>
              </a:rPr>
              <a:t>句子 </a:t>
            </a:r>
            <a:r>
              <a:rPr lang="en-US" altLang="zh-CN">
                <a:solidFill>
                  <a:srgbClr val="800080"/>
                </a:solidFill>
              </a:rPr>
              <a:t>aaab</a:t>
            </a:r>
            <a:r>
              <a:rPr lang="en-US" altLang="zh-CN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b="1">
                <a:solidFill>
                  <a:srgbClr val="800080"/>
                </a:solidFill>
                <a:latin typeface="楷体_GB2312" pitchFamily="49" charset="-122"/>
              </a:rPr>
              <a:t>的直接短语</a:t>
            </a:r>
            <a:r>
              <a:rPr lang="zh-CN" altLang="en-US" b="1">
                <a:latin typeface="楷体_GB2312" pitchFamily="49" charset="-122"/>
              </a:rPr>
              <a:t>有：</a:t>
            </a:r>
          </a:p>
          <a:p>
            <a:pPr>
              <a:buFont typeface="Symbol" panose="05050102010706020507" pitchFamily="18" charset="2"/>
              <a:buNone/>
            </a:pPr>
            <a:r>
              <a:rPr lang="zh-CN" altLang="en-US">
                <a:solidFill>
                  <a:srgbClr val="800080"/>
                </a:solidFill>
              </a:rPr>
              <a:t>              </a:t>
            </a:r>
            <a:r>
              <a:rPr lang="zh-CN" altLang="en-US">
                <a:solidFill>
                  <a:srgbClr val="800080"/>
                </a:solidFill>
                <a:sym typeface="Symbol" panose="05050102010706020507" pitchFamily="18" charset="2"/>
              </a:rPr>
              <a:t></a:t>
            </a:r>
            <a:r>
              <a:rPr lang="zh-CN" altLang="en-US"/>
              <a:t> ：</a:t>
            </a:r>
            <a:r>
              <a:rPr lang="en-US" altLang="zh-CN"/>
              <a:t>aaa</a:t>
            </a:r>
            <a:r>
              <a:rPr lang="en-US" altLang="zh-CN">
                <a:solidFill>
                  <a:srgbClr val="800080"/>
                </a:solidFill>
                <a:sym typeface="Symbol" panose="05050102010706020507" pitchFamily="18" charset="2"/>
              </a:rPr>
              <a:t></a:t>
            </a:r>
            <a:r>
              <a:rPr lang="en-US" altLang="zh-CN"/>
              <a:t>b</a:t>
            </a:r>
            <a:r>
              <a:rPr lang="zh-CN" altLang="en-US"/>
              <a:t>；</a:t>
            </a:r>
            <a:endParaRPr lang="zh-CN" altLang="en-US" b="1">
              <a:latin typeface="楷体_GB2312" pitchFamily="49" charset="-122"/>
            </a:endParaRPr>
          </a:p>
          <a:p>
            <a:pPr>
              <a:buFont typeface="Symbol" panose="05050102010706020507" pitchFamily="18" charset="2"/>
              <a:buNone/>
            </a:pPr>
            <a:r>
              <a:rPr lang="zh-CN" altLang="en-US"/>
              <a:t>               </a:t>
            </a:r>
            <a:r>
              <a:rPr lang="en-US" altLang="zh-CN">
                <a:solidFill>
                  <a:srgbClr val="800080"/>
                </a:solidFill>
              </a:rPr>
              <a:t>b</a:t>
            </a:r>
            <a:r>
              <a:rPr lang="zh-CN" altLang="en-US"/>
              <a:t>：</a:t>
            </a:r>
            <a:r>
              <a:rPr lang="en-US" altLang="zh-CN"/>
              <a:t>aaa</a:t>
            </a:r>
            <a:r>
              <a:rPr lang="en-US" altLang="zh-CN">
                <a:solidFill>
                  <a:srgbClr val="800080"/>
                </a:solidFill>
              </a:rPr>
              <a:t>b</a:t>
            </a:r>
            <a:endParaRPr lang="en-US" altLang="zh-CN"/>
          </a:p>
          <a:p>
            <a:pPr>
              <a:buFont typeface="Symbol" panose="05050102010706020507" pitchFamily="18" charset="2"/>
              <a:buNone/>
            </a:pPr>
            <a:endParaRPr lang="en-US" altLang="zh-CN" sz="1000">
              <a:solidFill>
                <a:srgbClr val="800080"/>
              </a:solidFill>
            </a:endParaRPr>
          </a:p>
          <a:p>
            <a:pPr>
              <a:buFont typeface="Symbol" panose="05050102010706020507" pitchFamily="18" charset="2"/>
              <a:buNone/>
            </a:pPr>
            <a:r>
              <a:rPr lang="en-US" altLang="zh-CN"/>
              <a:t>    </a:t>
            </a:r>
            <a:r>
              <a:rPr lang="zh-CN" altLang="en-US" b="1"/>
              <a:t>句型</a:t>
            </a:r>
            <a:r>
              <a:rPr lang="en-US" altLang="zh-CN">
                <a:solidFill>
                  <a:srgbClr val="800080"/>
                </a:solidFill>
              </a:rPr>
              <a:t>aaAb</a:t>
            </a:r>
            <a:r>
              <a:rPr lang="zh-CN" altLang="en-US" b="1">
                <a:solidFill>
                  <a:srgbClr val="800080"/>
                </a:solidFill>
              </a:rPr>
              <a:t>的直接短语</a:t>
            </a:r>
            <a:r>
              <a:rPr lang="zh-CN" altLang="en-US" b="1"/>
              <a:t>有：</a:t>
            </a:r>
            <a:endParaRPr lang="zh-CN" altLang="en-US"/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             </a:t>
            </a:r>
            <a:r>
              <a:rPr lang="en-US" altLang="zh-CN">
                <a:solidFill>
                  <a:srgbClr val="800080"/>
                </a:solidFill>
              </a:rPr>
              <a:t>aA</a:t>
            </a:r>
            <a:r>
              <a:rPr lang="zh-CN" altLang="en-US"/>
              <a:t>：</a:t>
            </a:r>
            <a:r>
              <a:rPr lang="en-US" altLang="zh-CN"/>
              <a:t>a</a:t>
            </a:r>
            <a:r>
              <a:rPr lang="en-US" altLang="zh-CN">
                <a:solidFill>
                  <a:srgbClr val="800080"/>
                </a:solidFill>
              </a:rPr>
              <a:t>aA</a:t>
            </a:r>
            <a:r>
              <a:rPr lang="en-US" altLang="zh-CN"/>
              <a:t>b</a:t>
            </a:r>
            <a:r>
              <a:rPr lang="zh-CN" altLang="en-US"/>
              <a:t>；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800080"/>
                </a:solidFill>
              </a:rPr>
              <a:t>               </a:t>
            </a:r>
            <a:r>
              <a:rPr lang="en-US" altLang="zh-CN">
                <a:solidFill>
                  <a:srgbClr val="800080"/>
                </a:solidFill>
              </a:rPr>
              <a:t>b</a:t>
            </a:r>
            <a:r>
              <a:rPr lang="zh-CN" altLang="en-US"/>
              <a:t>：</a:t>
            </a:r>
            <a:r>
              <a:rPr lang="en-US" altLang="zh-CN"/>
              <a:t>aaA</a:t>
            </a:r>
            <a:r>
              <a:rPr lang="en-US" altLang="zh-CN">
                <a:solidFill>
                  <a:srgbClr val="800080"/>
                </a:solidFill>
              </a:rPr>
              <a:t>b</a:t>
            </a:r>
          </a:p>
        </p:txBody>
      </p:sp>
      <p:sp>
        <p:nvSpPr>
          <p:cNvPr id="506959" name="Rectangle 79"/>
          <p:cNvSpPr>
            <a:spLocks noChangeArrowheads="1"/>
          </p:cNvSpPr>
          <p:nvPr/>
        </p:nvSpPr>
        <p:spPr bwMode="auto">
          <a:xfrm>
            <a:off x="5707063" y="6272213"/>
            <a:ext cx="354012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 sz="2000" b="1" i="1">
                <a:ea typeface="华文行楷" pitchFamily="2" charset="-122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506960" name="Rectangle 80"/>
          <p:cNvSpPr>
            <a:spLocks noChangeArrowheads="1"/>
          </p:cNvSpPr>
          <p:nvPr/>
        </p:nvSpPr>
        <p:spPr bwMode="auto">
          <a:xfrm>
            <a:off x="5305425" y="5232400"/>
            <a:ext cx="368300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 sz="2000" b="1" i="1">
                <a:ea typeface="华文行楷" pitchFamily="2" charset="-122"/>
              </a:rPr>
              <a:t>A</a:t>
            </a:r>
          </a:p>
        </p:txBody>
      </p:sp>
      <p:sp>
        <p:nvSpPr>
          <p:cNvPr id="506961" name="Rectangle 81"/>
          <p:cNvSpPr>
            <a:spLocks noChangeArrowheads="1"/>
          </p:cNvSpPr>
          <p:nvPr/>
        </p:nvSpPr>
        <p:spPr bwMode="auto">
          <a:xfrm>
            <a:off x="4376738" y="5232400"/>
            <a:ext cx="354012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 sz="2000" b="1" i="1">
                <a:ea typeface="华文行楷" pitchFamily="2" charset="-122"/>
              </a:rPr>
              <a:t>a</a:t>
            </a:r>
          </a:p>
        </p:txBody>
      </p:sp>
      <p:sp>
        <p:nvSpPr>
          <p:cNvPr id="506962" name="Rectangle 82"/>
          <p:cNvSpPr>
            <a:spLocks noChangeArrowheads="1"/>
          </p:cNvSpPr>
          <p:nvPr/>
        </p:nvSpPr>
        <p:spPr bwMode="auto">
          <a:xfrm>
            <a:off x="4873625" y="4872038"/>
            <a:ext cx="368300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 sz="2000" b="1" i="1">
                <a:ea typeface="华文行楷" pitchFamily="2" charset="-122"/>
              </a:rPr>
              <a:t>A</a:t>
            </a:r>
          </a:p>
        </p:txBody>
      </p:sp>
      <p:sp>
        <p:nvSpPr>
          <p:cNvPr id="506963" name="Rectangle 83"/>
          <p:cNvSpPr>
            <a:spLocks noChangeArrowheads="1"/>
          </p:cNvSpPr>
          <p:nvPr/>
        </p:nvSpPr>
        <p:spPr bwMode="auto">
          <a:xfrm>
            <a:off x="5881688" y="4872038"/>
            <a:ext cx="368300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 sz="2000" b="1" i="1">
                <a:ea typeface="华文行楷" pitchFamily="2" charset="-122"/>
              </a:rPr>
              <a:t>B</a:t>
            </a:r>
          </a:p>
        </p:txBody>
      </p:sp>
      <p:sp>
        <p:nvSpPr>
          <p:cNvPr id="506964" name="Rectangle 84"/>
          <p:cNvSpPr>
            <a:spLocks noChangeArrowheads="1"/>
          </p:cNvSpPr>
          <p:nvPr/>
        </p:nvSpPr>
        <p:spPr bwMode="auto">
          <a:xfrm>
            <a:off x="5386388" y="4511675"/>
            <a:ext cx="354012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 sz="2000" b="1" i="1">
                <a:ea typeface="华文行楷" pitchFamily="2" charset="-122"/>
              </a:rPr>
              <a:t>S</a:t>
            </a:r>
          </a:p>
        </p:txBody>
      </p:sp>
      <p:sp>
        <p:nvSpPr>
          <p:cNvPr id="506965" name="Rectangle 85"/>
          <p:cNvSpPr>
            <a:spLocks noChangeArrowheads="1"/>
          </p:cNvSpPr>
          <p:nvPr/>
        </p:nvSpPr>
        <p:spPr bwMode="auto">
          <a:xfrm>
            <a:off x="6392863" y="5232400"/>
            <a:ext cx="339725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 sz="2000" b="1" i="1">
                <a:ea typeface="华文行楷" pitchFamily="2" charset="-122"/>
              </a:rPr>
              <a:t>b</a:t>
            </a:r>
          </a:p>
        </p:txBody>
      </p:sp>
      <p:sp>
        <p:nvSpPr>
          <p:cNvPr id="506966" name="Line 86"/>
          <p:cNvSpPr>
            <a:spLocks noChangeShapeType="1"/>
          </p:cNvSpPr>
          <p:nvPr/>
        </p:nvSpPr>
        <p:spPr bwMode="auto">
          <a:xfrm flipH="1" flipV="1">
            <a:off x="6176963" y="5089525"/>
            <a:ext cx="288925" cy="287338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06967" name="Line 87"/>
          <p:cNvSpPr>
            <a:spLocks noChangeShapeType="1"/>
          </p:cNvSpPr>
          <p:nvPr/>
        </p:nvSpPr>
        <p:spPr bwMode="auto">
          <a:xfrm flipH="1" flipV="1">
            <a:off x="5691188" y="4740275"/>
            <a:ext cx="269875" cy="220663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06968" name="Line 88"/>
          <p:cNvSpPr>
            <a:spLocks noChangeShapeType="1"/>
          </p:cNvSpPr>
          <p:nvPr/>
        </p:nvSpPr>
        <p:spPr bwMode="auto">
          <a:xfrm flipV="1">
            <a:off x="5168900" y="4740275"/>
            <a:ext cx="293688" cy="239713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06969" name="Line 89"/>
          <p:cNvSpPr>
            <a:spLocks noChangeShapeType="1"/>
          </p:cNvSpPr>
          <p:nvPr/>
        </p:nvSpPr>
        <p:spPr bwMode="auto">
          <a:xfrm flipV="1">
            <a:off x="4665663" y="5160963"/>
            <a:ext cx="254000" cy="21590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06970" name="Line 90"/>
          <p:cNvSpPr>
            <a:spLocks noChangeShapeType="1"/>
          </p:cNvSpPr>
          <p:nvPr/>
        </p:nvSpPr>
        <p:spPr bwMode="auto">
          <a:xfrm flipH="1" flipV="1">
            <a:off x="5168900" y="5160963"/>
            <a:ext cx="215900" cy="21590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06971" name="Rectangle 91"/>
          <p:cNvSpPr>
            <a:spLocks noChangeArrowheads="1"/>
          </p:cNvSpPr>
          <p:nvPr/>
        </p:nvSpPr>
        <p:spPr bwMode="auto">
          <a:xfrm>
            <a:off x="5738813" y="5556250"/>
            <a:ext cx="368300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 sz="2000" b="1" i="1">
                <a:ea typeface="华文行楷" pitchFamily="2" charset="-122"/>
              </a:rPr>
              <a:t>A</a:t>
            </a:r>
          </a:p>
        </p:txBody>
      </p:sp>
      <p:sp>
        <p:nvSpPr>
          <p:cNvPr id="506972" name="Rectangle 92"/>
          <p:cNvSpPr>
            <a:spLocks noChangeArrowheads="1"/>
          </p:cNvSpPr>
          <p:nvPr/>
        </p:nvSpPr>
        <p:spPr bwMode="auto">
          <a:xfrm>
            <a:off x="4810125" y="5556250"/>
            <a:ext cx="354013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 sz="2000" b="1" i="1">
                <a:ea typeface="华文行楷" pitchFamily="2" charset="-122"/>
              </a:rPr>
              <a:t>a</a:t>
            </a:r>
          </a:p>
        </p:txBody>
      </p:sp>
      <p:sp>
        <p:nvSpPr>
          <p:cNvPr id="506973" name="Line 93"/>
          <p:cNvSpPr>
            <a:spLocks noChangeShapeType="1"/>
          </p:cNvSpPr>
          <p:nvPr/>
        </p:nvSpPr>
        <p:spPr bwMode="auto">
          <a:xfrm flipV="1">
            <a:off x="5099050" y="5484813"/>
            <a:ext cx="254000" cy="21590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06974" name="Line 94"/>
          <p:cNvSpPr>
            <a:spLocks noChangeShapeType="1"/>
          </p:cNvSpPr>
          <p:nvPr/>
        </p:nvSpPr>
        <p:spPr bwMode="auto">
          <a:xfrm flipH="1" flipV="1">
            <a:off x="5602288" y="5448300"/>
            <a:ext cx="215900" cy="252413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06975" name="Rectangle 95"/>
          <p:cNvSpPr>
            <a:spLocks noChangeArrowheads="1"/>
          </p:cNvSpPr>
          <p:nvPr/>
        </p:nvSpPr>
        <p:spPr bwMode="auto">
          <a:xfrm>
            <a:off x="6169025" y="5915025"/>
            <a:ext cx="368300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 sz="2000" b="1" i="1">
                <a:ea typeface="华文行楷" pitchFamily="2" charset="-122"/>
              </a:rPr>
              <a:t>A</a:t>
            </a:r>
          </a:p>
        </p:txBody>
      </p:sp>
      <p:sp>
        <p:nvSpPr>
          <p:cNvPr id="506976" name="Rectangle 96"/>
          <p:cNvSpPr>
            <a:spLocks noChangeArrowheads="1"/>
          </p:cNvSpPr>
          <p:nvPr/>
        </p:nvSpPr>
        <p:spPr bwMode="auto">
          <a:xfrm>
            <a:off x="5240338" y="5915025"/>
            <a:ext cx="354012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 sz="2000" b="1" i="1">
                <a:ea typeface="华文行楷" pitchFamily="2" charset="-122"/>
              </a:rPr>
              <a:t>a</a:t>
            </a:r>
          </a:p>
        </p:txBody>
      </p:sp>
      <p:sp>
        <p:nvSpPr>
          <p:cNvPr id="506977" name="Line 97"/>
          <p:cNvSpPr>
            <a:spLocks noChangeShapeType="1"/>
          </p:cNvSpPr>
          <p:nvPr/>
        </p:nvSpPr>
        <p:spPr bwMode="auto">
          <a:xfrm flipV="1">
            <a:off x="5529263" y="5843588"/>
            <a:ext cx="254000" cy="21590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06978" name="Line 98"/>
          <p:cNvSpPr>
            <a:spLocks noChangeShapeType="1"/>
          </p:cNvSpPr>
          <p:nvPr/>
        </p:nvSpPr>
        <p:spPr bwMode="auto">
          <a:xfrm flipH="1" flipV="1">
            <a:off x="6032500" y="5843588"/>
            <a:ext cx="215900" cy="21590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06979" name="Line 99"/>
          <p:cNvSpPr>
            <a:spLocks noChangeShapeType="1"/>
          </p:cNvSpPr>
          <p:nvPr/>
        </p:nvSpPr>
        <p:spPr bwMode="auto">
          <a:xfrm flipV="1">
            <a:off x="5995988" y="6203950"/>
            <a:ext cx="254000" cy="21590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" name="Rectangle 33"/>
          <p:cNvSpPr>
            <a:spLocks noChangeArrowheads="1"/>
          </p:cNvSpPr>
          <p:nvPr/>
        </p:nvSpPr>
        <p:spPr bwMode="auto">
          <a:xfrm>
            <a:off x="-252536" y="188913"/>
            <a:ext cx="6048672" cy="66172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自底向上分析思想的回顾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069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6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06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06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06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06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06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06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06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06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06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06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06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06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506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506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06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5069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6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5069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6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5069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6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069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6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5069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6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6959" grpId="0"/>
      <p:bldP spid="506960" grpId="0"/>
      <p:bldP spid="506961" grpId="0"/>
      <p:bldP spid="506962" grpId="0"/>
      <p:bldP spid="506963" grpId="0"/>
      <p:bldP spid="506964" grpId="0"/>
      <p:bldP spid="506965" grpId="0"/>
      <p:bldP spid="506966" grpId="0" animBg="1"/>
      <p:bldP spid="506967" grpId="0" animBg="1"/>
      <p:bldP spid="506968" grpId="0" animBg="1"/>
      <p:bldP spid="506969" grpId="0" animBg="1"/>
      <p:bldP spid="506970" grpId="0" animBg="1"/>
      <p:bldP spid="506971" grpId="0"/>
      <p:bldP spid="506972" grpId="0"/>
      <p:bldP spid="506973" grpId="0" animBg="1"/>
      <p:bldP spid="506974" grpId="0" animBg="1"/>
      <p:bldP spid="506975" grpId="0"/>
      <p:bldP spid="506976" grpId="0"/>
      <p:bldP spid="506977" grpId="0" animBg="1"/>
      <p:bldP spid="506978" grpId="0" animBg="1"/>
      <p:bldP spid="50697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197" name="Text Box 5"/>
          <p:cNvSpPr txBox="1">
            <a:spLocks noChangeArrowheads="1"/>
          </p:cNvSpPr>
          <p:nvPr/>
        </p:nvSpPr>
        <p:spPr bwMode="auto">
          <a:xfrm>
            <a:off x="755650" y="1385888"/>
            <a:ext cx="7129463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3200" b="1">
                <a:solidFill>
                  <a:srgbClr val="800080"/>
                </a:solidFill>
                <a:latin typeface="楷体_GB2312" pitchFamily="49" charset="-122"/>
              </a:rPr>
              <a:t>句柄</a:t>
            </a:r>
          </a:p>
        </p:txBody>
      </p:sp>
      <p:sp>
        <p:nvSpPr>
          <p:cNvPr id="520198" name="AutoShape 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0199" name="AutoShape 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0200" name="AutoShape 8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0201" name="AutoShape 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0210" name="Rectangle 18"/>
          <p:cNvSpPr>
            <a:spLocks noChangeArrowheads="1"/>
          </p:cNvSpPr>
          <p:nvPr/>
        </p:nvSpPr>
        <p:spPr bwMode="auto">
          <a:xfrm>
            <a:off x="2401888" y="3060700"/>
            <a:ext cx="298450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 sz="1800" b="1">
                <a:ea typeface="华文行楷" pitchFamily="2" charset="-122"/>
                <a:sym typeface="Symbol" panose="05050102010706020507" pitchFamily="18" charset="2"/>
              </a:rPr>
              <a:t></a:t>
            </a:r>
          </a:p>
        </p:txBody>
      </p:sp>
      <p:sp>
        <p:nvSpPr>
          <p:cNvPr id="520211" name="Rectangle 19"/>
          <p:cNvSpPr>
            <a:spLocks noChangeArrowheads="1"/>
          </p:cNvSpPr>
          <p:nvPr/>
        </p:nvSpPr>
        <p:spPr bwMode="auto">
          <a:xfrm>
            <a:off x="2338388" y="3379788"/>
            <a:ext cx="433387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 sz="1600" b="1" i="1">
                <a:latin typeface="Book Antiqua" pitchFamily="18" charset="0"/>
                <a:ea typeface="PMingLiU" pitchFamily="18" charset="-120"/>
                <a:sym typeface="Symbol" panose="05050102010706020507" pitchFamily="18" charset="2"/>
              </a:rPr>
              <a:t>r</a:t>
            </a:r>
            <a:r>
              <a:rPr lang="en-US" altLang="zh-CN" sz="1600" b="1" i="1">
                <a:latin typeface="Book Antiqua" pitchFamily="18" charset="0"/>
                <a:ea typeface="华文行楷" pitchFamily="2" charset="-122"/>
                <a:sym typeface="Symbol" panose="05050102010706020507" pitchFamily="18" charset="2"/>
              </a:rPr>
              <a:t>m</a:t>
            </a:r>
          </a:p>
        </p:txBody>
      </p:sp>
      <p:sp>
        <p:nvSpPr>
          <p:cNvPr id="520213" name="Rectangle 21"/>
          <p:cNvSpPr>
            <a:spLocks noChangeArrowheads="1"/>
          </p:cNvSpPr>
          <p:nvPr/>
        </p:nvSpPr>
        <p:spPr bwMode="auto">
          <a:xfrm>
            <a:off x="1116013" y="2060575"/>
            <a:ext cx="7632700" cy="21050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anose="05050102010706020507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/>
              <a:t>对于文法 </a:t>
            </a:r>
            <a:r>
              <a:rPr lang="en-US" altLang="zh-CN" sz="2800" b="1" i="1"/>
              <a:t>G</a:t>
            </a:r>
            <a:r>
              <a:rPr lang="en-US" altLang="zh-CN" sz="2800" b="1"/>
              <a:t> = (</a:t>
            </a:r>
            <a:r>
              <a:rPr lang="en-US" altLang="zh-CN" sz="2800" b="1" i="1"/>
              <a:t>V</a:t>
            </a:r>
            <a:r>
              <a:rPr lang="en-US" altLang="zh-CN" sz="2800" b="1" i="1" baseline="-25000"/>
              <a:t>N</a:t>
            </a:r>
            <a:r>
              <a:rPr lang="en-US" altLang="zh-CN" sz="2800" b="1" i="1"/>
              <a:t>,</a:t>
            </a:r>
            <a:r>
              <a:rPr lang="en-US" altLang="zh-CN" sz="2800" b="1"/>
              <a:t> </a:t>
            </a:r>
            <a:r>
              <a:rPr lang="en-US" altLang="zh-CN" sz="2800" b="1" i="1"/>
              <a:t>V</a:t>
            </a:r>
            <a:r>
              <a:rPr lang="en-US" altLang="zh-CN" sz="2800" b="1" i="1" baseline="-25000">
                <a:sym typeface="Symbol" panose="05050102010706020507" pitchFamily="18" charset="2"/>
              </a:rPr>
              <a:t>T</a:t>
            </a:r>
            <a:r>
              <a:rPr lang="en-US" altLang="zh-CN" sz="2800" b="1" i="1"/>
              <a:t>, </a:t>
            </a:r>
            <a:r>
              <a:rPr lang="en-US" altLang="zh-CN" sz="2800" b="1" i="1">
                <a:sym typeface="Symbol" panose="05050102010706020507" pitchFamily="18" charset="2"/>
              </a:rPr>
              <a:t>P</a:t>
            </a:r>
            <a:r>
              <a:rPr lang="en-US" altLang="zh-CN" sz="2800" b="1" i="1"/>
              <a:t> , S </a:t>
            </a:r>
            <a:r>
              <a:rPr lang="en-US" altLang="zh-CN" sz="2800" b="1"/>
              <a:t>)</a:t>
            </a:r>
            <a:r>
              <a:rPr lang="en-US" altLang="zh-CN" sz="2800"/>
              <a:t> </a:t>
            </a:r>
            <a:r>
              <a:rPr lang="en-US" altLang="zh-CN" sz="2800" b="1"/>
              <a:t>,</a:t>
            </a:r>
            <a:r>
              <a:rPr lang="en-US" altLang="zh-CN" b="1"/>
              <a:t> </a:t>
            </a:r>
            <a:r>
              <a:rPr lang="zh-CN" altLang="en-US" sz="2800" b="1"/>
              <a:t>以及</a:t>
            </a:r>
          </a:p>
          <a:p>
            <a:pPr>
              <a:buClrTx/>
              <a:buFont typeface="Symbol" panose="05050102010706020507" pitchFamily="18" charset="2"/>
              <a:buNone/>
            </a:pPr>
            <a:r>
              <a:rPr lang="zh-CN" altLang="en-US" b="1" i="1">
                <a:sym typeface="Symbol" panose="05050102010706020507" pitchFamily="18" charset="2"/>
              </a:rPr>
              <a:t>              </a:t>
            </a:r>
            <a:r>
              <a:rPr lang="zh-CN" altLang="en-US" sz="2800" b="1" i="1">
                <a:sym typeface="Symbol" panose="05050102010706020507" pitchFamily="18" charset="2"/>
              </a:rPr>
              <a:t> </a:t>
            </a:r>
            <a:r>
              <a:rPr lang="en-US" altLang="zh-CN" sz="2800" b="1" i="1">
                <a:sym typeface="Symbol" panose="05050102010706020507" pitchFamily="18" charset="2"/>
              </a:rPr>
              <a:t>,</a:t>
            </a:r>
            <a:r>
              <a:rPr kumimoji="0" lang="en-US" altLang="zh-CN" sz="2800" b="1"/>
              <a:t>β</a:t>
            </a:r>
            <a:r>
              <a:rPr lang="en-US" altLang="zh-CN" sz="2800" b="1">
                <a:sym typeface="Symbol" panose="05050102010706020507" pitchFamily="18" charset="2"/>
              </a:rPr>
              <a:t>(</a:t>
            </a:r>
            <a:r>
              <a:rPr lang="en-US" altLang="zh-CN" sz="2800" b="1" i="1">
                <a:sym typeface="Symbol" panose="05050102010706020507" pitchFamily="18" charset="2"/>
              </a:rPr>
              <a:t>V</a:t>
            </a:r>
            <a:r>
              <a:rPr lang="en-US" altLang="zh-CN" sz="2800" b="1" i="1" baseline="-25000">
                <a:sym typeface="Symbol" panose="05050102010706020507" pitchFamily="18" charset="2"/>
              </a:rPr>
              <a:t>N</a:t>
            </a:r>
            <a:r>
              <a:rPr lang="en-US" altLang="zh-CN" sz="2800" b="1">
                <a:sym typeface="Symbol" panose="05050102010706020507" pitchFamily="18" charset="2"/>
              </a:rPr>
              <a:t></a:t>
            </a:r>
            <a:r>
              <a:rPr lang="en-US" altLang="zh-CN" sz="2800" b="1" i="1">
                <a:sym typeface="Symbol" panose="05050102010706020507" pitchFamily="18" charset="2"/>
              </a:rPr>
              <a:t>V</a:t>
            </a:r>
            <a:r>
              <a:rPr lang="en-US" altLang="zh-CN" sz="2800" b="1" i="1" baseline="-25000">
                <a:sym typeface="Symbol" panose="05050102010706020507" pitchFamily="18" charset="2"/>
              </a:rPr>
              <a:t>T</a:t>
            </a:r>
            <a:r>
              <a:rPr lang="en-US" altLang="zh-CN" sz="2800" b="1" i="1">
                <a:sym typeface="Symbol" panose="05050102010706020507" pitchFamily="18" charset="2"/>
              </a:rPr>
              <a:t>)*</a:t>
            </a:r>
            <a:r>
              <a:rPr lang="en-US" altLang="zh-CN" sz="2800">
                <a:sym typeface="Symbol" panose="05050102010706020507" pitchFamily="18" charset="2"/>
              </a:rPr>
              <a:t> </a:t>
            </a:r>
            <a:r>
              <a:rPr lang="en-US" altLang="zh-CN" sz="2800" b="1" i="1">
                <a:sym typeface="Symbol" panose="05050102010706020507" pitchFamily="18" charset="2"/>
              </a:rPr>
              <a:t>,</a:t>
            </a:r>
            <a:r>
              <a:rPr lang="en-US" altLang="zh-CN" sz="2800">
                <a:sym typeface="Symbol" panose="05050102010706020507" pitchFamily="18" charset="2"/>
              </a:rPr>
              <a:t> </a:t>
            </a:r>
            <a:r>
              <a:rPr lang="en-US" altLang="zh-CN" sz="2800" i="1">
                <a:sym typeface="Symbol" panose="05050102010706020507" pitchFamily="18" charset="2"/>
              </a:rPr>
              <a:t>w</a:t>
            </a:r>
            <a:r>
              <a:rPr lang="en-US" altLang="zh-CN" sz="2800" b="1">
                <a:sym typeface="Symbol" panose="05050102010706020507" pitchFamily="18" charset="2"/>
              </a:rPr>
              <a:t></a:t>
            </a:r>
            <a:r>
              <a:rPr lang="en-US" altLang="zh-CN" sz="2800" b="1" i="1">
                <a:sym typeface="Symbol" panose="05050102010706020507" pitchFamily="18" charset="2"/>
              </a:rPr>
              <a:t>V</a:t>
            </a:r>
            <a:r>
              <a:rPr lang="en-US" altLang="zh-CN" sz="2800" b="1" i="1" baseline="-25000">
                <a:sym typeface="Symbol" panose="05050102010706020507" pitchFamily="18" charset="2"/>
              </a:rPr>
              <a:t>T</a:t>
            </a:r>
            <a:r>
              <a:rPr lang="en-US" altLang="zh-CN" sz="2800" b="1" i="1">
                <a:sym typeface="Symbol" panose="05050102010706020507" pitchFamily="18" charset="2"/>
              </a:rPr>
              <a:t>*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endParaRPr lang="en-US" altLang="zh-CN"/>
          </a:p>
          <a:p>
            <a:pPr>
              <a:buClrTx/>
              <a:buFont typeface="Symbol" panose="05050102010706020507" pitchFamily="18" charset="2"/>
              <a:buNone/>
            </a:pPr>
            <a:endParaRPr lang="en-US" altLang="zh-CN" sz="1000"/>
          </a:p>
          <a:p>
            <a:pPr>
              <a:buClrTx/>
              <a:buFont typeface="Symbol" panose="05050102010706020507" pitchFamily="18" charset="2"/>
              <a:buNone/>
            </a:pPr>
            <a:r>
              <a:rPr lang="en-US" altLang="zh-CN" sz="2800" b="1"/>
              <a:t>    </a:t>
            </a:r>
            <a:r>
              <a:rPr lang="zh-CN" altLang="en-US" sz="2800" b="1"/>
              <a:t>若 </a:t>
            </a:r>
            <a:r>
              <a:rPr kumimoji="0" lang="en-US" altLang="zh-CN" sz="2800" b="1"/>
              <a:t>S </a:t>
            </a:r>
            <a:r>
              <a:rPr kumimoji="0" lang="en-US" altLang="zh-CN" sz="2800">
                <a:sym typeface="Symbol" panose="05050102010706020507" pitchFamily="18" charset="2"/>
              </a:rPr>
              <a:t></a:t>
            </a:r>
            <a:r>
              <a:rPr kumimoji="0" lang="en-US" altLang="zh-CN" sz="2800" b="1"/>
              <a:t>αA</a:t>
            </a:r>
            <a:r>
              <a:rPr lang="en-US" altLang="zh-CN" sz="2800" i="1">
                <a:sym typeface="Symbol" panose="05050102010706020507" pitchFamily="18" charset="2"/>
              </a:rPr>
              <a:t>w</a:t>
            </a:r>
            <a:r>
              <a:rPr lang="en-US" altLang="zh-CN" sz="2800" b="1" i="1">
                <a:sym typeface="Symbol" panose="05050102010706020507" pitchFamily="18" charset="2"/>
              </a:rPr>
              <a:t> </a:t>
            </a:r>
            <a:r>
              <a:rPr kumimoji="0" lang="zh-CN" altLang="en-US" sz="2800" b="1"/>
              <a:t>且  </a:t>
            </a:r>
            <a:r>
              <a:rPr kumimoji="0" lang="en-US" altLang="zh-CN" sz="2800" b="1"/>
              <a:t>A </a:t>
            </a:r>
            <a:r>
              <a:rPr kumimoji="0" lang="en-US" altLang="zh-CN">
                <a:sym typeface="Symbol" panose="05050102010706020507" pitchFamily="18" charset="2"/>
              </a:rPr>
              <a:t></a:t>
            </a:r>
            <a:r>
              <a:rPr kumimoji="0" lang="en-US" altLang="zh-CN" sz="2800" b="1"/>
              <a:t>β</a:t>
            </a:r>
            <a:r>
              <a:rPr kumimoji="0" lang="zh-CN" altLang="en-US" sz="2800" b="1"/>
              <a:t>，则称</a:t>
            </a:r>
          </a:p>
          <a:p>
            <a:pPr>
              <a:buClrTx/>
              <a:buFont typeface="Symbol" panose="05050102010706020507" pitchFamily="18" charset="2"/>
              <a:buNone/>
            </a:pPr>
            <a:endParaRPr kumimoji="0" lang="zh-CN" altLang="en-US" sz="1000" b="1"/>
          </a:p>
          <a:p>
            <a:pPr>
              <a:buClrTx/>
              <a:buFont typeface="Symbol" panose="05050102010706020507" pitchFamily="18" charset="2"/>
              <a:buNone/>
            </a:pPr>
            <a:r>
              <a:rPr kumimoji="0" lang="zh-CN" altLang="en-US" sz="2800" b="1"/>
              <a:t>    </a:t>
            </a:r>
            <a:r>
              <a:rPr kumimoji="0" lang="en-US" altLang="zh-CN" sz="2800" b="1">
                <a:solidFill>
                  <a:srgbClr val="800080"/>
                </a:solidFill>
              </a:rPr>
              <a:t>β</a:t>
            </a:r>
            <a:r>
              <a:rPr kumimoji="0" lang="zh-CN" altLang="en-US" sz="2800" b="1">
                <a:solidFill>
                  <a:srgbClr val="800080"/>
                </a:solidFill>
              </a:rPr>
              <a:t>是右句型</a:t>
            </a:r>
            <a:r>
              <a:rPr kumimoji="0" lang="en-US" altLang="zh-CN" sz="2800" b="1">
                <a:solidFill>
                  <a:srgbClr val="800080"/>
                </a:solidFill>
              </a:rPr>
              <a:t>αβ</a:t>
            </a:r>
            <a:r>
              <a:rPr kumimoji="0" lang="en-US" altLang="zh-CN" sz="2800" i="1">
                <a:solidFill>
                  <a:srgbClr val="800080"/>
                </a:solidFill>
              </a:rPr>
              <a:t>w</a:t>
            </a:r>
            <a:r>
              <a:rPr kumimoji="0" lang="en-US" altLang="zh-CN" sz="2800" b="1" i="1">
                <a:solidFill>
                  <a:srgbClr val="800080"/>
                </a:solidFill>
              </a:rPr>
              <a:t> </a:t>
            </a:r>
            <a:r>
              <a:rPr kumimoji="0" lang="zh-CN" altLang="en-US" sz="2800" b="1">
                <a:solidFill>
                  <a:srgbClr val="800080"/>
                </a:solidFill>
              </a:rPr>
              <a:t>相对于非终结符 </a:t>
            </a:r>
            <a:r>
              <a:rPr kumimoji="0" lang="en-US" altLang="zh-CN" sz="2800" b="1">
                <a:solidFill>
                  <a:srgbClr val="800080"/>
                </a:solidFill>
              </a:rPr>
              <a:t>A </a:t>
            </a:r>
            <a:r>
              <a:rPr kumimoji="0" lang="zh-CN" altLang="en-US" sz="2800" b="1">
                <a:solidFill>
                  <a:srgbClr val="800080"/>
                </a:solidFill>
              </a:rPr>
              <a:t>的句炳</a:t>
            </a:r>
          </a:p>
        </p:txBody>
      </p:sp>
      <p:sp>
        <p:nvSpPr>
          <p:cNvPr id="520215" name="Text Box 23"/>
          <p:cNvSpPr txBox="1">
            <a:spLocks noChangeArrowheads="1"/>
          </p:cNvSpPr>
          <p:nvPr/>
        </p:nvSpPr>
        <p:spPr bwMode="auto">
          <a:xfrm>
            <a:off x="755650" y="4365625"/>
            <a:ext cx="6840538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 </a:t>
            </a:r>
            <a:r>
              <a:rPr lang="zh-CN" altLang="en-US" sz="3200" b="1">
                <a:solidFill>
                  <a:srgbClr val="800080"/>
                </a:solidFill>
              </a:rPr>
              <a:t>句柄的作用</a:t>
            </a:r>
            <a:endParaRPr lang="zh-CN" altLang="en-US" sz="3200" b="1">
              <a:latin typeface="楷体_GB2312" pitchFamily="49" charset="-122"/>
            </a:endParaRPr>
          </a:p>
        </p:txBody>
      </p:sp>
      <p:sp>
        <p:nvSpPr>
          <p:cNvPr id="520216" name="Rectangle 24"/>
          <p:cNvSpPr>
            <a:spLocks noChangeArrowheads="1"/>
          </p:cNvSpPr>
          <p:nvPr/>
        </p:nvSpPr>
        <p:spPr bwMode="auto">
          <a:xfrm>
            <a:off x="1116013" y="5067300"/>
            <a:ext cx="78486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anose="05050102010706020507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/>
              <a:t>当前句型从左到右最先出现的“一步可归约串”</a:t>
            </a:r>
          </a:p>
        </p:txBody>
      </p:sp>
      <p:sp>
        <p:nvSpPr>
          <p:cNvPr id="13" name="Rectangle 33"/>
          <p:cNvSpPr>
            <a:spLocks noChangeArrowheads="1"/>
          </p:cNvSpPr>
          <p:nvPr/>
        </p:nvSpPr>
        <p:spPr bwMode="auto">
          <a:xfrm>
            <a:off x="-252536" y="188913"/>
            <a:ext cx="6048672" cy="66172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自底向上分析思想的回顾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20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52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0215" grpId="0"/>
      <p:bldP spid="5202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20" name="Text Box 4"/>
          <p:cNvSpPr txBox="1">
            <a:spLocks noChangeArrowheads="1"/>
          </p:cNvSpPr>
          <p:nvPr/>
        </p:nvSpPr>
        <p:spPr bwMode="auto">
          <a:xfrm>
            <a:off x="755650" y="1268413"/>
            <a:ext cx="7129463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 </a:t>
            </a:r>
            <a:r>
              <a:rPr lang="zh-CN" altLang="en-US" sz="3200" b="1">
                <a:solidFill>
                  <a:srgbClr val="800080"/>
                </a:solidFill>
              </a:rPr>
              <a:t>举例</a:t>
            </a:r>
            <a:r>
              <a:rPr lang="zh-CN" altLang="en-US" sz="3200" b="1"/>
              <a:t>：</a:t>
            </a:r>
            <a:r>
              <a:rPr lang="zh-CN" altLang="en-US" sz="3200" b="1">
                <a:latin typeface="楷体_GB2312" pitchFamily="49" charset="-122"/>
              </a:rPr>
              <a:t>句柄</a:t>
            </a:r>
          </a:p>
        </p:txBody>
      </p:sp>
      <p:sp>
        <p:nvSpPr>
          <p:cNvPr id="521221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1222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1223" name="AutoShape 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1224" name="AutoShape 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1225" name="Rectangle 9"/>
          <p:cNvSpPr>
            <a:spLocks noChangeArrowheads="1"/>
          </p:cNvSpPr>
          <p:nvPr/>
        </p:nvSpPr>
        <p:spPr bwMode="auto">
          <a:xfrm>
            <a:off x="-17250" y="221025"/>
            <a:ext cx="5885393" cy="66172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自底向上分析思想的回顾</a:t>
            </a:r>
          </a:p>
        </p:txBody>
      </p:sp>
      <p:sp>
        <p:nvSpPr>
          <p:cNvPr id="521226" name="Rectangle 10"/>
          <p:cNvSpPr>
            <a:spLocks noChangeArrowheads="1"/>
          </p:cNvSpPr>
          <p:nvPr/>
        </p:nvSpPr>
        <p:spPr bwMode="auto">
          <a:xfrm>
            <a:off x="6011863" y="1857375"/>
            <a:ext cx="2232025" cy="243522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b="1"/>
              <a:t>文法 </a:t>
            </a:r>
            <a:r>
              <a:rPr lang="en-US" altLang="zh-CN"/>
              <a:t>G</a:t>
            </a:r>
            <a:r>
              <a:rPr lang="zh-CN" altLang="en-US"/>
              <a:t>（</a:t>
            </a:r>
            <a:r>
              <a:rPr lang="en-US" altLang="zh-CN"/>
              <a:t>S</a:t>
            </a:r>
            <a:r>
              <a:rPr lang="zh-CN" altLang="en-US"/>
              <a:t>）</a:t>
            </a:r>
            <a:r>
              <a:rPr lang="en-US" altLang="zh-CN"/>
              <a:t>: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000"/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/>
              <a:t>S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AB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  <a:r>
              <a:rPr lang="en-US" altLang="zh-CN"/>
              <a:t>A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aA</a:t>
            </a:r>
            <a:endParaRPr lang="en-US" altLang="zh-CN"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</a:t>
            </a:r>
            <a:r>
              <a:rPr lang="en-US" altLang="zh-CN"/>
              <a:t>A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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（</a:t>
            </a:r>
            <a:r>
              <a:rPr lang="en-US" altLang="zh-CN"/>
              <a:t>4</a:t>
            </a:r>
            <a:r>
              <a:rPr lang="zh-CN" altLang="en-US"/>
              <a:t>）</a:t>
            </a:r>
            <a:r>
              <a:rPr lang="en-US" altLang="zh-CN"/>
              <a:t>B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b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（</a:t>
            </a:r>
            <a:r>
              <a:rPr lang="en-US" altLang="zh-CN"/>
              <a:t>5</a:t>
            </a:r>
            <a:r>
              <a:rPr lang="zh-CN" altLang="en-US"/>
              <a:t>）</a:t>
            </a:r>
            <a:r>
              <a:rPr lang="en-US" altLang="zh-CN"/>
              <a:t>B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bB</a:t>
            </a:r>
          </a:p>
        </p:txBody>
      </p:sp>
      <p:sp>
        <p:nvSpPr>
          <p:cNvPr id="521227" name="Rectangle 11"/>
          <p:cNvSpPr>
            <a:spLocks noChangeArrowheads="1"/>
          </p:cNvSpPr>
          <p:nvPr/>
        </p:nvSpPr>
        <p:spPr bwMode="auto">
          <a:xfrm>
            <a:off x="1174750" y="1987550"/>
            <a:ext cx="4549775" cy="39878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Symbol" panose="05050102010706020507" pitchFamily="18" charset="2"/>
              <a:buChar char="-"/>
            </a:pPr>
            <a:r>
              <a:rPr lang="en-US" altLang="zh-CN" b="1">
                <a:latin typeface="楷体_GB2312" pitchFamily="49" charset="-122"/>
              </a:rPr>
              <a:t> </a:t>
            </a:r>
            <a:r>
              <a:rPr lang="zh-CN" altLang="en-US" b="1">
                <a:latin typeface="楷体_GB2312" pitchFamily="49" charset="-122"/>
              </a:rPr>
              <a:t>对于右边的文法</a:t>
            </a:r>
            <a:r>
              <a:rPr lang="en-US" altLang="zh-CN"/>
              <a:t>G(S)</a:t>
            </a:r>
            <a:r>
              <a:rPr lang="en-US" altLang="zh-CN" b="1">
                <a:latin typeface="楷体_GB2312" pitchFamily="49" charset="-122"/>
              </a:rPr>
              <a:t>,</a:t>
            </a:r>
          </a:p>
          <a:p>
            <a:pPr>
              <a:buFont typeface="Symbol" panose="05050102010706020507" pitchFamily="18" charset="2"/>
              <a:buNone/>
            </a:pPr>
            <a:endParaRPr lang="en-US" altLang="zh-CN" sz="1000" b="1">
              <a:latin typeface="楷体_GB2312" pitchFamily="49" charset="-122"/>
            </a:endParaRPr>
          </a:p>
          <a:p>
            <a:pPr>
              <a:buFont typeface="Symbol" panose="05050102010706020507" pitchFamily="18" charset="2"/>
              <a:buNone/>
            </a:pPr>
            <a:r>
              <a:rPr lang="en-US" altLang="zh-CN" b="1">
                <a:latin typeface="楷体_GB2312" pitchFamily="49" charset="-122"/>
              </a:rPr>
              <a:t>  </a:t>
            </a:r>
            <a:r>
              <a:rPr lang="zh-CN" altLang="en-US" b="1">
                <a:latin typeface="楷体_GB2312" pitchFamily="49" charset="-122"/>
              </a:rPr>
              <a:t>句子 </a:t>
            </a:r>
            <a:r>
              <a:rPr lang="en-US" altLang="zh-CN">
                <a:solidFill>
                  <a:srgbClr val="800080"/>
                </a:solidFill>
              </a:rPr>
              <a:t>aaab</a:t>
            </a:r>
            <a:r>
              <a:rPr lang="en-US" altLang="zh-CN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b="1">
                <a:solidFill>
                  <a:srgbClr val="800080"/>
                </a:solidFill>
                <a:latin typeface="楷体_GB2312" pitchFamily="49" charset="-122"/>
              </a:rPr>
              <a:t>的直接短语</a:t>
            </a:r>
            <a:r>
              <a:rPr lang="zh-CN" altLang="en-US" b="1">
                <a:latin typeface="楷体_GB2312" pitchFamily="49" charset="-122"/>
              </a:rPr>
              <a:t>有：</a:t>
            </a:r>
          </a:p>
          <a:p>
            <a:pPr>
              <a:buFont typeface="Symbol" panose="05050102010706020507" pitchFamily="18" charset="2"/>
              <a:buNone/>
            </a:pPr>
            <a:r>
              <a:rPr lang="zh-CN" altLang="en-US">
                <a:solidFill>
                  <a:srgbClr val="800080"/>
                </a:solidFill>
              </a:rPr>
              <a:t>              </a:t>
            </a:r>
            <a:r>
              <a:rPr lang="zh-CN" altLang="en-US">
                <a:solidFill>
                  <a:srgbClr val="800080"/>
                </a:solidFill>
                <a:sym typeface="Symbol" panose="05050102010706020507" pitchFamily="18" charset="2"/>
              </a:rPr>
              <a:t></a:t>
            </a:r>
            <a:r>
              <a:rPr lang="zh-CN" altLang="en-US"/>
              <a:t> ：</a:t>
            </a:r>
            <a:r>
              <a:rPr lang="en-US" altLang="zh-CN"/>
              <a:t>aaa</a:t>
            </a:r>
            <a:r>
              <a:rPr lang="en-US" altLang="zh-CN">
                <a:solidFill>
                  <a:srgbClr val="800080"/>
                </a:solidFill>
                <a:sym typeface="Symbol" panose="05050102010706020507" pitchFamily="18" charset="2"/>
              </a:rPr>
              <a:t></a:t>
            </a:r>
            <a:r>
              <a:rPr lang="en-US" altLang="zh-CN"/>
              <a:t>b</a:t>
            </a:r>
            <a:r>
              <a:rPr lang="zh-CN" altLang="en-US"/>
              <a:t>；</a:t>
            </a:r>
            <a:endParaRPr lang="zh-CN" altLang="en-US" b="1">
              <a:latin typeface="楷体_GB2312" pitchFamily="49" charset="-122"/>
            </a:endParaRPr>
          </a:p>
          <a:p>
            <a:pPr>
              <a:buFont typeface="Symbol" panose="05050102010706020507" pitchFamily="18" charset="2"/>
              <a:buNone/>
            </a:pPr>
            <a:r>
              <a:rPr lang="zh-CN" altLang="en-US"/>
              <a:t>               </a:t>
            </a:r>
            <a:r>
              <a:rPr lang="en-US" altLang="zh-CN">
                <a:solidFill>
                  <a:srgbClr val="800080"/>
                </a:solidFill>
              </a:rPr>
              <a:t>b</a:t>
            </a:r>
            <a:r>
              <a:rPr lang="zh-CN" altLang="en-US"/>
              <a:t>：</a:t>
            </a:r>
            <a:r>
              <a:rPr lang="en-US" altLang="zh-CN"/>
              <a:t>aaa</a:t>
            </a:r>
            <a:r>
              <a:rPr lang="en-US" altLang="zh-CN">
                <a:solidFill>
                  <a:srgbClr val="800080"/>
                </a:solidFill>
              </a:rPr>
              <a:t>b</a:t>
            </a:r>
          </a:p>
          <a:p>
            <a:pPr>
              <a:buFont typeface="Symbol" panose="05050102010706020507" pitchFamily="18" charset="2"/>
              <a:buNone/>
            </a:pPr>
            <a:endParaRPr lang="en-US" altLang="zh-CN" sz="1000">
              <a:solidFill>
                <a:srgbClr val="800080"/>
              </a:solidFill>
            </a:endParaRPr>
          </a:p>
          <a:p>
            <a:pPr>
              <a:buFont typeface="Symbol" panose="05050102010706020507" pitchFamily="18" charset="2"/>
              <a:buNone/>
            </a:pPr>
            <a:r>
              <a:rPr lang="en-US" altLang="zh-CN">
                <a:solidFill>
                  <a:srgbClr val="800080"/>
                </a:solidFill>
              </a:rPr>
              <a:t>    aaab</a:t>
            </a:r>
            <a:r>
              <a:rPr lang="en-US" altLang="zh-CN" b="1">
                <a:solidFill>
                  <a:srgbClr val="800080"/>
                </a:solidFill>
              </a:rPr>
              <a:t> </a:t>
            </a:r>
            <a:r>
              <a:rPr lang="zh-CN" altLang="en-US" b="1">
                <a:solidFill>
                  <a:srgbClr val="800080"/>
                </a:solidFill>
              </a:rPr>
              <a:t>的句柄</a:t>
            </a:r>
            <a:r>
              <a:rPr lang="zh-CN" altLang="en-US" b="1"/>
              <a:t>：</a:t>
            </a:r>
            <a:r>
              <a:rPr lang="zh-CN" altLang="en-US">
                <a:solidFill>
                  <a:srgbClr val="800080"/>
                </a:solidFill>
                <a:sym typeface="Symbol" panose="05050102010706020507" pitchFamily="18" charset="2"/>
              </a:rPr>
              <a:t></a:t>
            </a:r>
            <a:endParaRPr lang="zh-CN" altLang="en-US"/>
          </a:p>
          <a:p>
            <a:pPr>
              <a:buFont typeface="Symbol" panose="05050102010706020507" pitchFamily="18" charset="2"/>
              <a:buNone/>
            </a:pPr>
            <a:endParaRPr lang="zh-CN" altLang="en-US" sz="1000">
              <a:solidFill>
                <a:srgbClr val="800080"/>
              </a:solidFill>
            </a:endParaRPr>
          </a:p>
          <a:p>
            <a:pPr>
              <a:buFont typeface="Symbol" panose="05050102010706020507" pitchFamily="18" charset="2"/>
              <a:buNone/>
            </a:pPr>
            <a:r>
              <a:rPr lang="zh-CN" altLang="en-US"/>
              <a:t>    </a:t>
            </a:r>
            <a:r>
              <a:rPr lang="zh-CN" altLang="en-US" b="1"/>
              <a:t>右句型</a:t>
            </a:r>
            <a:r>
              <a:rPr lang="en-US" altLang="zh-CN">
                <a:solidFill>
                  <a:srgbClr val="800080"/>
                </a:solidFill>
              </a:rPr>
              <a:t>aaAb</a:t>
            </a:r>
            <a:r>
              <a:rPr lang="zh-CN" altLang="en-US" b="1">
                <a:solidFill>
                  <a:srgbClr val="800080"/>
                </a:solidFill>
              </a:rPr>
              <a:t>的直接短语</a:t>
            </a:r>
            <a:r>
              <a:rPr lang="zh-CN" altLang="en-US" b="1"/>
              <a:t>有：</a:t>
            </a:r>
            <a:endParaRPr lang="zh-CN" altLang="en-US"/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             </a:t>
            </a:r>
            <a:r>
              <a:rPr lang="en-US" altLang="zh-CN">
                <a:solidFill>
                  <a:srgbClr val="800080"/>
                </a:solidFill>
              </a:rPr>
              <a:t>aA</a:t>
            </a:r>
            <a:r>
              <a:rPr lang="zh-CN" altLang="en-US"/>
              <a:t>：</a:t>
            </a:r>
            <a:r>
              <a:rPr lang="en-US" altLang="zh-CN"/>
              <a:t>a</a:t>
            </a:r>
            <a:r>
              <a:rPr lang="en-US" altLang="zh-CN">
                <a:solidFill>
                  <a:srgbClr val="800080"/>
                </a:solidFill>
              </a:rPr>
              <a:t>aA</a:t>
            </a:r>
            <a:r>
              <a:rPr lang="en-US" altLang="zh-CN"/>
              <a:t>b</a:t>
            </a:r>
            <a:r>
              <a:rPr lang="zh-CN" altLang="en-US"/>
              <a:t>；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800080"/>
                </a:solidFill>
              </a:rPr>
              <a:t>               </a:t>
            </a:r>
            <a:r>
              <a:rPr lang="en-US" altLang="zh-CN">
                <a:solidFill>
                  <a:srgbClr val="800080"/>
                </a:solidFill>
              </a:rPr>
              <a:t>b</a:t>
            </a:r>
            <a:r>
              <a:rPr lang="zh-CN" altLang="en-US"/>
              <a:t>：</a:t>
            </a:r>
            <a:r>
              <a:rPr lang="en-US" altLang="zh-CN"/>
              <a:t>aaA</a:t>
            </a:r>
            <a:r>
              <a:rPr lang="en-US" altLang="zh-CN">
                <a:solidFill>
                  <a:srgbClr val="800080"/>
                </a:solidFill>
              </a:rPr>
              <a:t>b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000">
              <a:solidFill>
                <a:srgbClr val="80008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800080"/>
                </a:solidFill>
              </a:rPr>
              <a:t>    aaAb</a:t>
            </a:r>
            <a:r>
              <a:rPr lang="en-US" altLang="zh-CN" b="1">
                <a:solidFill>
                  <a:srgbClr val="800080"/>
                </a:solidFill>
              </a:rPr>
              <a:t> </a:t>
            </a:r>
            <a:r>
              <a:rPr lang="zh-CN" altLang="en-US" b="1">
                <a:solidFill>
                  <a:srgbClr val="800080"/>
                </a:solidFill>
              </a:rPr>
              <a:t>的句柄</a:t>
            </a:r>
            <a:r>
              <a:rPr lang="zh-CN" altLang="en-US" b="1"/>
              <a:t>：</a:t>
            </a:r>
            <a:r>
              <a:rPr lang="en-US" altLang="zh-CN">
                <a:solidFill>
                  <a:srgbClr val="800080"/>
                </a:solidFill>
              </a:rPr>
              <a:t>aA</a:t>
            </a:r>
          </a:p>
        </p:txBody>
      </p:sp>
      <p:sp>
        <p:nvSpPr>
          <p:cNvPr id="521228" name="Rectangle 12"/>
          <p:cNvSpPr>
            <a:spLocks noChangeArrowheads="1"/>
          </p:cNvSpPr>
          <p:nvPr/>
        </p:nvSpPr>
        <p:spPr bwMode="auto">
          <a:xfrm>
            <a:off x="7524750" y="5749925"/>
            <a:ext cx="86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 i="1">
                <a:ea typeface="华文行楷" pitchFamily="2" charset="-122"/>
              </a:rPr>
              <a:t>aaab</a:t>
            </a:r>
          </a:p>
        </p:txBody>
      </p:sp>
      <p:sp>
        <p:nvSpPr>
          <p:cNvPr id="521229" name="Rectangle 13"/>
          <p:cNvSpPr>
            <a:spLocks noChangeArrowheads="1"/>
          </p:cNvSpPr>
          <p:nvPr/>
        </p:nvSpPr>
        <p:spPr bwMode="auto">
          <a:xfrm>
            <a:off x="6000750" y="5749925"/>
            <a:ext cx="1066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 i="1">
                <a:ea typeface="华文行楷" pitchFamily="2" charset="-122"/>
              </a:rPr>
              <a:t>aaaAb</a:t>
            </a:r>
          </a:p>
        </p:txBody>
      </p:sp>
      <p:sp>
        <p:nvSpPr>
          <p:cNvPr id="521230" name="Rectangle 14"/>
          <p:cNvSpPr>
            <a:spLocks noChangeArrowheads="1"/>
          </p:cNvSpPr>
          <p:nvPr/>
        </p:nvSpPr>
        <p:spPr bwMode="auto">
          <a:xfrm>
            <a:off x="7491413" y="5221288"/>
            <a:ext cx="896937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 i="1">
                <a:ea typeface="华文行楷" pitchFamily="2" charset="-122"/>
              </a:rPr>
              <a:t>aaAb</a:t>
            </a:r>
          </a:p>
        </p:txBody>
      </p:sp>
      <p:sp>
        <p:nvSpPr>
          <p:cNvPr id="521231" name="Rectangle 15"/>
          <p:cNvSpPr>
            <a:spLocks noChangeArrowheads="1"/>
          </p:cNvSpPr>
          <p:nvPr/>
        </p:nvSpPr>
        <p:spPr bwMode="auto">
          <a:xfrm>
            <a:off x="6462713" y="4699000"/>
            <a:ext cx="5905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 i="1">
                <a:ea typeface="华文行楷" pitchFamily="2" charset="-122"/>
              </a:rPr>
              <a:t>AB</a:t>
            </a:r>
          </a:p>
        </p:txBody>
      </p:sp>
      <p:sp>
        <p:nvSpPr>
          <p:cNvPr id="521232" name="Rectangle 16"/>
          <p:cNvSpPr>
            <a:spLocks noChangeArrowheads="1"/>
          </p:cNvSpPr>
          <p:nvPr/>
        </p:nvSpPr>
        <p:spPr bwMode="auto">
          <a:xfrm>
            <a:off x="5624513" y="4699000"/>
            <a:ext cx="3873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 i="1">
                <a:ea typeface="华文行楷" pitchFamily="2" charset="-122"/>
              </a:rPr>
              <a:t>S</a:t>
            </a:r>
          </a:p>
        </p:txBody>
      </p:sp>
      <p:sp>
        <p:nvSpPr>
          <p:cNvPr id="521233" name="Rectangle 17"/>
          <p:cNvSpPr>
            <a:spLocks noChangeArrowheads="1"/>
          </p:cNvSpPr>
          <p:nvPr/>
        </p:nvSpPr>
        <p:spPr bwMode="auto">
          <a:xfrm>
            <a:off x="6000750" y="5199063"/>
            <a:ext cx="72707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 i="1">
                <a:ea typeface="华文行楷" pitchFamily="2" charset="-122"/>
              </a:rPr>
              <a:t>aAb</a:t>
            </a:r>
          </a:p>
        </p:txBody>
      </p:sp>
      <p:sp>
        <p:nvSpPr>
          <p:cNvPr id="521234" name="Rectangle 18"/>
          <p:cNvSpPr>
            <a:spLocks noChangeArrowheads="1"/>
          </p:cNvSpPr>
          <p:nvPr/>
        </p:nvSpPr>
        <p:spPr bwMode="auto">
          <a:xfrm>
            <a:off x="7758113" y="4687888"/>
            <a:ext cx="557212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 i="1">
                <a:ea typeface="华文行楷" pitchFamily="2" charset="-122"/>
              </a:rPr>
              <a:t>Ab</a:t>
            </a:r>
          </a:p>
        </p:txBody>
      </p:sp>
      <p:grpSp>
        <p:nvGrpSpPr>
          <p:cNvPr id="521269" name="Group 53"/>
          <p:cNvGrpSpPr/>
          <p:nvPr/>
        </p:nvGrpSpPr>
        <p:grpSpPr bwMode="auto">
          <a:xfrm>
            <a:off x="6005513" y="4673600"/>
            <a:ext cx="485775" cy="547688"/>
            <a:chOff x="4023" y="2907"/>
            <a:chExt cx="306" cy="345"/>
          </a:xfrm>
        </p:grpSpPr>
        <p:sp>
          <p:nvSpPr>
            <p:cNvPr id="521238" name="Rectangle 22"/>
            <p:cNvSpPr>
              <a:spLocks noChangeArrowheads="1"/>
            </p:cNvSpPr>
            <p:nvPr/>
          </p:nvSpPr>
          <p:spPr bwMode="auto">
            <a:xfrm>
              <a:off x="4023" y="2907"/>
              <a:ext cx="306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ea typeface="华文行楷" pitchFamily="2" charset="-122"/>
                  <a:sym typeface="Symbol" panose="05050102010706020507" pitchFamily="18" charset="2"/>
                </a:rPr>
                <a:t></a:t>
              </a:r>
            </a:p>
          </p:txBody>
        </p:sp>
        <p:sp>
          <p:nvSpPr>
            <p:cNvPr id="521240" name="Rectangle 24"/>
            <p:cNvSpPr>
              <a:spLocks noChangeArrowheads="1"/>
            </p:cNvSpPr>
            <p:nvPr/>
          </p:nvSpPr>
          <p:spPr bwMode="auto">
            <a:xfrm>
              <a:off x="4023" y="3040"/>
              <a:ext cx="266" cy="21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en-US" altLang="zh-CN" sz="1600" i="1">
                  <a:latin typeface="Book Antiqua" pitchFamily="18" charset="0"/>
                  <a:ea typeface="PMingLiU" pitchFamily="18" charset="-120"/>
                  <a:sym typeface="Symbol" panose="05050102010706020507" pitchFamily="18" charset="2"/>
                </a:rPr>
                <a:t>r</a:t>
              </a:r>
              <a:r>
                <a:rPr lang="en-US" altLang="zh-CN" sz="1600" i="1">
                  <a:latin typeface="Book Antiqua" pitchFamily="18" charset="0"/>
                  <a:ea typeface="华文行楷" pitchFamily="2" charset="-122"/>
                  <a:sym typeface="Symbol" panose="05050102010706020507" pitchFamily="18" charset="2"/>
                </a:rPr>
                <a:t>m</a:t>
              </a:r>
            </a:p>
          </p:txBody>
        </p:sp>
      </p:grpSp>
      <p:grpSp>
        <p:nvGrpSpPr>
          <p:cNvPr id="521270" name="Group 54"/>
          <p:cNvGrpSpPr/>
          <p:nvPr/>
        </p:nvGrpSpPr>
        <p:grpSpPr bwMode="auto">
          <a:xfrm>
            <a:off x="7161213" y="4668838"/>
            <a:ext cx="485775" cy="547687"/>
            <a:chOff x="4023" y="2907"/>
            <a:chExt cx="306" cy="345"/>
          </a:xfrm>
        </p:grpSpPr>
        <p:sp>
          <p:nvSpPr>
            <p:cNvPr id="521271" name="Rectangle 55"/>
            <p:cNvSpPr>
              <a:spLocks noChangeArrowheads="1"/>
            </p:cNvSpPr>
            <p:nvPr/>
          </p:nvSpPr>
          <p:spPr bwMode="auto">
            <a:xfrm>
              <a:off x="4023" y="2907"/>
              <a:ext cx="306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ea typeface="华文行楷" pitchFamily="2" charset="-122"/>
                  <a:sym typeface="Symbol" panose="05050102010706020507" pitchFamily="18" charset="2"/>
                </a:rPr>
                <a:t></a:t>
              </a:r>
            </a:p>
          </p:txBody>
        </p:sp>
        <p:sp>
          <p:nvSpPr>
            <p:cNvPr id="521272" name="Rectangle 56"/>
            <p:cNvSpPr>
              <a:spLocks noChangeArrowheads="1"/>
            </p:cNvSpPr>
            <p:nvPr/>
          </p:nvSpPr>
          <p:spPr bwMode="auto">
            <a:xfrm>
              <a:off x="4023" y="3040"/>
              <a:ext cx="266" cy="21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en-US" altLang="zh-CN" sz="1600" i="1">
                  <a:latin typeface="Book Antiqua" pitchFamily="18" charset="0"/>
                  <a:ea typeface="PMingLiU" pitchFamily="18" charset="-120"/>
                  <a:sym typeface="Symbol" panose="05050102010706020507" pitchFamily="18" charset="2"/>
                </a:rPr>
                <a:t>r</a:t>
              </a:r>
              <a:r>
                <a:rPr lang="en-US" altLang="zh-CN" sz="1600" i="1">
                  <a:latin typeface="Book Antiqua" pitchFamily="18" charset="0"/>
                  <a:ea typeface="华文行楷" pitchFamily="2" charset="-122"/>
                  <a:sym typeface="Symbol" panose="05050102010706020507" pitchFamily="18" charset="2"/>
                </a:rPr>
                <a:t>m</a:t>
              </a:r>
            </a:p>
          </p:txBody>
        </p:sp>
      </p:grpSp>
      <p:grpSp>
        <p:nvGrpSpPr>
          <p:cNvPr id="521273" name="Group 57"/>
          <p:cNvGrpSpPr/>
          <p:nvPr/>
        </p:nvGrpSpPr>
        <p:grpSpPr bwMode="auto">
          <a:xfrm>
            <a:off x="5597525" y="5173663"/>
            <a:ext cx="485775" cy="547687"/>
            <a:chOff x="4023" y="2907"/>
            <a:chExt cx="306" cy="345"/>
          </a:xfrm>
        </p:grpSpPr>
        <p:sp>
          <p:nvSpPr>
            <p:cNvPr id="521274" name="Rectangle 58"/>
            <p:cNvSpPr>
              <a:spLocks noChangeArrowheads="1"/>
            </p:cNvSpPr>
            <p:nvPr/>
          </p:nvSpPr>
          <p:spPr bwMode="auto">
            <a:xfrm>
              <a:off x="4023" y="2907"/>
              <a:ext cx="306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ea typeface="华文行楷" pitchFamily="2" charset="-122"/>
                  <a:sym typeface="Symbol" panose="05050102010706020507" pitchFamily="18" charset="2"/>
                </a:rPr>
                <a:t></a:t>
              </a:r>
            </a:p>
          </p:txBody>
        </p:sp>
        <p:sp>
          <p:nvSpPr>
            <p:cNvPr id="521275" name="Rectangle 59"/>
            <p:cNvSpPr>
              <a:spLocks noChangeArrowheads="1"/>
            </p:cNvSpPr>
            <p:nvPr/>
          </p:nvSpPr>
          <p:spPr bwMode="auto">
            <a:xfrm>
              <a:off x="4023" y="3040"/>
              <a:ext cx="266" cy="21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en-US" altLang="zh-CN" sz="1600" i="1">
                  <a:latin typeface="Book Antiqua" pitchFamily="18" charset="0"/>
                  <a:ea typeface="PMingLiU" pitchFamily="18" charset="-120"/>
                  <a:sym typeface="Symbol" panose="05050102010706020507" pitchFamily="18" charset="2"/>
                </a:rPr>
                <a:t>r</a:t>
              </a:r>
              <a:r>
                <a:rPr lang="en-US" altLang="zh-CN" sz="1600" i="1">
                  <a:latin typeface="Book Antiqua" pitchFamily="18" charset="0"/>
                  <a:ea typeface="华文行楷" pitchFamily="2" charset="-122"/>
                  <a:sym typeface="Symbol" panose="05050102010706020507" pitchFamily="18" charset="2"/>
                </a:rPr>
                <a:t>m</a:t>
              </a:r>
            </a:p>
          </p:txBody>
        </p:sp>
      </p:grpSp>
      <p:grpSp>
        <p:nvGrpSpPr>
          <p:cNvPr id="521276" name="Group 60"/>
          <p:cNvGrpSpPr/>
          <p:nvPr/>
        </p:nvGrpSpPr>
        <p:grpSpPr bwMode="auto">
          <a:xfrm>
            <a:off x="6821488" y="5202238"/>
            <a:ext cx="485775" cy="547687"/>
            <a:chOff x="4023" y="2907"/>
            <a:chExt cx="306" cy="345"/>
          </a:xfrm>
        </p:grpSpPr>
        <p:sp>
          <p:nvSpPr>
            <p:cNvPr id="521277" name="Rectangle 61"/>
            <p:cNvSpPr>
              <a:spLocks noChangeArrowheads="1"/>
            </p:cNvSpPr>
            <p:nvPr/>
          </p:nvSpPr>
          <p:spPr bwMode="auto">
            <a:xfrm>
              <a:off x="4023" y="2907"/>
              <a:ext cx="306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ea typeface="华文行楷" pitchFamily="2" charset="-122"/>
                  <a:sym typeface="Symbol" panose="05050102010706020507" pitchFamily="18" charset="2"/>
                </a:rPr>
                <a:t></a:t>
              </a:r>
            </a:p>
          </p:txBody>
        </p:sp>
        <p:sp>
          <p:nvSpPr>
            <p:cNvPr id="521278" name="Rectangle 62"/>
            <p:cNvSpPr>
              <a:spLocks noChangeArrowheads="1"/>
            </p:cNvSpPr>
            <p:nvPr/>
          </p:nvSpPr>
          <p:spPr bwMode="auto">
            <a:xfrm>
              <a:off x="4023" y="3040"/>
              <a:ext cx="266" cy="21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en-US" altLang="zh-CN" sz="1600" i="1">
                  <a:latin typeface="Book Antiqua" pitchFamily="18" charset="0"/>
                  <a:ea typeface="PMingLiU" pitchFamily="18" charset="-120"/>
                  <a:sym typeface="Symbol" panose="05050102010706020507" pitchFamily="18" charset="2"/>
                </a:rPr>
                <a:t>r</a:t>
              </a:r>
              <a:r>
                <a:rPr lang="en-US" altLang="zh-CN" sz="1600" i="1">
                  <a:latin typeface="Book Antiqua" pitchFamily="18" charset="0"/>
                  <a:ea typeface="华文行楷" pitchFamily="2" charset="-122"/>
                  <a:sym typeface="Symbol" panose="05050102010706020507" pitchFamily="18" charset="2"/>
                </a:rPr>
                <a:t>m</a:t>
              </a:r>
            </a:p>
          </p:txBody>
        </p:sp>
      </p:grpSp>
      <p:grpSp>
        <p:nvGrpSpPr>
          <p:cNvPr id="521279" name="Group 63"/>
          <p:cNvGrpSpPr/>
          <p:nvPr/>
        </p:nvGrpSpPr>
        <p:grpSpPr bwMode="auto">
          <a:xfrm>
            <a:off x="5580063" y="5761038"/>
            <a:ext cx="485775" cy="547687"/>
            <a:chOff x="4023" y="2907"/>
            <a:chExt cx="306" cy="345"/>
          </a:xfrm>
        </p:grpSpPr>
        <p:sp>
          <p:nvSpPr>
            <p:cNvPr id="521280" name="Rectangle 64"/>
            <p:cNvSpPr>
              <a:spLocks noChangeArrowheads="1"/>
            </p:cNvSpPr>
            <p:nvPr/>
          </p:nvSpPr>
          <p:spPr bwMode="auto">
            <a:xfrm>
              <a:off x="4023" y="2907"/>
              <a:ext cx="306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ea typeface="华文行楷" pitchFamily="2" charset="-122"/>
                  <a:sym typeface="Symbol" panose="05050102010706020507" pitchFamily="18" charset="2"/>
                </a:rPr>
                <a:t></a:t>
              </a:r>
            </a:p>
          </p:txBody>
        </p:sp>
        <p:sp>
          <p:nvSpPr>
            <p:cNvPr id="521281" name="Rectangle 65"/>
            <p:cNvSpPr>
              <a:spLocks noChangeArrowheads="1"/>
            </p:cNvSpPr>
            <p:nvPr/>
          </p:nvSpPr>
          <p:spPr bwMode="auto">
            <a:xfrm>
              <a:off x="4023" y="3040"/>
              <a:ext cx="266" cy="21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en-US" altLang="zh-CN" sz="1600" i="1">
                  <a:latin typeface="Book Antiqua" pitchFamily="18" charset="0"/>
                  <a:ea typeface="PMingLiU" pitchFamily="18" charset="-120"/>
                  <a:sym typeface="Symbol" panose="05050102010706020507" pitchFamily="18" charset="2"/>
                </a:rPr>
                <a:t>r</a:t>
              </a:r>
              <a:r>
                <a:rPr lang="en-US" altLang="zh-CN" sz="1600" i="1">
                  <a:latin typeface="Book Antiqua" pitchFamily="18" charset="0"/>
                  <a:ea typeface="华文行楷" pitchFamily="2" charset="-122"/>
                  <a:sym typeface="Symbol" panose="05050102010706020507" pitchFamily="18" charset="2"/>
                </a:rPr>
                <a:t>m</a:t>
              </a:r>
            </a:p>
          </p:txBody>
        </p:sp>
      </p:grpSp>
      <p:grpSp>
        <p:nvGrpSpPr>
          <p:cNvPr id="521282" name="Group 66"/>
          <p:cNvGrpSpPr/>
          <p:nvPr/>
        </p:nvGrpSpPr>
        <p:grpSpPr bwMode="auto">
          <a:xfrm>
            <a:off x="7037388" y="5761038"/>
            <a:ext cx="485775" cy="547687"/>
            <a:chOff x="4023" y="2907"/>
            <a:chExt cx="306" cy="345"/>
          </a:xfrm>
        </p:grpSpPr>
        <p:sp>
          <p:nvSpPr>
            <p:cNvPr id="521283" name="Rectangle 67"/>
            <p:cNvSpPr>
              <a:spLocks noChangeArrowheads="1"/>
            </p:cNvSpPr>
            <p:nvPr/>
          </p:nvSpPr>
          <p:spPr bwMode="auto">
            <a:xfrm>
              <a:off x="4023" y="2907"/>
              <a:ext cx="306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ea typeface="华文行楷" pitchFamily="2" charset="-122"/>
                  <a:sym typeface="Symbol" panose="05050102010706020507" pitchFamily="18" charset="2"/>
                </a:rPr>
                <a:t></a:t>
              </a:r>
            </a:p>
          </p:txBody>
        </p:sp>
        <p:sp>
          <p:nvSpPr>
            <p:cNvPr id="521284" name="Rectangle 68"/>
            <p:cNvSpPr>
              <a:spLocks noChangeArrowheads="1"/>
            </p:cNvSpPr>
            <p:nvPr/>
          </p:nvSpPr>
          <p:spPr bwMode="auto">
            <a:xfrm>
              <a:off x="4023" y="3040"/>
              <a:ext cx="266" cy="21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en-US" altLang="zh-CN" sz="1600" i="1">
                  <a:latin typeface="Book Antiqua" pitchFamily="18" charset="0"/>
                  <a:ea typeface="PMingLiU" pitchFamily="18" charset="-120"/>
                  <a:sym typeface="Symbol" panose="05050102010706020507" pitchFamily="18" charset="2"/>
                </a:rPr>
                <a:t>r</a:t>
              </a:r>
              <a:r>
                <a:rPr lang="en-US" altLang="zh-CN" sz="1600" i="1">
                  <a:latin typeface="Book Antiqua" pitchFamily="18" charset="0"/>
                  <a:ea typeface="华文行楷" pitchFamily="2" charset="-122"/>
                  <a:sym typeface="Symbol" panose="05050102010706020507" pitchFamily="18" charset="2"/>
                </a:rPr>
                <a:t>m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5212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2000"/>
                                        <p:tgtEl>
                                          <p:spTgt spid="5212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2000"/>
                                        <p:tgtEl>
                                          <p:spTgt spid="521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2000"/>
                                        <p:tgtEl>
                                          <p:spTgt spid="521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2000"/>
                                        <p:tgtEl>
                                          <p:spTgt spid="521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2000"/>
                                        <p:tgtEl>
                                          <p:spTgt spid="521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2000"/>
                                        <p:tgtEl>
                                          <p:spTgt spid="521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2000"/>
                                        <p:tgtEl>
                                          <p:spTgt spid="52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2000"/>
                                        <p:tgtEl>
                                          <p:spTgt spid="52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2000"/>
                                        <p:tgtEl>
                                          <p:spTgt spid="52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2000"/>
                                        <p:tgtEl>
                                          <p:spTgt spid="52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2000"/>
                                        <p:tgtEl>
                                          <p:spTgt spid="5212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2000"/>
                                        <p:tgtEl>
                                          <p:spTgt spid="5212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1228" grpId="0"/>
      <p:bldP spid="521229" grpId="0"/>
      <p:bldP spid="521230" grpId="0"/>
      <p:bldP spid="521231" grpId="0"/>
      <p:bldP spid="521232" grpId="0"/>
      <p:bldP spid="521233" grpId="0"/>
      <p:bldP spid="5212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4" name="Text Box 4"/>
          <p:cNvSpPr txBox="1">
            <a:spLocks noChangeArrowheads="1"/>
          </p:cNvSpPr>
          <p:nvPr/>
        </p:nvSpPr>
        <p:spPr bwMode="auto">
          <a:xfrm>
            <a:off x="755650" y="1268413"/>
            <a:ext cx="7129463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 </a:t>
            </a:r>
            <a:r>
              <a:rPr lang="zh-CN" altLang="en-US" sz="3200" b="1">
                <a:solidFill>
                  <a:srgbClr val="800080"/>
                </a:solidFill>
              </a:rPr>
              <a:t>举例</a:t>
            </a:r>
            <a:r>
              <a:rPr lang="zh-CN" altLang="en-US" sz="3200" b="1"/>
              <a:t>：</a:t>
            </a:r>
            <a:r>
              <a:rPr lang="zh-CN" altLang="en-US" sz="3200" b="1">
                <a:latin typeface="楷体_GB2312" pitchFamily="49" charset="-122"/>
              </a:rPr>
              <a:t>句柄不一定唯一</a:t>
            </a:r>
          </a:p>
        </p:txBody>
      </p:sp>
      <p:sp>
        <p:nvSpPr>
          <p:cNvPr id="522245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246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247" name="AutoShape 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248" name="AutoShape 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249" name="Rectangle 9"/>
          <p:cNvSpPr>
            <a:spLocks noChangeArrowheads="1"/>
          </p:cNvSpPr>
          <p:nvPr/>
        </p:nvSpPr>
        <p:spPr bwMode="auto">
          <a:xfrm>
            <a:off x="0" y="196850"/>
            <a:ext cx="5796136" cy="66172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自底向上分析思想的回顾</a:t>
            </a:r>
          </a:p>
        </p:txBody>
      </p:sp>
      <p:sp>
        <p:nvSpPr>
          <p:cNvPr id="522251" name="Rectangle 11"/>
          <p:cNvSpPr>
            <a:spLocks noChangeArrowheads="1"/>
          </p:cNvSpPr>
          <p:nvPr/>
        </p:nvSpPr>
        <p:spPr bwMode="auto">
          <a:xfrm>
            <a:off x="1174750" y="1987550"/>
            <a:ext cx="4549775" cy="435292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Symbol" panose="05050102010706020507" pitchFamily="18" charset="2"/>
              <a:buChar char="-"/>
            </a:pPr>
            <a:r>
              <a:rPr lang="en-US" altLang="zh-CN" b="1" dirty="0">
                <a:latin typeface="楷体_GB2312" pitchFamily="49" charset="-122"/>
              </a:rPr>
              <a:t> </a:t>
            </a:r>
            <a:r>
              <a:rPr lang="zh-CN" altLang="en-US" b="1" dirty="0">
                <a:latin typeface="楷体_GB2312" pitchFamily="49" charset="-122"/>
              </a:rPr>
              <a:t>对于右边的文法</a:t>
            </a:r>
            <a:r>
              <a:rPr lang="en-US" altLang="zh-CN" dirty="0"/>
              <a:t>G(S)</a:t>
            </a:r>
            <a:r>
              <a:rPr lang="en-US" altLang="zh-CN" b="1" dirty="0">
                <a:latin typeface="楷体_GB2312" pitchFamily="49" charset="-122"/>
              </a:rPr>
              <a:t>,</a:t>
            </a:r>
          </a:p>
          <a:p>
            <a:pPr>
              <a:buFont typeface="Symbol" panose="05050102010706020507" pitchFamily="18" charset="2"/>
              <a:buNone/>
            </a:pPr>
            <a:endParaRPr lang="en-US" altLang="zh-CN" sz="1000" b="1" dirty="0">
              <a:latin typeface="楷体_GB2312" pitchFamily="49" charset="-122"/>
            </a:endParaRPr>
          </a:p>
          <a:p>
            <a:pPr>
              <a:buFont typeface="Symbol" panose="05050102010706020507" pitchFamily="18" charset="2"/>
              <a:buNone/>
            </a:pPr>
            <a:r>
              <a:rPr lang="en-US" altLang="zh-CN" b="1" dirty="0">
                <a:latin typeface="楷体_GB2312" pitchFamily="49" charset="-122"/>
              </a:rPr>
              <a:t>  </a:t>
            </a:r>
            <a:r>
              <a:rPr lang="zh-CN" altLang="en-US" b="1" dirty="0">
                <a:latin typeface="楷体_GB2312" pitchFamily="49" charset="-122"/>
              </a:rPr>
              <a:t>句子 </a:t>
            </a:r>
            <a:r>
              <a:rPr lang="en-US" altLang="zh-CN" dirty="0" err="1">
                <a:solidFill>
                  <a:srgbClr val="800080"/>
                </a:solidFill>
              </a:rPr>
              <a:t>aaab</a:t>
            </a:r>
            <a:r>
              <a:rPr lang="en-US" altLang="zh-CN" b="1" dirty="0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b="1" dirty="0">
                <a:solidFill>
                  <a:srgbClr val="800080"/>
                </a:solidFill>
                <a:latin typeface="楷体_GB2312" pitchFamily="49" charset="-122"/>
              </a:rPr>
              <a:t>的直接短语</a:t>
            </a:r>
            <a:r>
              <a:rPr lang="zh-CN" altLang="en-US" b="1" dirty="0">
                <a:latin typeface="楷体_GB2312" pitchFamily="49" charset="-122"/>
              </a:rPr>
              <a:t>有：</a:t>
            </a:r>
          </a:p>
          <a:p>
            <a:pPr>
              <a:buFont typeface="Symbol" panose="05050102010706020507" pitchFamily="18" charset="2"/>
              <a:buNone/>
            </a:pPr>
            <a:r>
              <a:rPr lang="zh-CN" altLang="en-US" dirty="0">
                <a:solidFill>
                  <a:srgbClr val="800080"/>
                </a:solidFill>
              </a:rPr>
              <a:t>              </a:t>
            </a:r>
            <a:r>
              <a:rPr lang="zh-CN" altLang="en-US" dirty="0">
                <a:solidFill>
                  <a:srgbClr val="800080"/>
                </a:solidFill>
                <a:sym typeface="Symbol" panose="05050102010706020507" pitchFamily="18" charset="2"/>
              </a:rPr>
              <a:t></a:t>
            </a:r>
            <a:r>
              <a:rPr lang="zh-CN" altLang="en-US" dirty="0"/>
              <a:t> ：</a:t>
            </a:r>
            <a:r>
              <a:rPr lang="en-US" altLang="zh-CN" dirty="0" err="1"/>
              <a:t>aaa</a:t>
            </a:r>
            <a:r>
              <a:rPr lang="en-US" altLang="zh-CN" dirty="0" err="1">
                <a:solidFill>
                  <a:srgbClr val="800080"/>
                </a:solidFill>
                <a:sym typeface="Symbol" panose="05050102010706020507" pitchFamily="18" charset="2"/>
              </a:rPr>
              <a:t></a:t>
            </a:r>
            <a:r>
              <a:rPr lang="en-US" altLang="zh-CN" dirty="0" err="1"/>
              <a:t>b</a:t>
            </a:r>
            <a:r>
              <a:rPr lang="zh-CN" altLang="en-US" dirty="0"/>
              <a:t>；</a:t>
            </a:r>
            <a:endParaRPr lang="zh-CN" altLang="en-US" b="1" dirty="0">
              <a:latin typeface="楷体_GB2312" pitchFamily="49" charset="-122"/>
            </a:endParaRPr>
          </a:p>
          <a:p>
            <a:pPr>
              <a:buFont typeface="Symbol" panose="05050102010706020507" pitchFamily="18" charset="2"/>
              <a:buNone/>
            </a:pPr>
            <a:r>
              <a:rPr lang="zh-CN" altLang="en-US" dirty="0"/>
              <a:t>               </a:t>
            </a:r>
            <a:r>
              <a:rPr lang="en-US" altLang="zh-CN" dirty="0">
                <a:solidFill>
                  <a:srgbClr val="800080"/>
                </a:solidFill>
              </a:rPr>
              <a:t>b</a:t>
            </a:r>
            <a:r>
              <a:rPr lang="zh-CN" altLang="en-US" dirty="0"/>
              <a:t>：</a:t>
            </a:r>
            <a:r>
              <a:rPr lang="en-US" altLang="zh-CN" dirty="0" err="1"/>
              <a:t>aaa</a:t>
            </a:r>
            <a:r>
              <a:rPr lang="en-US" altLang="zh-CN" dirty="0" err="1">
                <a:solidFill>
                  <a:srgbClr val="800080"/>
                </a:solidFill>
              </a:rPr>
              <a:t>b</a:t>
            </a:r>
            <a:endParaRPr lang="en-US" altLang="zh-CN" dirty="0">
              <a:solidFill>
                <a:srgbClr val="800080"/>
              </a:solidFill>
            </a:endParaRPr>
          </a:p>
          <a:p>
            <a:pPr>
              <a:buFont typeface="Symbol" panose="05050102010706020507" pitchFamily="18" charset="2"/>
              <a:buNone/>
            </a:pPr>
            <a:endParaRPr lang="en-US" altLang="zh-CN" sz="1000" dirty="0">
              <a:solidFill>
                <a:srgbClr val="800080"/>
              </a:solidFill>
            </a:endParaRPr>
          </a:p>
          <a:p>
            <a:pPr>
              <a:buFont typeface="Symbol" panose="05050102010706020507" pitchFamily="18" charset="2"/>
              <a:buNone/>
            </a:pPr>
            <a:r>
              <a:rPr lang="en-US" altLang="zh-CN" dirty="0">
                <a:solidFill>
                  <a:srgbClr val="800080"/>
                </a:solidFill>
              </a:rPr>
              <a:t>    </a:t>
            </a:r>
            <a:r>
              <a:rPr lang="en-US" altLang="zh-CN" dirty="0" err="1">
                <a:solidFill>
                  <a:srgbClr val="800080"/>
                </a:solidFill>
              </a:rPr>
              <a:t>aaab</a:t>
            </a:r>
            <a:r>
              <a:rPr lang="en-US" altLang="zh-CN" b="1" dirty="0">
                <a:solidFill>
                  <a:srgbClr val="800080"/>
                </a:solidFill>
              </a:rPr>
              <a:t> </a:t>
            </a:r>
            <a:r>
              <a:rPr lang="zh-CN" altLang="en-US" b="1" dirty="0">
                <a:solidFill>
                  <a:srgbClr val="800080"/>
                </a:solidFill>
              </a:rPr>
              <a:t>的句柄</a:t>
            </a:r>
            <a:r>
              <a:rPr lang="zh-CN" altLang="en-US" b="1" dirty="0"/>
              <a:t>：</a:t>
            </a:r>
            <a:r>
              <a:rPr lang="zh-CN" altLang="en-US" dirty="0">
                <a:solidFill>
                  <a:srgbClr val="800080"/>
                </a:solidFill>
                <a:sym typeface="Symbol" panose="05050102010706020507" pitchFamily="18" charset="2"/>
              </a:rPr>
              <a:t></a:t>
            </a:r>
            <a:endParaRPr lang="zh-CN" altLang="en-US" dirty="0"/>
          </a:p>
          <a:p>
            <a:pPr>
              <a:buFont typeface="Symbol" panose="05050102010706020507" pitchFamily="18" charset="2"/>
              <a:buNone/>
            </a:pPr>
            <a:endParaRPr lang="zh-CN" altLang="en-US" sz="1000" dirty="0">
              <a:solidFill>
                <a:srgbClr val="800080"/>
              </a:solidFill>
            </a:endParaRPr>
          </a:p>
          <a:p>
            <a:pPr>
              <a:buFont typeface="Symbol" panose="05050102010706020507" pitchFamily="18" charset="2"/>
              <a:buNone/>
            </a:pPr>
            <a:r>
              <a:rPr lang="zh-CN" altLang="en-US" dirty="0"/>
              <a:t>    </a:t>
            </a:r>
            <a:r>
              <a:rPr lang="zh-CN" altLang="en-US" b="1" dirty="0"/>
              <a:t>右句型</a:t>
            </a:r>
            <a:r>
              <a:rPr lang="en-US" altLang="zh-CN" dirty="0" err="1">
                <a:solidFill>
                  <a:srgbClr val="800080"/>
                </a:solidFill>
              </a:rPr>
              <a:t>aaAb</a:t>
            </a:r>
            <a:r>
              <a:rPr lang="zh-CN" altLang="en-US" b="1" dirty="0">
                <a:solidFill>
                  <a:srgbClr val="800080"/>
                </a:solidFill>
              </a:rPr>
              <a:t>的直接短语</a:t>
            </a:r>
            <a:r>
              <a:rPr lang="zh-CN" altLang="en-US" b="1" dirty="0"/>
              <a:t>有：</a:t>
            </a: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             </a:t>
            </a:r>
            <a:r>
              <a:rPr lang="en-US" altLang="zh-CN" dirty="0" err="1">
                <a:solidFill>
                  <a:srgbClr val="800080"/>
                </a:solidFill>
              </a:rPr>
              <a:t>aA</a:t>
            </a:r>
            <a:r>
              <a:rPr lang="zh-CN" altLang="en-US" dirty="0"/>
              <a:t>：</a:t>
            </a:r>
            <a:r>
              <a:rPr lang="en-US" altLang="zh-CN" dirty="0" err="1"/>
              <a:t>a</a:t>
            </a:r>
            <a:r>
              <a:rPr lang="en-US" altLang="zh-CN" dirty="0" err="1">
                <a:solidFill>
                  <a:srgbClr val="800080"/>
                </a:solidFill>
              </a:rPr>
              <a:t>aA</a:t>
            </a:r>
            <a:r>
              <a:rPr lang="en-US" altLang="zh-CN" dirty="0" err="1"/>
              <a:t>b</a:t>
            </a:r>
            <a:r>
              <a:rPr lang="zh-CN" altLang="en-US" dirty="0"/>
              <a:t>；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800080"/>
                </a:solidFill>
              </a:rPr>
              <a:t>           </a:t>
            </a:r>
            <a:r>
              <a:rPr lang="en-US" altLang="zh-CN" dirty="0" err="1">
                <a:solidFill>
                  <a:srgbClr val="800080"/>
                </a:solidFill>
              </a:rPr>
              <a:t>aaA</a:t>
            </a:r>
            <a:r>
              <a:rPr lang="zh-CN" altLang="en-US" dirty="0"/>
              <a:t>：</a:t>
            </a:r>
            <a:r>
              <a:rPr lang="en-US" altLang="zh-CN" dirty="0" err="1">
                <a:solidFill>
                  <a:srgbClr val="800080"/>
                </a:solidFill>
              </a:rPr>
              <a:t>aaA</a:t>
            </a:r>
            <a:r>
              <a:rPr lang="en-US" altLang="zh-CN" dirty="0" err="1"/>
              <a:t>b</a:t>
            </a:r>
            <a:r>
              <a:rPr lang="zh-CN" altLang="en-US" dirty="0"/>
              <a:t>；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800080"/>
                </a:solidFill>
              </a:rPr>
              <a:t>               </a:t>
            </a:r>
            <a:r>
              <a:rPr lang="en-US" altLang="zh-CN" dirty="0">
                <a:solidFill>
                  <a:srgbClr val="800080"/>
                </a:solidFill>
              </a:rPr>
              <a:t>b</a:t>
            </a:r>
            <a:r>
              <a:rPr lang="zh-CN" altLang="en-US" dirty="0"/>
              <a:t>：</a:t>
            </a:r>
            <a:r>
              <a:rPr lang="en-US" altLang="zh-CN" dirty="0" err="1"/>
              <a:t>aaA</a:t>
            </a:r>
            <a:r>
              <a:rPr lang="en-US" altLang="zh-CN" dirty="0" err="1">
                <a:solidFill>
                  <a:srgbClr val="800080"/>
                </a:solidFill>
              </a:rPr>
              <a:t>b</a:t>
            </a:r>
            <a:endParaRPr lang="en-US" altLang="zh-CN" dirty="0">
              <a:solidFill>
                <a:srgbClr val="80008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1000" dirty="0">
              <a:solidFill>
                <a:srgbClr val="80008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800080"/>
                </a:solidFill>
              </a:rPr>
              <a:t>    </a:t>
            </a:r>
            <a:r>
              <a:rPr lang="en-US" altLang="zh-CN" dirty="0" err="1">
                <a:solidFill>
                  <a:srgbClr val="800080"/>
                </a:solidFill>
              </a:rPr>
              <a:t>aaAb</a:t>
            </a:r>
            <a:r>
              <a:rPr lang="en-US" altLang="zh-CN" b="1" dirty="0">
                <a:solidFill>
                  <a:srgbClr val="800080"/>
                </a:solidFill>
              </a:rPr>
              <a:t> </a:t>
            </a:r>
            <a:r>
              <a:rPr lang="zh-CN" altLang="en-US" b="1" dirty="0">
                <a:solidFill>
                  <a:srgbClr val="800080"/>
                </a:solidFill>
              </a:rPr>
              <a:t>的句柄</a:t>
            </a:r>
            <a:r>
              <a:rPr lang="zh-CN" altLang="en-US" b="1" dirty="0"/>
              <a:t>：</a:t>
            </a:r>
            <a:r>
              <a:rPr lang="en-US" altLang="zh-CN" dirty="0" err="1">
                <a:solidFill>
                  <a:srgbClr val="800080"/>
                </a:solidFill>
              </a:rPr>
              <a:t>aA</a:t>
            </a:r>
            <a:r>
              <a:rPr lang="zh-CN" altLang="en-US" dirty="0">
                <a:solidFill>
                  <a:srgbClr val="800080"/>
                </a:solidFill>
              </a:rPr>
              <a:t>，</a:t>
            </a:r>
            <a:r>
              <a:rPr lang="en-US" altLang="zh-CN" dirty="0" err="1">
                <a:solidFill>
                  <a:srgbClr val="800080"/>
                </a:solidFill>
              </a:rPr>
              <a:t>aaA</a:t>
            </a:r>
            <a:endParaRPr lang="en-US" altLang="zh-CN" dirty="0">
              <a:solidFill>
                <a:srgbClr val="800080"/>
              </a:solidFill>
            </a:endParaRPr>
          </a:p>
        </p:txBody>
      </p:sp>
      <p:sp>
        <p:nvSpPr>
          <p:cNvPr id="522252" name="Rectangle 12"/>
          <p:cNvSpPr>
            <a:spLocks noChangeArrowheads="1"/>
          </p:cNvSpPr>
          <p:nvPr/>
        </p:nvSpPr>
        <p:spPr bwMode="auto">
          <a:xfrm>
            <a:off x="6011863" y="1844675"/>
            <a:ext cx="2376487" cy="2800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b="1"/>
              <a:t>文法 </a:t>
            </a:r>
            <a:r>
              <a:rPr lang="en-US" altLang="zh-CN"/>
              <a:t>G</a:t>
            </a:r>
            <a:r>
              <a:rPr lang="zh-CN" altLang="en-US"/>
              <a:t>（</a:t>
            </a:r>
            <a:r>
              <a:rPr lang="en-US" altLang="zh-CN"/>
              <a:t>S</a:t>
            </a:r>
            <a:r>
              <a:rPr lang="zh-CN" altLang="en-US"/>
              <a:t>）</a:t>
            </a:r>
            <a:r>
              <a:rPr lang="en-US" altLang="zh-CN"/>
              <a:t>: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000"/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/>
              <a:t>S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AB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  <a:r>
              <a:rPr lang="en-US" altLang="zh-CN"/>
              <a:t>A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aA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</a:t>
            </a:r>
            <a:r>
              <a:rPr lang="en-US" altLang="zh-CN"/>
              <a:t>A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aaA</a:t>
            </a:r>
            <a:endParaRPr lang="en-US" altLang="zh-CN"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（</a:t>
            </a:r>
            <a:r>
              <a:rPr lang="en-US" altLang="zh-CN"/>
              <a:t>4</a:t>
            </a:r>
            <a:r>
              <a:rPr lang="zh-CN" altLang="en-US"/>
              <a:t>）</a:t>
            </a:r>
            <a:r>
              <a:rPr lang="en-US" altLang="zh-CN"/>
              <a:t>A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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（</a:t>
            </a:r>
            <a:r>
              <a:rPr lang="en-US" altLang="zh-CN"/>
              <a:t>5</a:t>
            </a:r>
            <a:r>
              <a:rPr lang="zh-CN" altLang="en-US"/>
              <a:t>）</a:t>
            </a:r>
            <a:r>
              <a:rPr lang="en-US" altLang="zh-CN"/>
              <a:t>B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b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（</a:t>
            </a:r>
            <a:r>
              <a:rPr lang="en-US" altLang="zh-CN"/>
              <a:t>6</a:t>
            </a:r>
            <a:r>
              <a:rPr lang="zh-CN" altLang="en-US"/>
              <a:t>）</a:t>
            </a:r>
            <a:r>
              <a:rPr lang="en-US" altLang="zh-CN"/>
              <a:t>B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bB</a:t>
            </a:r>
          </a:p>
        </p:txBody>
      </p:sp>
      <p:sp>
        <p:nvSpPr>
          <p:cNvPr id="522253" name="Rectangle 13"/>
          <p:cNvSpPr>
            <a:spLocks noChangeArrowheads="1"/>
          </p:cNvSpPr>
          <p:nvPr/>
        </p:nvSpPr>
        <p:spPr bwMode="auto">
          <a:xfrm>
            <a:off x="6011863" y="4829175"/>
            <a:ext cx="2376487" cy="15525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800080"/>
                </a:solidFill>
              </a:rPr>
              <a:t>不唯一的原因：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 dirty="0"/>
              <a:t> </a:t>
            </a:r>
            <a:r>
              <a:rPr lang="en-US" altLang="zh-CN" dirty="0"/>
              <a:t>G</a:t>
            </a:r>
            <a:r>
              <a:rPr lang="zh-CN" altLang="en-US" dirty="0"/>
              <a:t>（</a:t>
            </a:r>
            <a:r>
              <a:rPr lang="en-US" altLang="zh-CN" dirty="0"/>
              <a:t>S</a:t>
            </a:r>
            <a:r>
              <a:rPr lang="zh-CN" altLang="en-US" dirty="0"/>
              <a:t>）</a:t>
            </a:r>
            <a:r>
              <a:rPr lang="zh-CN" altLang="en-US" b="1" dirty="0"/>
              <a:t>是二义文法，右句型的最右推导有多个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22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5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908" name="Text Box 4"/>
          <p:cNvSpPr txBox="1">
            <a:spLocks noChangeArrowheads="1"/>
          </p:cNvSpPr>
          <p:nvPr/>
        </p:nvSpPr>
        <p:spPr bwMode="auto">
          <a:xfrm>
            <a:off x="755650" y="1268413"/>
            <a:ext cx="6840538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zh-CN" altLang="en-US" sz="3200" b="1">
                <a:solidFill>
                  <a:srgbClr val="800080"/>
                </a:solidFill>
              </a:rPr>
              <a:t>举例</a:t>
            </a:r>
            <a:r>
              <a:rPr lang="en-US" altLang="zh-CN" sz="3200" b="1">
                <a:latin typeface="楷体_GB2312" pitchFamily="49" charset="-122"/>
              </a:rPr>
              <a:t>: </a:t>
            </a:r>
            <a:r>
              <a:rPr lang="zh-CN" altLang="en-US" sz="3200" b="1">
                <a:latin typeface="楷体_GB2312" pitchFamily="49" charset="-122"/>
              </a:rPr>
              <a:t>最右推导与最左归约</a:t>
            </a:r>
          </a:p>
        </p:txBody>
      </p:sp>
      <p:sp>
        <p:nvSpPr>
          <p:cNvPr id="507913" name="Rectangle 9"/>
          <p:cNvSpPr>
            <a:spLocks noChangeArrowheads="1"/>
          </p:cNvSpPr>
          <p:nvPr/>
        </p:nvSpPr>
        <p:spPr bwMode="auto">
          <a:xfrm>
            <a:off x="35496" y="227014"/>
            <a:ext cx="5904656" cy="66172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自底向上分析思想的回顾</a:t>
            </a:r>
          </a:p>
        </p:txBody>
      </p:sp>
      <p:sp>
        <p:nvSpPr>
          <p:cNvPr id="507919" name="Rectangle 15"/>
          <p:cNvSpPr>
            <a:spLocks noChangeArrowheads="1"/>
          </p:cNvSpPr>
          <p:nvPr/>
        </p:nvSpPr>
        <p:spPr bwMode="auto">
          <a:xfrm>
            <a:off x="0" y="1785938"/>
            <a:ext cx="9144000" cy="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07921" name="Rectangle 17"/>
          <p:cNvSpPr>
            <a:spLocks noChangeArrowheads="1"/>
          </p:cNvSpPr>
          <p:nvPr/>
        </p:nvSpPr>
        <p:spPr bwMode="auto">
          <a:xfrm>
            <a:off x="6588125" y="1484313"/>
            <a:ext cx="2411413" cy="7016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/>
              <a:t>G(S):  S</a:t>
            </a:r>
            <a:r>
              <a:rPr lang="en-US" altLang="zh-CN" sz="2000"/>
              <a:t> 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/>
              <a:t> (</a:t>
            </a:r>
            <a:r>
              <a:rPr lang="en-US" altLang="zh-CN" sz="2000" i="1"/>
              <a:t>L</a:t>
            </a:r>
            <a:r>
              <a:rPr lang="en-US" altLang="zh-CN" sz="2000"/>
              <a:t>) | </a:t>
            </a:r>
            <a:r>
              <a:rPr lang="en-US" altLang="zh-CN" sz="2000" i="1"/>
              <a:t>a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           </a:t>
            </a:r>
            <a:r>
              <a:rPr lang="en-US" altLang="zh-CN" sz="2000" i="1"/>
              <a:t>L</a:t>
            </a:r>
            <a:r>
              <a:rPr lang="en-US" altLang="zh-CN" sz="2000"/>
              <a:t> 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/>
              <a:t> </a:t>
            </a:r>
            <a:r>
              <a:rPr lang="en-US" altLang="zh-CN" sz="2000" i="1"/>
              <a:t>L,S</a:t>
            </a:r>
            <a:r>
              <a:rPr lang="en-US" altLang="zh-CN" sz="2000"/>
              <a:t> | </a:t>
            </a:r>
            <a:r>
              <a:rPr lang="en-US" altLang="zh-CN" sz="2000" i="1"/>
              <a:t>S</a:t>
            </a:r>
          </a:p>
        </p:txBody>
      </p:sp>
      <p:graphicFrame>
        <p:nvGraphicFramePr>
          <p:cNvPr id="507922" name="Object 18"/>
          <p:cNvGraphicFramePr>
            <a:graphicFrameLocks noChangeAspect="1"/>
          </p:cNvGraphicFramePr>
          <p:nvPr/>
        </p:nvGraphicFramePr>
        <p:xfrm>
          <a:off x="1187450" y="2276475"/>
          <a:ext cx="6624638" cy="449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7934" name="Visio" r:id="rId3" imgW="6367145" imgH="4323715" progId="Visio.Drawing.11">
                  <p:embed/>
                </p:oleObj>
              </mc:Choice>
              <mc:Fallback>
                <p:oleObj name="Visio" r:id="rId3" imgW="6367145" imgH="4323715" progId="Visio.Drawing.11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276475"/>
                        <a:ext cx="6624638" cy="449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7909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7910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7911" name="AutoShape 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7912" name="AutoShape 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932" name="Text Box 4"/>
          <p:cNvSpPr txBox="1">
            <a:spLocks noChangeArrowheads="1"/>
          </p:cNvSpPr>
          <p:nvPr/>
        </p:nvSpPr>
        <p:spPr bwMode="auto">
          <a:xfrm>
            <a:off x="755650" y="1268413"/>
            <a:ext cx="6840538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 </a:t>
            </a:r>
            <a:r>
              <a:rPr lang="zh-CN" altLang="en-US" sz="3200" b="1">
                <a:solidFill>
                  <a:srgbClr val="800080"/>
                </a:solidFill>
              </a:rPr>
              <a:t>自底向上分析的实现技术</a:t>
            </a:r>
            <a:endParaRPr lang="zh-CN" altLang="en-US" sz="3200" b="1">
              <a:latin typeface="楷体_GB2312" pitchFamily="49" charset="-122"/>
            </a:endParaRPr>
          </a:p>
        </p:txBody>
      </p:sp>
      <p:sp>
        <p:nvSpPr>
          <p:cNvPr id="508933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8934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8935" name="AutoShape 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8936" name="AutoShape 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8937" name="Rectangle 9"/>
          <p:cNvSpPr>
            <a:spLocks noChangeArrowheads="1"/>
          </p:cNvSpPr>
          <p:nvPr/>
        </p:nvSpPr>
        <p:spPr bwMode="auto">
          <a:xfrm>
            <a:off x="37976" y="188913"/>
            <a:ext cx="6046192" cy="66172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自底向上分析思想的回顾</a:t>
            </a:r>
          </a:p>
        </p:txBody>
      </p:sp>
      <p:sp>
        <p:nvSpPr>
          <p:cNvPr id="508938" name="Rectangle 10"/>
          <p:cNvSpPr>
            <a:spLocks noChangeArrowheads="1"/>
          </p:cNvSpPr>
          <p:nvPr/>
        </p:nvSpPr>
        <p:spPr bwMode="auto">
          <a:xfrm>
            <a:off x="1116013" y="2047875"/>
            <a:ext cx="7848600" cy="11079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anose="05050102010706020507" pitchFamily="18" charset="2"/>
              <a:buChar char="-"/>
            </a:pPr>
            <a:r>
              <a:rPr lang="en-US" altLang="zh-CN" sz="2800" b="1" dirty="0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800080"/>
                </a:solidFill>
                <a:latin typeface="楷体_GB2312" pitchFamily="49" charset="-122"/>
              </a:rPr>
              <a:t>移进</a:t>
            </a:r>
            <a:r>
              <a:rPr lang="zh-CN" altLang="en-US" sz="2800" b="1" dirty="0">
                <a:solidFill>
                  <a:srgbClr val="800080"/>
                </a:solidFill>
                <a:sym typeface="Symbol" panose="05050102010706020507" pitchFamily="18" charset="2"/>
              </a:rPr>
              <a:t></a:t>
            </a:r>
            <a:r>
              <a:rPr lang="zh-CN" altLang="en-US" sz="2800" b="1" dirty="0">
                <a:solidFill>
                  <a:srgbClr val="800080"/>
                </a:solidFill>
                <a:latin typeface="楷体_GB2312" pitchFamily="49" charset="-122"/>
              </a:rPr>
              <a:t>归约</a:t>
            </a:r>
            <a:r>
              <a:rPr lang="zh-CN" altLang="en-US" sz="2800" b="1" dirty="0">
                <a:latin typeface="楷体_GB2312" pitchFamily="49" charset="-122"/>
              </a:rPr>
              <a:t>（</a:t>
            </a:r>
            <a:r>
              <a:rPr kumimoji="0" lang="en-US" altLang="zh-CN" sz="2800" i="1" dirty="0"/>
              <a:t>shift-reduce</a:t>
            </a:r>
            <a:r>
              <a:rPr lang="zh-CN" altLang="en-US" sz="2800" b="1" dirty="0">
                <a:latin typeface="楷体_GB2312" pitchFamily="49" charset="-122"/>
              </a:rPr>
              <a:t>）分析技术</a:t>
            </a:r>
            <a:endParaRPr lang="zh-CN" altLang="en-US" sz="2800" b="1" dirty="0"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 dirty="0"/>
          </a:p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sz="2800" b="1" dirty="0"/>
              <a:t>    </a:t>
            </a:r>
            <a:r>
              <a:rPr lang="en-US" altLang="zh-CN" dirty="0">
                <a:solidFill>
                  <a:srgbClr val="800080"/>
                </a:solidFill>
              </a:rPr>
              <a:t>LR</a:t>
            </a:r>
            <a:r>
              <a:rPr lang="zh-CN" altLang="en-US" b="1" dirty="0">
                <a:solidFill>
                  <a:srgbClr val="800080"/>
                </a:solidFill>
              </a:rPr>
              <a:t>分析</a:t>
            </a:r>
            <a:r>
              <a:rPr lang="zh-CN" altLang="en-US" b="1" dirty="0"/>
              <a:t>和</a:t>
            </a:r>
            <a:r>
              <a:rPr lang="zh-CN" altLang="en-US" b="1" dirty="0">
                <a:solidFill>
                  <a:srgbClr val="800080"/>
                </a:solidFill>
              </a:rPr>
              <a:t>优先分析</a:t>
            </a:r>
            <a:r>
              <a:rPr lang="zh-CN" altLang="en-US" b="1" dirty="0"/>
              <a:t>采用移进</a:t>
            </a:r>
            <a:r>
              <a:rPr lang="zh-CN" altLang="en-US" b="1" dirty="0">
                <a:sym typeface="Symbol" panose="05050102010706020507" pitchFamily="18" charset="2"/>
              </a:rPr>
              <a:t></a:t>
            </a:r>
            <a:r>
              <a:rPr lang="zh-CN" altLang="en-US" b="1" dirty="0"/>
              <a:t>归约分析技术</a:t>
            </a:r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980" name="Text Box 4"/>
          <p:cNvSpPr txBox="1">
            <a:spLocks noChangeArrowheads="1"/>
          </p:cNvSpPr>
          <p:nvPr/>
        </p:nvSpPr>
        <p:spPr bwMode="auto">
          <a:xfrm>
            <a:off x="755650" y="1196975"/>
            <a:ext cx="6840538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zh-CN" altLang="en-US" sz="3200" b="1">
                <a:solidFill>
                  <a:srgbClr val="800080"/>
                </a:solidFill>
              </a:rPr>
              <a:t>与自顶向下技术相比</a:t>
            </a:r>
            <a:endParaRPr lang="zh-CN" altLang="en-US" sz="3200" b="1">
              <a:latin typeface="楷体_GB2312" pitchFamily="49" charset="-122"/>
            </a:endParaRPr>
          </a:p>
        </p:txBody>
      </p:sp>
      <p:sp>
        <p:nvSpPr>
          <p:cNvPr id="510981" name="AutoShape 5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0982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0983" name="AutoShape 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0984" name="AutoShape 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0985" name="Rectangle 9"/>
          <p:cNvSpPr>
            <a:spLocks noChangeArrowheads="1"/>
          </p:cNvSpPr>
          <p:nvPr/>
        </p:nvSpPr>
        <p:spPr bwMode="auto">
          <a:xfrm>
            <a:off x="37976" y="222021"/>
            <a:ext cx="5902176" cy="66172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自底向上分析思想的回顾</a:t>
            </a:r>
          </a:p>
        </p:txBody>
      </p:sp>
      <p:sp>
        <p:nvSpPr>
          <p:cNvPr id="510986" name="Rectangle 10"/>
          <p:cNvSpPr>
            <a:spLocks noChangeArrowheads="1"/>
          </p:cNvSpPr>
          <p:nvPr/>
        </p:nvSpPr>
        <p:spPr bwMode="auto">
          <a:xfrm>
            <a:off x="1116013" y="1844675"/>
            <a:ext cx="7777162" cy="1828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anose="05050102010706020507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>
                <a:solidFill>
                  <a:srgbClr val="800080"/>
                </a:solidFill>
                <a:latin typeface="楷体_GB2312" pitchFamily="49" charset="-122"/>
              </a:rPr>
              <a:t>功能较强大</a:t>
            </a:r>
            <a:endParaRPr lang="zh-CN" altLang="en-US" sz="1000" b="1"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/>
          </a:p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sz="2800" b="1"/>
              <a:t>    </a:t>
            </a:r>
            <a:r>
              <a:rPr lang="zh-CN" altLang="en-US" b="1"/>
              <a:t>原因在于</a:t>
            </a:r>
            <a:r>
              <a:rPr lang="zh-CN" altLang="en-US" b="1">
                <a:solidFill>
                  <a:srgbClr val="800080"/>
                </a:solidFill>
              </a:rPr>
              <a:t>推导</a:t>
            </a:r>
            <a:r>
              <a:rPr lang="zh-CN" altLang="en-US" b="1"/>
              <a:t>和</a:t>
            </a:r>
            <a:r>
              <a:rPr lang="zh-CN" altLang="en-US" b="1">
                <a:solidFill>
                  <a:srgbClr val="800080"/>
                </a:solidFill>
              </a:rPr>
              <a:t>归约</a:t>
            </a:r>
            <a:r>
              <a:rPr lang="zh-CN" altLang="en-US" b="1"/>
              <a:t>过程有如下差别：推导时仅观察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b="1"/>
              <a:t>     可推导出的输入串的一部分，而归约时可归约的输入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b="1"/>
              <a:t>     串整体已全部出现</a:t>
            </a:r>
          </a:p>
        </p:txBody>
      </p:sp>
      <p:sp>
        <p:nvSpPr>
          <p:cNvPr id="510988" name="Rectangle 12"/>
          <p:cNvSpPr>
            <a:spLocks noChangeArrowheads="1"/>
          </p:cNvSpPr>
          <p:nvPr/>
        </p:nvSpPr>
        <p:spPr bwMode="auto">
          <a:xfrm>
            <a:off x="1116013" y="4832350"/>
            <a:ext cx="7777162" cy="1981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anose="05050102010706020507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>
                <a:solidFill>
                  <a:srgbClr val="800080"/>
                </a:solidFill>
                <a:latin typeface="楷体_GB2312" pitchFamily="49" charset="-122"/>
              </a:rPr>
              <a:t>构造较复杂</a:t>
            </a:r>
            <a:endParaRPr lang="zh-CN" altLang="en-US" sz="1000" b="1"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/>
          </a:p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sz="2800" b="1"/>
              <a:t>    </a:t>
            </a:r>
            <a:r>
              <a:rPr lang="zh-CN" altLang="en-US" b="1"/>
              <a:t>手工构造有难度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/>
          </a:p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b="1"/>
              <a:t>     但存在很好的自动构造技术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b="1"/>
              <a:t>            （如 </a:t>
            </a:r>
            <a:r>
              <a:rPr lang="en-US" altLang="zh-CN"/>
              <a:t>Yacc </a:t>
            </a:r>
            <a:r>
              <a:rPr lang="zh-CN" altLang="en-US" b="1"/>
              <a:t>工具采用 </a:t>
            </a:r>
            <a:r>
              <a:rPr lang="en-US" altLang="zh-CN"/>
              <a:t>LALR </a:t>
            </a:r>
            <a:r>
              <a:rPr lang="zh-CN" altLang="en-US" b="1"/>
              <a:t>分析技术）</a:t>
            </a:r>
          </a:p>
        </p:txBody>
      </p:sp>
      <p:sp>
        <p:nvSpPr>
          <p:cNvPr id="510989" name="Rectangle 13"/>
          <p:cNvSpPr>
            <a:spLocks noChangeArrowheads="1"/>
          </p:cNvSpPr>
          <p:nvPr/>
        </p:nvSpPr>
        <p:spPr bwMode="auto">
          <a:xfrm>
            <a:off x="1116013" y="3698875"/>
            <a:ext cx="7777162" cy="1098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anose="05050102010706020507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>
                <a:solidFill>
                  <a:srgbClr val="800080"/>
                </a:solidFill>
                <a:latin typeface="楷体_GB2312" pitchFamily="49" charset="-122"/>
              </a:rPr>
              <a:t>利于出错处理</a:t>
            </a:r>
            <a:endParaRPr lang="zh-CN" altLang="en-US" sz="1000" b="1"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/>
          </a:p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sz="2800" b="1"/>
              <a:t>    </a:t>
            </a:r>
            <a:r>
              <a:rPr lang="zh-CN" altLang="en-US" b="1"/>
              <a:t>输入符号查看后才被移进</a:t>
            </a: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9" name="Rectangle 5"/>
          <p:cNvSpPr>
            <a:spLocks noChangeArrowheads="1"/>
          </p:cNvSpPr>
          <p:nvPr/>
        </p:nvSpPr>
        <p:spPr bwMode="auto">
          <a:xfrm>
            <a:off x="755650" y="2060575"/>
            <a:ext cx="8243888" cy="32623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anose="05050102010706020507" pitchFamily="18" charset="2"/>
              <a:buChar char="-"/>
            </a:pPr>
            <a:r>
              <a:rPr lang="en-US" altLang="zh-CN" sz="2800" b="1" dirty="0">
                <a:solidFill>
                  <a:srgbClr val="800080"/>
                </a:solidFill>
              </a:rPr>
              <a:t>  </a:t>
            </a:r>
            <a:r>
              <a:rPr lang="zh-CN" altLang="en-US" b="1" dirty="0"/>
              <a:t>借助一个</a:t>
            </a:r>
            <a:r>
              <a:rPr lang="zh-CN" altLang="en-US" b="1" dirty="0">
                <a:solidFill>
                  <a:srgbClr val="800080"/>
                </a:solidFill>
              </a:rPr>
              <a:t>下推栈（分析栈）</a:t>
            </a:r>
            <a:r>
              <a:rPr lang="zh-CN" altLang="en-US" b="1" dirty="0"/>
              <a:t>和一个基于有限状态控制的</a:t>
            </a:r>
          </a:p>
          <a:p>
            <a:pPr>
              <a:buClrTx/>
              <a:buFont typeface="Symbol" panose="05050102010706020507" pitchFamily="18" charset="2"/>
              <a:buNone/>
            </a:pPr>
            <a:r>
              <a:rPr lang="zh-CN" altLang="en-US" b="1" dirty="0">
                <a:solidFill>
                  <a:srgbClr val="800080"/>
                </a:solidFill>
              </a:rPr>
              <a:t>     分析引擎</a:t>
            </a:r>
            <a:endParaRPr lang="zh-CN" altLang="en-US" b="1" dirty="0"/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800080"/>
                </a:solidFill>
                <a:latin typeface="楷体_GB2312" pitchFamily="49" charset="-122"/>
              </a:rPr>
              <a:t>  </a:t>
            </a:r>
            <a:r>
              <a:rPr lang="zh-CN" altLang="en-US" b="1" dirty="0">
                <a:latin typeface="楷体_GB2312" pitchFamily="49" charset="-122"/>
              </a:rPr>
              <a:t>分析引擎根据</a:t>
            </a:r>
            <a:r>
              <a:rPr lang="zh-CN" altLang="en-US" b="1" dirty="0"/>
              <a:t>当前</a:t>
            </a:r>
            <a:r>
              <a:rPr lang="zh-CN" altLang="en-US" b="1" dirty="0">
                <a:latin typeface="楷体_GB2312" pitchFamily="49" charset="-122"/>
              </a:rPr>
              <a:t>状态、</a:t>
            </a:r>
            <a:r>
              <a:rPr lang="zh-CN" altLang="en-US" b="1" dirty="0"/>
              <a:t>下推栈当前状态</a:t>
            </a:r>
            <a:r>
              <a:rPr lang="en-US" altLang="zh-CN" b="1" dirty="0"/>
              <a:t>/</a:t>
            </a:r>
            <a:r>
              <a:rPr lang="zh-CN" altLang="en-US" b="1" dirty="0"/>
              <a:t>内容、</a:t>
            </a:r>
            <a:r>
              <a:rPr lang="zh-CN" altLang="en-US" b="1" dirty="0">
                <a:latin typeface="楷体_GB2312" pitchFamily="49" charset="-122"/>
              </a:rPr>
              <a:t>剩余输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楷体_GB2312" pitchFamily="49" charset="-122"/>
              </a:rPr>
              <a:t>  </a:t>
            </a:r>
            <a:r>
              <a:rPr lang="zh-CN" altLang="en-US" b="1" dirty="0">
                <a:latin typeface="楷体_GB2312" pitchFamily="49" charset="-122"/>
              </a:rPr>
              <a:t>入单词序列来</a:t>
            </a:r>
            <a:r>
              <a:rPr lang="zh-CN" altLang="en-US" b="1" dirty="0"/>
              <a:t>确定</a:t>
            </a:r>
            <a:r>
              <a:rPr lang="zh-CN" altLang="en-US" b="1" dirty="0">
                <a:latin typeface="楷体_GB2312" pitchFamily="49" charset="-122"/>
              </a:rPr>
              <a:t>如下动作之一，</a:t>
            </a:r>
            <a:r>
              <a:rPr lang="zh-CN" altLang="en-US" b="1" dirty="0"/>
              <a:t>然后进入新状态</a:t>
            </a:r>
            <a:r>
              <a:rPr lang="zh-CN" altLang="en-US" b="1" dirty="0">
                <a:latin typeface="楷体_GB2312" pitchFamily="49" charset="-122"/>
              </a:rPr>
              <a:t>：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 sz="1000" b="1" dirty="0">
              <a:latin typeface="楷体_GB2312" pitchFamily="49" charset="-122"/>
            </a:endParaRPr>
          </a:p>
          <a:p>
            <a:pPr lvl="1">
              <a:buFontTx/>
              <a:buChar char="•"/>
            </a:pPr>
            <a:r>
              <a:rPr lang="zh-CN" altLang="en-US" sz="2000" i="1" dirty="0"/>
              <a:t> </a:t>
            </a:r>
            <a:r>
              <a:rPr lang="en-US" altLang="zh-CN" sz="2000" i="1" dirty="0">
                <a:solidFill>
                  <a:srgbClr val="800080"/>
                </a:solidFill>
              </a:rPr>
              <a:t>Reduce</a:t>
            </a:r>
            <a:r>
              <a:rPr lang="en-US" altLang="zh-CN" sz="2000" b="1" dirty="0"/>
              <a:t>: </a:t>
            </a:r>
            <a:r>
              <a:rPr lang="zh-CN" altLang="en-US" sz="2000" b="1" dirty="0"/>
              <a:t>依确定的方式对位于栈顶的</a:t>
            </a:r>
            <a:r>
              <a:rPr lang="zh-CN" altLang="en-US" sz="2000" b="1" dirty="0">
                <a:solidFill>
                  <a:srgbClr val="800080"/>
                </a:solidFill>
              </a:rPr>
              <a:t>短语</a:t>
            </a:r>
            <a:r>
              <a:rPr lang="zh-CN" altLang="en-US" sz="2000" b="1" dirty="0"/>
              <a:t>进行</a:t>
            </a:r>
            <a:r>
              <a:rPr lang="zh-CN" altLang="en-US" sz="2000" b="1" dirty="0">
                <a:solidFill>
                  <a:srgbClr val="800080"/>
                </a:solidFill>
              </a:rPr>
              <a:t>归约</a:t>
            </a:r>
            <a:endParaRPr lang="zh-CN" altLang="en-US" sz="2000" dirty="0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sz="2000" i="1" dirty="0"/>
              <a:t> </a:t>
            </a:r>
            <a:r>
              <a:rPr lang="en-US" altLang="zh-CN" sz="2000" i="1" dirty="0">
                <a:solidFill>
                  <a:srgbClr val="800080"/>
                </a:solidFill>
              </a:rPr>
              <a:t>Shift</a:t>
            </a:r>
            <a:r>
              <a:rPr lang="en-US" altLang="zh-CN" sz="2000" b="1" dirty="0"/>
              <a:t>: </a:t>
            </a:r>
            <a:r>
              <a:rPr lang="zh-CN" altLang="en-US" sz="2000" b="1" dirty="0"/>
              <a:t>从输入序列</a:t>
            </a:r>
            <a:r>
              <a:rPr lang="zh-CN" altLang="en-US" sz="2000" b="1" dirty="0">
                <a:solidFill>
                  <a:srgbClr val="800080"/>
                </a:solidFill>
              </a:rPr>
              <a:t>移进</a:t>
            </a:r>
            <a:r>
              <a:rPr lang="zh-CN" altLang="en-US" sz="2000" b="1" dirty="0"/>
              <a:t>一个单词</a:t>
            </a:r>
            <a:endParaRPr lang="zh-CN" altLang="en-US" sz="2000" dirty="0"/>
          </a:p>
          <a:p>
            <a:pPr lvl="1">
              <a:buFontTx/>
              <a:buChar char="•"/>
            </a:pPr>
            <a:r>
              <a:rPr lang="zh-CN" altLang="en-US" sz="2000" i="1" dirty="0"/>
              <a:t> </a:t>
            </a:r>
            <a:r>
              <a:rPr lang="en-US" altLang="zh-CN" sz="2000" i="1" dirty="0">
                <a:solidFill>
                  <a:srgbClr val="800080"/>
                </a:solidFill>
              </a:rPr>
              <a:t>Error</a:t>
            </a:r>
            <a:r>
              <a:rPr lang="en-US" altLang="zh-CN" sz="2000" b="1" dirty="0"/>
              <a:t>: </a:t>
            </a:r>
            <a:r>
              <a:rPr lang="zh-CN" altLang="en-US" sz="2000" b="1" dirty="0"/>
              <a:t>发现语法</a:t>
            </a:r>
            <a:r>
              <a:rPr lang="zh-CN" altLang="en-US" sz="2000" b="1" dirty="0">
                <a:solidFill>
                  <a:srgbClr val="800080"/>
                </a:solidFill>
              </a:rPr>
              <a:t>错误</a:t>
            </a:r>
            <a:r>
              <a:rPr lang="zh-CN" altLang="en-US" sz="2000" b="1" dirty="0"/>
              <a:t>，进行错误处理</a:t>
            </a:r>
            <a:r>
              <a:rPr lang="en-US" altLang="zh-CN" sz="2000" b="1" dirty="0"/>
              <a:t>/</a:t>
            </a:r>
            <a:r>
              <a:rPr lang="zh-CN" altLang="en-US" sz="2000" b="1" dirty="0"/>
              <a:t>恢复</a:t>
            </a:r>
            <a:endParaRPr lang="zh-CN" altLang="en-US" sz="2000" dirty="0"/>
          </a:p>
          <a:p>
            <a:pPr lvl="1">
              <a:buFontTx/>
              <a:buChar char="•"/>
            </a:pPr>
            <a:r>
              <a:rPr kumimoji="0" lang="zh-CN" altLang="en-US" sz="2000" i="1" dirty="0">
                <a:solidFill>
                  <a:schemeClr val="tx1"/>
                </a:solidFill>
              </a:rPr>
              <a:t> </a:t>
            </a:r>
            <a:r>
              <a:rPr kumimoji="0" lang="en-US" altLang="zh-CN" sz="2000" i="1" dirty="0">
                <a:solidFill>
                  <a:srgbClr val="800080"/>
                </a:solidFill>
              </a:rPr>
              <a:t>Accept</a:t>
            </a:r>
            <a:r>
              <a:rPr kumimoji="0" lang="zh-CN" altLang="en-US" sz="2000" dirty="0">
                <a:solidFill>
                  <a:schemeClr val="tx1"/>
                </a:solidFill>
              </a:rPr>
              <a:t>：</a:t>
            </a:r>
            <a:r>
              <a:rPr kumimoji="0" lang="zh-CN" altLang="en-US" sz="2000" b="1" dirty="0"/>
              <a:t>分析</a:t>
            </a:r>
            <a:r>
              <a:rPr kumimoji="0" lang="zh-CN" altLang="en-US" sz="2000" b="1" dirty="0">
                <a:solidFill>
                  <a:srgbClr val="800080"/>
                </a:solidFill>
              </a:rPr>
              <a:t>成功</a:t>
            </a:r>
          </a:p>
        </p:txBody>
      </p:sp>
      <p:sp>
        <p:nvSpPr>
          <p:cNvPr id="441350" name="Text Box 6"/>
          <p:cNvSpPr txBox="1">
            <a:spLocks noChangeArrowheads="1"/>
          </p:cNvSpPr>
          <p:nvPr/>
        </p:nvSpPr>
        <p:spPr bwMode="auto">
          <a:xfrm>
            <a:off x="538163" y="1268413"/>
            <a:ext cx="7129462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3200" b="1">
                <a:solidFill>
                  <a:srgbClr val="800080"/>
                </a:solidFill>
                <a:latin typeface="楷体_GB2312" pitchFamily="49" charset="-122"/>
              </a:rPr>
              <a:t>基本原理</a:t>
            </a:r>
          </a:p>
        </p:txBody>
      </p:sp>
      <p:sp>
        <p:nvSpPr>
          <p:cNvPr id="441351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352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353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354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355" name="Rectangle 11"/>
          <p:cNvSpPr>
            <a:spLocks noChangeArrowheads="1"/>
          </p:cNvSpPr>
          <p:nvPr/>
        </p:nvSpPr>
        <p:spPr bwMode="auto">
          <a:xfrm>
            <a:off x="35496" y="188913"/>
            <a:ext cx="3598863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zh-CN" altLang="en-US" sz="4000" b="1" dirty="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移进</a:t>
            </a:r>
            <a:r>
              <a:rPr lang="zh-CN" altLang="en-US" sz="4000" b="1" dirty="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  <a:sym typeface="Symbol" panose="05050102010706020507" pitchFamily="18" charset="2"/>
              </a:rPr>
              <a:t></a:t>
            </a:r>
            <a:r>
              <a:rPr lang="zh-CN" altLang="en-US" sz="4000" b="1" dirty="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归约分析</a:t>
            </a:r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052" name="Text Box 4"/>
          <p:cNvSpPr txBox="1">
            <a:spLocks noChangeArrowheads="1"/>
          </p:cNvSpPr>
          <p:nvPr/>
        </p:nvSpPr>
        <p:spPr bwMode="auto">
          <a:xfrm>
            <a:off x="611188" y="1120775"/>
            <a:ext cx="3097212" cy="9461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2800" b="1">
                <a:solidFill>
                  <a:srgbClr val="800080"/>
                </a:solidFill>
              </a:rPr>
              <a:t> </a:t>
            </a:r>
            <a:r>
              <a:rPr lang="zh-CN" altLang="en-US" sz="2800" b="1"/>
              <a:t>移进</a:t>
            </a:r>
            <a:r>
              <a:rPr lang="zh-CN" altLang="en-US" sz="2800" b="1">
                <a:sym typeface="Symbol" panose="05050102010706020507" pitchFamily="18" charset="2"/>
              </a:rPr>
              <a:t></a:t>
            </a:r>
            <a:r>
              <a:rPr lang="zh-CN" altLang="en-US" sz="2800" b="1"/>
              <a:t>归约分析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sz="2800" b="1"/>
              <a:t>    的</a:t>
            </a:r>
            <a:r>
              <a:rPr lang="zh-CN" altLang="en-US" sz="2800" b="1">
                <a:solidFill>
                  <a:srgbClr val="800080"/>
                </a:solidFill>
              </a:rPr>
              <a:t>一个例子</a:t>
            </a:r>
          </a:p>
        </p:txBody>
      </p:sp>
      <p:sp>
        <p:nvSpPr>
          <p:cNvPr id="514057" name="Rectangle 9"/>
          <p:cNvSpPr>
            <a:spLocks noChangeArrowheads="1"/>
          </p:cNvSpPr>
          <p:nvPr/>
        </p:nvSpPr>
        <p:spPr bwMode="auto">
          <a:xfrm>
            <a:off x="37033" y="188913"/>
            <a:ext cx="3598863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zh-CN" altLang="en-US" sz="4000" b="1" dirty="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移进</a:t>
            </a:r>
            <a:r>
              <a:rPr lang="zh-CN" altLang="en-US" sz="4000" b="1" dirty="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  <a:sym typeface="Symbol" panose="05050102010706020507" pitchFamily="18" charset="2"/>
              </a:rPr>
              <a:t></a:t>
            </a:r>
            <a:r>
              <a:rPr lang="zh-CN" altLang="en-US" sz="4000" b="1" dirty="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归约分析</a:t>
            </a:r>
          </a:p>
        </p:txBody>
      </p:sp>
      <p:sp>
        <p:nvSpPr>
          <p:cNvPr id="514106" name="Text Box 58"/>
          <p:cNvSpPr txBox="1">
            <a:spLocks noChangeArrowheads="1"/>
          </p:cNvSpPr>
          <p:nvPr/>
        </p:nvSpPr>
        <p:spPr bwMode="auto">
          <a:xfrm>
            <a:off x="1187450" y="2276475"/>
            <a:ext cx="2232025" cy="31700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zh-CN" altLang="en-US" b="1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文法 </a:t>
            </a:r>
            <a:r>
              <a:rPr kumimoji="0" lang="en-US" altLang="zh-CN" i="1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en-US" altLang="zh-CN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kumimoji="0" lang="en-US" altLang="zh-CN" i="1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0" lang="en-US" altLang="zh-CN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]: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kumimoji="0" lang="en-US" altLang="zh-CN" sz="800" dirty="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 (1) </a:t>
            </a:r>
            <a:r>
              <a:rPr lang="en-US" altLang="zh-CN" i="1" dirty="0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dirty="0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E + T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 (2) </a:t>
            </a:r>
            <a:r>
              <a:rPr lang="en-US" altLang="zh-CN" i="1" dirty="0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cs typeface="Times New Roman" panose="02020603050405020304" pitchFamily="18" charset="0"/>
                <a:sym typeface="Symbol" panose="05050102010706020507" pitchFamily="18" charset="2"/>
              </a:rPr>
              <a:t> T</a:t>
            </a:r>
            <a:r>
              <a:rPr lang="en-US" altLang="zh-CN" i="1" dirty="0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 (3) </a:t>
            </a:r>
            <a:r>
              <a:rPr lang="en-US" altLang="zh-CN" i="1" dirty="0">
                <a:cs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en-US" altLang="zh-CN" dirty="0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T 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i="1" dirty="0">
                <a:cs typeface="Times New Roman" panose="02020603050405020304" pitchFamily="18" charset="0"/>
                <a:sym typeface="Symbol" panose="05050102010706020507" pitchFamily="18" charset="2"/>
              </a:rPr>
              <a:t> F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 (4) </a:t>
            </a:r>
            <a:r>
              <a:rPr lang="en-US" altLang="zh-CN" i="1" dirty="0">
                <a:cs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i="1" dirty="0"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 (5) </a:t>
            </a:r>
            <a:r>
              <a:rPr lang="en-US" altLang="zh-CN" i="1" dirty="0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dirty="0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( E 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 (6) </a:t>
            </a:r>
            <a:r>
              <a:rPr lang="en-US" altLang="zh-CN" i="1" dirty="0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cs typeface="Times New Roman" panose="02020603050405020304" pitchFamily="18" charset="0"/>
                <a:sym typeface="Symbol" panose="05050102010706020507" pitchFamily="18" charset="2"/>
              </a:rPr>
              <a:t> v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 (7) </a:t>
            </a:r>
            <a:r>
              <a:rPr lang="en-US" altLang="zh-CN" i="1" dirty="0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cs typeface="Times New Roman" panose="02020603050405020304" pitchFamily="18" charset="0"/>
                <a:sym typeface="Symbol" panose="05050102010706020507" pitchFamily="18" charset="2"/>
              </a:rPr>
              <a:t> d</a:t>
            </a:r>
          </a:p>
        </p:txBody>
      </p:sp>
      <p:sp>
        <p:nvSpPr>
          <p:cNvPr id="514115" name="Rectangle 67"/>
          <p:cNvSpPr>
            <a:spLocks noChangeArrowheads="1"/>
          </p:cNvSpPr>
          <p:nvPr/>
        </p:nvSpPr>
        <p:spPr bwMode="auto">
          <a:xfrm>
            <a:off x="1042988" y="5876925"/>
            <a:ext cx="2089150" cy="7620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r">
              <a:buFont typeface="Wingdings" panose="05000000000000000000" pitchFamily="2" charset="2"/>
              <a:buNone/>
            </a:pPr>
            <a:r>
              <a:rPr kumimoji="0" lang="zh-CN" altLang="en-US" b="1" dirty="0">
                <a:solidFill>
                  <a:srgbClr val="800080"/>
                </a:solidFill>
                <a:sym typeface="Symbol" panose="05050102010706020507" pitchFamily="18" charset="2"/>
              </a:rPr>
              <a:t>待分析输入串</a:t>
            </a:r>
            <a:r>
              <a:rPr kumimoji="0" lang="en-US" altLang="zh-CN" dirty="0">
                <a:solidFill>
                  <a:srgbClr val="800080"/>
                </a:solidFill>
                <a:sym typeface="Symbol" panose="05050102010706020507" pitchFamily="18" charset="2"/>
              </a:rPr>
              <a:t>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b="1" i="1" dirty="0"/>
              <a:t>    v</a:t>
            </a:r>
            <a:r>
              <a:rPr lang="zh-CN" altLang="en-US" sz="2000" b="1" dirty="0">
                <a:sym typeface="Symbol" panose="05050102010706020507" pitchFamily="18" charset="2"/>
              </a:rPr>
              <a:t>＋</a:t>
            </a:r>
            <a:r>
              <a:rPr lang="en-US" altLang="zh-CN" sz="2000" b="1" i="1" dirty="0"/>
              <a:t>v</a:t>
            </a:r>
            <a:r>
              <a:rPr lang="en-US" altLang="zh-CN" sz="2000" b="1" dirty="0">
                <a:sym typeface="Symbol" panose="05050102010706020507" pitchFamily="18" charset="2"/>
              </a:rPr>
              <a:t>  </a:t>
            </a:r>
            <a:r>
              <a:rPr lang="en-US" altLang="zh-CN" sz="2000" b="1" i="1" dirty="0"/>
              <a:t>d #</a:t>
            </a:r>
          </a:p>
        </p:txBody>
      </p:sp>
      <p:grpSp>
        <p:nvGrpSpPr>
          <p:cNvPr id="514186" name="Group 138"/>
          <p:cNvGrpSpPr/>
          <p:nvPr/>
        </p:nvGrpSpPr>
        <p:grpSpPr bwMode="auto">
          <a:xfrm>
            <a:off x="3636343" y="2238648"/>
            <a:ext cx="5256212" cy="396875"/>
            <a:chOff x="2381" y="1185"/>
            <a:chExt cx="3311" cy="250"/>
          </a:xfrm>
        </p:grpSpPr>
        <p:sp>
          <p:nvSpPr>
            <p:cNvPr id="514116" name="Rectangle 68"/>
            <p:cNvSpPr>
              <a:spLocks noChangeArrowheads="1"/>
            </p:cNvSpPr>
            <p:nvPr/>
          </p:nvSpPr>
          <p:spPr bwMode="auto">
            <a:xfrm>
              <a:off x="3742" y="1185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>
                  <a:sym typeface="Symbol" panose="05050102010706020507" pitchFamily="18" charset="2"/>
                </a:rPr>
                <a:t>+ </a:t>
              </a:r>
              <a:r>
                <a:rPr lang="en-US" altLang="zh-CN" sz="2000" b="1" i="1"/>
                <a:t>v</a:t>
              </a:r>
              <a:r>
                <a:rPr lang="en-US" altLang="zh-CN" sz="2000" b="1">
                  <a:sym typeface="Symbol" panose="05050102010706020507" pitchFamily="18" charset="2"/>
                </a:rPr>
                <a:t> 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514117" name="Rectangle 69"/>
            <p:cNvSpPr>
              <a:spLocks noChangeArrowheads="1"/>
            </p:cNvSpPr>
            <p:nvPr/>
          </p:nvSpPr>
          <p:spPr bwMode="auto">
            <a:xfrm>
              <a:off x="4830" y="1185"/>
              <a:ext cx="862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i="1" dirty="0"/>
                <a:t>Reduce(6)</a:t>
              </a:r>
            </a:p>
          </p:txBody>
        </p:sp>
        <p:sp>
          <p:nvSpPr>
            <p:cNvPr id="514118" name="Rectangle 70"/>
            <p:cNvSpPr>
              <a:spLocks noChangeArrowheads="1"/>
            </p:cNvSpPr>
            <p:nvPr/>
          </p:nvSpPr>
          <p:spPr bwMode="auto">
            <a:xfrm>
              <a:off x="2381" y="1185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kumimoji="0" lang="zh-CN" altLang="en-US" sz="2000" b="1">
                  <a:sym typeface="Symbol" panose="05050102010706020507" pitchFamily="18" charset="2"/>
                </a:rPr>
                <a:t>（</a:t>
              </a:r>
              <a:r>
                <a:rPr kumimoji="0" lang="en-US" altLang="zh-CN" sz="2000">
                  <a:sym typeface="Symbol" panose="05050102010706020507" pitchFamily="18" charset="2"/>
                </a:rPr>
                <a:t>1</a:t>
              </a:r>
              <a:r>
                <a:rPr kumimoji="0" lang="zh-CN" altLang="en-US" sz="2000" b="1">
                  <a:sym typeface="Symbol" panose="05050102010706020507" pitchFamily="18" charset="2"/>
                </a:rPr>
                <a:t>）</a:t>
              </a:r>
              <a:endParaRPr lang="zh-CN" altLang="en-US" sz="2000" b="1" i="1"/>
            </a:p>
          </p:txBody>
        </p:sp>
        <p:sp>
          <p:nvSpPr>
            <p:cNvPr id="514119" name="Rectangle 71"/>
            <p:cNvSpPr>
              <a:spLocks noChangeArrowheads="1"/>
            </p:cNvSpPr>
            <p:nvPr/>
          </p:nvSpPr>
          <p:spPr bwMode="auto">
            <a:xfrm>
              <a:off x="3035" y="1185"/>
              <a:ext cx="680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b="1" i="1"/>
                <a:t>v</a:t>
              </a:r>
            </a:p>
          </p:txBody>
        </p:sp>
      </p:grpSp>
      <p:grpSp>
        <p:nvGrpSpPr>
          <p:cNvPr id="514187" name="Group 139"/>
          <p:cNvGrpSpPr/>
          <p:nvPr/>
        </p:nvGrpSpPr>
        <p:grpSpPr bwMode="auto">
          <a:xfrm>
            <a:off x="3636343" y="2564085"/>
            <a:ext cx="5256212" cy="396875"/>
            <a:chOff x="2381" y="1390"/>
            <a:chExt cx="3311" cy="250"/>
          </a:xfrm>
        </p:grpSpPr>
        <p:sp>
          <p:nvSpPr>
            <p:cNvPr id="514120" name="Rectangle 72"/>
            <p:cNvSpPr>
              <a:spLocks noChangeArrowheads="1"/>
            </p:cNvSpPr>
            <p:nvPr/>
          </p:nvSpPr>
          <p:spPr bwMode="auto">
            <a:xfrm>
              <a:off x="3742" y="1390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>
                  <a:sym typeface="Symbol" panose="05050102010706020507" pitchFamily="18" charset="2"/>
                </a:rPr>
                <a:t>+ </a:t>
              </a:r>
              <a:r>
                <a:rPr lang="en-US" altLang="zh-CN" sz="2000" b="1" i="1"/>
                <a:t>v</a:t>
              </a:r>
              <a:r>
                <a:rPr lang="en-US" altLang="zh-CN" sz="2000" b="1">
                  <a:sym typeface="Symbol" panose="05050102010706020507" pitchFamily="18" charset="2"/>
                </a:rPr>
                <a:t> 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514121" name="Rectangle 73"/>
            <p:cNvSpPr>
              <a:spLocks noChangeArrowheads="1"/>
            </p:cNvSpPr>
            <p:nvPr/>
          </p:nvSpPr>
          <p:spPr bwMode="auto">
            <a:xfrm>
              <a:off x="4830" y="1390"/>
              <a:ext cx="862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i="1" dirty="0"/>
                <a:t>Reduce(4)</a:t>
              </a:r>
            </a:p>
          </p:txBody>
        </p:sp>
        <p:sp>
          <p:nvSpPr>
            <p:cNvPr id="514122" name="Rectangle 74"/>
            <p:cNvSpPr>
              <a:spLocks noChangeArrowheads="1"/>
            </p:cNvSpPr>
            <p:nvPr/>
          </p:nvSpPr>
          <p:spPr bwMode="auto">
            <a:xfrm>
              <a:off x="2381" y="1390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kumimoji="0" lang="zh-CN" altLang="en-US" sz="2000" b="1">
                  <a:sym typeface="Symbol" panose="05050102010706020507" pitchFamily="18" charset="2"/>
                </a:rPr>
                <a:t>（</a:t>
              </a:r>
              <a:r>
                <a:rPr kumimoji="0" lang="en-US" altLang="zh-CN" sz="2000">
                  <a:sym typeface="Symbol" panose="05050102010706020507" pitchFamily="18" charset="2"/>
                </a:rPr>
                <a:t>2</a:t>
              </a:r>
              <a:r>
                <a:rPr kumimoji="0" lang="zh-CN" altLang="en-US" sz="2000" b="1">
                  <a:sym typeface="Symbol" panose="05050102010706020507" pitchFamily="18" charset="2"/>
                </a:rPr>
                <a:t>）</a:t>
              </a:r>
              <a:endParaRPr lang="zh-CN" altLang="en-US" sz="2000" b="1" i="1"/>
            </a:p>
          </p:txBody>
        </p:sp>
        <p:sp>
          <p:nvSpPr>
            <p:cNvPr id="514123" name="Rectangle 75"/>
            <p:cNvSpPr>
              <a:spLocks noChangeArrowheads="1"/>
            </p:cNvSpPr>
            <p:nvPr/>
          </p:nvSpPr>
          <p:spPr bwMode="auto">
            <a:xfrm>
              <a:off x="3035" y="1390"/>
              <a:ext cx="680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b="1" i="1"/>
                <a:t>F</a:t>
              </a:r>
            </a:p>
          </p:txBody>
        </p:sp>
      </p:grpSp>
      <p:grpSp>
        <p:nvGrpSpPr>
          <p:cNvPr id="514190" name="Group 142"/>
          <p:cNvGrpSpPr/>
          <p:nvPr/>
        </p:nvGrpSpPr>
        <p:grpSpPr bwMode="auto">
          <a:xfrm>
            <a:off x="3636343" y="3534048"/>
            <a:ext cx="4716462" cy="396875"/>
            <a:chOff x="2381" y="2025"/>
            <a:chExt cx="2971" cy="250"/>
          </a:xfrm>
        </p:grpSpPr>
        <p:sp>
          <p:nvSpPr>
            <p:cNvPr id="514129" name="Rectangle 81"/>
            <p:cNvSpPr>
              <a:spLocks noChangeArrowheads="1"/>
            </p:cNvSpPr>
            <p:nvPr/>
          </p:nvSpPr>
          <p:spPr bwMode="auto">
            <a:xfrm>
              <a:off x="3742" y="2025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>
                  <a:sym typeface="Symbol" panose="05050102010706020507" pitchFamily="18" charset="2"/>
                </a:rPr>
                <a:t> </a:t>
              </a:r>
              <a:r>
                <a:rPr lang="en-US" altLang="zh-CN" sz="2000" b="1" i="1"/>
                <a:t>v</a:t>
              </a:r>
              <a:r>
                <a:rPr lang="en-US" altLang="zh-CN" sz="2000" b="1">
                  <a:sym typeface="Symbol" panose="05050102010706020507" pitchFamily="18" charset="2"/>
                </a:rPr>
                <a:t> 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514130" name="Rectangle 82"/>
            <p:cNvSpPr>
              <a:spLocks noChangeArrowheads="1"/>
            </p:cNvSpPr>
            <p:nvPr/>
          </p:nvSpPr>
          <p:spPr bwMode="auto">
            <a:xfrm>
              <a:off x="2381" y="2025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kumimoji="0" lang="zh-CN" altLang="en-US" sz="2000" b="1">
                  <a:sym typeface="Symbol" panose="05050102010706020507" pitchFamily="18" charset="2"/>
                </a:rPr>
                <a:t>（</a:t>
              </a:r>
              <a:r>
                <a:rPr kumimoji="0" lang="en-US" altLang="zh-CN" sz="2000">
                  <a:sym typeface="Symbol" panose="05050102010706020507" pitchFamily="18" charset="2"/>
                </a:rPr>
                <a:t>5</a:t>
              </a:r>
              <a:r>
                <a:rPr kumimoji="0" lang="zh-CN" altLang="en-US" sz="2000" b="1">
                  <a:sym typeface="Symbol" panose="05050102010706020507" pitchFamily="18" charset="2"/>
                </a:rPr>
                <a:t>）</a:t>
              </a:r>
              <a:endParaRPr lang="zh-CN" altLang="en-US" sz="2000" b="1" i="1"/>
            </a:p>
          </p:txBody>
        </p:sp>
        <p:sp>
          <p:nvSpPr>
            <p:cNvPr id="514131" name="Rectangle 83"/>
            <p:cNvSpPr>
              <a:spLocks noChangeArrowheads="1"/>
            </p:cNvSpPr>
            <p:nvPr/>
          </p:nvSpPr>
          <p:spPr bwMode="auto">
            <a:xfrm>
              <a:off x="3035" y="2025"/>
              <a:ext cx="680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b="1" i="1"/>
                <a:t>E </a:t>
              </a:r>
              <a:r>
                <a:rPr lang="en-US" altLang="zh-CN" sz="2000" i="1"/>
                <a:t>+</a:t>
              </a:r>
            </a:p>
          </p:txBody>
        </p:sp>
        <p:sp>
          <p:nvSpPr>
            <p:cNvPr id="514132" name="Rectangle 84"/>
            <p:cNvSpPr>
              <a:spLocks noChangeArrowheads="1"/>
            </p:cNvSpPr>
            <p:nvPr/>
          </p:nvSpPr>
          <p:spPr bwMode="auto">
            <a:xfrm>
              <a:off x="4876" y="2025"/>
              <a:ext cx="476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i="1"/>
                <a:t>Shift</a:t>
              </a:r>
            </a:p>
          </p:txBody>
        </p:sp>
      </p:grpSp>
      <p:grpSp>
        <p:nvGrpSpPr>
          <p:cNvPr id="514188" name="Group 140"/>
          <p:cNvGrpSpPr/>
          <p:nvPr/>
        </p:nvGrpSpPr>
        <p:grpSpPr bwMode="auto">
          <a:xfrm>
            <a:off x="3636343" y="2886348"/>
            <a:ext cx="5256212" cy="396875"/>
            <a:chOff x="2381" y="1593"/>
            <a:chExt cx="3311" cy="250"/>
          </a:xfrm>
        </p:grpSpPr>
        <p:sp>
          <p:nvSpPr>
            <p:cNvPr id="514124" name="Rectangle 76"/>
            <p:cNvSpPr>
              <a:spLocks noChangeArrowheads="1"/>
            </p:cNvSpPr>
            <p:nvPr/>
          </p:nvSpPr>
          <p:spPr bwMode="auto">
            <a:xfrm>
              <a:off x="3742" y="1593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>
                  <a:sym typeface="Symbol" panose="05050102010706020507" pitchFamily="18" charset="2"/>
                </a:rPr>
                <a:t>+ </a:t>
              </a:r>
              <a:r>
                <a:rPr lang="en-US" altLang="zh-CN" sz="2000" b="1" i="1"/>
                <a:t>v</a:t>
              </a:r>
              <a:r>
                <a:rPr lang="en-US" altLang="zh-CN" sz="2000" b="1">
                  <a:sym typeface="Symbol" panose="05050102010706020507" pitchFamily="18" charset="2"/>
                </a:rPr>
                <a:t> 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514126" name="Rectangle 78"/>
            <p:cNvSpPr>
              <a:spLocks noChangeArrowheads="1"/>
            </p:cNvSpPr>
            <p:nvPr/>
          </p:nvSpPr>
          <p:spPr bwMode="auto">
            <a:xfrm>
              <a:off x="2381" y="1593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kumimoji="0" lang="zh-CN" altLang="en-US" sz="2000" b="1">
                  <a:sym typeface="Symbol" panose="05050102010706020507" pitchFamily="18" charset="2"/>
                </a:rPr>
                <a:t>（</a:t>
              </a:r>
              <a:r>
                <a:rPr kumimoji="0" lang="en-US" altLang="zh-CN" sz="2000">
                  <a:sym typeface="Symbol" panose="05050102010706020507" pitchFamily="18" charset="2"/>
                </a:rPr>
                <a:t>3</a:t>
              </a:r>
              <a:r>
                <a:rPr kumimoji="0" lang="zh-CN" altLang="en-US" sz="2000" b="1">
                  <a:sym typeface="Symbol" panose="05050102010706020507" pitchFamily="18" charset="2"/>
                </a:rPr>
                <a:t>）</a:t>
              </a:r>
              <a:endParaRPr lang="zh-CN" altLang="en-US" sz="2000" b="1" i="1"/>
            </a:p>
          </p:txBody>
        </p:sp>
        <p:sp>
          <p:nvSpPr>
            <p:cNvPr id="514127" name="Rectangle 79"/>
            <p:cNvSpPr>
              <a:spLocks noChangeArrowheads="1"/>
            </p:cNvSpPr>
            <p:nvPr/>
          </p:nvSpPr>
          <p:spPr bwMode="auto">
            <a:xfrm>
              <a:off x="3035" y="1593"/>
              <a:ext cx="680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b="1" i="1"/>
                <a:t>T</a:t>
              </a:r>
            </a:p>
          </p:txBody>
        </p:sp>
        <p:sp>
          <p:nvSpPr>
            <p:cNvPr id="514137" name="Rectangle 89"/>
            <p:cNvSpPr>
              <a:spLocks noChangeArrowheads="1"/>
            </p:cNvSpPr>
            <p:nvPr/>
          </p:nvSpPr>
          <p:spPr bwMode="auto">
            <a:xfrm>
              <a:off x="4830" y="1593"/>
              <a:ext cx="862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i="1" dirty="0"/>
                <a:t>Reduce(2)</a:t>
              </a:r>
            </a:p>
          </p:txBody>
        </p:sp>
      </p:grpSp>
      <p:grpSp>
        <p:nvGrpSpPr>
          <p:cNvPr id="514189" name="Group 141"/>
          <p:cNvGrpSpPr/>
          <p:nvPr/>
        </p:nvGrpSpPr>
        <p:grpSpPr bwMode="auto">
          <a:xfrm>
            <a:off x="3636343" y="3211785"/>
            <a:ext cx="4716462" cy="398463"/>
            <a:chOff x="2381" y="1798"/>
            <a:chExt cx="2971" cy="251"/>
          </a:xfrm>
        </p:grpSpPr>
        <p:sp>
          <p:nvSpPr>
            <p:cNvPr id="514138" name="Rectangle 90"/>
            <p:cNvSpPr>
              <a:spLocks noChangeArrowheads="1"/>
            </p:cNvSpPr>
            <p:nvPr/>
          </p:nvSpPr>
          <p:spPr bwMode="auto">
            <a:xfrm>
              <a:off x="3742" y="1798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>
                  <a:sym typeface="Symbol" panose="05050102010706020507" pitchFamily="18" charset="2"/>
                </a:rPr>
                <a:t>+ </a:t>
              </a:r>
              <a:r>
                <a:rPr lang="en-US" altLang="zh-CN" sz="2000" b="1" i="1"/>
                <a:t>v</a:t>
              </a:r>
              <a:r>
                <a:rPr lang="en-US" altLang="zh-CN" sz="2000" b="1">
                  <a:sym typeface="Symbol" panose="05050102010706020507" pitchFamily="18" charset="2"/>
                </a:rPr>
                <a:t> 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514139" name="Rectangle 91"/>
            <p:cNvSpPr>
              <a:spLocks noChangeArrowheads="1"/>
            </p:cNvSpPr>
            <p:nvPr/>
          </p:nvSpPr>
          <p:spPr bwMode="auto">
            <a:xfrm>
              <a:off x="2381" y="1798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kumimoji="0" lang="zh-CN" altLang="en-US" sz="2000" b="1">
                  <a:sym typeface="Symbol" panose="05050102010706020507" pitchFamily="18" charset="2"/>
                </a:rPr>
                <a:t>（</a:t>
              </a:r>
              <a:r>
                <a:rPr kumimoji="0" lang="en-US" altLang="zh-CN" sz="2000">
                  <a:sym typeface="Symbol" panose="05050102010706020507" pitchFamily="18" charset="2"/>
                </a:rPr>
                <a:t>4</a:t>
              </a:r>
              <a:r>
                <a:rPr kumimoji="0" lang="zh-CN" altLang="en-US" sz="2000" b="1">
                  <a:sym typeface="Symbol" panose="05050102010706020507" pitchFamily="18" charset="2"/>
                </a:rPr>
                <a:t>）</a:t>
              </a:r>
              <a:endParaRPr lang="zh-CN" altLang="en-US" sz="2000" b="1" i="1"/>
            </a:p>
          </p:txBody>
        </p:sp>
        <p:sp>
          <p:nvSpPr>
            <p:cNvPr id="514140" name="Rectangle 92"/>
            <p:cNvSpPr>
              <a:spLocks noChangeArrowheads="1"/>
            </p:cNvSpPr>
            <p:nvPr/>
          </p:nvSpPr>
          <p:spPr bwMode="auto">
            <a:xfrm>
              <a:off x="3035" y="1798"/>
              <a:ext cx="680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b="1" i="1"/>
                <a:t>E</a:t>
              </a:r>
            </a:p>
          </p:txBody>
        </p:sp>
        <p:sp>
          <p:nvSpPr>
            <p:cNvPr id="514142" name="Rectangle 94"/>
            <p:cNvSpPr>
              <a:spLocks noChangeArrowheads="1"/>
            </p:cNvSpPr>
            <p:nvPr/>
          </p:nvSpPr>
          <p:spPr bwMode="auto">
            <a:xfrm>
              <a:off x="4876" y="1799"/>
              <a:ext cx="476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i="1"/>
                <a:t>Shift</a:t>
              </a:r>
            </a:p>
          </p:txBody>
        </p:sp>
      </p:grpSp>
      <p:grpSp>
        <p:nvGrpSpPr>
          <p:cNvPr id="514191" name="Group 143"/>
          <p:cNvGrpSpPr/>
          <p:nvPr/>
        </p:nvGrpSpPr>
        <p:grpSpPr bwMode="auto">
          <a:xfrm>
            <a:off x="3636343" y="3857898"/>
            <a:ext cx="5256212" cy="396875"/>
            <a:chOff x="2381" y="2251"/>
            <a:chExt cx="3311" cy="250"/>
          </a:xfrm>
        </p:grpSpPr>
        <p:sp>
          <p:nvSpPr>
            <p:cNvPr id="514133" name="Rectangle 85"/>
            <p:cNvSpPr>
              <a:spLocks noChangeArrowheads="1"/>
            </p:cNvSpPr>
            <p:nvPr/>
          </p:nvSpPr>
          <p:spPr bwMode="auto">
            <a:xfrm>
              <a:off x="3742" y="2251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b="1">
                  <a:sym typeface="Symbol" panose="05050102010706020507" pitchFamily="18" charset="2"/>
                </a:rPr>
                <a:t>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514134" name="Rectangle 86"/>
            <p:cNvSpPr>
              <a:spLocks noChangeArrowheads="1"/>
            </p:cNvSpPr>
            <p:nvPr/>
          </p:nvSpPr>
          <p:spPr bwMode="auto">
            <a:xfrm>
              <a:off x="2381" y="2251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kumimoji="0" lang="zh-CN" altLang="en-US" sz="2000" b="1">
                  <a:sym typeface="Symbol" panose="05050102010706020507" pitchFamily="18" charset="2"/>
                </a:rPr>
                <a:t>（</a:t>
              </a:r>
              <a:r>
                <a:rPr kumimoji="0" lang="en-US" altLang="zh-CN" sz="2000">
                  <a:sym typeface="Symbol" panose="05050102010706020507" pitchFamily="18" charset="2"/>
                </a:rPr>
                <a:t>6</a:t>
              </a:r>
              <a:r>
                <a:rPr kumimoji="0" lang="zh-CN" altLang="en-US" sz="2000" b="1">
                  <a:sym typeface="Symbol" panose="05050102010706020507" pitchFamily="18" charset="2"/>
                </a:rPr>
                <a:t>）</a:t>
              </a:r>
              <a:endParaRPr lang="zh-CN" altLang="en-US" sz="2000" b="1" i="1"/>
            </a:p>
          </p:txBody>
        </p:sp>
        <p:sp>
          <p:nvSpPr>
            <p:cNvPr id="514135" name="Rectangle 87"/>
            <p:cNvSpPr>
              <a:spLocks noChangeArrowheads="1"/>
            </p:cNvSpPr>
            <p:nvPr/>
          </p:nvSpPr>
          <p:spPr bwMode="auto">
            <a:xfrm>
              <a:off x="3035" y="2251"/>
              <a:ext cx="680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b="1" i="1"/>
                <a:t>E </a:t>
              </a:r>
              <a:r>
                <a:rPr lang="en-US" altLang="zh-CN" sz="2000" i="1"/>
                <a:t>+ </a:t>
              </a:r>
              <a:r>
                <a:rPr lang="en-US" altLang="zh-CN" sz="2000" b="1" i="1"/>
                <a:t>v</a:t>
              </a:r>
            </a:p>
          </p:txBody>
        </p:sp>
        <p:sp>
          <p:nvSpPr>
            <p:cNvPr id="514147" name="Rectangle 99"/>
            <p:cNvSpPr>
              <a:spLocks noChangeArrowheads="1"/>
            </p:cNvSpPr>
            <p:nvPr/>
          </p:nvSpPr>
          <p:spPr bwMode="auto">
            <a:xfrm>
              <a:off x="4830" y="2251"/>
              <a:ext cx="862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i="1" dirty="0"/>
                <a:t>Reduce(6)</a:t>
              </a:r>
            </a:p>
          </p:txBody>
        </p:sp>
      </p:grpSp>
      <p:grpSp>
        <p:nvGrpSpPr>
          <p:cNvPr id="514192" name="Group 144"/>
          <p:cNvGrpSpPr/>
          <p:nvPr/>
        </p:nvGrpSpPr>
        <p:grpSpPr bwMode="auto">
          <a:xfrm>
            <a:off x="3636343" y="4218260"/>
            <a:ext cx="5256212" cy="396875"/>
            <a:chOff x="2381" y="2500"/>
            <a:chExt cx="3311" cy="250"/>
          </a:xfrm>
        </p:grpSpPr>
        <p:sp>
          <p:nvSpPr>
            <p:cNvPr id="514143" name="Rectangle 95"/>
            <p:cNvSpPr>
              <a:spLocks noChangeArrowheads="1"/>
            </p:cNvSpPr>
            <p:nvPr/>
          </p:nvSpPr>
          <p:spPr bwMode="auto">
            <a:xfrm>
              <a:off x="3742" y="2500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>
                  <a:sym typeface="Symbol" panose="05050102010706020507" pitchFamily="18" charset="2"/>
                </a:rPr>
                <a:t> </a:t>
              </a:r>
              <a:r>
                <a:rPr lang="en-US" altLang="zh-CN" sz="2000" b="1">
                  <a:sym typeface="Symbol" panose="05050102010706020507" pitchFamily="18" charset="2"/>
                </a:rPr>
                <a:t> 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514144" name="Rectangle 96"/>
            <p:cNvSpPr>
              <a:spLocks noChangeArrowheads="1"/>
            </p:cNvSpPr>
            <p:nvPr/>
          </p:nvSpPr>
          <p:spPr bwMode="auto">
            <a:xfrm>
              <a:off x="2381" y="2500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kumimoji="0" lang="zh-CN" altLang="en-US" sz="2000" b="1">
                  <a:sym typeface="Symbol" panose="05050102010706020507" pitchFamily="18" charset="2"/>
                </a:rPr>
                <a:t>（</a:t>
              </a:r>
              <a:r>
                <a:rPr kumimoji="0" lang="en-US" altLang="zh-CN" sz="2000">
                  <a:sym typeface="Symbol" panose="05050102010706020507" pitchFamily="18" charset="2"/>
                </a:rPr>
                <a:t>7</a:t>
              </a:r>
              <a:r>
                <a:rPr kumimoji="0" lang="zh-CN" altLang="en-US" sz="2000" b="1">
                  <a:sym typeface="Symbol" panose="05050102010706020507" pitchFamily="18" charset="2"/>
                </a:rPr>
                <a:t>）</a:t>
              </a:r>
              <a:endParaRPr lang="zh-CN" altLang="en-US" sz="2000" b="1" i="1"/>
            </a:p>
          </p:txBody>
        </p:sp>
        <p:sp>
          <p:nvSpPr>
            <p:cNvPr id="514145" name="Rectangle 97"/>
            <p:cNvSpPr>
              <a:spLocks noChangeArrowheads="1"/>
            </p:cNvSpPr>
            <p:nvPr/>
          </p:nvSpPr>
          <p:spPr bwMode="auto">
            <a:xfrm>
              <a:off x="3035" y="2500"/>
              <a:ext cx="680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b="1" i="1"/>
                <a:t>E </a:t>
              </a:r>
              <a:r>
                <a:rPr lang="en-US" altLang="zh-CN" sz="2000" i="1"/>
                <a:t>+ </a:t>
              </a:r>
              <a:r>
                <a:rPr lang="en-US" altLang="zh-CN" sz="2000" b="1" i="1"/>
                <a:t>F</a:t>
              </a:r>
            </a:p>
          </p:txBody>
        </p:sp>
        <p:sp>
          <p:nvSpPr>
            <p:cNvPr id="514148" name="Rectangle 100"/>
            <p:cNvSpPr>
              <a:spLocks noChangeArrowheads="1"/>
            </p:cNvSpPr>
            <p:nvPr/>
          </p:nvSpPr>
          <p:spPr bwMode="auto">
            <a:xfrm>
              <a:off x="4830" y="2500"/>
              <a:ext cx="862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i="1" dirty="0"/>
                <a:t>Reduce(4)</a:t>
              </a:r>
            </a:p>
          </p:txBody>
        </p:sp>
      </p:grpSp>
      <p:grpSp>
        <p:nvGrpSpPr>
          <p:cNvPr id="514193" name="Group 145"/>
          <p:cNvGrpSpPr/>
          <p:nvPr/>
        </p:nvGrpSpPr>
        <p:grpSpPr bwMode="auto">
          <a:xfrm>
            <a:off x="3636343" y="4542110"/>
            <a:ext cx="4716462" cy="431800"/>
            <a:chOff x="2381" y="2704"/>
            <a:chExt cx="2971" cy="272"/>
          </a:xfrm>
        </p:grpSpPr>
        <p:sp>
          <p:nvSpPr>
            <p:cNvPr id="514149" name="Rectangle 101"/>
            <p:cNvSpPr>
              <a:spLocks noChangeArrowheads="1"/>
            </p:cNvSpPr>
            <p:nvPr/>
          </p:nvSpPr>
          <p:spPr bwMode="auto">
            <a:xfrm>
              <a:off x="3742" y="2704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>
                  <a:sym typeface="Symbol" panose="05050102010706020507" pitchFamily="18" charset="2"/>
                </a:rPr>
                <a:t> </a:t>
              </a:r>
              <a:r>
                <a:rPr lang="en-US" altLang="zh-CN" sz="2000" b="1">
                  <a:sym typeface="Symbol" panose="05050102010706020507" pitchFamily="18" charset="2"/>
                </a:rPr>
                <a:t> 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514150" name="Rectangle 102"/>
            <p:cNvSpPr>
              <a:spLocks noChangeArrowheads="1"/>
            </p:cNvSpPr>
            <p:nvPr/>
          </p:nvSpPr>
          <p:spPr bwMode="auto">
            <a:xfrm>
              <a:off x="2381" y="2704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kumimoji="0" lang="zh-CN" altLang="en-US" sz="2000" b="1">
                  <a:sym typeface="Symbol" panose="05050102010706020507" pitchFamily="18" charset="2"/>
                </a:rPr>
                <a:t>（</a:t>
              </a:r>
              <a:r>
                <a:rPr kumimoji="0" lang="en-US" altLang="zh-CN" sz="2000">
                  <a:sym typeface="Symbol" panose="05050102010706020507" pitchFamily="18" charset="2"/>
                </a:rPr>
                <a:t>8</a:t>
              </a:r>
              <a:r>
                <a:rPr kumimoji="0" lang="zh-CN" altLang="en-US" sz="2000" b="1">
                  <a:sym typeface="Symbol" panose="05050102010706020507" pitchFamily="18" charset="2"/>
                </a:rPr>
                <a:t>）</a:t>
              </a:r>
              <a:endParaRPr lang="zh-CN" altLang="en-US" sz="2000" b="1" i="1"/>
            </a:p>
          </p:txBody>
        </p:sp>
        <p:sp>
          <p:nvSpPr>
            <p:cNvPr id="514151" name="Rectangle 103"/>
            <p:cNvSpPr>
              <a:spLocks noChangeArrowheads="1"/>
            </p:cNvSpPr>
            <p:nvPr/>
          </p:nvSpPr>
          <p:spPr bwMode="auto">
            <a:xfrm>
              <a:off x="3035" y="2704"/>
              <a:ext cx="680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b="1" i="1"/>
                <a:t>E </a:t>
              </a:r>
              <a:r>
                <a:rPr lang="en-US" altLang="zh-CN" sz="2000" i="1"/>
                <a:t>+ </a:t>
              </a:r>
              <a:r>
                <a:rPr lang="en-US" altLang="zh-CN" sz="2000" b="1" i="1"/>
                <a:t>T</a:t>
              </a:r>
            </a:p>
          </p:txBody>
        </p:sp>
        <p:sp>
          <p:nvSpPr>
            <p:cNvPr id="514153" name="Rectangle 105"/>
            <p:cNvSpPr>
              <a:spLocks noChangeArrowheads="1"/>
            </p:cNvSpPr>
            <p:nvPr/>
          </p:nvSpPr>
          <p:spPr bwMode="auto">
            <a:xfrm>
              <a:off x="4876" y="2726"/>
              <a:ext cx="476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i="1"/>
                <a:t>Shift</a:t>
              </a:r>
            </a:p>
          </p:txBody>
        </p:sp>
      </p:grpSp>
      <p:grpSp>
        <p:nvGrpSpPr>
          <p:cNvPr id="514194" name="Group 146"/>
          <p:cNvGrpSpPr/>
          <p:nvPr/>
        </p:nvGrpSpPr>
        <p:grpSpPr bwMode="auto">
          <a:xfrm>
            <a:off x="3636343" y="4904060"/>
            <a:ext cx="4716462" cy="433388"/>
            <a:chOff x="2381" y="2932"/>
            <a:chExt cx="2971" cy="273"/>
          </a:xfrm>
        </p:grpSpPr>
        <p:sp>
          <p:nvSpPr>
            <p:cNvPr id="514154" name="Rectangle 106"/>
            <p:cNvSpPr>
              <a:spLocks noChangeArrowheads="1"/>
            </p:cNvSpPr>
            <p:nvPr/>
          </p:nvSpPr>
          <p:spPr bwMode="auto">
            <a:xfrm>
              <a:off x="3742" y="2932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>
                  <a:sym typeface="Symbol" panose="05050102010706020507" pitchFamily="18" charset="2"/>
                </a:rPr>
                <a:t> </a:t>
              </a:r>
              <a:r>
                <a:rPr lang="en-US" altLang="zh-CN" sz="2000" b="1">
                  <a:sym typeface="Symbol" panose="05050102010706020507" pitchFamily="18" charset="2"/>
                </a:rPr>
                <a:t> 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514155" name="Rectangle 107"/>
            <p:cNvSpPr>
              <a:spLocks noChangeArrowheads="1"/>
            </p:cNvSpPr>
            <p:nvPr/>
          </p:nvSpPr>
          <p:spPr bwMode="auto">
            <a:xfrm>
              <a:off x="2381" y="2932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kumimoji="0" lang="zh-CN" altLang="en-US" sz="2000" b="1">
                  <a:sym typeface="Symbol" panose="05050102010706020507" pitchFamily="18" charset="2"/>
                </a:rPr>
                <a:t>（</a:t>
              </a:r>
              <a:r>
                <a:rPr kumimoji="0" lang="en-US" altLang="zh-CN" sz="2000">
                  <a:sym typeface="Symbol" panose="05050102010706020507" pitchFamily="18" charset="2"/>
                </a:rPr>
                <a:t>9</a:t>
              </a:r>
              <a:r>
                <a:rPr kumimoji="0" lang="zh-CN" altLang="en-US" sz="2000" b="1">
                  <a:sym typeface="Symbol" panose="05050102010706020507" pitchFamily="18" charset="2"/>
                </a:rPr>
                <a:t>）</a:t>
              </a:r>
              <a:endParaRPr lang="zh-CN" altLang="en-US" sz="2000" b="1" i="1"/>
            </a:p>
          </p:txBody>
        </p:sp>
        <p:sp>
          <p:nvSpPr>
            <p:cNvPr id="514156" name="Rectangle 108"/>
            <p:cNvSpPr>
              <a:spLocks noChangeArrowheads="1"/>
            </p:cNvSpPr>
            <p:nvPr/>
          </p:nvSpPr>
          <p:spPr bwMode="auto">
            <a:xfrm>
              <a:off x="3035" y="2932"/>
              <a:ext cx="680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b="1" i="1"/>
                <a:t>E </a:t>
              </a:r>
              <a:r>
                <a:rPr lang="en-US" altLang="zh-CN" sz="2000" i="1"/>
                <a:t>+ </a:t>
              </a:r>
              <a:r>
                <a:rPr lang="en-US" altLang="zh-CN" sz="2000" b="1" i="1"/>
                <a:t>T </a:t>
              </a:r>
              <a:r>
                <a:rPr lang="en-US" altLang="zh-CN" sz="2000" b="1">
                  <a:sym typeface="Symbol" panose="05050102010706020507" pitchFamily="18" charset="2"/>
                </a:rPr>
                <a:t></a:t>
              </a:r>
            </a:p>
          </p:txBody>
        </p:sp>
        <p:sp>
          <p:nvSpPr>
            <p:cNvPr id="514157" name="Rectangle 109"/>
            <p:cNvSpPr>
              <a:spLocks noChangeArrowheads="1"/>
            </p:cNvSpPr>
            <p:nvPr/>
          </p:nvSpPr>
          <p:spPr bwMode="auto">
            <a:xfrm>
              <a:off x="4876" y="2955"/>
              <a:ext cx="476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i="1"/>
                <a:t>Shift</a:t>
              </a:r>
            </a:p>
          </p:txBody>
        </p:sp>
      </p:grpSp>
      <p:grpSp>
        <p:nvGrpSpPr>
          <p:cNvPr id="514195" name="Group 147"/>
          <p:cNvGrpSpPr/>
          <p:nvPr/>
        </p:nvGrpSpPr>
        <p:grpSpPr bwMode="auto">
          <a:xfrm>
            <a:off x="3491880" y="5226323"/>
            <a:ext cx="5400675" cy="396875"/>
            <a:chOff x="2290" y="3135"/>
            <a:chExt cx="3402" cy="250"/>
          </a:xfrm>
        </p:grpSpPr>
        <p:sp>
          <p:nvSpPr>
            <p:cNvPr id="514158" name="Rectangle 110"/>
            <p:cNvSpPr>
              <a:spLocks noChangeArrowheads="1"/>
            </p:cNvSpPr>
            <p:nvPr/>
          </p:nvSpPr>
          <p:spPr bwMode="auto">
            <a:xfrm>
              <a:off x="3742" y="3135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>
                  <a:sym typeface="Symbol" panose="05050102010706020507" pitchFamily="18" charset="2"/>
                </a:rPr>
                <a:t> </a:t>
              </a:r>
              <a:r>
                <a:rPr lang="en-US" altLang="zh-CN" sz="2000" b="1">
                  <a:sym typeface="Symbol" panose="05050102010706020507" pitchFamily="18" charset="2"/>
                </a:rPr>
                <a:t>  </a:t>
              </a:r>
              <a:r>
                <a:rPr lang="en-US" altLang="zh-CN" sz="2000" b="1" i="1"/>
                <a:t> #</a:t>
              </a:r>
            </a:p>
          </p:txBody>
        </p:sp>
        <p:sp>
          <p:nvSpPr>
            <p:cNvPr id="514159" name="Rectangle 111"/>
            <p:cNvSpPr>
              <a:spLocks noChangeArrowheads="1"/>
            </p:cNvSpPr>
            <p:nvPr/>
          </p:nvSpPr>
          <p:spPr bwMode="auto">
            <a:xfrm>
              <a:off x="2290" y="3135"/>
              <a:ext cx="63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kumimoji="0" lang="zh-CN" altLang="en-US" sz="2000" b="1">
                  <a:sym typeface="Symbol" panose="05050102010706020507" pitchFamily="18" charset="2"/>
                </a:rPr>
                <a:t>（</a:t>
              </a:r>
              <a:r>
                <a:rPr kumimoji="0" lang="en-US" altLang="zh-CN" sz="2000">
                  <a:sym typeface="Symbol" panose="05050102010706020507" pitchFamily="18" charset="2"/>
                </a:rPr>
                <a:t>10</a:t>
              </a:r>
              <a:r>
                <a:rPr kumimoji="0" lang="zh-CN" altLang="en-US" sz="2000" b="1">
                  <a:sym typeface="Symbol" panose="05050102010706020507" pitchFamily="18" charset="2"/>
                </a:rPr>
                <a:t>）</a:t>
              </a:r>
              <a:endParaRPr lang="zh-CN" altLang="en-US" sz="2000" b="1" i="1"/>
            </a:p>
          </p:txBody>
        </p:sp>
        <p:sp>
          <p:nvSpPr>
            <p:cNvPr id="514160" name="Rectangle 112"/>
            <p:cNvSpPr>
              <a:spLocks noChangeArrowheads="1"/>
            </p:cNvSpPr>
            <p:nvPr/>
          </p:nvSpPr>
          <p:spPr bwMode="auto">
            <a:xfrm>
              <a:off x="3035" y="3135"/>
              <a:ext cx="798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b="1" i="1"/>
                <a:t>E </a:t>
              </a:r>
              <a:r>
                <a:rPr lang="en-US" altLang="zh-CN" sz="2000" i="1"/>
                <a:t>+ </a:t>
              </a:r>
              <a:r>
                <a:rPr lang="en-US" altLang="zh-CN" sz="2000" b="1" i="1"/>
                <a:t>T </a:t>
              </a:r>
              <a:r>
                <a:rPr lang="en-US" altLang="zh-CN" sz="2000" b="1">
                  <a:sym typeface="Symbol" panose="05050102010706020507" pitchFamily="18" charset="2"/>
                </a:rPr>
                <a:t> </a:t>
              </a:r>
              <a:r>
                <a:rPr lang="en-US" altLang="zh-CN" sz="2000" b="1" i="1">
                  <a:sym typeface="Symbol" panose="05050102010706020507" pitchFamily="18" charset="2"/>
                </a:rPr>
                <a:t>d</a:t>
              </a:r>
            </a:p>
          </p:txBody>
        </p:sp>
        <p:sp>
          <p:nvSpPr>
            <p:cNvPr id="514162" name="Rectangle 114"/>
            <p:cNvSpPr>
              <a:spLocks noChangeArrowheads="1"/>
            </p:cNvSpPr>
            <p:nvPr/>
          </p:nvSpPr>
          <p:spPr bwMode="auto">
            <a:xfrm>
              <a:off x="4830" y="3135"/>
              <a:ext cx="862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i="1" dirty="0"/>
                <a:t>Reduce(7)</a:t>
              </a:r>
            </a:p>
          </p:txBody>
        </p:sp>
      </p:grpSp>
      <p:grpSp>
        <p:nvGrpSpPr>
          <p:cNvPr id="514196" name="Group 148"/>
          <p:cNvGrpSpPr/>
          <p:nvPr/>
        </p:nvGrpSpPr>
        <p:grpSpPr bwMode="auto">
          <a:xfrm>
            <a:off x="3491880" y="5586685"/>
            <a:ext cx="5400675" cy="396875"/>
            <a:chOff x="2290" y="3362"/>
            <a:chExt cx="3402" cy="250"/>
          </a:xfrm>
        </p:grpSpPr>
        <p:sp>
          <p:nvSpPr>
            <p:cNvPr id="514163" name="Rectangle 115"/>
            <p:cNvSpPr>
              <a:spLocks noChangeArrowheads="1"/>
            </p:cNvSpPr>
            <p:nvPr/>
          </p:nvSpPr>
          <p:spPr bwMode="auto">
            <a:xfrm>
              <a:off x="3742" y="3362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>
                  <a:sym typeface="Symbol" panose="05050102010706020507" pitchFamily="18" charset="2"/>
                </a:rPr>
                <a:t> </a:t>
              </a:r>
              <a:r>
                <a:rPr lang="en-US" altLang="zh-CN" sz="2000" b="1">
                  <a:sym typeface="Symbol" panose="05050102010706020507" pitchFamily="18" charset="2"/>
                </a:rPr>
                <a:t>  </a:t>
              </a:r>
              <a:r>
                <a:rPr lang="en-US" altLang="zh-CN" sz="2000" b="1" i="1"/>
                <a:t> #</a:t>
              </a:r>
            </a:p>
          </p:txBody>
        </p:sp>
        <p:sp>
          <p:nvSpPr>
            <p:cNvPr id="514164" name="Rectangle 116"/>
            <p:cNvSpPr>
              <a:spLocks noChangeArrowheads="1"/>
            </p:cNvSpPr>
            <p:nvPr/>
          </p:nvSpPr>
          <p:spPr bwMode="auto">
            <a:xfrm>
              <a:off x="2290" y="3362"/>
              <a:ext cx="63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kumimoji="0" lang="zh-CN" altLang="en-US" sz="2000" b="1">
                  <a:sym typeface="Symbol" panose="05050102010706020507" pitchFamily="18" charset="2"/>
                </a:rPr>
                <a:t>（</a:t>
              </a:r>
              <a:r>
                <a:rPr kumimoji="0" lang="en-US" altLang="zh-CN" sz="2000">
                  <a:sym typeface="Symbol" panose="05050102010706020507" pitchFamily="18" charset="2"/>
                </a:rPr>
                <a:t>11</a:t>
              </a:r>
              <a:r>
                <a:rPr kumimoji="0" lang="zh-CN" altLang="en-US" sz="2000" b="1">
                  <a:sym typeface="Symbol" panose="05050102010706020507" pitchFamily="18" charset="2"/>
                </a:rPr>
                <a:t>）</a:t>
              </a:r>
              <a:endParaRPr lang="zh-CN" altLang="en-US" sz="2000" b="1" i="1"/>
            </a:p>
          </p:txBody>
        </p:sp>
        <p:sp>
          <p:nvSpPr>
            <p:cNvPr id="514165" name="Rectangle 117"/>
            <p:cNvSpPr>
              <a:spLocks noChangeArrowheads="1"/>
            </p:cNvSpPr>
            <p:nvPr/>
          </p:nvSpPr>
          <p:spPr bwMode="auto">
            <a:xfrm>
              <a:off x="3035" y="3362"/>
              <a:ext cx="798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b="1" i="1"/>
                <a:t>E </a:t>
              </a:r>
              <a:r>
                <a:rPr lang="en-US" altLang="zh-CN" sz="2000" i="1"/>
                <a:t>+ </a:t>
              </a:r>
              <a:r>
                <a:rPr lang="en-US" altLang="zh-CN" sz="2000" b="1" i="1"/>
                <a:t>T </a:t>
              </a:r>
              <a:r>
                <a:rPr lang="en-US" altLang="zh-CN" sz="2000" b="1">
                  <a:sym typeface="Symbol" panose="05050102010706020507" pitchFamily="18" charset="2"/>
                </a:rPr>
                <a:t> </a:t>
              </a:r>
              <a:r>
                <a:rPr lang="en-US" altLang="zh-CN" sz="2000" b="1" i="1">
                  <a:sym typeface="Symbol" panose="05050102010706020507" pitchFamily="18" charset="2"/>
                </a:rPr>
                <a:t>F</a:t>
              </a:r>
            </a:p>
          </p:txBody>
        </p:sp>
        <p:sp>
          <p:nvSpPr>
            <p:cNvPr id="514166" name="Rectangle 118"/>
            <p:cNvSpPr>
              <a:spLocks noChangeArrowheads="1"/>
            </p:cNvSpPr>
            <p:nvPr/>
          </p:nvSpPr>
          <p:spPr bwMode="auto">
            <a:xfrm>
              <a:off x="4830" y="3362"/>
              <a:ext cx="862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i="1" dirty="0"/>
                <a:t>Reduce(3)</a:t>
              </a:r>
            </a:p>
          </p:txBody>
        </p:sp>
      </p:grpSp>
      <p:grpSp>
        <p:nvGrpSpPr>
          <p:cNvPr id="514197" name="Group 149"/>
          <p:cNvGrpSpPr/>
          <p:nvPr/>
        </p:nvGrpSpPr>
        <p:grpSpPr bwMode="auto">
          <a:xfrm>
            <a:off x="3491880" y="5912123"/>
            <a:ext cx="5400675" cy="396875"/>
            <a:chOff x="2290" y="3567"/>
            <a:chExt cx="3402" cy="250"/>
          </a:xfrm>
        </p:grpSpPr>
        <p:sp>
          <p:nvSpPr>
            <p:cNvPr id="514167" name="Rectangle 119"/>
            <p:cNvSpPr>
              <a:spLocks noChangeArrowheads="1"/>
            </p:cNvSpPr>
            <p:nvPr/>
          </p:nvSpPr>
          <p:spPr bwMode="auto">
            <a:xfrm>
              <a:off x="3742" y="3567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>
                  <a:sym typeface="Symbol" panose="05050102010706020507" pitchFamily="18" charset="2"/>
                </a:rPr>
                <a:t> </a:t>
              </a:r>
              <a:r>
                <a:rPr lang="en-US" altLang="zh-CN" sz="2000" b="1">
                  <a:sym typeface="Symbol" panose="05050102010706020507" pitchFamily="18" charset="2"/>
                </a:rPr>
                <a:t>  </a:t>
              </a:r>
              <a:r>
                <a:rPr lang="en-US" altLang="zh-CN" sz="2000" b="1" i="1"/>
                <a:t> #</a:t>
              </a:r>
            </a:p>
          </p:txBody>
        </p:sp>
        <p:sp>
          <p:nvSpPr>
            <p:cNvPr id="514168" name="Rectangle 120"/>
            <p:cNvSpPr>
              <a:spLocks noChangeArrowheads="1"/>
            </p:cNvSpPr>
            <p:nvPr/>
          </p:nvSpPr>
          <p:spPr bwMode="auto">
            <a:xfrm>
              <a:off x="2290" y="3567"/>
              <a:ext cx="63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kumimoji="0" lang="zh-CN" altLang="en-US" sz="2000" b="1">
                  <a:sym typeface="Symbol" panose="05050102010706020507" pitchFamily="18" charset="2"/>
                </a:rPr>
                <a:t>（</a:t>
              </a:r>
              <a:r>
                <a:rPr kumimoji="0" lang="en-US" altLang="zh-CN" sz="2000">
                  <a:sym typeface="Symbol" panose="05050102010706020507" pitchFamily="18" charset="2"/>
                </a:rPr>
                <a:t>12</a:t>
              </a:r>
              <a:r>
                <a:rPr kumimoji="0" lang="zh-CN" altLang="en-US" sz="2000" b="1">
                  <a:sym typeface="Symbol" panose="05050102010706020507" pitchFamily="18" charset="2"/>
                </a:rPr>
                <a:t>）</a:t>
              </a:r>
              <a:endParaRPr lang="zh-CN" altLang="en-US" sz="2000" b="1" i="1"/>
            </a:p>
          </p:txBody>
        </p:sp>
        <p:sp>
          <p:nvSpPr>
            <p:cNvPr id="514169" name="Rectangle 121"/>
            <p:cNvSpPr>
              <a:spLocks noChangeArrowheads="1"/>
            </p:cNvSpPr>
            <p:nvPr/>
          </p:nvSpPr>
          <p:spPr bwMode="auto">
            <a:xfrm>
              <a:off x="3035" y="3567"/>
              <a:ext cx="798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b="1" i="1"/>
                <a:t>E </a:t>
              </a:r>
              <a:r>
                <a:rPr lang="en-US" altLang="zh-CN" sz="2000" i="1"/>
                <a:t>+ </a:t>
              </a:r>
              <a:r>
                <a:rPr lang="en-US" altLang="zh-CN" sz="2000" b="1" i="1"/>
                <a:t>T</a:t>
              </a:r>
              <a:endParaRPr lang="en-US" altLang="zh-CN" sz="2000" b="1" i="1">
                <a:sym typeface="Symbol" panose="05050102010706020507" pitchFamily="18" charset="2"/>
              </a:endParaRPr>
            </a:p>
          </p:txBody>
        </p:sp>
        <p:sp>
          <p:nvSpPr>
            <p:cNvPr id="514170" name="Rectangle 122"/>
            <p:cNvSpPr>
              <a:spLocks noChangeArrowheads="1"/>
            </p:cNvSpPr>
            <p:nvPr/>
          </p:nvSpPr>
          <p:spPr bwMode="auto">
            <a:xfrm>
              <a:off x="4830" y="3567"/>
              <a:ext cx="862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i="1" dirty="0"/>
                <a:t>Reduce(1)</a:t>
              </a:r>
            </a:p>
          </p:txBody>
        </p:sp>
      </p:grpSp>
      <p:grpSp>
        <p:nvGrpSpPr>
          <p:cNvPr id="514198" name="Group 150"/>
          <p:cNvGrpSpPr/>
          <p:nvPr/>
        </p:nvGrpSpPr>
        <p:grpSpPr bwMode="auto">
          <a:xfrm>
            <a:off x="3491880" y="6272485"/>
            <a:ext cx="5400675" cy="396875"/>
            <a:chOff x="2290" y="3794"/>
            <a:chExt cx="3402" cy="250"/>
          </a:xfrm>
        </p:grpSpPr>
        <p:sp>
          <p:nvSpPr>
            <p:cNvPr id="514171" name="Rectangle 123"/>
            <p:cNvSpPr>
              <a:spLocks noChangeArrowheads="1"/>
            </p:cNvSpPr>
            <p:nvPr/>
          </p:nvSpPr>
          <p:spPr bwMode="auto">
            <a:xfrm>
              <a:off x="3742" y="3794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>
                  <a:sym typeface="Symbol" panose="05050102010706020507" pitchFamily="18" charset="2"/>
                </a:rPr>
                <a:t> </a:t>
              </a:r>
              <a:r>
                <a:rPr lang="en-US" altLang="zh-CN" sz="2000" b="1">
                  <a:sym typeface="Symbol" panose="05050102010706020507" pitchFamily="18" charset="2"/>
                </a:rPr>
                <a:t>  </a:t>
              </a:r>
              <a:r>
                <a:rPr lang="en-US" altLang="zh-CN" sz="2000" b="1" i="1"/>
                <a:t> #</a:t>
              </a:r>
            </a:p>
          </p:txBody>
        </p:sp>
        <p:sp>
          <p:nvSpPr>
            <p:cNvPr id="514172" name="Rectangle 124"/>
            <p:cNvSpPr>
              <a:spLocks noChangeArrowheads="1"/>
            </p:cNvSpPr>
            <p:nvPr/>
          </p:nvSpPr>
          <p:spPr bwMode="auto">
            <a:xfrm>
              <a:off x="2290" y="3794"/>
              <a:ext cx="63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kumimoji="0" lang="zh-CN" altLang="en-US" sz="2000" b="1" dirty="0">
                  <a:sym typeface="Symbol" panose="05050102010706020507" pitchFamily="18" charset="2"/>
                </a:rPr>
                <a:t>（</a:t>
              </a:r>
              <a:r>
                <a:rPr kumimoji="0" lang="en-US" altLang="zh-CN" sz="2000" dirty="0">
                  <a:sym typeface="Symbol" panose="05050102010706020507" pitchFamily="18" charset="2"/>
                </a:rPr>
                <a:t>13</a:t>
              </a:r>
              <a:r>
                <a:rPr kumimoji="0" lang="zh-CN" altLang="en-US" sz="2000" b="1" dirty="0">
                  <a:sym typeface="Symbol" panose="05050102010706020507" pitchFamily="18" charset="2"/>
                </a:rPr>
                <a:t>）</a:t>
              </a:r>
              <a:endParaRPr lang="zh-CN" altLang="en-US" sz="2000" b="1" i="1" dirty="0"/>
            </a:p>
          </p:txBody>
        </p:sp>
        <p:sp>
          <p:nvSpPr>
            <p:cNvPr id="514173" name="Rectangle 125"/>
            <p:cNvSpPr>
              <a:spLocks noChangeArrowheads="1"/>
            </p:cNvSpPr>
            <p:nvPr/>
          </p:nvSpPr>
          <p:spPr bwMode="auto">
            <a:xfrm>
              <a:off x="3035" y="3794"/>
              <a:ext cx="798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b="1" i="1"/>
                <a:t>E</a:t>
              </a:r>
              <a:endParaRPr lang="en-US" altLang="zh-CN" sz="2000" b="1" i="1">
                <a:sym typeface="Symbol" panose="05050102010706020507" pitchFamily="18" charset="2"/>
              </a:endParaRPr>
            </a:p>
          </p:txBody>
        </p:sp>
        <p:sp>
          <p:nvSpPr>
            <p:cNvPr id="514174" name="Rectangle 126"/>
            <p:cNvSpPr>
              <a:spLocks noChangeArrowheads="1"/>
            </p:cNvSpPr>
            <p:nvPr/>
          </p:nvSpPr>
          <p:spPr bwMode="auto">
            <a:xfrm>
              <a:off x="4830" y="3794"/>
              <a:ext cx="862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ctr">
                <a:buNone/>
              </a:pPr>
              <a:r>
                <a:rPr lang="en-US" altLang="zh-CN" sz="2000" i="1" dirty="0"/>
                <a:t>Accept</a:t>
              </a:r>
            </a:p>
          </p:txBody>
        </p:sp>
      </p:grpSp>
      <p:grpSp>
        <p:nvGrpSpPr>
          <p:cNvPr id="514200" name="Group 152"/>
          <p:cNvGrpSpPr/>
          <p:nvPr/>
        </p:nvGrpSpPr>
        <p:grpSpPr bwMode="auto">
          <a:xfrm>
            <a:off x="3636343" y="1914798"/>
            <a:ext cx="4716462" cy="431800"/>
            <a:chOff x="2381" y="981"/>
            <a:chExt cx="2971" cy="272"/>
          </a:xfrm>
        </p:grpSpPr>
        <p:sp>
          <p:nvSpPr>
            <p:cNvPr id="514108" name="Rectangle 60"/>
            <p:cNvSpPr>
              <a:spLocks noChangeArrowheads="1"/>
            </p:cNvSpPr>
            <p:nvPr/>
          </p:nvSpPr>
          <p:spPr bwMode="auto">
            <a:xfrm>
              <a:off x="3742" y="981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b="1" i="1"/>
                <a:t>v </a:t>
              </a:r>
              <a:r>
                <a:rPr lang="en-US" altLang="zh-CN" sz="2000">
                  <a:sym typeface="Symbol" panose="05050102010706020507" pitchFamily="18" charset="2"/>
                </a:rPr>
                <a:t>+ </a:t>
              </a:r>
              <a:r>
                <a:rPr lang="en-US" altLang="zh-CN" sz="2000" b="1" i="1"/>
                <a:t>v</a:t>
              </a:r>
              <a:r>
                <a:rPr lang="en-US" altLang="zh-CN" sz="2000" b="1">
                  <a:sym typeface="Symbol" panose="05050102010706020507" pitchFamily="18" charset="2"/>
                </a:rPr>
                <a:t> 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514113" name="Rectangle 65"/>
            <p:cNvSpPr>
              <a:spLocks noChangeArrowheads="1"/>
            </p:cNvSpPr>
            <p:nvPr/>
          </p:nvSpPr>
          <p:spPr bwMode="auto">
            <a:xfrm>
              <a:off x="4876" y="981"/>
              <a:ext cx="476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i="1"/>
                <a:t>Shift</a:t>
              </a:r>
            </a:p>
          </p:txBody>
        </p:sp>
        <p:sp>
          <p:nvSpPr>
            <p:cNvPr id="514114" name="Rectangle 66"/>
            <p:cNvSpPr>
              <a:spLocks noChangeArrowheads="1"/>
            </p:cNvSpPr>
            <p:nvPr/>
          </p:nvSpPr>
          <p:spPr bwMode="auto">
            <a:xfrm>
              <a:off x="2381" y="1003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kumimoji="0" lang="zh-CN" altLang="en-US" sz="2000" b="1">
                  <a:sym typeface="Symbol" panose="05050102010706020507" pitchFamily="18" charset="2"/>
                </a:rPr>
                <a:t>（</a:t>
              </a:r>
              <a:r>
                <a:rPr kumimoji="0" lang="en-US" altLang="zh-CN" sz="2000">
                  <a:sym typeface="Symbol" panose="05050102010706020507" pitchFamily="18" charset="2"/>
                </a:rPr>
                <a:t>0</a:t>
              </a:r>
              <a:r>
                <a:rPr kumimoji="0" lang="zh-CN" altLang="en-US" sz="2000" b="1">
                  <a:sym typeface="Symbol" panose="05050102010706020507" pitchFamily="18" charset="2"/>
                </a:rPr>
                <a:t>）</a:t>
              </a:r>
              <a:endParaRPr lang="zh-CN" altLang="en-US" sz="2000" b="1" i="1"/>
            </a:p>
          </p:txBody>
        </p:sp>
      </p:grpSp>
      <p:grpSp>
        <p:nvGrpSpPr>
          <p:cNvPr id="514201" name="Group 153"/>
          <p:cNvGrpSpPr/>
          <p:nvPr/>
        </p:nvGrpSpPr>
        <p:grpSpPr bwMode="auto">
          <a:xfrm>
            <a:off x="3707780" y="1482998"/>
            <a:ext cx="5292725" cy="5183188"/>
            <a:chOff x="2426" y="709"/>
            <a:chExt cx="3334" cy="3265"/>
          </a:xfrm>
        </p:grpSpPr>
        <p:sp>
          <p:nvSpPr>
            <p:cNvPr id="514179" name="Line 131"/>
            <p:cNvSpPr>
              <a:spLocks noChangeShapeType="1"/>
            </p:cNvSpPr>
            <p:nvPr/>
          </p:nvSpPr>
          <p:spPr bwMode="auto">
            <a:xfrm>
              <a:off x="2426" y="981"/>
              <a:ext cx="3334" cy="0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14109" name="Text Box 61"/>
            <p:cNvSpPr txBox="1">
              <a:spLocks noChangeArrowheads="1"/>
            </p:cNvSpPr>
            <p:nvPr/>
          </p:nvSpPr>
          <p:spPr bwMode="auto">
            <a:xfrm>
              <a:off x="2449" y="709"/>
              <a:ext cx="544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kumimoji="0" lang="zh-CN" altLang="en-US" b="1">
                  <a:latin typeface="Times New Roman" panose="02020603050405020304" pitchFamily="18" charset="0"/>
                </a:rPr>
                <a:t>步骤</a:t>
              </a:r>
            </a:p>
          </p:txBody>
        </p:sp>
        <p:sp>
          <p:nvSpPr>
            <p:cNvPr id="514110" name="Text Box 62"/>
            <p:cNvSpPr txBox="1">
              <a:spLocks noChangeArrowheads="1"/>
            </p:cNvSpPr>
            <p:nvPr/>
          </p:nvSpPr>
          <p:spPr bwMode="auto">
            <a:xfrm>
              <a:off x="3039" y="709"/>
              <a:ext cx="744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kumimoji="0" lang="zh-CN" altLang="en-US" b="1">
                  <a:latin typeface="Times New Roman" panose="02020603050405020304" pitchFamily="18" charset="0"/>
                </a:rPr>
                <a:t>分析栈</a:t>
              </a:r>
            </a:p>
          </p:txBody>
        </p:sp>
        <p:sp>
          <p:nvSpPr>
            <p:cNvPr id="514111" name="Text Box 63"/>
            <p:cNvSpPr txBox="1">
              <a:spLocks noChangeArrowheads="1"/>
            </p:cNvSpPr>
            <p:nvPr/>
          </p:nvSpPr>
          <p:spPr bwMode="auto">
            <a:xfrm>
              <a:off x="3787" y="709"/>
              <a:ext cx="1089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kumimoji="0" lang="zh-CN" altLang="en-US" b="1">
                  <a:latin typeface="Times New Roman" panose="02020603050405020304" pitchFamily="18" charset="0"/>
                </a:rPr>
                <a:t>余留输入串</a:t>
              </a:r>
            </a:p>
          </p:txBody>
        </p:sp>
        <p:sp>
          <p:nvSpPr>
            <p:cNvPr id="514112" name="Text Box 64"/>
            <p:cNvSpPr txBox="1">
              <a:spLocks noChangeArrowheads="1"/>
            </p:cNvSpPr>
            <p:nvPr/>
          </p:nvSpPr>
          <p:spPr bwMode="auto">
            <a:xfrm>
              <a:off x="4967" y="709"/>
              <a:ext cx="544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kumimoji="0" lang="zh-CN" altLang="en-US" b="1">
                  <a:latin typeface="Times New Roman" panose="02020603050405020304" pitchFamily="18" charset="0"/>
                </a:rPr>
                <a:t>动作</a:t>
              </a:r>
            </a:p>
          </p:txBody>
        </p:sp>
        <p:sp>
          <p:nvSpPr>
            <p:cNvPr id="514180" name="Line 132"/>
            <p:cNvSpPr>
              <a:spLocks noChangeShapeType="1"/>
            </p:cNvSpPr>
            <p:nvPr/>
          </p:nvSpPr>
          <p:spPr bwMode="auto">
            <a:xfrm>
              <a:off x="2971" y="754"/>
              <a:ext cx="0" cy="3220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514182" name="Line 134"/>
            <p:cNvSpPr>
              <a:spLocks noChangeShapeType="1"/>
            </p:cNvSpPr>
            <p:nvPr/>
          </p:nvSpPr>
          <p:spPr bwMode="auto">
            <a:xfrm>
              <a:off x="3787" y="754"/>
              <a:ext cx="0" cy="3220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514183" name="Line 135"/>
            <p:cNvSpPr>
              <a:spLocks noChangeShapeType="1"/>
            </p:cNvSpPr>
            <p:nvPr/>
          </p:nvSpPr>
          <p:spPr bwMode="auto">
            <a:xfrm>
              <a:off x="4830" y="754"/>
              <a:ext cx="0" cy="3220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4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14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14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14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14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514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514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514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514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514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514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514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514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2" dur="500"/>
                                        <p:tgtEl>
                                          <p:spTgt spid="514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7" dur="500"/>
                                        <p:tgtEl>
                                          <p:spTgt spid="514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418" name="Rectangle 2"/>
          <p:cNvSpPr>
            <a:spLocks noChangeArrowheads="1"/>
          </p:cNvSpPr>
          <p:nvPr/>
        </p:nvSpPr>
        <p:spPr bwMode="auto">
          <a:xfrm>
            <a:off x="468313" y="1898650"/>
            <a:ext cx="3455987" cy="495520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anose="05050102010706020507" pitchFamily="18" charset="2"/>
              <a:buChar char="-"/>
            </a:pPr>
            <a:r>
              <a:rPr lang="en-US" altLang="zh-CN" sz="2800" b="1" dirty="0">
                <a:solidFill>
                  <a:srgbClr val="800080"/>
                </a:solidFill>
              </a:rPr>
              <a:t>  </a:t>
            </a:r>
            <a:r>
              <a:rPr lang="zh-CN" altLang="en-US" sz="2800" b="1" dirty="0"/>
              <a:t>对应一个</a:t>
            </a:r>
            <a:r>
              <a:rPr lang="zh-CN" altLang="en-US" sz="2800" b="1" dirty="0">
                <a:solidFill>
                  <a:srgbClr val="800080"/>
                </a:solidFill>
              </a:rPr>
              <a:t>最右推导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 dirty="0">
              <a:solidFill>
                <a:srgbClr val="800080"/>
              </a:solidFill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b="1" dirty="0"/>
              <a:t>     将分析栈中的符号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b="1" dirty="0"/>
              <a:t>     串和余留输入串并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 dirty="0"/>
              <a:t>     置，若逆向观察从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 dirty="0"/>
              <a:t>     步骤（</a:t>
            </a:r>
            <a:r>
              <a:rPr lang="en-US" altLang="zh-CN" dirty="0"/>
              <a:t>13</a:t>
            </a:r>
            <a:r>
              <a:rPr lang="zh-CN" altLang="en-US" b="1" dirty="0"/>
              <a:t>）至步骤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 dirty="0"/>
              <a:t>    （</a:t>
            </a:r>
            <a:r>
              <a:rPr lang="en-US" altLang="zh-CN" dirty="0"/>
              <a:t>1</a:t>
            </a:r>
            <a:r>
              <a:rPr lang="zh-CN" altLang="en-US" b="1" dirty="0"/>
              <a:t>）的每一个归约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 dirty="0"/>
              <a:t>     步骤，则对应一个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 dirty="0"/>
              <a:t>     最右推导，也称为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 dirty="0"/>
              <a:t>     </a:t>
            </a:r>
            <a:r>
              <a:rPr lang="zh-CN" altLang="en-US" b="1" dirty="0">
                <a:solidFill>
                  <a:srgbClr val="800080"/>
                </a:solidFill>
              </a:rPr>
              <a:t>规范推导</a:t>
            </a:r>
            <a:r>
              <a:rPr lang="zh-CN" altLang="en-US" b="1" dirty="0"/>
              <a:t>（</a:t>
            </a:r>
            <a:r>
              <a:rPr lang="en-US" altLang="zh-CN" sz="2000" i="1" dirty="0"/>
              <a:t>canonical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i="1" dirty="0"/>
              <a:t>      derivation</a:t>
            </a:r>
            <a:r>
              <a:rPr lang="zh-CN" altLang="en-US" b="1" dirty="0"/>
              <a:t>）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400" b="1" dirty="0"/>
          </a:p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b="1" dirty="0"/>
              <a:t>     </a:t>
            </a:r>
            <a:r>
              <a:rPr lang="zh-CN" altLang="en-US" b="1" dirty="0">
                <a:solidFill>
                  <a:srgbClr val="800080"/>
                </a:solidFill>
              </a:rPr>
              <a:t>此为</a:t>
            </a:r>
            <a:r>
              <a:rPr lang="en-US" altLang="zh-CN" dirty="0">
                <a:solidFill>
                  <a:srgbClr val="800080"/>
                </a:solidFill>
              </a:rPr>
              <a:t>LR</a:t>
            </a:r>
            <a:r>
              <a:rPr lang="zh-CN" altLang="en-US" b="1" dirty="0">
                <a:solidFill>
                  <a:srgbClr val="800080"/>
                </a:solidFill>
              </a:rPr>
              <a:t>分析过程</a:t>
            </a:r>
            <a:endParaRPr lang="zh-CN" altLang="en-US" b="1" dirty="0"/>
          </a:p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800080"/>
                </a:solidFill>
              </a:rPr>
              <a:t>     句柄作为“可归约串”</a:t>
            </a:r>
          </a:p>
        </p:txBody>
      </p:sp>
      <p:sp>
        <p:nvSpPr>
          <p:cNvPr id="572419" name="Text Box 3"/>
          <p:cNvSpPr txBox="1">
            <a:spLocks noChangeArrowheads="1"/>
          </p:cNvSpPr>
          <p:nvPr/>
        </p:nvSpPr>
        <p:spPr bwMode="auto">
          <a:xfrm>
            <a:off x="322263" y="1193800"/>
            <a:ext cx="3744912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800080"/>
                </a:solidFill>
                <a:latin typeface="楷体_GB2312" pitchFamily="49" charset="-122"/>
              </a:rPr>
              <a:t>(</a:t>
            </a:r>
            <a:r>
              <a:rPr lang="zh-CN" altLang="en-US" sz="3200" b="1">
                <a:solidFill>
                  <a:srgbClr val="800080"/>
                </a:solidFill>
                <a:latin typeface="楷体_GB2312" pitchFamily="49" charset="-122"/>
              </a:rPr>
              <a:t>接上页）</a:t>
            </a:r>
          </a:p>
        </p:txBody>
      </p:sp>
      <p:sp>
        <p:nvSpPr>
          <p:cNvPr id="572420" name="Rectangle 4"/>
          <p:cNvSpPr>
            <a:spLocks noChangeArrowheads="1"/>
          </p:cNvSpPr>
          <p:nvPr/>
        </p:nvSpPr>
        <p:spPr bwMode="auto">
          <a:xfrm>
            <a:off x="37033" y="188913"/>
            <a:ext cx="3598863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zh-CN" altLang="en-US" sz="4000" b="1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移进</a:t>
            </a:r>
            <a:r>
              <a:rPr lang="zh-CN" altLang="en-US" sz="4000" b="1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  <a:sym typeface="Symbol" panose="05050102010706020507" pitchFamily="18" charset="2"/>
              </a:rPr>
              <a:t></a:t>
            </a:r>
            <a:r>
              <a:rPr lang="zh-CN" altLang="en-US" sz="4000" b="1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归约分析</a:t>
            </a:r>
          </a:p>
        </p:txBody>
      </p:sp>
      <p:grpSp>
        <p:nvGrpSpPr>
          <p:cNvPr id="97" name="Group 138"/>
          <p:cNvGrpSpPr/>
          <p:nvPr/>
        </p:nvGrpSpPr>
        <p:grpSpPr bwMode="auto">
          <a:xfrm>
            <a:off x="3780359" y="2096418"/>
            <a:ext cx="5256212" cy="396875"/>
            <a:chOff x="2381" y="1185"/>
            <a:chExt cx="3311" cy="250"/>
          </a:xfrm>
        </p:grpSpPr>
        <p:sp>
          <p:nvSpPr>
            <p:cNvPr id="98" name="Rectangle 68"/>
            <p:cNvSpPr>
              <a:spLocks noChangeArrowheads="1"/>
            </p:cNvSpPr>
            <p:nvPr/>
          </p:nvSpPr>
          <p:spPr bwMode="auto">
            <a:xfrm>
              <a:off x="3742" y="1185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>
                  <a:sym typeface="Symbol" panose="05050102010706020507" pitchFamily="18" charset="2"/>
                </a:rPr>
                <a:t>+ </a:t>
              </a:r>
              <a:r>
                <a:rPr lang="en-US" altLang="zh-CN" sz="2000" b="1" i="1"/>
                <a:t>v</a:t>
              </a:r>
              <a:r>
                <a:rPr lang="en-US" altLang="zh-CN" sz="2000" b="1">
                  <a:sym typeface="Symbol" panose="05050102010706020507" pitchFamily="18" charset="2"/>
                </a:rPr>
                <a:t> 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99" name="Rectangle 69"/>
            <p:cNvSpPr>
              <a:spLocks noChangeArrowheads="1"/>
            </p:cNvSpPr>
            <p:nvPr/>
          </p:nvSpPr>
          <p:spPr bwMode="auto">
            <a:xfrm>
              <a:off x="4830" y="1185"/>
              <a:ext cx="862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i="1" dirty="0"/>
                <a:t>Reduce(6)</a:t>
              </a:r>
            </a:p>
          </p:txBody>
        </p:sp>
        <p:sp>
          <p:nvSpPr>
            <p:cNvPr id="100" name="Rectangle 70"/>
            <p:cNvSpPr>
              <a:spLocks noChangeArrowheads="1"/>
            </p:cNvSpPr>
            <p:nvPr/>
          </p:nvSpPr>
          <p:spPr bwMode="auto">
            <a:xfrm>
              <a:off x="2381" y="1185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kumimoji="0" lang="zh-CN" altLang="en-US" sz="2000" b="1">
                  <a:sym typeface="Symbol" panose="05050102010706020507" pitchFamily="18" charset="2"/>
                </a:rPr>
                <a:t>（</a:t>
              </a:r>
              <a:r>
                <a:rPr kumimoji="0" lang="en-US" altLang="zh-CN" sz="2000">
                  <a:sym typeface="Symbol" panose="05050102010706020507" pitchFamily="18" charset="2"/>
                </a:rPr>
                <a:t>1</a:t>
              </a:r>
              <a:r>
                <a:rPr kumimoji="0" lang="zh-CN" altLang="en-US" sz="2000" b="1">
                  <a:sym typeface="Symbol" panose="05050102010706020507" pitchFamily="18" charset="2"/>
                </a:rPr>
                <a:t>）</a:t>
              </a:r>
              <a:endParaRPr lang="zh-CN" altLang="en-US" sz="2000" b="1" i="1"/>
            </a:p>
          </p:txBody>
        </p:sp>
        <p:sp>
          <p:nvSpPr>
            <p:cNvPr id="101" name="Rectangle 71"/>
            <p:cNvSpPr>
              <a:spLocks noChangeArrowheads="1"/>
            </p:cNvSpPr>
            <p:nvPr/>
          </p:nvSpPr>
          <p:spPr bwMode="auto">
            <a:xfrm>
              <a:off x="3035" y="1185"/>
              <a:ext cx="680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b="1" i="1"/>
                <a:t>v</a:t>
              </a:r>
            </a:p>
          </p:txBody>
        </p:sp>
      </p:grpSp>
      <p:grpSp>
        <p:nvGrpSpPr>
          <p:cNvPr id="102" name="Group 139"/>
          <p:cNvGrpSpPr/>
          <p:nvPr/>
        </p:nvGrpSpPr>
        <p:grpSpPr bwMode="auto">
          <a:xfrm>
            <a:off x="3780359" y="2421855"/>
            <a:ext cx="5256212" cy="396875"/>
            <a:chOff x="2381" y="1390"/>
            <a:chExt cx="3311" cy="250"/>
          </a:xfrm>
        </p:grpSpPr>
        <p:sp>
          <p:nvSpPr>
            <p:cNvPr id="103" name="Rectangle 72"/>
            <p:cNvSpPr>
              <a:spLocks noChangeArrowheads="1"/>
            </p:cNvSpPr>
            <p:nvPr/>
          </p:nvSpPr>
          <p:spPr bwMode="auto">
            <a:xfrm>
              <a:off x="3742" y="1390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>
                  <a:sym typeface="Symbol" panose="05050102010706020507" pitchFamily="18" charset="2"/>
                </a:rPr>
                <a:t>+ </a:t>
              </a:r>
              <a:r>
                <a:rPr lang="en-US" altLang="zh-CN" sz="2000" b="1" i="1"/>
                <a:t>v</a:t>
              </a:r>
              <a:r>
                <a:rPr lang="en-US" altLang="zh-CN" sz="2000" b="1">
                  <a:sym typeface="Symbol" panose="05050102010706020507" pitchFamily="18" charset="2"/>
                </a:rPr>
                <a:t> 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104" name="Rectangle 73"/>
            <p:cNvSpPr>
              <a:spLocks noChangeArrowheads="1"/>
            </p:cNvSpPr>
            <p:nvPr/>
          </p:nvSpPr>
          <p:spPr bwMode="auto">
            <a:xfrm>
              <a:off x="4830" y="1390"/>
              <a:ext cx="862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i="1" dirty="0"/>
                <a:t>Reduce(4)</a:t>
              </a:r>
            </a:p>
          </p:txBody>
        </p:sp>
        <p:sp>
          <p:nvSpPr>
            <p:cNvPr id="105" name="Rectangle 74"/>
            <p:cNvSpPr>
              <a:spLocks noChangeArrowheads="1"/>
            </p:cNvSpPr>
            <p:nvPr/>
          </p:nvSpPr>
          <p:spPr bwMode="auto">
            <a:xfrm>
              <a:off x="2381" y="1390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kumimoji="0" lang="zh-CN" altLang="en-US" sz="2000" b="1">
                  <a:sym typeface="Symbol" panose="05050102010706020507" pitchFamily="18" charset="2"/>
                </a:rPr>
                <a:t>（</a:t>
              </a:r>
              <a:r>
                <a:rPr kumimoji="0" lang="en-US" altLang="zh-CN" sz="2000">
                  <a:sym typeface="Symbol" panose="05050102010706020507" pitchFamily="18" charset="2"/>
                </a:rPr>
                <a:t>2</a:t>
              </a:r>
              <a:r>
                <a:rPr kumimoji="0" lang="zh-CN" altLang="en-US" sz="2000" b="1">
                  <a:sym typeface="Symbol" panose="05050102010706020507" pitchFamily="18" charset="2"/>
                </a:rPr>
                <a:t>）</a:t>
              </a:r>
              <a:endParaRPr lang="zh-CN" altLang="en-US" sz="2000" b="1" i="1"/>
            </a:p>
          </p:txBody>
        </p:sp>
        <p:sp>
          <p:nvSpPr>
            <p:cNvPr id="106" name="Rectangle 75"/>
            <p:cNvSpPr>
              <a:spLocks noChangeArrowheads="1"/>
            </p:cNvSpPr>
            <p:nvPr/>
          </p:nvSpPr>
          <p:spPr bwMode="auto">
            <a:xfrm>
              <a:off x="3035" y="1390"/>
              <a:ext cx="680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b="1" i="1"/>
                <a:t>F</a:t>
              </a:r>
            </a:p>
          </p:txBody>
        </p:sp>
      </p:grpSp>
      <p:grpSp>
        <p:nvGrpSpPr>
          <p:cNvPr id="107" name="Group 142"/>
          <p:cNvGrpSpPr/>
          <p:nvPr/>
        </p:nvGrpSpPr>
        <p:grpSpPr bwMode="auto">
          <a:xfrm>
            <a:off x="3780359" y="3391818"/>
            <a:ext cx="4716462" cy="396875"/>
            <a:chOff x="2381" y="2025"/>
            <a:chExt cx="2971" cy="250"/>
          </a:xfrm>
        </p:grpSpPr>
        <p:sp>
          <p:nvSpPr>
            <p:cNvPr id="108" name="Rectangle 81"/>
            <p:cNvSpPr>
              <a:spLocks noChangeArrowheads="1"/>
            </p:cNvSpPr>
            <p:nvPr/>
          </p:nvSpPr>
          <p:spPr bwMode="auto">
            <a:xfrm>
              <a:off x="3742" y="2025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>
                  <a:sym typeface="Symbol" panose="05050102010706020507" pitchFamily="18" charset="2"/>
                </a:rPr>
                <a:t> </a:t>
              </a:r>
              <a:r>
                <a:rPr lang="en-US" altLang="zh-CN" sz="2000" b="1" i="1"/>
                <a:t>v</a:t>
              </a:r>
              <a:r>
                <a:rPr lang="en-US" altLang="zh-CN" sz="2000" b="1">
                  <a:sym typeface="Symbol" panose="05050102010706020507" pitchFamily="18" charset="2"/>
                </a:rPr>
                <a:t> 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109" name="Rectangle 82"/>
            <p:cNvSpPr>
              <a:spLocks noChangeArrowheads="1"/>
            </p:cNvSpPr>
            <p:nvPr/>
          </p:nvSpPr>
          <p:spPr bwMode="auto">
            <a:xfrm>
              <a:off x="2381" y="2025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kumimoji="0" lang="zh-CN" altLang="en-US" sz="2000" b="1">
                  <a:sym typeface="Symbol" panose="05050102010706020507" pitchFamily="18" charset="2"/>
                </a:rPr>
                <a:t>（</a:t>
              </a:r>
              <a:r>
                <a:rPr kumimoji="0" lang="en-US" altLang="zh-CN" sz="2000">
                  <a:sym typeface="Symbol" panose="05050102010706020507" pitchFamily="18" charset="2"/>
                </a:rPr>
                <a:t>5</a:t>
              </a:r>
              <a:r>
                <a:rPr kumimoji="0" lang="zh-CN" altLang="en-US" sz="2000" b="1">
                  <a:sym typeface="Symbol" panose="05050102010706020507" pitchFamily="18" charset="2"/>
                </a:rPr>
                <a:t>）</a:t>
              </a:r>
              <a:endParaRPr lang="zh-CN" altLang="en-US" sz="2000" b="1" i="1"/>
            </a:p>
          </p:txBody>
        </p:sp>
        <p:sp>
          <p:nvSpPr>
            <p:cNvPr id="110" name="Rectangle 83"/>
            <p:cNvSpPr>
              <a:spLocks noChangeArrowheads="1"/>
            </p:cNvSpPr>
            <p:nvPr/>
          </p:nvSpPr>
          <p:spPr bwMode="auto">
            <a:xfrm>
              <a:off x="3035" y="2025"/>
              <a:ext cx="680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b="1" i="1"/>
                <a:t>E </a:t>
              </a:r>
              <a:r>
                <a:rPr lang="en-US" altLang="zh-CN" sz="2000" i="1"/>
                <a:t>+</a:t>
              </a:r>
            </a:p>
          </p:txBody>
        </p:sp>
        <p:sp>
          <p:nvSpPr>
            <p:cNvPr id="111" name="Rectangle 84"/>
            <p:cNvSpPr>
              <a:spLocks noChangeArrowheads="1"/>
            </p:cNvSpPr>
            <p:nvPr/>
          </p:nvSpPr>
          <p:spPr bwMode="auto">
            <a:xfrm>
              <a:off x="4876" y="2025"/>
              <a:ext cx="476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i="1"/>
                <a:t>Shift</a:t>
              </a:r>
            </a:p>
          </p:txBody>
        </p:sp>
      </p:grpSp>
      <p:grpSp>
        <p:nvGrpSpPr>
          <p:cNvPr id="112" name="Group 140"/>
          <p:cNvGrpSpPr/>
          <p:nvPr/>
        </p:nvGrpSpPr>
        <p:grpSpPr bwMode="auto">
          <a:xfrm>
            <a:off x="3780359" y="2744118"/>
            <a:ext cx="5256212" cy="396875"/>
            <a:chOff x="2381" y="1593"/>
            <a:chExt cx="3311" cy="250"/>
          </a:xfrm>
        </p:grpSpPr>
        <p:sp>
          <p:nvSpPr>
            <p:cNvPr id="113" name="Rectangle 76"/>
            <p:cNvSpPr>
              <a:spLocks noChangeArrowheads="1"/>
            </p:cNvSpPr>
            <p:nvPr/>
          </p:nvSpPr>
          <p:spPr bwMode="auto">
            <a:xfrm>
              <a:off x="3742" y="1593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>
                  <a:sym typeface="Symbol" panose="05050102010706020507" pitchFamily="18" charset="2"/>
                </a:rPr>
                <a:t>+ </a:t>
              </a:r>
              <a:r>
                <a:rPr lang="en-US" altLang="zh-CN" sz="2000" b="1" i="1"/>
                <a:t>v</a:t>
              </a:r>
              <a:r>
                <a:rPr lang="en-US" altLang="zh-CN" sz="2000" b="1">
                  <a:sym typeface="Symbol" panose="05050102010706020507" pitchFamily="18" charset="2"/>
                </a:rPr>
                <a:t> 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114" name="Rectangle 78"/>
            <p:cNvSpPr>
              <a:spLocks noChangeArrowheads="1"/>
            </p:cNvSpPr>
            <p:nvPr/>
          </p:nvSpPr>
          <p:spPr bwMode="auto">
            <a:xfrm>
              <a:off x="2381" y="1593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kumimoji="0" lang="zh-CN" altLang="en-US" sz="2000" b="1">
                  <a:sym typeface="Symbol" panose="05050102010706020507" pitchFamily="18" charset="2"/>
                </a:rPr>
                <a:t>（</a:t>
              </a:r>
              <a:r>
                <a:rPr kumimoji="0" lang="en-US" altLang="zh-CN" sz="2000">
                  <a:sym typeface="Symbol" panose="05050102010706020507" pitchFamily="18" charset="2"/>
                </a:rPr>
                <a:t>3</a:t>
              </a:r>
              <a:r>
                <a:rPr kumimoji="0" lang="zh-CN" altLang="en-US" sz="2000" b="1">
                  <a:sym typeface="Symbol" panose="05050102010706020507" pitchFamily="18" charset="2"/>
                </a:rPr>
                <a:t>）</a:t>
              </a:r>
              <a:endParaRPr lang="zh-CN" altLang="en-US" sz="2000" b="1" i="1"/>
            </a:p>
          </p:txBody>
        </p:sp>
        <p:sp>
          <p:nvSpPr>
            <p:cNvPr id="115" name="Rectangle 79"/>
            <p:cNvSpPr>
              <a:spLocks noChangeArrowheads="1"/>
            </p:cNvSpPr>
            <p:nvPr/>
          </p:nvSpPr>
          <p:spPr bwMode="auto">
            <a:xfrm>
              <a:off x="3035" y="1593"/>
              <a:ext cx="680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b="1" i="1"/>
                <a:t>T</a:t>
              </a:r>
            </a:p>
          </p:txBody>
        </p:sp>
        <p:sp>
          <p:nvSpPr>
            <p:cNvPr id="116" name="Rectangle 89"/>
            <p:cNvSpPr>
              <a:spLocks noChangeArrowheads="1"/>
            </p:cNvSpPr>
            <p:nvPr/>
          </p:nvSpPr>
          <p:spPr bwMode="auto">
            <a:xfrm>
              <a:off x="4830" y="1593"/>
              <a:ext cx="862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i="1" dirty="0"/>
                <a:t>Reduce(2)</a:t>
              </a:r>
            </a:p>
          </p:txBody>
        </p:sp>
      </p:grpSp>
      <p:grpSp>
        <p:nvGrpSpPr>
          <p:cNvPr id="117" name="Group 141"/>
          <p:cNvGrpSpPr/>
          <p:nvPr/>
        </p:nvGrpSpPr>
        <p:grpSpPr bwMode="auto">
          <a:xfrm>
            <a:off x="3780359" y="3069555"/>
            <a:ext cx="4716462" cy="398463"/>
            <a:chOff x="2381" y="1798"/>
            <a:chExt cx="2971" cy="251"/>
          </a:xfrm>
        </p:grpSpPr>
        <p:sp>
          <p:nvSpPr>
            <p:cNvPr id="118" name="Rectangle 90"/>
            <p:cNvSpPr>
              <a:spLocks noChangeArrowheads="1"/>
            </p:cNvSpPr>
            <p:nvPr/>
          </p:nvSpPr>
          <p:spPr bwMode="auto">
            <a:xfrm>
              <a:off x="3742" y="1798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>
                  <a:sym typeface="Symbol" panose="05050102010706020507" pitchFamily="18" charset="2"/>
                </a:rPr>
                <a:t>+ </a:t>
              </a:r>
              <a:r>
                <a:rPr lang="en-US" altLang="zh-CN" sz="2000" b="1" i="1"/>
                <a:t>v</a:t>
              </a:r>
              <a:r>
                <a:rPr lang="en-US" altLang="zh-CN" sz="2000" b="1">
                  <a:sym typeface="Symbol" panose="05050102010706020507" pitchFamily="18" charset="2"/>
                </a:rPr>
                <a:t> 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119" name="Rectangle 91"/>
            <p:cNvSpPr>
              <a:spLocks noChangeArrowheads="1"/>
            </p:cNvSpPr>
            <p:nvPr/>
          </p:nvSpPr>
          <p:spPr bwMode="auto">
            <a:xfrm>
              <a:off x="2381" y="1798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kumimoji="0" lang="zh-CN" altLang="en-US" sz="2000" b="1">
                  <a:sym typeface="Symbol" panose="05050102010706020507" pitchFamily="18" charset="2"/>
                </a:rPr>
                <a:t>（</a:t>
              </a:r>
              <a:r>
                <a:rPr kumimoji="0" lang="en-US" altLang="zh-CN" sz="2000">
                  <a:sym typeface="Symbol" panose="05050102010706020507" pitchFamily="18" charset="2"/>
                </a:rPr>
                <a:t>4</a:t>
              </a:r>
              <a:r>
                <a:rPr kumimoji="0" lang="zh-CN" altLang="en-US" sz="2000" b="1">
                  <a:sym typeface="Symbol" panose="05050102010706020507" pitchFamily="18" charset="2"/>
                </a:rPr>
                <a:t>）</a:t>
              </a:r>
              <a:endParaRPr lang="zh-CN" altLang="en-US" sz="2000" b="1" i="1"/>
            </a:p>
          </p:txBody>
        </p:sp>
        <p:sp>
          <p:nvSpPr>
            <p:cNvPr id="120" name="Rectangle 92"/>
            <p:cNvSpPr>
              <a:spLocks noChangeArrowheads="1"/>
            </p:cNvSpPr>
            <p:nvPr/>
          </p:nvSpPr>
          <p:spPr bwMode="auto">
            <a:xfrm>
              <a:off x="3035" y="1798"/>
              <a:ext cx="680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b="1" i="1"/>
                <a:t>E</a:t>
              </a:r>
            </a:p>
          </p:txBody>
        </p:sp>
        <p:sp>
          <p:nvSpPr>
            <p:cNvPr id="121" name="Rectangle 94"/>
            <p:cNvSpPr>
              <a:spLocks noChangeArrowheads="1"/>
            </p:cNvSpPr>
            <p:nvPr/>
          </p:nvSpPr>
          <p:spPr bwMode="auto">
            <a:xfrm>
              <a:off x="4876" y="1799"/>
              <a:ext cx="476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i="1"/>
                <a:t>Shift</a:t>
              </a:r>
            </a:p>
          </p:txBody>
        </p:sp>
      </p:grpSp>
      <p:grpSp>
        <p:nvGrpSpPr>
          <p:cNvPr id="122" name="Group 143"/>
          <p:cNvGrpSpPr/>
          <p:nvPr/>
        </p:nvGrpSpPr>
        <p:grpSpPr bwMode="auto">
          <a:xfrm>
            <a:off x="3780359" y="3715668"/>
            <a:ext cx="5256212" cy="396875"/>
            <a:chOff x="2381" y="2251"/>
            <a:chExt cx="3311" cy="250"/>
          </a:xfrm>
        </p:grpSpPr>
        <p:sp>
          <p:nvSpPr>
            <p:cNvPr id="123" name="Rectangle 85"/>
            <p:cNvSpPr>
              <a:spLocks noChangeArrowheads="1"/>
            </p:cNvSpPr>
            <p:nvPr/>
          </p:nvSpPr>
          <p:spPr bwMode="auto">
            <a:xfrm>
              <a:off x="3742" y="2251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b="1">
                  <a:sym typeface="Symbol" panose="05050102010706020507" pitchFamily="18" charset="2"/>
                </a:rPr>
                <a:t>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124" name="Rectangle 86"/>
            <p:cNvSpPr>
              <a:spLocks noChangeArrowheads="1"/>
            </p:cNvSpPr>
            <p:nvPr/>
          </p:nvSpPr>
          <p:spPr bwMode="auto">
            <a:xfrm>
              <a:off x="2381" y="2251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kumimoji="0" lang="zh-CN" altLang="en-US" sz="2000" b="1">
                  <a:sym typeface="Symbol" panose="05050102010706020507" pitchFamily="18" charset="2"/>
                </a:rPr>
                <a:t>（</a:t>
              </a:r>
              <a:r>
                <a:rPr kumimoji="0" lang="en-US" altLang="zh-CN" sz="2000">
                  <a:sym typeface="Symbol" panose="05050102010706020507" pitchFamily="18" charset="2"/>
                </a:rPr>
                <a:t>6</a:t>
              </a:r>
              <a:r>
                <a:rPr kumimoji="0" lang="zh-CN" altLang="en-US" sz="2000" b="1">
                  <a:sym typeface="Symbol" panose="05050102010706020507" pitchFamily="18" charset="2"/>
                </a:rPr>
                <a:t>）</a:t>
              </a:r>
              <a:endParaRPr lang="zh-CN" altLang="en-US" sz="2000" b="1" i="1"/>
            </a:p>
          </p:txBody>
        </p:sp>
        <p:sp>
          <p:nvSpPr>
            <p:cNvPr id="125" name="Rectangle 87"/>
            <p:cNvSpPr>
              <a:spLocks noChangeArrowheads="1"/>
            </p:cNvSpPr>
            <p:nvPr/>
          </p:nvSpPr>
          <p:spPr bwMode="auto">
            <a:xfrm>
              <a:off x="3035" y="2251"/>
              <a:ext cx="680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b="1" i="1"/>
                <a:t>E </a:t>
              </a:r>
              <a:r>
                <a:rPr lang="en-US" altLang="zh-CN" sz="2000" i="1"/>
                <a:t>+ </a:t>
              </a:r>
              <a:r>
                <a:rPr lang="en-US" altLang="zh-CN" sz="2000" b="1" i="1"/>
                <a:t>v</a:t>
              </a:r>
            </a:p>
          </p:txBody>
        </p:sp>
        <p:sp>
          <p:nvSpPr>
            <p:cNvPr id="126" name="Rectangle 99"/>
            <p:cNvSpPr>
              <a:spLocks noChangeArrowheads="1"/>
            </p:cNvSpPr>
            <p:nvPr/>
          </p:nvSpPr>
          <p:spPr bwMode="auto">
            <a:xfrm>
              <a:off x="4830" y="2251"/>
              <a:ext cx="862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i="1" dirty="0"/>
                <a:t>Reduce(6)</a:t>
              </a:r>
            </a:p>
          </p:txBody>
        </p:sp>
      </p:grpSp>
      <p:grpSp>
        <p:nvGrpSpPr>
          <p:cNvPr id="127" name="Group 144"/>
          <p:cNvGrpSpPr/>
          <p:nvPr/>
        </p:nvGrpSpPr>
        <p:grpSpPr bwMode="auto">
          <a:xfrm>
            <a:off x="3780359" y="4076030"/>
            <a:ext cx="5256212" cy="396875"/>
            <a:chOff x="2381" y="2500"/>
            <a:chExt cx="3311" cy="250"/>
          </a:xfrm>
        </p:grpSpPr>
        <p:sp>
          <p:nvSpPr>
            <p:cNvPr id="128" name="Rectangle 95"/>
            <p:cNvSpPr>
              <a:spLocks noChangeArrowheads="1"/>
            </p:cNvSpPr>
            <p:nvPr/>
          </p:nvSpPr>
          <p:spPr bwMode="auto">
            <a:xfrm>
              <a:off x="3742" y="2500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>
                  <a:sym typeface="Symbol" panose="05050102010706020507" pitchFamily="18" charset="2"/>
                </a:rPr>
                <a:t> </a:t>
              </a:r>
              <a:r>
                <a:rPr lang="en-US" altLang="zh-CN" sz="2000" b="1">
                  <a:sym typeface="Symbol" panose="05050102010706020507" pitchFamily="18" charset="2"/>
                </a:rPr>
                <a:t> 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129" name="Rectangle 96"/>
            <p:cNvSpPr>
              <a:spLocks noChangeArrowheads="1"/>
            </p:cNvSpPr>
            <p:nvPr/>
          </p:nvSpPr>
          <p:spPr bwMode="auto">
            <a:xfrm>
              <a:off x="2381" y="2500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kumimoji="0" lang="zh-CN" altLang="en-US" sz="2000" b="1">
                  <a:sym typeface="Symbol" panose="05050102010706020507" pitchFamily="18" charset="2"/>
                </a:rPr>
                <a:t>（</a:t>
              </a:r>
              <a:r>
                <a:rPr kumimoji="0" lang="en-US" altLang="zh-CN" sz="2000">
                  <a:sym typeface="Symbol" panose="05050102010706020507" pitchFamily="18" charset="2"/>
                </a:rPr>
                <a:t>7</a:t>
              </a:r>
              <a:r>
                <a:rPr kumimoji="0" lang="zh-CN" altLang="en-US" sz="2000" b="1">
                  <a:sym typeface="Symbol" panose="05050102010706020507" pitchFamily="18" charset="2"/>
                </a:rPr>
                <a:t>）</a:t>
              </a:r>
              <a:endParaRPr lang="zh-CN" altLang="en-US" sz="2000" b="1" i="1"/>
            </a:p>
          </p:txBody>
        </p:sp>
        <p:sp>
          <p:nvSpPr>
            <p:cNvPr id="130" name="Rectangle 97"/>
            <p:cNvSpPr>
              <a:spLocks noChangeArrowheads="1"/>
            </p:cNvSpPr>
            <p:nvPr/>
          </p:nvSpPr>
          <p:spPr bwMode="auto">
            <a:xfrm>
              <a:off x="3035" y="2500"/>
              <a:ext cx="680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b="1" i="1"/>
                <a:t>E </a:t>
              </a:r>
              <a:r>
                <a:rPr lang="en-US" altLang="zh-CN" sz="2000" i="1"/>
                <a:t>+ </a:t>
              </a:r>
              <a:r>
                <a:rPr lang="en-US" altLang="zh-CN" sz="2000" b="1" i="1"/>
                <a:t>F</a:t>
              </a:r>
            </a:p>
          </p:txBody>
        </p:sp>
        <p:sp>
          <p:nvSpPr>
            <p:cNvPr id="131" name="Rectangle 100"/>
            <p:cNvSpPr>
              <a:spLocks noChangeArrowheads="1"/>
            </p:cNvSpPr>
            <p:nvPr/>
          </p:nvSpPr>
          <p:spPr bwMode="auto">
            <a:xfrm>
              <a:off x="4830" y="2500"/>
              <a:ext cx="862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i="1" dirty="0"/>
                <a:t>Reduce(4)</a:t>
              </a:r>
            </a:p>
          </p:txBody>
        </p:sp>
      </p:grpSp>
      <p:grpSp>
        <p:nvGrpSpPr>
          <p:cNvPr id="132" name="Group 145"/>
          <p:cNvGrpSpPr/>
          <p:nvPr/>
        </p:nvGrpSpPr>
        <p:grpSpPr bwMode="auto">
          <a:xfrm>
            <a:off x="3780359" y="4399880"/>
            <a:ext cx="4716462" cy="431800"/>
            <a:chOff x="2381" y="2704"/>
            <a:chExt cx="2971" cy="272"/>
          </a:xfrm>
        </p:grpSpPr>
        <p:sp>
          <p:nvSpPr>
            <p:cNvPr id="133" name="Rectangle 101"/>
            <p:cNvSpPr>
              <a:spLocks noChangeArrowheads="1"/>
            </p:cNvSpPr>
            <p:nvPr/>
          </p:nvSpPr>
          <p:spPr bwMode="auto">
            <a:xfrm>
              <a:off x="3742" y="2704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>
                  <a:sym typeface="Symbol" panose="05050102010706020507" pitchFamily="18" charset="2"/>
                </a:rPr>
                <a:t> </a:t>
              </a:r>
              <a:r>
                <a:rPr lang="en-US" altLang="zh-CN" sz="2000" b="1">
                  <a:sym typeface="Symbol" panose="05050102010706020507" pitchFamily="18" charset="2"/>
                </a:rPr>
                <a:t> 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134" name="Rectangle 102"/>
            <p:cNvSpPr>
              <a:spLocks noChangeArrowheads="1"/>
            </p:cNvSpPr>
            <p:nvPr/>
          </p:nvSpPr>
          <p:spPr bwMode="auto">
            <a:xfrm>
              <a:off x="2381" y="2704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kumimoji="0" lang="zh-CN" altLang="en-US" sz="2000" b="1">
                  <a:sym typeface="Symbol" panose="05050102010706020507" pitchFamily="18" charset="2"/>
                </a:rPr>
                <a:t>（</a:t>
              </a:r>
              <a:r>
                <a:rPr kumimoji="0" lang="en-US" altLang="zh-CN" sz="2000">
                  <a:sym typeface="Symbol" panose="05050102010706020507" pitchFamily="18" charset="2"/>
                </a:rPr>
                <a:t>8</a:t>
              </a:r>
              <a:r>
                <a:rPr kumimoji="0" lang="zh-CN" altLang="en-US" sz="2000" b="1">
                  <a:sym typeface="Symbol" panose="05050102010706020507" pitchFamily="18" charset="2"/>
                </a:rPr>
                <a:t>）</a:t>
              </a:r>
              <a:endParaRPr lang="zh-CN" altLang="en-US" sz="2000" b="1" i="1"/>
            </a:p>
          </p:txBody>
        </p:sp>
        <p:sp>
          <p:nvSpPr>
            <p:cNvPr id="135" name="Rectangle 103"/>
            <p:cNvSpPr>
              <a:spLocks noChangeArrowheads="1"/>
            </p:cNvSpPr>
            <p:nvPr/>
          </p:nvSpPr>
          <p:spPr bwMode="auto">
            <a:xfrm>
              <a:off x="3035" y="2704"/>
              <a:ext cx="680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b="1" i="1"/>
                <a:t>E </a:t>
              </a:r>
              <a:r>
                <a:rPr lang="en-US" altLang="zh-CN" sz="2000" i="1"/>
                <a:t>+ </a:t>
              </a:r>
              <a:r>
                <a:rPr lang="en-US" altLang="zh-CN" sz="2000" b="1" i="1"/>
                <a:t>T</a:t>
              </a:r>
            </a:p>
          </p:txBody>
        </p:sp>
        <p:sp>
          <p:nvSpPr>
            <p:cNvPr id="136" name="Rectangle 105"/>
            <p:cNvSpPr>
              <a:spLocks noChangeArrowheads="1"/>
            </p:cNvSpPr>
            <p:nvPr/>
          </p:nvSpPr>
          <p:spPr bwMode="auto">
            <a:xfrm>
              <a:off x="4876" y="2726"/>
              <a:ext cx="476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i="1" dirty="0"/>
                <a:t>Shift</a:t>
              </a:r>
            </a:p>
          </p:txBody>
        </p:sp>
      </p:grpSp>
      <p:grpSp>
        <p:nvGrpSpPr>
          <p:cNvPr id="137" name="Group 146"/>
          <p:cNvGrpSpPr/>
          <p:nvPr/>
        </p:nvGrpSpPr>
        <p:grpSpPr bwMode="auto">
          <a:xfrm>
            <a:off x="3780359" y="4761830"/>
            <a:ext cx="4716462" cy="433388"/>
            <a:chOff x="2381" y="2932"/>
            <a:chExt cx="2971" cy="273"/>
          </a:xfrm>
        </p:grpSpPr>
        <p:sp>
          <p:nvSpPr>
            <p:cNvPr id="138" name="Rectangle 106"/>
            <p:cNvSpPr>
              <a:spLocks noChangeArrowheads="1"/>
            </p:cNvSpPr>
            <p:nvPr/>
          </p:nvSpPr>
          <p:spPr bwMode="auto">
            <a:xfrm>
              <a:off x="3742" y="2932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>
                  <a:sym typeface="Symbol" panose="05050102010706020507" pitchFamily="18" charset="2"/>
                </a:rPr>
                <a:t> </a:t>
              </a:r>
              <a:r>
                <a:rPr lang="en-US" altLang="zh-CN" sz="2000" b="1">
                  <a:sym typeface="Symbol" panose="05050102010706020507" pitchFamily="18" charset="2"/>
                </a:rPr>
                <a:t> 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139" name="Rectangle 107"/>
            <p:cNvSpPr>
              <a:spLocks noChangeArrowheads="1"/>
            </p:cNvSpPr>
            <p:nvPr/>
          </p:nvSpPr>
          <p:spPr bwMode="auto">
            <a:xfrm>
              <a:off x="2381" y="2932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kumimoji="0" lang="zh-CN" altLang="en-US" sz="2000" b="1">
                  <a:sym typeface="Symbol" panose="05050102010706020507" pitchFamily="18" charset="2"/>
                </a:rPr>
                <a:t>（</a:t>
              </a:r>
              <a:r>
                <a:rPr kumimoji="0" lang="en-US" altLang="zh-CN" sz="2000">
                  <a:sym typeface="Symbol" panose="05050102010706020507" pitchFamily="18" charset="2"/>
                </a:rPr>
                <a:t>9</a:t>
              </a:r>
              <a:r>
                <a:rPr kumimoji="0" lang="zh-CN" altLang="en-US" sz="2000" b="1">
                  <a:sym typeface="Symbol" panose="05050102010706020507" pitchFamily="18" charset="2"/>
                </a:rPr>
                <a:t>）</a:t>
              </a:r>
              <a:endParaRPr lang="zh-CN" altLang="en-US" sz="2000" b="1" i="1"/>
            </a:p>
          </p:txBody>
        </p:sp>
        <p:sp>
          <p:nvSpPr>
            <p:cNvPr id="140" name="Rectangle 108"/>
            <p:cNvSpPr>
              <a:spLocks noChangeArrowheads="1"/>
            </p:cNvSpPr>
            <p:nvPr/>
          </p:nvSpPr>
          <p:spPr bwMode="auto">
            <a:xfrm>
              <a:off x="3035" y="2932"/>
              <a:ext cx="680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b="1" i="1"/>
                <a:t>E </a:t>
              </a:r>
              <a:r>
                <a:rPr lang="en-US" altLang="zh-CN" sz="2000" i="1"/>
                <a:t>+ </a:t>
              </a:r>
              <a:r>
                <a:rPr lang="en-US" altLang="zh-CN" sz="2000" b="1" i="1"/>
                <a:t>T </a:t>
              </a:r>
              <a:r>
                <a:rPr lang="en-US" altLang="zh-CN" sz="2000" b="1">
                  <a:sym typeface="Symbol" panose="05050102010706020507" pitchFamily="18" charset="2"/>
                </a:rPr>
                <a:t></a:t>
              </a:r>
            </a:p>
          </p:txBody>
        </p:sp>
        <p:sp>
          <p:nvSpPr>
            <p:cNvPr id="141" name="Rectangle 109"/>
            <p:cNvSpPr>
              <a:spLocks noChangeArrowheads="1"/>
            </p:cNvSpPr>
            <p:nvPr/>
          </p:nvSpPr>
          <p:spPr bwMode="auto">
            <a:xfrm>
              <a:off x="4876" y="2955"/>
              <a:ext cx="476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i="1" dirty="0"/>
                <a:t>Shift</a:t>
              </a:r>
            </a:p>
          </p:txBody>
        </p:sp>
      </p:grpSp>
      <p:grpSp>
        <p:nvGrpSpPr>
          <p:cNvPr id="142" name="Group 147"/>
          <p:cNvGrpSpPr/>
          <p:nvPr/>
        </p:nvGrpSpPr>
        <p:grpSpPr bwMode="auto">
          <a:xfrm>
            <a:off x="3635896" y="5084093"/>
            <a:ext cx="5400675" cy="396875"/>
            <a:chOff x="2290" y="3135"/>
            <a:chExt cx="3402" cy="250"/>
          </a:xfrm>
        </p:grpSpPr>
        <p:sp>
          <p:nvSpPr>
            <p:cNvPr id="143" name="Rectangle 110"/>
            <p:cNvSpPr>
              <a:spLocks noChangeArrowheads="1"/>
            </p:cNvSpPr>
            <p:nvPr/>
          </p:nvSpPr>
          <p:spPr bwMode="auto">
            <a:xfrm>
              <a:off x="3742" y="3135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>
                  <a:sym typeface="Symbol" panose="05050102010706020507" pitchFamily="18" charset="2"/>
                </a:rPr>
                <a:t> </a:t>
              </a:r>
              <a:r>
                <a:rPr lang="en-US" altLang="zh-CN" sz="2000" b="1">
                  <a:sym typeface="Symbol" panose="05050102010706020507" pitchFamily="18" charset="2"/>
                </a:rPr>
                <a:t>  </a:t>
              </a:r>
              <a:r>
                <a:rPr lang="en-US" altLang="zh-CN" sz="2000" b="1" i="1"/>
                <a:t> #</a:t>
              </a:r>
            </a:p>
          </p:txBody>
        </p:sp>
        <p:sp>
          <p:nvSpPr>
            <p:cNvPr id="144" name="Rectangle 111"/>
            <p:cNvSpPr>
              <a:spLocks noChangeArrowheads="1"/>
            </p:cNvSpPr>
            <p:nvPr/>
          </p:nvSpPr>
          <p:spPr bwMode="auto">
            <a:xfrm>
              <a:off x="2290" y="3135"/>
              <a:ext cx="63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kumimoji="0" lang="zh-CN" altLang="en-US" sz="2000" b="1" dirty="0">
                  <a:sym typeface="Symbol" panose="05050102010706020507" pitchFamily="18" charset="2"/>
                </a:rPr>
                <a:t>（</a:t>
              </a:r>
              <a:r>
                <a:rPr kumimoji="0" lang="en-US" altLang="zh-CN" sz="2000" dirty="0">
                  <a:sym typeface="Symbol" panose="05050102010706020507" pitchFamily="18" charset="2"/>
                </a:rPr>
                <a:t>10</a:t>
              </a:r>
              <a:r>
                <a:rPr kumimoji="0" lang="zh-CN" altLang="en-US" sz="2000" b="1" dirty="0">
                  <a:sym typeface="Symbol" panose="05050102010706020507" pitchFamily="18" charset="2"/>
                </a:rPr>
                <a:t>）</a:t>
              </a:r>
              <a:endParaRPr lang="zh-CN" altLang="en-US" sz="2000" b="1" i="1" dirty="0"/>
            </a:p>
          </p:txBody>
        </p:sp>
        <p:sp>
          <p:nvSpPr>
            <p:cNvPr id="145" name="Rectangle 112"/>
            <p:cNvSpPr>
              <a:spLocks noChangeArrowheads="1"/>
            </p:cNvSpPr>
            <p:nvPr/>
          </p:nvSpPr>
          <p:spPr bwMode="auto">
            <a:xfrm>
              <a:off x="3035" y="3135"/>
              <a:ext cx="798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b="1" i="1"/>
                <a:t>E </a:t>
              </a:r>
              <a:r>
                <a:rPr lang="en-US" altLang="zh-CN" sz="2000" i="1"/>
                <a:t>+ </a:t>
              </a:r>
              <a:r>
                <a:rPr lang="en-US" altLang="zh-CN" sz="2000" b="1" i="1"/>
                <a:t>T </a:t>
              </a:r>
              <a:r>
                <a:rPr lang="en-US" altLang="zh-CN" sz="2000" b="1">
                  <a:sym typeface="Symbol" panose="05050102010706020507" pitchFamily="18" charset="2"/>
                </a:rPr>
                <a:t> </a:t>
              </a:r>
              <a:r>
                <a:rPr lang="en-US" altLang="zh-CN" sz="2000" b="1" i="1">
                  <a:sym typeface="Symbol" panose="05050102010706020507" pitchFamily="18" charset="2"/>
                </a:rPr>
                <a:t>d</a:t>
              </a:r>
            </a:p>
          </p:txBody>
        </p:sp>
        <p:sp>
          <p:nvSpPr>
            <p:cNvPr id="146" name="Rectangle 114"/>
            <p:cNvSpPr>
              <a:spLocks noChangeArrowheads="1"/>
            </p:cNvSpPr>
            <p:nvPr/>
          </p:nvSpPr>
          <p:spPr bwMode="auto">
            <a:xfrm>
              <a:off x="4830" y="3135"/>
              <a:ext cx="862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i="1" dirty="0"/>
                <a:t>Reduce(7)</a:t>
              </a:r>
            </a:p>
          </p:txBody>
        </p:sp>
      </p:grpSp>
      <p:grpSp>
        <p:nvGrpSpPr>
          <p:cNvPr id="147" name="Group 148"/>
          <p:cNvGrpSpPr/>
          <p:nvPr/>
        </p:nvGrpSpPr>
        <p:grpSpPr bwMode="auto">
          <a:xfrm>
            <a:off x="3635896" y="5444455"/>
            <a:ext cx="5400675" cy="396875"/>
            <a:chOff x="2290" y="3362"/>
            <a:chExt cx="3402" cy="250"/>
          </a:xfrm>
        </p:grpSpPr>
        <p:sp>
          <p:nvSpPr>
            <p:cNvPr id="148" name="Rectangle 115"/>
            <p:cNvSpPr>
              <a:spLocks noChangeArrowheads="1"/>
            </p:cNvSpPr>
            <p:nvPr/>
          </p:nvSpPr>
          <p:spPr bwMode="auto">
            <a:xfrm>
              <a:off x="3742" y="3362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>
                  <a:sym typeface="Symbol" panose="05050102010706020507" pitchFamily="18" charset="2"/>
                </a:rPr>
                <a:t> </a:t>
              </a:r>
              <a:r>
                <a:rPr lang="en-US" altLang="zh-CN" sz="2000" b="1">
                  <a:sym typeface="Symbol" panose="05050102010706020507" pitchFamily="18" charset="2"/>
                </a:rPr>
                <a:t>  </a:t>
              </a:r>
              <a:r>
                <a:rPr lang="en-US" altLang="zh-CN" sz="2000" b="1" i="1"/>
                <a:t> #</a:t>
              </a:r>
            </a:p>
          </p:txBody>
        </p:sp>
        <p:sp>
          <p:nvSpPr>
            <p:cNvPr id="149" name="Rectangle 116"/>
            <p:cNvSpPr>
              <a:spLocks noChangeArrowheads="1"/>
            </p:cNvSpPr>
            <p:nvPr/>
          </p:nvSpPr>
          <p:spPr bwMode="auto">
            <a:xfrm>
              <a:off x="2290" y="3362"/>
              <a:ext cx="63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kumimoji="0" lang="zh-CN" altLang="en-US" sz="2000" b="1">
                  <a:sym typeface="Symbol" panose="05050102010706020507" pitchFamily="18" charset="2"/>
                </a:rPr>
                <a:t>（</a:t>
              </a:r>
              <a:r>
                <a:rPr kumimoji="0" lang="en-US" altLang="zh-CN" sz="2000">
                  <a:sym typeface="Symbol" panose="05050102010706020507" pitchFamily="18" charset="2"/>
                </a:rPr>
                <a:t>11</a:t>
              </a:r>
              <a:r>
                <a:rPr kumimoji="0" lang="zh-CN" altLang="en-US" sz="2000" b="1">
                  <a:sym typeface="Symbol" panose="05050102010706020507" pitchFamily="18" charset="2"/>
                </a:rPr>
                <a:t>）</a:t>
              </a:r>
              <a:endParaRPr lang="zh-CN" altLang="en-US" sz="2000" b="1" i="1"/>
            </a:p>
          </p:txBody>
        </p:sp>
        <p:sp>
          <p:nvSpPr>
            <p:cNvPr id="150" name="Rectangle 117"/>
            <p:cNvSpPr>
              <a:spLocks noChangeArrowheads="1"/>
            </p:cNvSpPr>
            <p:nvPr/>
          </p:nvSpPr>
          <p:spPr bwMode="auto">
            <a:xfrm>
              <a:off x="3035" y="3362"/>
              <a:ext cx="798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b="1" i="1"/>
                <a:t>E </a:t>
              </a:r>
              <a:r>
                <a:rPr lang="en-US" altLang="zh-CN" sz="2000" i="1"/>
                <a:t>+ </a:t>
              </a:r>
              <a:r>
                <a:rPr lang="en-US" altLang="zh-CN" sz="2000" b="1" i="1"/>
                <a:t>T </a:t>
              </a:r>
              <a:r>
                <a:rPr lang="en-US" altLang="zh-CN" sz="2000" b="1">
                  <a:sym typeface="Symbol" panose="05050102010706020507" pitchFamily="18" charset="2"/>
                </a:rPr>
                <a:t> </a:t>
              </a:r>
              <a:r>
                <a:rPr lang="en-US" altLang="zh-CN" sz="2000" b="1" i="1">
                  <a:sym typeface="Symbol" panose="05050102010706020507" pitchFamily="18" charset="2"/>
                </a:rPr>
                <a:t>F</a:t>
              </a:r>
            </a:p>
          </p:txBody>
        </p:sp>
        <p:sp>
          <p:nvSpPr>
            <p:cNvPr id="151" name="Rectangle 118"/>
            <p:cNvSpPr>
              <a:spLocks noChangeArrowheads="1"/>
            </p:cNvSpPr>
            <p:nvPr/>
          </p:nvSpPr>
          <p:spPr bwMode="auto">
            <a:xfrm>
              <a:off x="4830" y="3362"/>
              <a:ext cx="862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i="1" dirty="0"/>
                <a:t>Reduce(3)</a:t>
              </a:r>
            </a:p>
          </p:txBody>
        </p:sp>
      </p:grpSp>
      <p:grpSp>
        <p:nvGrpSpPr>
          <p:cNvPr id="152" name="Group 149"/>
          <p:cNvGrpSpPr/>
          <p:nvPr/>
        </p:nvGrpSpPr>
        <p:grpSpPr bwMode="auto">
          <a:xfrm>
            <a:off x="3635896" y="5769893"/>
            <a:ext cx="5400675" cy="396875"/>
            <a:chOff x="2290" y="3567"/>
            <a:chExt cx="3402" cy="250"/>
          </a:xfrm>
        </p:grpSpPr>
        <p:sp>
          <p:nvSpPr>
            <p:cNvPr id="153" name="Rectangle 119"/>
            <p:cNvSpPr>
              <a:spLocks noChangeArrowheads="1"/>
            </p:cNvSpPr>
            <p:nvPr/>
          </p:nvSpPr>
          <p:spPr bwMode="auto">
            <a:xfrm>
              <a:off x="3742" y="3567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>
                  <a:sym typeface="Symbol" panose="05050102010706020507" pitchFamily="18" charset="2"/>
                </a:rPr>
                <a:t> </a:t>
              </a:r>
              <a:r>
                <a:rPr lang="en-US" altLang="zh-CN" sz="2000" b="1">
                  <a:sym typeface="Symbol" panose="05050102010706020507" pitchFamily="18" charset="2"/>
                </a:rPr>
                <a:t>  </a:t>
              </a:r>
              <a:r>
                <a:rPr lang="en-US" altLang="zh-CN" sz="2000" b="1" i="1"/>
                <a:t> #</a:t>
              </a:r>
            </a:p>
          </p:txBody>
        </p:sp>
        <p:sp>
          <p:nvSpPr>
            <p:cNvPr id="154" name="Rectangle 120"/>
            <p:cNvSpPr>
              <a:spLocks noChangeArrowheads="1"/>
            </p:cNvSpPr>
            <p:nvPr/>
          </p:nvSpPr>
          <p:spPr bwMode="auto">
            <a:xfrm>
              <a:off x="2290" y="3567"/>
              <a:ext cx="63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kumimoji="0" lang="zh-CN" altLang="en-US" sz="2000" b="1">
                  <a:sym typeface="Symbol" panose="05050102010706020507" pitchFamily="18" charset="2"/>
                </a:rPr>
                <a:t>（</a:t>
              </a:r>
              <a:r>
                <a:rPr kumimoji="0" lang="en-US" altLang="zh-CN" sz="2000">
                  <a:sym typeface="Symbol" panose="05050102010706020507" pitchFamily="18" charset="2"/>
                </a:rPr>
                <a:t>12</a:t>
              </a:r>
              <a:r>
                <a:rPr kumimoji="0" lang="zh-CN" altLang="en-US" sz="2000" b="1">
                  <a:sym typeface="Symbol" panose="05050102010706020507" pitchFamily="18" charset="2"/>
                </a:rPr>
                <a:t>）</a:t>
              </a:r>
              <a:endParaRPr lang="zh-CN" altLang="en-US" sz="2000" b="1" i="1"/>
            </a:p>
          </p:txBody>
        </p:sp>
        <p:sp>
          <p:nvSpPr>
            <p:cNvPr id="155" name="Rectangle 121"/>
            <p:cNvSpPr>
              <a:spLocks noChangeArrowheads="1"/>
            </p:cNvSpPr>
            <p:nvPr/>
          </p:nvSpPr>
          <p:spPr bwMode="auto">
            <a:xfrm>
              <a:off x="3035" y="3567"/>
              <a:ext cx="798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b="1" i="1"/>
                <a:t>E </a:t>
              </a:r>
              <a:r>
                <a:rPr lang="en-US" altLang="zh-CN" sz="2000" i="1"/>
                <a:t>+ </a:t>
              </a:r>
              <a:r>
                <a:rPr lang="en-US" altLang="zh-CN" sz="2000" b="1" i="1"/>
                <a:t>T</a:t>
              </a:r>
              <a:endParaRPr lang="en-US" altLang="zh-CN" sz="2000" b="1" i="1">
                <a:sym typeface="Symbol" panose="05050102010706020507" pitchFamily="18" charset="2"/>
              </a:endParaRPr>
            </a:p>
          </p:txBody>
        </p:sp>
        <p:sp>
          <p:nvSpPr>
            <p:cNvPr id="156" name="Rectangle 122"/>
            <p:cNvSpPr>
              <a:spLocks noChangeArrowheads="1"/>
            </p:cNvSpPr>
            <p:nvPr/>
          </p:nvSpPr>
          <p:spPr bwMode="auto">
            <a:xfrm>
              <a:off x="4830" y="3567"/>
              <a:ext cx="862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i="1" dirty="0"/>
                <a:t>Reduce(1)</a:t>
              </a:r>
            </a:p>
          </p:txBody>
        </p:sp>
      </p:grpSp>
      <p:grpSp>
        <p:nvGrpSpPr>
          <p:cNvPr id="157" name="Group 150"/>
          <p:cNvGrpSpPr/>
          <p:nvPr/>
        </p:nvGrpSpPr>
        <p:grpSpPr bwMode="auto">
          <a:xfrm>
            <a:off x="3635896" y="6130255"/>
            <a:ext cx="5400675" cy="396875"/>
            <a:chOff x="2290" y="3794"/>
            <a:chExt cx="3402" cy="250"/>
          </a:xfrm>
        </p:grpSpPr>
        <p:sp>
          <p:nvSpPr>
            <p:cNvPr id="158" name="Rectangle 123"/>
            <p:cNvSpPr>
              <a:spLocks noChangeArrowheads="1"/>
            </p:cNvSpPr>
            <p:nvPr/>
          </p:nvSpPr>
          <p:spPr bwMode="auto">
            <a:xfrm>
              <a:off x="3742" y="3794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>
                  <a:sym typeface="Symbol" panose="05050102010706020507" pitchFamily="18" charset="2"/>
                </a:rPr>
                <a:t> </a:t>
              </a:r>
              <a:r>
                <a:rPr lang="en-US" altLang="zh-CN" sz="2000" b="1">
                  <a:sym typeface="Symbol" panose="05050102010706020507" pitchFamily="18" charset="2"/>
                </a:rPr>
                <a:t>  </a:t>
              </a:r>
              <a:r>
                <a:rPr lang="en-US" altLang="zh-CN" sz="2000" b="1" i="1"/>
                <a:t> #</a:t>
              </a:r>
            </a:p>
          </p:txBody>
        </p:sp>
        <p:sp>
          <p:nvSpPr>
            <p:cNvPr id="159" name="Rectangle 124"/>
            <p:cNvSpPr>
              <a:spLocks noChangeArrowheads="1"/>
            </p:cNvSpPr>
            <p:nvPr/>
          </p:nvSpPr>
          <p:spPr bwMode="auto">
            <a:xfrm>
              <a:off x="2290" y="3794"/>
              <a:ext cx="63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kumimoji="0" lang="zh-CN" altLang="en-US" sz="2000" b="1" dirty="0">
                  <a:sym typeface="Symbol" panose="05050102010706020507" pitchFamily="18" charset="2"/>
                </a:rPr>
                <a:t>（</a:t>
              </a:r>
              <a:r>
                <a:rPr kumimoji="0" lang="en-US" altLang="zh-CN" sz="2000" dirty="0">
                  <a:sym typeface="Symbol" panose="05050102010706020507" pitchFamily="18" charset="2"/>
                </a:rPr>
                <a:t>13</a:t>
              </a:r>
              <a:r>
                <a:rPr kumimoji="0" lang="zh-CN" altLang="en-US" sz="2000" b="1" dirty="0">
                  <a:sym typeface="Symbol" panose="05050102010706020507" pitchFamily="18" charset="2"/>
                </a:rPr>
                <a:t>）</a:t>
              </a:r>
              <a:endParaRPr lang="zh-CN" altLang="en-US" sz="2000" b="1" i="1" dirty="0"/>
            </a:p>
          </p:txBody>
        </p:sp>
        <p:sp>
          <p:nvSpPr>
            <p:cNvPr id="160" name="Rectangle 125"/>
            <p:cNvSpPr>
              <a:spLocks noChangeArrowheads="1"/>
            </p:cNvSpPr>
            <p:nvPr/>
          </p:nvSpPr>
          <p:spPr bwMode="auto">
            <a:xfrm>
              <a:off x="3035" y="3794"/>
              <a:ext cx="798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b="1" i="1" dirty="0"/>
                <a:t>E</a:t>
              </a:r>
              <a:endParaRPr lang="en-US" altLang="zh-CN" sz="2000" b="1" i="1" dirty="0">
                <a:sym typeface="Symbol" panose="05050102010706020507" pitchFamily="18" charset="2"/>
              </a:endParaRPr>
            </a:p>
          </p:txBody>
        </p:sp>
        <p:sp>
          <p:nvSpPr>
            <p:cNvPr id="161" name="Rectangle 126"/>
            <p:cNvSpPr>
              <a:spLocks noChangeArrowheads="1"/>
            </p:cNvSpPr>
            <p:nvPr/>
          </p:nvSpPr>
          <p:spPr bwMode="auto">
            <a:xfrm>
              <a:off x="4830" y="3794"/>
              <a:ext cx="862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ctr">
                <a:buNone/>
              </a:pPr>
              <a:r>
                <a:rPr lang="en-US" altLang="zh-CN" sz="2000" i="1" dirty="0"/>
                <a:t>Accept</a:t>
              </a:r>
            </a:p>
          </p:txBody>
        </p:sp>
      </p:grpSp>
      <p:grpSp>
        <p:nvGrpSpPr>
          <p:cNvPr id="162" name="Group 152"/>
          <p:cNvGrpSpPr/>
          <p:nvPr/>
        </p:nvGrpSpPr>
        <p:grpSpPr bwMode="auto">
          <a:xfrm>
            <a:off x="3780359" y="1772568"/>
            <a:ext cx="4716462" cy="431800"/>
            <a:chOff x="2381" y="981"/>
            <a:chExt cx="2971" cy="272"/>
          </a:xfrm>
        </p:grpSpPr>
        <p:sp>
          <p:nvSpPr>
            <p:cNvPr id="163" name="Rectangle 60"/>
            <p:cNvSpPr>
              <a:spLocks noChangeArrowheads="1"/>
            </p:cNvSpPr>
            <p:nvPr/>
          </p:nvSpPr>
          <p:spPr bwMode="auto">
            <a:xfrm>
              <a:off x="3742" y="981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b="1" i="1"/>
                <a:t>v </a:t>
              </a:r>
              <a:r>
                <a:rPr lang="en-US" altLang="zh-CN" sz="2000">
                  <a:sym typeface="Symbol" panose="05050102010706020507" pitchFamily="18" charset="2"/>
                </a:rPr>
                <a:t>+ </a:t>
              </a:r>
              <a:r>
                <a:rPr lang="en-US" altLang="zh-CN" sz="2000" b="1" i="1"/>
                <a:t>v</a:t>
              </a:r>
              <a:r>
                <a:rPr lang="en-US" altLang="zh-CN" sz="2000" b="1">
                  <a:sym typeface="Symbol" panose="05050102010706020507" pitchFamily="18" charset="2"/>
                </a:rPr>
                <a:t> 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164" name="Rectangle 65"/>
            <p:cNvSpPr>
              <a:spLocks noChangeArrowheads="1"/>
            </p:cNvSpPr>
            <p:nvPr/>
          </p:nvSpPr>
          <p:spPr bwMode="auto">
            <a:xfrm>
              <a:off x="4876" y="981"/>
              <a:ext cx="476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i="1"/>
                <a:t>Shift</a:t>
              </a:r>
            </a:p>
          </p:txBody>
        </p:sp>
        <p:sp>
          <p:nvSpPr>
            <p:cNvPr id="165" name="Rectangle 66"/>
            <p:cNvSpPr>
              <a:spLocks noChangeArrowheads="1"/>
            </p:cNvSpPr>
            <p:nvPr/>
          </p:nvSpPr>
          <p:spPr bwMode="auto">
            <a:xfrm>
              <a:off x="2381" y="1003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kumimoji="0" lang="zh-CN" altLang="en-US" sz="2000" b="1" dirty="0">
                  <a:sym typeface="Symbol" panose="05050102010706020507" pitchFamily="18" charset="2"/>
                </a:rPr>
                <a:t>（</a:t>
              </a:r>
              <a:r>
                <a:rPr kumimoji="0" lang="en-US" altLang="zh-CN" sz="2000" dirty="0">
                  <a:sym typeface="Symbol" panose="05050102010706020507" pitchFamily="18" charset="2"/>
                </a:rPr>
                <a:t>0</a:t>
              </a:r>
              <a:r>
                <a:rPr kumimoji="0" lang="zh-CN" altLang="en-US" sz="2000" b="1" dirty="0">
                  <a:sym typeface="Symbol" panose="05050102010706020507" pitchFamily="18" charset="2"/>
                </a:rPr>
                <a:t>）</a:t>
              </a:r>
              <a:endParaRPr lang="zh-CN" altLang="en-US" sz="2000" b="1" i="1" dirty="0"/>
            </a:p>
          </p:txBody>
        </p:sp>
      </p:grpSp>
      <p:grpSp>
        <p:nvGrpSpPr>
          <p:cNvPr id="166" name="Group 153"/>
          <p:cNvGrpSpPr/>
          <p:nvPr/>
        </p:nvGrpSpPr>
        <p:grpSpPr bwMode="auto">
          <a:xfrm>
            <a:off x="3851796" y="1340768"/>
            <a:ext cx="5292725" cy="5183188"/>
            <a:chOff x="2426" y="709"/>
            <a:chExt cx="3334" cy="3265"/>
          </a:xfrm>
        </p:grpSpPr>
        <p:sp>
          <p:nvSpPr>
            <p:cNvPr id="167" name="Line 131"/>
            <p:cNvSpPr>
              <a:spLocks noChangeShapeType="1"/>
            </p:cNvSpPr>
            <p:nvPr/>
          </p:nvSpPr>
          <p:spPr bwMode="auto">
            <a:xfrm>
              <a:off x="2426" y="981"/>
              <a:ext cx="3334" cy="0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68" name="Text Box 61"/>
            <p:cNvSpPr txBox="1">
              <a:spLocks noChangeArrowheads="1"/>
            </p:cNvSpPr>
            <p:nvPr/>
          </p:nvSpPr>
          <p:spPr bwMode="auto">
            <a:xfrm>
              <a:off x="2449" y="709"/>
              <a:ext cx="544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kumimoji="0" lang="zh-CN" altLang="en-US" b="1" dirty="0">
                  <a:latin typeface="Times New Roman" panose="02020603050405020304" pitchFamily="18" charset="0"/>
                </a:rPr>
                <a:t>步骤</a:t>
              </a:r>
            </a:p>
          </p:txBody>
        </p:sp>
        <p:sp>
          <p:nvSpPr>
            <p:cNvPr id="169" name="Text Box 62"/>
            <p:cNvSpPr txBox="1">
              <a:spLocks noChangeArrowheads="1"/>
            </p:cNvSpPr>
            <p:nvPr/>
          </p:nvSpPr>
          <p:spPr bwMode="auto">
            <a:xfrm>
              <a:off x="3039" y="709"/>
              <a:ext cx="744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kumimoji="0" lang="zh-CN" altLang="en-US" b="1" dirty="0">
                  <a:latin typeface="Times New Roman" panose="02020603050405020304" pitchFamily="18" charset="0"/>
                </a:rPr>
                <a:t>分析栈</a:t>
              </a:r>
            </a:p>
          </p:txBody>
        </p:sp>
        <p:sp>
          <p:nvSpPr>
            <p:cNvPr id="170" name="Text Box 63"/>
            <p:cNvSpPr txBox="1">
              <a:spLocks noChangeArrowheads="1"/>
            </p:cNvSpPr>
            <p:nvPr/>
          </p:nvSpPr>
          <p:spPr bwMode="auto">
            <a:xfrm>
              <a:off x="3787" y="709"/>
              <a:ext cx="1089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kumimoji="0" lang="zh-CN" altLang="en-US" b="1">
                  <a:latin typeface="Times New Roman" panose="02020603050405020304" pitchFamily="18" charset="0"/>
                </a:rPr>
                <a:t>余留输入串</a:t>
              </a:r>
            </a:p>
          </p:txBody>
        </p:sp>
        <p:sp>
          <p:nvSpPr>
            <p:cNvPr id="171" name="Text Box 64"/>
            <p:cNvSpPr txBox="1">
              <a:spLocks noChangeArrowheads="1"/>
            </p:cNvSpPr>
            <p:nvPr/>
          </p:nvSpPr>
          <p:spPr bwMode="auto">
            <a:xfrm>
              <a:off x="4967" y="709"/>
              <a:ext cx="544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kumimoji="0" lang="zh-CN" altLang="en-US" b="1">
                  <a:latin typeface="Times New Roman" panose="02020603050405020304" pitchFamily="18" charset="0"/>
                </a:rPr>
                <a:t>动作</a:t>
              </a:r>
            </a:p>
          </p:txBody>
        </p:sp>
        <p:sp>
          <p:nvSpPr>
            <p:cNvPr id="172" name="Line 132"/>
            <p:cNvSpPr>
              <a:spLocks noChangeShapeType="1"/>
            </p:cNvSpPr>
            <p:nvPr/>
          </p:nvSpPr>
          <p:spPr bwMode="auto">
            <a:xfrm>
              <a:off x="2971" y="754"/>
              <a:ext cx="0" cy="3220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173" name="Line 134"/>
            <p:cNvSpPr>
              <a:spLocks noChangeShapeType="1"/>
            </p:cNvSpPr>
            <p:nvPr/>
          </p:nvSpPr>
          <p:spPr bwMode="auto">
            <a:xfrm>
              <a:off x="3787" y="754"/>
              <a:ext cx="0" cy="3220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174" name="Line 135"/>
            <p:cNvSpPr>
              <a:spLocks noChangeShapeType="1"/>
            </p:cNvSpPr>
            <p:nvPr/>
          </p:nvSpPr>
          <p:spPr bwMode="auto">
            <a:xfrm>
              <a:off x="4830" y="754"/>
              <a:ext cx="0" cy="3220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724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724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6" name="Text Box 4"/>
          <p:cNvSpPr txBox="1">
            <a:spLocks noChangeArrowheads="1"/>
          </p:cNvSpPr>
          <p:nvPr/>
        </p:nvSpPr>
        <p:spPr bwMode="auto">
          <a:xfrm>
            <a:off x="611188" y="1120775"/>
            <a:ext cx="3097212" cy="9461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2800" b="1">
                <a:solidFill>
                  <a:srgbClr val="800080"/>
                </a:solidFill>
              </a:rPr>
              <a:t> </a:t>
            </a:r>
            <a:r>
              <a:rPr lang="zh-CN" altLang="en-US" sz="2800" b="1"/>
              <a:t>移进</a:t>
            </a:r>
            <a:r>
              <a:rPr lang="zh-CN" altLang="en-US" sz="2800" b="1">
                <a:sym typeface="Symbol" panose="05050102010706020507" pitchFamily="18" charset="2"/>
              </a:rPr>
              <a:t></a:t>
            </a:r>
            <a:r>
              <a:rPr lang="zh-CN" altLang="en-US" sz="2800" b="1"/>
              <a:t>归约分析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sz="2800" b="1"/>
              <a:t>    的</a:t>
            </a:r>
            <a:r>
              <a:rPr lang="zh-CN" altLang="en-US" sz="2800" b="1">
                <a:solidFill>
                  <a:srgbClr val="800080"/>
                </a:solidFill>
              </a:rPr>
              <a:t>另一个例子</a:t>
            </a:r>
          </a:p>
        </p:txBody>
      </p:sp>
      <p:sp>
        <p:nvSpPr>
          <p:cNvPr id="571397" name="Rectangle 5"/>
          <p:cNvSpPr>
            <a:spLocks noChangeArrowheads="1"/>
          </p:cNvSpPr>
          <p:nvPr/>
        </p:nvSpPr>
        <p:spPr bwMode="auto">
          <a:xfrm>
            <a:off x="37033" y="188913"/>
            <a:ext cx="3598863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zh-CN" altLang="en-US" sz="4000" b="1" dirty="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移进</a:t>
            </a:r>
            <a:r>
              <a:rPr lang="zh-CN" altLang="en-US" sz="4000" b="1" dirty="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  <a:sym typeface="Symbol" panose="05050102010706020507" pitchFamily="18" charset="2"/>
              </a:rPr>
              <a:t></a:t>
            </a:r>
            <a:r>
              <a:rPr lang="zh-CN" altLang="en-US" sz="4000" b="1" dirty="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归约分析</a:t>
            </a:r>
          </a:p>
        </p:txBody>
      </p:sp>
      <p:sp>
        <p:nvSpPr>
          <p:cNvPr id="571399" name="Rectangle 7"/>
          <p:cNvSpPr>
            <a:spLocks noChangeArrowheads="1"/>
          </p:cNvSpPr>
          <p:nvPr/>
        </p:nvSpPr>
        <p:spPr bwMode="auto">
          <a:xfrm>
            <a:off x="1042988" y="5876925"/>
            <a:ext cx="2089150" cy="7620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r">
              <a:buFont typeface="Wingdings" panose="05000000000000000000" pitchFamily="2" charset="2"/>
              <a:buNone/>
            </a:pPr>
            <a:r>
              <a:rPr kumimoji="0" lang="zh-CN" altLang="en-US" b="1">
                <a:solidFill>
                  <a:srgbClr val="800080"/>
                </a:solidFill>
                <a:sym typeface="Symbol" panose="05050102010706020507" pitchFamily="18" charset="2"/>
              </a:rPr>
              <a:t>待分析输入串</a:t>
            </a:r>
            <a:r>
              <a:rPr kumimoji="0" lang="en-US" altLang="zh-CN">
                <a:solidFill>
                  <a:srgbClr val="800080"/>
                </a:solidFill>
                <a:sym typeface="Symbol" panose="05050102010706020507" pitchFamily="18" charset="2"/>
              </a:rPr>
              <a:t>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b="1" i="1"/>
              <a:t>    v</a:t>
            </a:r>
            <a:r>
              <a:rPr lang="zh-CN" altLang="en-US" sz="2000" b="1">
                <a:sym typeface="Symbol" panose="05050102010706020507" pitchFamily="18" charset="2"/>
              </a:rPr>
              <a:t>＋</a:t>
            </a:r>
            <a:r>
              <a:rPr lang="en-US" altLang="zh-CN" sz="2000" b="1" i="1"/>
              <a:t>v</a:t>
            </a:r>
            <a:r>
              <a:rPr lang="en-US" altLang="zh-CN" sz="2000" b="1">
                <a:sym typeface="Symbol" panose="05050102010706020507" pitchFamily="18" charset="2"/>
              </a:rPr>
              <a:t>  </a:t>
            </a:r>
            <a:r>
              <a:rPr lang="en-US" altLang="zh-CN" sz="2000" b="1" i="1"/>
              <a:t>d #</a:t>
            </a:r>
          </a:p>
        </p:txBody>
      </p:sp>
      <p:grpSp>
        <p:nvGrpSpPr>
          <p:cNvPr id="571486" name="Group 94"/>
          <p:cNvGrpSpPr/>
          <p:nvPr/>
        </p:nvGrpSpPr>
        <p:grpSpPr bwMode="auto">
          <a:xfrm>
            <a:off x="3672334" y="2096418"/>
            <a:ext cx="5040312" cy="396875"/>
            <a:chOff x="2381" y="1185"/>
            <a:chExt cx="3175" cy="250"/>
          </a:xfrm>
        </p:grpSpPr>
        <p:sp>
          <p:nvSpPr>
            <p:cNvPr id="571401" name="Rectangle 9"/>
            <p:cNvSpPr>
              <a:spLocks noChangeArrowheads="1"/>
            </p:cNvSpPr>
            <p:nvPr/>
          </p:nvSpPr>
          <p:spPr bwMode="auto">
            <a:xfrm>
              <a:off x="3742" y="1185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>
                  <a:sym typeface="Symbol" panose="05050102010706020507" pitchFamily="18" charset="2"/>
                </a:rPr>
                <a:t>+ </a:t>
              </a:r>
              <a:r>
                <a:rPr lang="en-US" altLang="zh-CN" sz="2000" b="1" i="1"/>
                <a:t>v</a:t>
              </a:r>
              <a:r>
                <a:rPr lang="en-US" altLang="zh-CN" sz="2000" b="1">
                  <a:sym typeface="Symbol" panose="05050102010706020507" pitchFamily="18" charset="2"/>
                </a:rPr>
                <a:t> 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571402" name="Rectangle 10"/>
            <p:cNvSpPr>
              <a:spLocks noChangeArrowheads="1"/>
            </p:cNvSpPr>
            <p:nvPr/>
          </p:nvSpPr>
          <p:spPr bwMode="auto">
            <a:xfrm>
              <a:off x="4830" y="1185"/>
              <a:ext cx="726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i="1"/>
                <a:t>Reduce</a:t>
              </a:r>
            </a:p>
          </p:txBody>
        </p:sp>
        <p:sp>
          <p:nvSpPr>
            <p:cNvPr id="571403" name="Rectangle 11"/>
            <p:cNvSpPr>
              <a:spLocks noChangeArrowheads="1"/>
            </p:cNvSpPr>
            <p:nvPr/>
          </p:nvSpPr>
          <p:spPr bwMode="auto">
            <a:xfrm>
              <a:off x="2381" y="1185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kumimoji="0" lang="zh-CN" altLang="en-US" sz="2000" b="1">
                  <a:sym typeface="Symbol" panose="05050102010706020507" pitchFamily="18" charset="2"/>
                </a:rPr>
                <a:t>（</a:t>
              </a:r>
              <a:r>
                <a:rPr kumimoji="0" lang="en-US" altLang="zh-CN" sz="2000">
                  <a:sym typeface="Symbol" panose="05050102010706020507" pitchFamily="18" charset="2"/>
                </a:rPr>
                <a:t>1</a:t>
              </a:r>
              <a:r>
                <a:rPr kumimoji="0" lang="zh-CN" altLang="en-US" sz="2000" b="1">
                  <a:sym typeface="Symbol" panose="05050102010706020507" pitchFamily="18" charset="2"/>
                </a:rPr>
                <a:t>）</a:t>
              </a:r>
              <a:endParaRPr lang="zh-CN" altLang="en-US" sz="2000" b="1" i="1"/>
            </a:p>
          </p:txBody>
        </p:sp>
        <p:sp>
          <p:nvSpPr>
            <p:cNvPr id="571404" name="Rectangle 12"/>
            <p:cNvSpPr>
              <a:spLocks noChangeArrowheads="1"/>
            </p:cNvSpPr>
            <p:nvPr/>
          </p:nvSpPr>
          <p:spPr bwMode="auto">
            <a:xfrm>
              <a:off x="3035" y="1185"/>
              <a:ext cx="680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b="1" i="1"/>
                <a:t>v</a:t>
              </a:r>
            </a:p>
          </p:txBody>
        </p:sp>
      </p:grpSp>
      <p:grpSp>
        <p:nvGrpSpPr>
          <p:cNvPr id="571487" name="Group 95"/>
          <p:cNvGrpSpPr/>
          <p:nvPr/>
        </p:nvGrpSpPr>
        <p:grpSpPr bwMode="auto">
          <a:xfrm>
            <a:off x="3672334" y="2421856"/>
            <a:ext cx="4679950" cy="396875"/>
            <a:chOff x="2381" y="1390"/>
            <a:chExt cx="2948" cy="250"/>
          </a:xfrm>
        </p:grpSpPr>
        <p:sp>
          <p:nvSpPr>
            <p:cNvPr id="571406" name="Rectangle 14"/>
            <p:cNvSpPr>
              <a:spLocks noChangeArrowheads="1"/>
            </p:cNvSpPr>
            <p:nvPr/>
          </p:nvSpPr>
          <p:spPr bwMode="auto">
            <a:xfrm>
              <a:off x="3742" y="1390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>
                  <a:sym typeface="Symbol" panose="05050102010706020507" pitchFamily="18" charset="2"/>
                </a:rPr>
                <a:t>+ </a:t>
              </a:r>
              <a:r>
                <a:rPr lang="en-US" altLang="zh-CN" sz="2000" b="1" i="1"/>
                <a:t>v</a:t>
              </a:r>
              <a:r>
                <a:rPr lang="en-US" altLang="zh-CN" sz="2000" b="1">
                  <a:sym typeface="Symbol" panose="05050102010706020507" pitchFamily="18" charset="2"/>
                </a:rPr>
                <a:t> 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571407" name="Rectangle 15"/>
            <p:cNvSpPr>
              <a:spLocks noChangeArrowheads="1"/>
            </p:cNvSpPr>
            <p:nvPr/>
          </p:nvSpPr>
          <p:spPr bwMode="auto">
            <a:xfrm>
              <a:off x="4830" y="1390"/>
              <a:ext cx="499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i="1"/>
                <a:t>Shift</a:t>
              </a:r>
            </a:p>
          </p:txBody>
        </p:sp>
        <p:sp>
          <p:nvSpPr>
            <p:cNvPr id="571408" name="Rectangle 16"/>
            <p:cNvSpPr>
              <a:spLocks noChangeArrowheads="1"/>
            </p:cNvSpPr>
            <p:nvPr/>
          </p:nvSpPr>
          <p:spPr bwMode="auto">
            <a:xfrm>
              <a:off x="2381" y="1390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kumimoji="0" lang="zh-CN" altLang="en-US" sz="2000" b="1">
                  <a:sym typeface="Symbol" panose="05050102010706020507" pitchFamily="18" charset="2"/>
                </a:rPr>
                <a:t>（</a:t>
              </a:r>
              <a:r>
                <a:rPr kumimoji="0" lang="en-US" altLang="zh-CN" sz="2000">
                  <a:sym typeface="Symbol" panose="05050102010706020507" pitchFamily="18" charset="2"/>
                </a:rPr>
                <a:t>2</a:t>
              </a:r>
              <a:r>
                <a:rPr kumimoji="0" lang="zh-CN" altLang="en-US" sz="2000" b="1">
                  <a:sym typeface="Symbol" panose="05050102010706020507" pitchFamily="18" charset="2"/>
                </a:rPr>
                <a:t>）</a:t>
              </a:r>
              <a:endParaRPr lang="zh-CN" altLang="en-US" sz="2000" b="1" i="1"/>
            </a:p>
          </p:txBody>
        </p:sp>
        <p:sp>
          <p:nvSpPr>
            <p:cNvPr id="571409" name="Rectangle 17"/>
            <p:cNvSpPr>
              <a:spLocks noChangeArrowheads="1"/>
            </p:cNvSpPr>
            <p:nvPr/>
          </p:nvSpPr>
          <p:spPr bwMode="auto">
            <a:xfrm>
              <a:off x="3035" y="1390"/>
              <a:ext cx="680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b="1" i="1"/>
                <a:t>F</a:t>
              </a:r>
            </a:p>
          </p:txBody>
        </p:sp>
      </p:grpSp>
      <p:grpSp>
        <p:nvGrpSpPr>
          <p:cNvPr id="571490" name="Group 98"/>
          <p:cNvGrpSpPr/>
          <p:nvPr/>
        </p:nvGrpSpPr>
        <p:grpSpPr bwMode="auto">
          <a:xfrm>
            <a:off x="3672334" y="3391818"/>
            <a:ext cx="4716462" cy="396875"/>
            <a:chOff x="2381" y="2001"/>
            <a:chExt cx="2971" cy="250"/>
          </a:xfrm>
        </p:grpSpPr>
        <p:sp>
          <p:nvSpPr>
            <p:cNvPr id="571411" name="Rectangle 19"/>
            <p:cNvSpPr>
              <a:spLocks noChangeArrowheads="1"/>
            </p:cNvSpPr>
            <p:nvPr/>
          </p:nvSpPr>
          <p:spPr bwMode="auto">
            <a:xfrm>
              <a:off x="3742" y="2001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b="1">
                  <a:sym typeface="Symbol" panose="05050102010706020507" pitchFamily="18" charset="2"/>
                </a:rPr>
                <a:t>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571412" name="Rectangle 20"/>
            <p:cNvSpPr>
              <a:spLocks noChangeArrowheads="1"/>
            </p:cNvSpPr>
            <p:nvPr/>
          </p:nvSpPr>
          <p:spPr bwMode="auto">
            <a:xfrm>
              <a:off x="2381" y="2001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kumimoji="0" lang="zh-CN" altLang="en-US" sz="2000" b="1">
                  <a:sym typeface="Symbol" panose="05050102010706020507" pitchFamily="18" charset="2"/>
                </a:rPr>
                <a:t>（</a:t>
              </a:r>
              <a:r>
                <a:rPr kumimoji="0" lang="en-US" altLang="zh-CN" sz="2000">
                  <a:sym typeface="Symbol" panose="05050102010706020507" pitchFamily="18" charset="2"/>
                </a:rPr>
                <a:t>5</a:t>
              </a:r>
              <a:r>
                <a:rPr kumimoji="0" lang="zh-CN" altLang="en-US" sz="2000" b="1">
                  <a:sym typeface="Symbol" panose="05050102010706020507" pitchFamily="18" charset="2"/>
                </a:rPr>
                <a:t>）</a:t>
              </a:r>
              <a:endParaRPr lang="zh-CN" altLang="en-US" sz="2000" b="1" i="1"/>
            </a:p>
          </p:txBody>
        </p:sp>
        <p:sp>
          <p:nvSpPr>
            <p:cNvPr id="571413" name="Rectangle 21"/>
            <p:cNvSpPr>
              <a:spLocks noChangeArrowheads="1"/>
            </p:cNvSpPr>
            <p:nvPr/>
          </p:nvSpPr>
          <p:spPr bwMode="auto">
            <a:xfrm>
              <a:off x="3035" y="2001"/>
              <a:ext cx="680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b="1" i="1"/>
                <a:t>F </a:t>
              </a:r>
              <a:r>
                <a:rPr lang="en-US" altLang="zh-CN" sz="2000" i="1"/>
                <a:t>+ </a:t>
              </a:r>
              <a:r>
                <a:rPr lang="en-US" altLang="zh-CN" sz="2000" b="1" i="1"/>
                <a:t>F</a:t>
              </a:r>
            </a:p>
          </p:txBody>
        </p:sp>
        <p:sp>
          <p:nvSpPr>
            <p:cNvPr id="571414" name="Rectangle 22"/>
            <p:cNvSpPr>
              <a:spLocks noChangeArrowheads="1"/>
            </p:cNvSpPr>
            <p:nvPr/>
          </p:nvSpPr>
          <p:spPr bwMode="auto">
            <a:xfrm>
              <a:off x="4876" y="2001"/>
              <a:ext cx="476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i="1"/>
                <a:t>Shift</a:t>
              </a:r>
            </a:p>
          </p:txBody>
        </p:sp>
      </p:grpSp>
      <p:grpSp>
        <p:nvGrpSpPr>
          <p:cNvPr id="571488" name="Group 96"/>
          <p:cNvGrpSpPr/>
          <p:nvPr/>
        </p:nvGrpSpPr>
        <p:grpSpPr bwMode="auto">
          <a:xfrm>
            <a:off x="3672334" y="2742531"/>
            <a:ext cx="4716462" cy="398462"/>
            <a:chOff x="2381" y="1592"/>
            <a:chExt cx="2971" cy="251"/>
          </a:xfrm>
        </p:grpSpPr>
        <p:sp>
          <p:nvSpPr>
            <p:cNvPr id="571416" name="Rectangle 24"/>
            <p:cNvSpPr>
              <a:spLocks noChangeArrowheads="1"/>
            </p:cNvSpPr>
            <p:nvPr/>
          </p:nvSpPr>
          <p:spPr bwMode="auto">
            <a:xfrm>
              <a:off x="3742" y="1593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b="1" i="1"/>
                <a:t>v</a:t>
              </a:r>
              <a:r>
                <a:rPr lang="en-US" altLang="zh-CN" sz="2000" b="1">
                  <a:sym typeface="Symbol" panose="05050102010706020507" pitchFamily="18" charset="2"/>
                </a:rPr>
                <a:t> 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571417" name="Rectangle 25"/>
            <p:cNvSpPr>
              <a:spLocks noChangeArrowheads="1"/>
            </p:cNvSpPr>
            <p:nvPr/>
          </p:nvSpPr>
          <p:spPr bwMode="auto">
            <a:xfrm>
              <a:off x="2381" y="1593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kumimoji="0" lang="zh-CN" altLang="en-US" sz="2000" b="1">
                  <a:sym typeface="Symbol" panose="05050102010706020507" pitchFamily="18" charset="2"/>
                </a:rPr>
                <a:t>（</a:t>
              </a:r>
              <a:r>
                <a:rPr kumimoji="0" lang="en-US" altLang="zh-CN" sz="2000">
                  <a:sym typeface="Symbol" panose="05050102010706020507" pitchFamily="18" charset="2"/>
                </a:rPr>
                <a:t>3</a:t>
              </a:r>
              <a:r>
                <a:rPr kumimoji="0" lang="zh-CN" altLang="en-US" sz="2000" b="1">
                  <a:sym typeface="Symbol" panose="05050102010706020507" pitchFamily="18" charset="2"/>
                </a:rPr>
                <a:t>）</a:t>
              </a:r>
              <a:endParaRPr lang="zh-CN" altLang="en-US" sz="2000" b="1" i="1"/>
            </a:p>
          </p:txBody>
        </p:sp>
        <p:sp>
          <p:nvSpPr>
            <p:cNvPr id="571418" name="Rectangle 26"/>
            <p:cNvSpPr>
              <a:spLocks noChangeArrowheads="1"/>
            </p:cNvSpPr>
            <p:nvPr/>
          </p:nvSpPr>
          <p:spPr bwMode="auto">
            <a:xfrm>
              <a:off x="3035" y="1593"/>
              <a:ext cx="680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b="1" i="1"/>
                <a:t>F +</a:t>
              </a:r>
            </a:p>
          </p:txBody>
        </p:sp>
        <p:sp>
          <p:nvSpPr>
            <p:cNvPr id="571424" name="Rectangle 32"/>
            <p:cNvSpPr>
              <a:spLocks noChangeArrowheads="1"/>
            </p:cNvSpPr>
            <p:nvPr/>
          </p:nvSpPr>
          <p:spPr bwMode="auto">
            <a:xfrm>
              <a:off x="4876" y="1592"/>
              <a:ext cx="476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i="1"/>
                <a:t>Shift</a:t>
              </a:r>
            </a:p>
          </p:txBody>
        </p:sp>
      </p:grpSp>
      <p:grpSp>
        <p:nvGrpSpPr>
          <p:cNvPr id="571489" name="Group 97"/>
          <p:cNvGrpSpPr/>
          <p:nvPr/>
        </p:nvGrpSpPr>
        <p:grpSpPr bwMode="auto">
          <a:xfrm>
            <a:off x="3672334" y="3067968"/>
            <a:ext cx="5040312" cy="398463"/>
            <a:chOff x="2381" y="1797"/>
            <a:chExt cx="3175" cy="251"/>
          </a:xfrm>
        </p:grpSpPr>
        <p:sp>
          <p:nvSpPr>
            <p:cNvPr id="571421" name="Rectangle 29"/>
            <p:cNvSpPr>
              <a:spLocks noChangeArrowheads="1"/>
            </p:cNvSpPr>
            <p:nvPr/>
          </p:nvSpPr>
          <p:spPr bwMode="auto">
            <a:xfrm>
              <a:off x="3742" y="1798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b="1">
                  <a:sym typeface="Symbol" panose="05050102010706020507" pitchFamily="18" charset="2"/>
                </a:rPr>
                <a:t>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571422" name="Rectangle 30"/>
            <p:cNvSpPr>
              <a:spLocks noChangeArrowheads="1"/>
            </p:cNvSpPr>
            <p:nvPr/>
          </p:nvSpPr>
          <p:spPr bwMode="auto">
            <a:xfrm>
              <a:off x="2381" y="1798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kumimoji="0" lang="zh-CN" altLang="en-US" sz="2000" b="1" dirty="0">
                  <a:sym typeface="Symbol" panose="05050102010706020507" pitchFamily="18" charset="2"/>
                </a:rPr>
                <a:t>（</a:t>
              </a:r>
              <a:r>
                <a:rPr kumimoji="0" lang="en-US" altLang="zh-CN" sz="2000" dirty="0">
                  <a:sym typeface="Symbol" panose="05050102010706020507" pitchFamily="18" charset="2"/>
                </a:rPr>
                <a:t>4</a:t>
              </a:r>
              <a:r>
                <a:rPr kumimoji="0" lang="zh-CN" altLang="en-US" sz="2000" b="1" dirty="0">
                  <a:sym typeface="Symbol" panose="05050102010706020507" pitchFamily="18" charset="2"/>
                </a:rPr>
                <a:t>）</a:t>
              </a:r>
              <a:endParaRPr lang="zh-CN" altLang="en-US" sz="2000" b="1" i="1" dirty="0"/>
            </a:p>
          </p:txBody>
        </p:sp>
        <p:sp>
          <p:nvSpPr>
            <p:cNvPr id="571423" name="Rectangle 31"/>
            <p:cNvSpPr>
              <a:spLocks noChangeArrowheads="1"/>
            </p:cNvSpPr>
            <p:nvPr/>
          </p:nvSpPr>
          <p:spPr bwMode="auto">
            <a:xfrm>
              <a:off x="3035" y="1798"/>
              <a:ext cx="680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b="1" i="1"/>
                <a:t>F + v</a:t>
              </a:r>
            </a:p>
          </p:txBody>
        </p:sp>
        <p:sp>
          <p:nvSpPr>
            <p:cNvPr id="571429" name="Rectangle 37"/>
            <p:cNvSpPr>
              <a:spLocks noChangeArrowheads="1"/>
            </p:cNvSpPr>
            <p:nvPr/>
          </p:nvSpPr>
          <p:spPr bwMode="auto">
            <a:xfrm>
              <a:off x="4830" y="1797"/>
              <a:ext cx="726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i="1"/>
                <a:t>Reduce</a:t>
              </a:r>
            </a:p>
          </p:txBody>
        </p:sp>
      </p:grpSp>
      <p:grpSp>
        <p:nvGrpSpPr>
          <p:cNvPr id="571492" name="Group 100"/>
          <p:cNvGrpSpPr/>
          <p:nvPr/>
        </p:nvGrpSpPr>
        <p:grpSpPr bwMode="auto">
          <a:xfrm>
            <a:off x="3672334" y="4076031"/>
            <a:ext cx="5041900" cy="396875"/>
            <a:chOff x="2381" y="2432"/>
            <a:chExt cx="3176" cy="250"/>
          </a:xfrm>
        </p:grpSpPr>
        <p:sp>
          <p:nvSpPr>
            <p:cNvPr id="571431" name="Rectangle 39"/>
            <p:cNvSpPr>
              <a:spLocks noChangeArrowheads="1"/>
            </p:cNvSpPr>
            <p:nvPr/>
          </p:nvSpPr>
          <p:spPr bwMode="auto">
            <a:xfrm>
              <a:off x="3742" y="2432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b="1" i="1"/>
                <a:t>#</a:t>
              </a:r>
            </a:p>
          </p:txBody>
        </p:sp>
        <p:sp>
          <p:nvSpPr>
            <p:cNvPr id="571432" name="Rectangle 40"/>
            <p:cNvSpPr>
              <a:spLocks noChangeArrowheads="1"/>
            </p:cNvSpPr>
            <p:nvPr/>
          </p:nvSpPr>
          <p:spPr bwMode="auto">
            <a:xfrm>
              <a:off x="2381" y="2432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kumimoji="0" lang="zh-CN" altLang="en-US" sz="2000" b="1">
                  <a:sym typeface="Symbol" panose="05050102010706020507" pitchFamily="18" charset="2"/>
                </a:rPr>
                <a:t>（</a:t>
              </a:r>
              <a:r>
                <a:rPr kumimoji="0" lang="en-US" altLang="zh-CN" sz="2000">
                  <a:sym typeface="Symbol" panose="05050102010706020507" pitchFamily="18" charset="2"/>
                </a:rPr>
                <a:t>7</a:t>
              </a:r>
              <a:r>
                <a:rPr kumimoji="0" lang="zh-CN" altLang="en-US" sz="2000" b="1">
                  <a:sym typeface="Symbol" panose="05050102010706020507" pitchFamily="18" charset="2"/>
                </a:rPr>
                <a:t>）</a:t>
              </a:r>
              <a:endParaRPr lang="zh-CN" altLang="en-US" sz="2000" b="1" i="1"/>
            </a:p>
          </p:txBody>
        </p:sp>
        <p:sp>
          <p:nvSpPr>
            <p:cNvPr id="571433" name="Rectangle 41"/>
            <p:cNvSpPr>
              <a:spLocks noChangeArrowheads="1"/>
            </p:cNvSpPr>
            <p:nvPr/>
          </p:nvSpPr>
          <p:spPr bwMode="auto">
            <a:xfrm>
              <a:off x="3017" y="2432"/>
              <a:ext cx="816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b="1" i="1"/>
                <a:t>F </a:t>
              </a:r>
              <a:r>
                <a:rPr lang="en-US" altLang="zh-CN" sz="2000" i="1"/>
                <a:t>+ </a:t>
              </a:r>
              <a:r>
                <a:rPr lang="en-US" altLang="zh-CN" sz="2000" b="1" i="1"/>
                <a:t>F </a:t>
              </a:r>
              <a:r>
                <a:rPr lang="en-US" altLang="zh-CN" sz="2000" b="1">
                  <a:sym typeface="Symbol" panose="05050102010706020507" pitchFamily="18" charset="2"/>
                </a:rPr>
                <a:t> </a:t>
              </a:r>
              <a:r>
                <a:rPr lang="en-US" altLang="zh-CN" sz="2000" b="1" i="1">
                  <a:sym typeface="Symbol" panose="05050102010706020507" pitchFamily="18" charset="2"/>
                </a:rPr>
                <a:t>d</a:t>
              </a:r>
            </a:p>
          </p:txBody>
        </p:sp>
        <p:sp>
          <p:nvSpPr>
            <p:cNvPr id="571434" name="Rectangle 42"/>
            <p:cNvSpPr>
              <a:spLocks noChangeArrowheads="1"/>
            </p:cNvSpPr>
            <p:nvPr/>
          </p:nvSpPr>
          <p:spPr bwMode="auto">
            <a:xfrm>
              <a:off x="4876" y="2432"/>
              <a:ext cx="681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i="1"/>
                <a:t>Reduce</a:t>
              </a:r>
            </a:p>
          </p:txBody>
        </p:sp>
      </p:grpSp>
      <p:grpSp>
        <p:nvGrpSpPr>
          <p:cNvPr id="571491" name="Group 99"/>
          <p:cNvGrpSpPr/>
          <p:nvPr/>
        </p:nvGrpSpPr>
        <p:grpSpPr bwMode="auto">
          <a:xfrm>
            <a:off x="3672334" y="3715668"/>
            <a:ext cx="4716462" cy="396875"/>
            <a:chOff x="2381" y="2205"/>
            <a:chExt cx="2971" cy="250"/>
          </a:xfrm>
        </p:grpSpPr>
        <p:sp>
          <p:nvSpPr>
            <p:cNvPr id="571426" name="Rectangle 34"/>
            <p:cNvSpPr>
              <a:spLocks noChangeArrowheads="1"/>
            </p:cNvSpPr>
            <p:nvPr/>
          </p:nvSpPr>
          <p:spPr bwMode="auto">
            <a:xfrm>
              <a:off x="3742" y="2205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b="1" i="1"/>
                <a:t>d #</a:t>
              </a:r>
            </a:p>
          </p:txBody>
        </p:sp>
        <p:sp>
          <p:nvSpPr>
            <p:cNvPr id="571427" name="Rectangle 35"/>
            <p:cNvSpPr>
              <a:spLocks noChangeArrowheads="1"/>
            </p:cNvSpPr>
            <p:nvPr/>
          </p:nvSpPr>
          <p:spPr bwMode="auto">
            <a:xfrm>
              <a:off x="2381" y="2205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kumimoji="0" lang="zh-CN" altLang="en-US" sz="2000" b="1">
                  <a:sym typeface="Symbol" panose="05050102010706020507" pitchFamily="18" charset="2"/>
                </a:rPr>
                <a:t>（</a:t>
              </a:r>
              <a:r>
                <a:rPr kumimoji="0" lang="en-US" altLang="zh-CN" sz="2000">
                  <a:sym typeface="Symbol" panose="05050102010706020507" pitchFamily="18" charset="2"/>
                </a:rPr>
                <a:t>6</a:t>
              </a:r>
              <a:r>
                <a:rPr kumimoji="0" lang="zh-CN" altLang="en-US" sz="2000" b="1">
                  <a:sym typeface="Symbol" panose="05050102010706020507" pitchFamily="18" charset="2"/>
                </a:rPr>
                <a:t>）</a:t>
              </a:r>
              <a:endParaRPr lang="zh-CN" altLang="en-US" sz="2000" b="1" i="1"/>
            </a:p>
          </p:txBody>
        </p:sp>
        <p:sp>
          <p:nvSpPr>
            <p:cNvPr id="571428" name="Rectangle 36"/>
            <p:cNvSpPr>
              <a:spLocks noChangeArrowheads="1"/>
            </p:cNvSpPr>
            <p:nvPr/>
          </p:nvSpPr>
          <p:spPr bwMode="auto">
            <a:xfrm>
              <a:off x="3035" y="2205"/>
              <a:ext cx="680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b="1" i="1"/>
                <a:t>F </a:t>
              </a:r>
              <a:r>
                <a:rPr lang="en-US" altLang="zh-CN" sz="2000" i="1"/>
                <a:t>+ </a:t>
              </a:r>
              <a:r>
                <a:rPr lang="en-US" altLang="zh-CN" sz="2000" b="1" i="1"/>
                <a:t>F </a:t>
              </a:r>
              <a:r>
                <a:rPr lang="en-US" altLang="zh-CN" sz="2000" b="1">
                  <a:sym typeface="Symbol" panose="05050102010706020507" pitchFamily="18" charset="2"/>
                </a:rPr>
                <a:t></a:t>
              </a:r>
            </a:p>
          </p:txBody>
        </p:sp>
        <p:sp>
          <p:nvSpPr>
            <p:cNvPr id="571439" name="Rectangle 47"/>
            <p:cNvSpPr>
              <a:spLocks noChangeArrowheads="1"/>
            </p:cNvSpPr>
            <p:nvPr/>
          </p:nvSpPr>
          <p:spPr bwMode="auto">
            <a:xfrm>
              <a:off x="4876" y="2205"/>
              <a:ext cx="476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i="1"/>
                <a:t>Shift</a:t>
              </a:r>
            </a:p>
          </p:txBody>
        </p:sp>
      </p:grpSp>
      <p:grpSp>
        <p:nvGrpSpPr>
          <p:cNvPr id="571470" name="Group 78"/>
          <p:cNvGrpSpPr/>
          <p:nvPr/>
        </p:nvGrpSpPr>
        <p:grpSpPr bwMode="auto">
          <a:xfrm>
            <a:off x="3672334" y="1772568"/>
            <a:ext cx="4716462" cy="431800"/>
            <a:chOff x="2381" y="981"/>
            <a:chExt cx="2971" cy="272"/>
          </a:xfrm>
        </p:grpSpPr>
        <p:sp>
          <p:nvSpPr>
            <p:cNvPr id="571471" name="Rectangle 79"/>
            <p:cNvSpPr>
              <a:spLocks noChangeArrowheads="1"/>
            </p:cNvSpPr>
            <p:nvPr/>
          </p:nvSpPr>
          <p:spPr bwMode="auto">
            <a:xfrm>
              <a:off x="3742" y="981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b="1" i="1"/>
                <a:t>v </a:t>
              </a:r>
              <a:r>
                <a:rPr lang="en-US" altLang="zh-CN" sz="2000">
                  <a:sym typeface="Symbol" panose="05050102010706020507" pitchFamily="18" charset="2"/>
                </a:rPr>
                <a:t>+ </a:t>
              </a:r>
              <a:r>
                <a:rPr lang="en-US" altLang="zh-CN" sz="2000" b="1" i="1"/>
                <a:t>v</a:t>
              </a:r>
              <a:r>
                <a:rPr lang="en-US" altLang="zh-CN" sz="2000" b="1">
                  <a:sym typeface="Symbol" panose="05050102010706020507" pitchFamily="18" charset="2"/>
                </a:rPr>
                <a:t> 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571472" name="Rectangle 80"/>
            <p:cNvSpPr>
              <a:spLocks noChangeArrowheads="1"/>
            </p:cNvSpPr>
            <p:nvPr/>
          </p:nvSpPr>
          <p:spPr bwMode="auto">
            <a:xfrm>
              <a:off x="4876" y="981"/>
              <a:ext cx="476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i="1"/>
                <a:t>Shift</a:t>
              </a:r>
            </a:p>
          </p:txBody>
        </p:sp>
        <p:sp>
          <p:nvSpPr>
            <p:cNvPr id="571473" name="Rectangle 81"/>
            <p:cNvSpPr>
              <a:spLocks noChangeArrowheads="1"/>
            </p:cNvSpPr>
            <p:nvPr/>
          </p:nvSpPr>
          <p:spPr bwMode="auto">
            <a:xfrm>
              <a:off x="2381" y="1003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kumimoji="0" lang="zh-CN" altLang="en-US" sz="2000" b="1">
                  <a:sym typeface="Symbol" panose="05050102010706020507" pitchFamily="18" charset="2"/>
                </a:rPr>
                <a:t>（</a:t>
              </a:r>
              <a:r>
                <a:rPr kumimoji="0" lang="en-US" altLang="zh-CN" sz="2000">
                  <a:sym typeface="Symbol" panose="05050102010706020507" pitchFamily="18" charset="2"/>
                </a:rPr>
                <a:t>0</a:t>
              </a:r>
              <a:r>
                <a:rPr kumimoji="0" lang="zh-CN" altLang="en-US" sz="2000" b="1">
                  <a:sym typeface="Symbol" panose="05050102010706020507" pitchFamily="18" charset="2"/>
                </a:rPr>
                <a:t>）</a:t>
              </a:r>
              <a:endParaRPr lang="zh-CN" altLang="en-US" sz="2000" b="1" i="1"/>
            </a:p>
          </p:txBody>
        </p:sp>
      </p:grpSp>
      <p:sp>
        <p:nvSpPr>
          <p:cNvPr id="571475" name="Line 83"/>
          <p:cNvSpPr>
            <a:spLocks noChangeShapeType="1"/>
          </p:cNvSpPr>
          <p:nvPr/>
        </p:nvSpPr>
        <p:spPr bwMode="auto">
          <a:xfrm>
            <a:off x="3743771" y="1772568"/>
            <a:ext cx="5292725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71476" name="Text Box 84"/>
          <p:cNvSpPr txBox="1">
            <a:spLocks noChangeArrowheads="1"/>
          </p:cNvSpPr>
          <p:nvPr/>
        </p:nvSpPr>
        <p:spPr bwMode="auto">
          <a:xfrm>
            <a:off x="3780284" y="1340768"/>
            <a:ext cx="86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kumimoji="0" lang="zh-CN" altLang="en-US" b="1">
                <a:latin typeface="Times New Roman" panose="02020603050405020304" pitchFamily="18" charset="0"/>
              </a:rPr>
              <a:t>步骤</a:t>
            </a:r>
          </a:p>
        </p:txBody>
      </p:sp>
      <p:sp>
        <p:nvSpPr>
          <p:cNvPr id="571477" name="Text Box 85"/>
          <p:cNvSpPr txBox="1">
            <a:spLocks noChangeArrowheads="1"/>
          </p:cNvSpPr>
          <p:nvPr/>
        </p:nvSpPr>
        <p:spPr bwMode="auto">
          <a:xfrm>
            <a:off x="4716909" y="1340768"/>
            <a:ext cx="11811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kumimoji="0" lang="zh-CN" altLang="en-US" b="1">
                <a:latin typeface="Times New Roman" panose="02020603050405020304" pitchFamily="18" charset="0"/>
              </a:rPr>
              <a:t>分析栈</a:t>
            </a:r>
          </a:p>
        </p:txBody>
      </p:sp>
      <p:sp>
        <p:nvSpPr>
          <p:cNvPr id="571478" name="Text Box 86"/>
          <p:cNvSpPr txBox="1">
            <a:spLocks noChangeArrowheads="1"/>
          </p:cNvSpPr>
          <p:nvPr/>
        </p:nvSpPr>
        <p:spPr bwMode="auto">
          <a:xfrm>
            <a:off x="5904359" y="1340768"/>
            <a:ext cx="1728787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kumimoji="0" lang="zh-CN" altLang="en-US" b="1">
                <a:latin typeface="Times New Roman" panose="02020603050405020304" pitchFamily="18" charset="0"/>
              </a:rPr>
              <a:t>余留输入串</a:t>
            </a:r>
          </a:p>
        </p:txBody>
      </p:sp>
      <p:sp>
        <p:nvSpPr>
          <p:cNvPr id="571479" name="Text Box 87"/>
          <p:cNvSpPr txBox="1">
            <a:spLocks noChangeArrowheads="1"/>
          </p:cNvSpPr>
          <p:nvPr/>
        </p:nvSpPr>
        <p:spPr bwMode="auto">
          <a:xfrm>
            <a:off x="7777609" y="1340768"/>
            <a:ext cx="86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kumimoji="0" lang="zh-CN" altLang="en-US" b="1">
                <a:latin typeface="Times New Roman" panose="02020603050405020304" pitchFamily="18" charset="0"/>
              </a:rPr>
              <a:t>动作</a:t>
            </a:r>
          </a:p>
        </p:txBody>
      </p:sp>
      <p:sp>
        <p:nvSpPr>
          <p:cNvPr id="571480" name="Line 88"/>
          <p:cNvSpPr>
            <a:spLocks noChangeShapeType="1"/>
          </p:cNvSpPr>
          <p:nvPr/>
        </p:nvSpPr>
        <p:spPr bwMode="auto">
          <a:xfrm>
            <a:off x="4608959" y="1412206"/>
            <a:ext cx="0" cy="3959646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</a:ln>
          <a:effectLst/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571481" name="Line 89"/>
          <p:cNvSpPr>
            <a:spLocks noChangeShapeType="1"/>
          </p:cNvSpPr>
          <p:nvPr/>
        </p:nvSpPr>
        <p:spPr bwMode="auto">
          <a:xfrm>
            <a:off x="5904359" y="1412206"/>
            <a:ext cx="0" cy="3959646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</a:ln>
          <a:effectLst/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571482" name="Line 90"/>
          <p:cNvSpPr>
            <a:spLocks noChangeShapeType="1"/>
          </p:cNvSpPr>
          <p:nvPr/>
        </p:nvSpPr>
        <p:spPr bwMode="auto">
          <a:xfrm>
            <a:off x="7560121" y="1412206"/>
            <a:ext cx="0" cy="3959646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</a:ln>
          <a:effectLst/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grpSp>
        <p:nvGrpSpPr>
          <p:cNvPr id="571493" name="Group 101"/>
          <p:cNvGrpSpPr/>
          <p:nvPr/>
        </p:nvGrpSpPr>
        <p:grpSpPr bwMode="auto">
          <a:xfrm>
            <a:off x="3672334" y="4687218"/>
            <a:ext cx="5041900" cy="396875"/>
            <a:chOff x="2381" y="2636"/>
            <a:chExt cx="3176" cy="250"/>
          </a:xfrm>
        </p:grpSpPr>
        <p:sp>
          <p:nvSpPr>
            <p:cNvPr id="571436" name="Rectangle 44"/>
            <p:cNvSpPr>
              <a:spLocks noChangeArrowheads="1"/>
            </p:cNvSpPr>
            <p:nvPr/>
          </p:nvSpPr>
          <p:spPr bwMode="auto">
            <a:xfrm>
              <a:off x="3742" y="2636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b="1" i="1"/>
                <a:t>#</a:t>
              </a:r>
            </a:p>
          </p:txBody>
        </p:sp>
        <p:sp>
          <p:nvSpPr>
            <p:cNvPr id="571437" name="Rectangle 45"/>
            <p:cNvSpPr>
              <a:spLocks noChangeArrowheads="1"/>
            </p:cNvSpPr>
            <p:nvPr/>
          </p:nvSpPr>
          <p:spPr bwMode="auto">
            <a:xfrm>
              <a:off x="2381" y="2636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kumimoji="0" lang="zh-CN" altLang="en-US" sz="2000" b="1">
                  <a:sym typeface="Symbol" panose="05050102010706020507" pitchFamily="18" charset="2"/>
                </a:rPr>
                <a:t>（</a:t>
              </a:r>
              <a:r>
                <a:rPr kumimoji="0" lang="en-US" altLang="zh-CN" sz="2000">
                  <a:sym typeface="Symbol" panose="05050102010706020507" pitchFamily="18" charset="2"/>
                </a:rPr>
                <a:t>9</a:t>
              </a:r>
              <a:r>
                <a:rPr kumimoji="0" lang="zh-CN" altLang="en-US" sz="2000" b="1">
                  <a:sym typeface="Symbol" panose="05050102010706020507" pitchFamily="18" charset="2"/>
                </a:rPr>
                <a:t>）</a:t>
              </a:r>
              <a:endParaRPr lang="zh-CN" altLang="en-US" sz="2000" b="1" i="1"/>
            </a:p>
          </p:txBody>
        </p:sp>
        <p:sp>
          <p:nvSpPr>
            <p:cNvPr id="571483" name="Rectangle 91"/>
            <p:cNvSpPr>
              <a:spLocks noChangeArrowheads="1"/>
            </p:cNvSpPr>
            <p:nvPr/>
          </p:nvSpPr>
          <p:spPr bwMode="auto">
            <a:xfrm>
              <a:off x="3016" y="2636"/>
              <a:ext cx="816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b="1" i="1"/>
                <a:t>F </a:t>
              </a:r>
              <a:r>
                <a:rPr lang="en-US" altLang="zh-CN" sz="2000" i="1"/>
                <a:t>+ </a:t>
              </a:r>
              <a:r>
                <a:rPr lang="en-US" altLang="zh-CN" sz="2000" b="1" i="1"/>
                <a:t>T</a:t>
              </a:r>
              <a:endParaRPr lang="en-US" altLang="zh-CN" sz="2000" b="1" i="1">
                <a:sym typeface="Symbol" panose="05050102010706020507" pitchFamily="18" charset="2"/>
              </a:endParaRPr>
            </a:p>
          </p:txBody>
        </p:sp>
        <p:sp>
          <p:nvSpPr>
            <p:cNvPr id="571484" name="Rectangle 92"/>
            <p:cNvSpPr>
              <a:spLocks noChangeArrowheads="1"/>
            </p:cNvSpPr>
            <p:nvPr/>
          </p:nvSpPr>
          <p:spPr bwMode="auto">
            <a:xfrm>
              <a:off x="4876" y="2636"/>
              <a:ext cx="681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i="1"/>
                <a:t>Reduce</a:t>
              </a:r>
            </a:p>
          </p:txBody>
        </p:sp>
      </p:grpSp>
      <p:grpSp>
        <p:nvGrpSpPr>
          <p:cNvPr id="571506" name="Group 114"/>
          <p:cNvGrpSpPr/>
          <p:nvPr/>
        </p:nvGrpSpPr>
        <p:grpSpPr bwMode="auto">
          <a:xfrm>
            <a:off x="3527871" y="5012650"/>
            <a:ext cx="3744913" cy="396875"/>
            <a:chOff x="2290" y="2977"/>
            <a:chExt cx="2359" cy="250"/>
          </a:xfrm>
        </p:grpSpPr>
        <p:sp>
          <p:nvSpPr>
            <p:cNvPr id="571441" name="Rectangle 49"/>
            <p:cNvSpPr>
              <a:spLocks noChangeArrowheads="1"/>
            </p:cNvSpPr>
            <p:nvPr/>
          </p:nvSpPr>
          <p:spPr bwMode="auto">
            <a:xfrm>
              <a:off x="3742" y="2977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>
                  <a:sym typeface="Symbol" panose="05050102010706020507" pitchFamily="18" charset="2"/>
                </a:rPr>
                <a:t> </a:t>
              </a:r>
              <a:r>
                <a:rPr lang="en-US" altLang="zh-CN" sz="2000" b="1">
                  <a:sym typeface="Symbol" panose="05050102010706020507" pitchFamily="18" charset="2"/>
                </a:rPr>
                <a:t>  </a:t>
              </a:r>
              <a:r>
                <a:rPr lang="en-US" altLang="zh-CN" sz="2000" b="1" i="1"/>
                <a:t>  #</a:t>
              </a:r>
            </a:p>
          </p:txBody>
        </p:sp>
        <p:sp>
          <p:nvSpPr>
            <p:cNvPr id="571442" name="Rectangle 50"/>
            <p:cNvSpPr>
              <a:spLocks noChangeArrowheads="1"/>
            </p:cNvSpPr>
            <p:nvPr/>
          </p:nvSpPr>
          <p:spPr bwMode="auto">
            <a:xfrm>
              <a:off x="2290" y="2977"/>
              <a:ext cx="680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kumimoji="0" lang="zh-CN" altLang="en-US" sz="2000" b="1">
                  <a:sym typeface="Symbol" panose="05050102010706020507" pitchFamily="18" charset="2"/>
                </a:rPr>
                <a:t>（</a:t>
              </a:r>
              <a:r>
                <a:rPr kumimoji="0" lang="en-US" altLang="zh-CN" sz="2000">
                  <a:sym typeface="Symbol" panose="05050102010706020507" pitchFamily="18" charset="2"/>
                </a:rPr>
                <a:t>10</a:t>
              </a:r>
              <a:r>
                <a:rPr kumimoji="0" lang="zh-CN" altLang="en-US" sz="2000" b="1">
                  <a:sym typeface="Symbol" panose="05050102010706020507" pitchFamily="18" charset="2"/>
                </a:rPr>
                <a:t>）</a:t>
              </a:r>
              <a:endParaRPr lang="zh-CN" altLang="en-US" sz="2000" b="1" i="1"/>
            </a:p>
          </p:txBody>
        </p:sp>
        <p:sp>
          <p:nvSpPr>
            <p:cNvPr id="571443" name="Rectangle 51"/>
            <p:cNvSpPr>
              <a:spLocks noChangeArrowheads="1"/>
            </p:cNvSpPr>
            <p:nvPr/>
          </p:nvSpPr>
          <p:spPr bwMode="auto">
            <a:xfrm>
              <a:off x="3035" y="2977"/>
              <a:ext cx="680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b="1" i="1"/>
                <a:t>E</a:t>
              </a:r>
              <a:endParaRPr lang="en-US" altLang="zh-CN" sz="2000" b="1">
                <a:sym typeface="Symbol" panose="05050102010706020507" pitchFamily="18" charset="2"/>
              </a:endParaRPr>
            </a:p>
          </p:txBody>
        </p:sp>
      </p:grpSp>
      <p:sp>
        <p:nvSpPr>
          <p:cNvPr id="571496" name="Rectangle 104"/>
          <p:cNvSpPr>
            <a:spLocks noChangeArrowheads="1"/>
          </p:cNvSpPr>
          <p:nvPr/>
        </p:nvSpPr>
        <p:spPr bwMode="auto">
          <a:xfrm>
            <a:off x="3276600" y="5503863"/>
            <a:ext cx="4895850" cy="13096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anose="05050102010706020507" pitchFamily="18" charset="2"/>
              <a:buNone/>
            </a:pPr>
            <a:r>
              <a:rPr lang="zh-CN" altLang="en-US" b="1" dirty="0"/>
              <a:t>对应的推导过程不一定是规范推导</a:t>
            </a:r>
          </a:p>
          <a:p>
            <a:pPr>
              <a:buClrTx/>
              <a:buFont typeface="Symbol" panose="05050102010706020507" pitchFamily="18" charset="2"/>
              <a:buNone/>
            </a:pPr>
            <a:endParaRPr lang="zh-CN" altLang="en-US" sz="800" b="1" dirty="0"/>
          </a:p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b="1" dirty="0"/>
              <a:t>     </a:t>
            </a:r>
            <a:r>
              <a:rPr lang="zh-CN" altLang="en-US" b="1" dirty="0">
                <a:solidFill>
                  <a:srgbClr val="800080"/>
                </a:solidFill>
              </a:rPr>
              <a:t>可对应于算符优先分析过程</a:t>
            </a:r>
            <a:endParaRPr lang="zh-CN" altLang="en-US" b="1" dirty="0"/>
          </a:p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800080"/>
                </a:solidFill>
              </a:rPr>
              <a:t>     最左素短语作为“可归约串”</a:t>
            </a:r>
          </a:p>
        </p:txBody>
      </p:sp>
      <p:sp>
        <p:nvSpPr>
          <p:cNvPr id="571497" name="AutoShape 10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1498" name="AutoShape 10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1499" name="AutoShape 10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1500" name="AutoShape 10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71501" name="Group 109"/>
          <p:cNvGrpSpPr/>
          <p:nvPr/>
        </p:nvGrpSpPr>
        <p:grpSpPr bwMode="auto">
          <a:xfrm>
            <a:off x="3672334" y="4398293"/>
            <a:ext cx="5041900" cy="396875"/>
            <a:chOff x="2381" y="2432"/>
            <a:chExt cx="3176" cy="250"/>
          </a:xfrm>
        </p:grpSpPr>
        <p:sp>
          <p:nvSpPr>
            <p:cNvPr id="571502" name="Rectangle 110"/>
            <p:cNvSpPr>
              <a:spLocks noChangeArrowheads="1"/>
            </p:cNvSpPr>
            <p:nvPr/>
          </p:nvSpPr>
          <p:spPr bwMode="auto">
            <a:xfrm>
              <a:off x="3742" y="2432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b="1" i="1"/>
                <a:t>#</a:t>
              </a:r>
            </a:p>
          </p:txBody>
        </p:sp>
        <p:sp>
          <p:nvSpPr>
            <p:cNvPr id="571503" name="Rectangle 111"/>
            <p:cNvSpPr>
              <a:spLocks noChangeArrowheads="1"/>
            </p:cNvSpPr>
            <p:nvPr/>
          </p:nvSpPr>
          <p:spPr bwMode="auto">
            <a:xfrm>
              <a:off x="2381" y="2432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kumimoji="0" lang="zh-CN" altLang="en-US" sz="2000" b="1">
                  <a:sym typeface="Symbol" panose="05050102010706020507" pitchFamily="18" charset="2"/>
                </a:rPr>
                <a:t>（</a:t>
              </a:r>
              <a:r>
                <a:rPr kumimoji="0" lang="en-US" altLang="zh-CN" sz="2000">
                  <a:sym typeface="Symbol" panose="05050102010706020507" pitchFamily="18" charset="2"/>
                </a:rPr>
                <a:t>8</a:t>
              </a:r>
              <a:r>
                <a:rPr kumimoji="0" lang="zh-CN" altLang="en-US" sz="2000" b="1">
                  <a:sym typeface="Symbol" panose="05050102010706020507" pitchFamily="18" charset="2"/>
                </a:rPr>
                <a:t>）</a:t>
              </a:r>
              <a:endParaRPr lang="zh-CN" altLang="en-US" sz="2000" b="1" i="1"/>
            </a:p>
          </p:txBody>
        </p:sp>
        <p:sp>
          <p:nvSpPr>
            <p:cNvPr id="571504" name="Rectangle 112"/>
            <p:cNvSpPr>
              <a:spLocks noChangeArrowheads="1"/>
            </p:cNvSpPr>
            <p:nvPr/>
          </p:nvSpPr>
          <p:spPr bwMode="auto">
            <a:xfrm>
              <a:off x="3017" y="2432"/>
              <a:ext cx="816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b="1" i="1"/>
                <a:t>F </a:t>
              </a:r>
              <a:r>
                <a:rPr lang="en-US" altLang="zh-CN" sz="2000" i="1"/>
                <a:t>+ </a:t>
              </a:r>
              <a:r>
                <a:rPr lang="en-US" altLang="zh-CN" sz="2000" b="1" i="1"/>
                <a:t>F </a:t>
              </a:r>
              <a:r>
                <a:rPr lang="en-US" altLang="zh-CN" sz="2000" b="1">
                  <a:sym typeface="Symbol" panose="05050102010706020507" pitchFamily="18" charset="2"/>
                </a:rPr>
                <a:t> </a:t>
              </a:r>
              <a:r>
                <a:rPr lang="en-US" altLang="zh-CN" sz="2000" b="1" i="1">
                  <a:sym typeface="Symbol" panose="05050102010706020507" pitchFamily="18" charset="2"/>
                </a:rPr>
                <a:t>F</a:t>
              </a:r>
            </a:p>
          </p:txBody>
        </p:sp>
        <p:sp>
          <p:nvSpPr>
            <p:cNvPr id="571505" name="Rectangle 113"/>
            <p:cNvSpPr>
              <a:spLocks noChangeArrowheads="1"/>
            </p:cNvSpPr>
            <p:nvPr/>
          </p:nvSpPr>
          <p:spPr bwMode="auto">
            <a:xfrm>
              <a:off x="4876" y="2432"/>
              <a:ext cx="681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i="1"/>
                <a:t>Reduce</a:t>
              </a:r>
            </a:p>
          </p:txBody>
        </p:sp>
      </p:grpSp>
      <p:sp>
        <p:nvSpPr>
          <p:cNvPr id="77" name="Text Box 58"/>
          <p:cNvSpPr txBox="1">
            <a:spLocks noChangeArrowheads="1"/>
          </p:cNvSpPr>
          <p:nvPr/>
        </p:nvSpPr>
        <p:spPr bwMode="auto">
          <a:xfrm>
            <a:off x="1115616" y="2347133"/>
            <a:ext cx="2232025" cy="31700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zh-CN" altLang="en-US" b="1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文法 </a:t>
            </a:r>
            <a:r>
              <a:rPr kumimoji="0" lang="en-US" altLang="zh-CN" i="1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en-US" altLang="zh-CN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kumimoji="0" lang="en-US" altLang="zh-CN" i="1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0" lang="en-US" altLang="zh-CN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]: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kumimoji="0" lang="en-US" altLang="zh-CN" sz="800" dirty="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 (1) </a:t>
            </a:r>
            <a:r>
              <a:rPr lang="en-US" altLang="zh-CN" i="1" dirty="0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dirty="0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E + T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 (2) </a:t>
            </a:r>
            <a:r>
              <a:rPr lang="en-US" altLang="zh-CN" i="1" dirty="0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cs typeface="Times New Roman" panose="02020603050405020304" pitchFamily="18" charset="0"/>
                <a:sym typeface="Symbol" panose="05050102010706020507" pitchFamily="18" charset="2"/>
              </a:rPr>
              <a:t> T</a:t>
            </a:r>
            <a:r>
              <a:rPr lang="en-US" altLang="zh-CN" i="1" dirty="0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 (3) </a:t>
            </a:r>
            <a:r>
              <a:rPr lang="en-US" altLang="zh-CN" i="1" dirty="0">
                <a:cs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en-US" altLang="zh-CN" dirty="0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T 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i="1" dirty="0">
                <a:cs typeface="Times New Roman" panose="02020603050405020304" pitchFamily="18" charset="0"/>
                <a:sym typeface="Symbol" panose="05050102010706020507" pitchFamily="18" charset="2"/>
              </a:rPr>
              <a:t> F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 (4) </a:t>
            </a:r>
            <a:r>
              <a:rPr lang="en-US" altLang="zh-CN" i="1" dirty="0">
                <a:cs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i="1" dirty="0"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 (5) </a:t>
            </a:r>
            <a:r>
              <a:rPr lang="en-US" altLang="zh-CN" i="1" dirty="0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dirty="0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( E 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 (6) </a:t>
            </a:r>
            <a:r>
              <a:rPr lang="en-US" altLang="zh-CN" i="1" dirty="0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cs typeface="Times New Roman" panose="02020603050405020304" pitchFamily="18" charset="0"/>
                <a:sym typeface="Symbol" panose="05050102010706020507" pitchFamily="18" charset="2"/>
              </a:rPr>
              <a:t> v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 (7) </a:t>
            </a:r>
            <a:r>
              <a:rPr lang="en-US" altLang="zh-CN" i="1" dirty="0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cs typeface="Times New Roman" panose="02020603050405020304" pitchFamily="18" charset="0"/>
                <a:sym typeface="Symbol" panose="05050102010706020507" pitchFamily="18" charset="2"/>
              </a:rPr>
              <a:t> d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71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71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71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71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71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571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571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571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571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571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57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5714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5714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2" dur="500"/>
                                        <p:tgtEl>
                                          <p:spTgt spid="5714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100" name="Rectangle 4"/>
          <p:cNvSpPr>
            <a:spLocks noChangeArrowheads="1"/>
          </p:cNvSpPr>
          <p:nvPr/>
        </p:nvSpPr>
        <p:spPr bwMode="auto">
          <a:xfrm>
            <a:off x="755650" y="2179638"/>
            <a:ext cx="8243888" cy="39893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anose="05050102010706020507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</a:rPr>
              <a:t>  </a:t>
            </a:r>
            <a:r>
              <a:rPr lang="zh-CN" altLang="en-US" sz="2800" b="1">
                <a:solidFill>
                  <a:srgbClr val="800080"/>
                </a:solidFill>
              </a:rPr>
              <a:t>移进</a:t>
            </a:r>
            <a:r>
              <a:rPr lang="zh-CN" altLang="en-US" b="1">
                <a:solidFill>
                  <a:srgbClr val="800080"/>
                </a:solidFill>
                <a:sym typeface="Symbol" panose="05050102010706020507" pitchFamily="18" charset="2"/>
              </a:rPr>
              <a:t></a:t>
            </a:r>
            <a:r>
              <a:rPr lang="zh-CN" altLang="en-US" sz="2800" b="1">
                <a:solidFill>
                  <a:srgbClr val="800080"/>
                </a:solidFill>
              </a:rPr>
              <a:t>归约</a:t>
            </a:r>
            <a:r>
              <a:rPr lang="zh-CN" altLang="en-US" sz="2800" b="1"/>
              <a:t>（</a:t>
            </a:r>
            <a:r>
              <a:rPr lang="en-US" altLang="zh-CN" i="1"/>
              <a:t>shift-reduce</a:t>
            </a:r>
            <a:r>
              <a:rPr lang="zh-CN" altLang="en-US" sz="2800" b="1"/>
              <a:t>）</a:t>
            </a:r>
            <a:r>
              <a:rPr lang="zh-CN" altLang="en-US" sz="2800" b="1">
                <a:solidFill>
                  <a:srgbClr val="800080"/>
                </a:solidFill>
              </a:rPr>
              <a:t>冲突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>
              <a:solidFill>
                <a:srgbClr val="800080"/>
              </a:solidFill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b="1"/>
              <a:t>    到达一个不能确定下一步应该移进还是应该归约的状态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sz="1000" b="1">
                <a:solidFill>
                  <a:srgbClr val="800080"/>
                </a:solidFill>
              </a:rPr>
              <a:t> 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800080"/>
                </a:solidFill>
              </a:rPr>
              <a:t>    例如，</a:t>
            </a:r>
            <a:r>
              <a:rPr lang="zh-CN" altLang="en-US" b="1"/>
              <a:t>有产生式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/>
          </a:p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b="1"/>
              <a:t>            </a:t>
            </a:r>
            <a:r>
              <a:rPr lang="en-US" altLang="zh-CN"/>
              <a:t>S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if E then S | if E then S else S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lang="en-US" altLang="zh-CN" sz="1000"/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800080"/>
                </a:solidFill>
              </a:rPr>
              <a:t>    </a:t>
            </a:r>
            <a:r>
              <a:rPr lang="zh-CN" altLang="en-US" b="1"/>
              <a:t>考虑对于如下串进行移进</a:t>
            </a:r>
            <a:r>
              <a:rPr lang="zh-CN" altLang="en-US" b="1">
                <a:sym typeface="Symbol" panose="05050102010706020507" pitchFamily="18" charset="2"/>
              </a:rPr>
              <a:t></a:t>
            </a:r>
            <a:r>
              <a:rPr lang="zh-CN" altLang="en-US" b="1"/>
              <a:t>归约分析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/>
          </a:p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/>
              <a:t>            </a:t>
            </a:r>
            <a:r>
              <a:rPr lang="en-US" altLang="zh-CN"/>
              <a:t>if E then if E then S else S</a:t>
            </a:r>
            <a:endParaRPr lang="en-US" altLang="zh-CN" b="1"/>
          </a:p>
          <a:p>
            <a:pPr>
              <a:buClrTx/>
              <a:buFont typeface="Wingdings" panose="05000000000000000000" pitchFamily="2" charset="2"/>
              <a:buNone/>
            </a:pPr>
            <a:endParaRPr lang="en-US" altLang="zh-CN" sz="1000" b="1"/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/>
              <a:t>    </a:t>
            </a:r>
            <a:r>
              <a:rPr lang="zh-CN" altLang="en-US" b="1"/>
              <a:t>当 </a:t>
            </a:r>
            <a:r>
              <a:rPr lang="en-US" altLang="zh-CN"/>
              <a:t>if E then if E then S </a:t>
            </a:r>
            <a:r>
              <a:rPr lang="zh-CN" altLang="en-US" b="1"/>
              <a:t>出现在分析栈中时，是</a:t>
            </a:r>
            <a:r>
              <a:rPr lang="zh-CN" altLang="en-US" b="1">
                <a:solidFill>
                  <a:srgbClr val="800080"/>
                </a:solidFill>
              </a:rPr>
              <a:t>移进 </a:t>
            </a:r>
            <a:r>
              <a:rPr lang="en-US" altLang="zh-CN">
                <a:solidFill>
                  <a:srgbClr val="800080"/>
                </a:solidFill>
              </a:rPr>
              <a:t>else</a:t>
            </a:r>
            <a:r>
              <a:rPr lang="zh-CN" altLang="en-US"/>
              <a:t>，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/>
              <a:t>    </a:t>
            </a:r>
            <a:r>
              <a:rPr lang="zh-CN" altLang="en-US" b="1"/>
              <a:t>还是</a:t>
            </a:r>
            <a:r>
              <a:rPr lang="zh-CN" altLang="en-US" b="1">
                <a:solidFill>
                  <a:srgbClr val="800080"/>
                </a:solidFill>
              </a:rPr>
              <a:t>归约 </a:t>
            </a:r>
            <a:r>
              <a:rPr lang="en-US" altLang="zh-CN">
                <a:solidFill>
                  <a:srgbClr val="800080"/>
                </a:solidFill>
              </a:rPr>
              <a:t>if E then S </a:t>
            </a:r>
            <a:r>
              <a:rPr lang="en-US" altLang="zh-CN" b="1"/>
              <a:t>?</a:t>
            </a:r>
          </a:p>
        </p:txBody>
      </p:sp>
      <p:sp>
        <p:nvSpPr>
          <p:cNvPr id="516101" name="Text Box 5"/>
          <p:cNvSpPr txBox="1">
            <a:spLocks noChangeArrowheads="1"/>
          </p:cNvSpPr>
          <p:nvPr/>
        </p:nvSpPr>
        <p:spPr bwMode="auto">
          <a:xfrm>
            <a:off x="468313" y="1409700"/>
            <a:ext cx="7777162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3200" b="1">
                <a:solidFill>
                  <a:srgbClr val="800080"/>
                </a:solidFill>
                <a:latin typeface="楷体_GB2312" pitchFamily="49" charset="-122"/>
              </a:rPr>
              <a:t>分析过程确定化的关键：解决两类冲突</a:t>
            </a:r>
          </a:p>
        </p:txBody>
      </p:sp>
      <p:sp>
        <p:nvSpPr>
          <p:cNvPr id="516102" name="AutoShape 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6103" name="AutoShape 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6104" name="AutoShape 8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6105" name="AutoShape 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6106" name="Rectangle 10"/>
          <p:cNvSpPr>
            <a:spLocks noChangeArrowheads="1"/>
          </p:cNvSpPr>
          <p:nvPr/>
        </p:nvSpPr>
        <p:spPr bwMode="auto">
          <a:xfrm>
            <a:off x="35496" y="188913"/>
            <a:ext cx="3598863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zh-CN" altLang="en-US" sz="4000" b="1" dirty="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移进</a:t>
            </a:r>
            <a:r>
              <a:rPr lang="zh-CN" altLang="en-US" sz="4000" b="1" dirty="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  <a:sym typeface="Symbol" panose="05050102010706020507" pitchFamily="18" charset="2"/>
              </a:rPr>
              <a:t></a:t>
            </a:r>
            <a:r>
              <a:rPr lang="zh-CN" altLang="en-US" sz="4000" b="1" dirty="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归约分析</a:t>
            </a:r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268" name="Rectangle 4"/>
          <p:cNvSpPr>
            <a:spLocks noChangeArrowheads="1"/>
          </p:cNvSpPr>
          <p:nvPr/>
        </p:nvSpPr>
        <p:spPr bwMode="auto">
          <a:xfrm>
            <a:off x="971550" y="2179638"/>
            <a:ext cx="7993063" cy="38369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anose="05050102010706020507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</a:rPr>
              <a:t> </a:t>
            </a:r>
            <a:r>
              <a:rPr lang="zh-CN" altLang="en-US" sz="2800" b="1">
                <a:solidFill>
                  <a:srgbClr val="800080"/>
                </a:solidFill>
              </a:rPr>
              <a:t>归约</a:t>
            </a:r>
            <a:r>
              <a:rPr lang="zh-CN" altLang="en-US" sz="2800" b="1">
                <a:solidFill>
                  <a:srgbClr val="800080"/>
                </a:solidFill>
                <a:sym typeface="Symbol" panose="05050102010706020507" pitchFamily="18" charset="2"/>
              </a:rPr>
              <a:t></a:t>
            </a:r>
            <a:r>
              <a:rPr lang="zh-CN" altLang="en-US" sz="2800" b="1">
                <a:solidFill>
                  <a:srgbClr val="800080"/>
                </a:solidFill>
              </a:rPr>
              <a:t>归约</a:t>
            </a:r>
            <a:r>
              <a:rPr lang="zh-CN" altLang="en-US" sz="2800" b="1"/>
              <a:t>（</a:t>
            </a:r>
            <a:r>
              <a:rPr lang="en-US" altLang="en-US" i="1"/>
              <a:t>reduce-reduce</a:t>
            </a:r>
            <a:r>
              <a:rPr lang="zh-CN" altLang="en-US" sz="2800" b="1"/>
              <a:t>）</a:t>
            </a:r>
            <a:r>
              <a:rPr lang="zh-CN" altLang="en-US" sz="2800" b="1">
                <a:solidFill>
                  <a:srgbClr val="800080"/>
                </a:solidFill>
              </a:rPr>
              <a:t>冲突</a:t>
            </a:r>
          </a:p>
          <a:p>
            <a:pPr>
              <a:buFont typeface="Symbol" panose="05050102010706020507" pitchFamily="18" charset="2"/>
              <a:buNone/>
            </a:pPr>
            <a:endParaRPr lang="zh-CN" altLang="en-US" sz="1000" b="1">
              <a:solidFill>
                <a:srgbClr val="800080"/>
              </a:solidFill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/>
              <a:t>    到达这样的状态：有对</a:t>
            </a:r>
            <a:r>
              <a:rPr lang="zh-CN" altLang="en-US" b="1">
                <a:solidFill>
                  <a:srgbClr val="800080"/>
                </a:solidFill>
              </a:rPr>
              <a:t>多于一个短语</a:t>
            </a:r>
            <a:r>
              <a:rPr lang="zh-CN" altLang="en-US" b="1"/>
              <a:t>进行归约的选择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800080"/>
                </a:solidFill>
              </a:rPr>
              <a:t>    例如，</a:t>
            </a:r>
            <a:r>
              <a:rPr lang="zh-CN" altLang="en-US" b="1"/>
              <a:t>有产生式</a:t>
            </a:r>
          </a:p>
          <a:p>
            <a:endParaRPr lang="zh-CN" altLang="en-US" sz="1000" b="1"/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/>
              <a:t>             </a:t>
            </a:r>
            <a:r>
              <a:rPr lang="en-US" altLang="zh-CN"/>
              <a:t>A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aA | aaA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000"/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</a:t>
            </a:r>
            <a:r>
              <a:rPr lang="zh-CN" altLang="en-US" b="1"/>
              <a:t>考虑对于串 </a:t>
            </a:r>
            <a:r>
              <a:rPr lang="en-US" altLang="zh-CN">
                <a:solidFill>
                  <a:srgbClr val="800080"/>
                </a:solidFill>
              </a:rPr>
              <a:t>aaab </a:t>
            </a:r>
            <a:r>
              <a:rPr lang="zh-CN" altLang="en-US" b="1"/>
              <a:t>进行移进</a:t>
            </a:r>
            <a:r>
              <a:rPr lang="zh-CN" altLang="en-US" b="1">
                <a:sym typeface="Symbol" panose="05050102010706020507" pitchFamily="18" charset="2"/>
              </a:rPr>
              <a:t></a:t>
            </a:r>
            <a:r>
              <a:rPr lang="zh-CN" altLang="en-US" b="1"/>
              <a:t>归约分析</a:t>
            </a:r>
            <a:endParaRPr lang="zh-CN" altLang="en-US"/>
          </a:p>
          <a:p>
            <a:pPr>
              <a:buFont typeface="Wingdings" panose="05000000000000000000" pitchFamily="2" charset="2"/>
              <a:buNone/>
            </a:pPr>
            <a:endParaRPr lang="zh-CN" altLang="en-US" sz="1000"/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/>
              <a:t>    当分析到某一步时，</a:t>
            </a:r>
            <a:r>
              <a:rPr lang="en-US" altLang="zh-CN"/>
              <a:t>aaA</a:t>
            </a:r>
            <a:r>
              <a:rPr lang="zh-CN" altLang="en-US" b="1"/>
              <a:t>出现在分析栈中（</a:t>
            </a:r>
            <a:r>
              <a:rPr lang="en-US" altLang="zh-CN" b="1"/>
              <a:t>b </a:t>
            </a:r>
            <a:r>
              <a:rPr lang="zh-CN" altLang="en-US" b="1"/>
              <a:t>位于剩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/>
              <a:t>    余输入区），是用产生式 </a:t>
            </a:r>
            <a:r>
              <a:rPr lang="en-US" altLang="zh-CN"/>
              <a:t>A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aA </a:t>
            </a:r>
            <a:r>
              <a:rPr lang="zh-CN" altLang="en-US" b="1">
                <a:solidFill>
                  <a:srgbClr val="800080"/>
                </a:solidFill>
              </a:rPr>
              <a:t>归约 </a:t>
            </a:r>
            <a:r>
              <a:rPr lang="en-US" altLang="zh-CN">
                <a:solidFill>
                  <a:srgbClr val="800080"/>
                </a:solidFill>
              </a:rPr>
              <a:t>aA</a:t>
            </a:r>
            <a:r>
              <a:rPr lang="zh-CN" altLang="en-US"/>
              <a:t>，</a:t>
            </a:r>
            <a:r>
              <a:rPr lang="zh-CN" altLang="en-US" b="1"/>
              <a:t>还是用产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/>
              <a:t>    生式 </a:t>
            </a:r>
            <a:r>
              <a:rPr lang="en-US" altLang="zh-CN"/>
              <a:t>A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aaA </a:t>
            </a:r>
            <a:r>
              <a:rPr lang="zh-CN" altLang="en-US" b="1">
                <a:solidFill>
                  <a:srgbClr val="800080"/>
                </a:solidFill>
              </a:rPr>
              <a:t>归约 </a:t>
            </a:r>
            <a:r>
              <a:rPr lang="en-US" altLang="zh-CN">
                <a:solidFill>
                  <a:srgbClr val="800080"/>
                </a:solidFill>
              </a:rPr>
              <a:t>aaA</a:t>
            </a:r>
            <a:r>
              <a:rPr lang="en-US" altLang="zh-CN"/>
              <a:t> </a:t>
            </a:r>
            <a:r>
              <a:rPr lang="en-US" altLang="zh-CN" b="1"/>
              <a:t>?</a:t>
            </a:r>
          </a:p>
        </p:txBody>
      </p:sp>
      <p:sp>
        <p:nvSpPr>
          <p:cNvPr id="523270" name="AutoShape 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3271" name="AutoShape 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3272" name="AutoShape 8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3273" name="AutoShape 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3274" name="Rectangle 10"/>
          <p:cNvSpPr>
            <a:spLocks noChangeArrowheads="1"/>
          </p:cNvSpPr>
          <p:nvPr/>
        </p:nvSpPr>
        <p:spPr bwMode="auto">
          <a:xfrm>
            <a:off x="35496" y="188913"/>
            <a:ext cx="3598863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zh-CN" altLang="en-US" sz="4000" b="1" dirty="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移进</a:t>
            </a:r>
            <a:r>
              <a:rPr lang="zh-CN" altLang="en-US" sz="4000" b="1" dirty="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  <a:sym typeface="Symbol" panose="05050102010706020507" pitchFamily="18" charset="2"/>
              </a:rPr>
              <a:t></a:t>
            </a:r>
            <a:r>
              <a:rPr lang="zh-CN" altLang="en-US" sz="4000" b="1" dirty="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归约分析</a:t>
            </a:r>
          </a:p>
        </p:txBody>
      </p:sp>
      <p:sp>
        <p:nvSpPr>
          <p:cNvPr id="523275" name="Text Box 11"/>
          <p:cNvSpPr txBox="1">
            <a:spLocks noChangeArrowheads="1"/>
          </p:cNvSpPr>
          <p:nvPr/>
        </p:nvSpPr>
        <p:spPr bwMode="auto">
          <a:xfrm>
            <a:off x="611188" y="1409700"/>
            <a:ext cx="7777162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3200" b="1">
                <a:solidFill>
                  <a:srgbClr val="800080"/>
                </a:solidFill>
                <a:latin typeface="楷体_GB2312" pitchFamily="49" charset="-122"/>
              </a:rPr>
              <a:t>分析过程确定化的关键：解决两类冲突</a:t>
            </a:r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05" name="Rectangle 5"/>
          <p:cNvSpPr>
            <a:spLocks noChangeArrowheads="1"/>
          </p:cNvSpPr>
          <p:nvPr/>
        </p:nvSpPr>
        <p:spPr bwMode="auto">
          <a:xfrm>
            <a:off x="693738" y="1340768"/>
            <a:ext cx="7993062" cy="32316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None/>
            </a:pPr>
            <a:r>
              <a:rPr lang="zh-CN" altLang="en-US" sz="2800" b="1" dirty="0"/>
              <a:t>借助于</a:t>
            </a:r>
            <a:r>
              <a:rPr lang="zh-CN" altLang="en-US" sz="2800" b="1" dirty="0">
                <a:solidFill>
                  <a:srgbClr val="800080"/>
                </a:solidFill>
              </a:rPr>
              <a:t>分析表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 dirty="0">
              <a:solidFill>
                <a:srgbClr val="800080"/>
              </a:solidFill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sz="2800" b="1" dirty="0"/>
              <a:t>    </a:t>
            </a:r>
            <a:r>
              <a:rPr lang="zh-CN" altLang="en-US" b="1" dirty="0"/>
              <a:t>多数移进</a:t>
            </a:r>
            <a:r>
              <a:rPr lang="zh-CN" altLang="en-US" b="1" dirty="0">
                <a:sym typeface="Symbol" panose="05050102010706020507" pitchFamily="18" charset="2"/>
              </a:rPr>
              <a:t></a:t>
            </a:r>
            <a:r>
              <a:rPr lang="zh-CN" altLang="en-US" b="1" dirty="0"/>
              <a:t>归约分析的实现都是借助分析表的方法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 dirty="0"/>
              <a:t>     分析引擎根据当前状态、</a:t>
            </a:r>
            <a:r>
              <a:rPr lang="zh-CN" altLang="en-US" b="1" dirty="0">
                <a:latin typeface="楷体_GB2312" pitchFamily="49" charset="-122"/>
              </a:rPr>
              <a:t>输入单词查询</a:t>
            </a:r>
            <a:r>
              <a:rPr lang="zh-CN" altLang="en-US" b="1" dirty="0"/>
              <a:t>分析表，确定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 dirty="0"/>
              <a:t>     </a:t>
            </a:r>
            <a:r>
              <a:rPr lang="en-US" altLang="zh-CN" i="1" dirty="0"/>
              <a:t>Reduce</a:t>
            </a:r>
            <a:r>
              <a:rPr lang="zh-CN" altLang="en-US" i="1" dirty="0"/>
              <a:t>，</a:t>
            </a:r>
            <a:r>
              <a:rPr lang="en-US" altLang="zh-CN" i="1" dirty="0"/>
              <a:t>Shift</a:t>
            </a:r>
            <a:r>
              <a:rPr lang="zh-CN" altLang="en-US" i="1" dirty="0"/>
              <a:t>，</a:t>
            </a:r>
            <a:r>
              <a:rPr lang="en-US" altLang="zh-CN" i="1" dirty="0"/>
              <a:t>Error</a:t>
            </a:r>
            <a:r>
              <a:rPr lang="en-US" altLang="zh-CN" sz="2800" i="1" dirty="0"/>
              <a:t> </a:t>
            </a:r>
            <a:r>
              <a:rPr lang="zh-CN" altLang="en-US" b="1" dirty="0"/>
              <a:t>和</a:t>
            </a:r>
            <a:r>
              <a:rPr kumimoji="0" lang="en-US" altLang="zh-CN" i="1" dirty="0"/>
              <a:t>Accept</a:t>
            </a:r>
            <a:r>
              <a:rPr kumimoji="0" lang="en-US" altLang="zh-CN" i="1" dirty="0">
                <a:solidFill>
                  <a:srgbClr val="800080"/>
                </a:solidFill>
              </a:rPr>
              <a:t> </a:t>
            </a:r>
            <a:r>
              <a:rPr lang="zh-CN" altLang="en-US" b="1" dirty="0">
                <a:latin typeface="楷体_GB2312" pitchFamily="49" charset="-122"/>
              </a:rPr>
              <a:t>等动作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 sz="1000" b="1" dirty="0">
              <a:latin typeface="楷体_GB2312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/>
              <a:t>    </a:t>
            </a:r>
            <a:r>
              <a:rPr lang="zh-CN" altLang="en-US" b="1" dirty="0"/>
              <a:t>分析表应当</a:t>
            </a:r>
            <a:r>
              <a:rPr lang="zh-CN" altLang="en-US" b="1" dirty="0">
                <a:latin typeface="楷体_GB2312" pitchFamily="49" charset="-122"/>
              </a:rPr>
              <a:t>可以体现出</a:t>
            </a:r>
            <a:r>
              <a:rPr lang="zh-CN" altLang="en-US" b="1" dirty="0"/>
              <a:t>移进</a:t>
            </a:r>
            <a:r>
              <a:rPr lang="zh-CN" altLang="en-US" b="1" dirty="0">
                <a:sym typeface="Symbol" panose="05050102010706020507" pitchFamily="18" charset="2"/>
              </a:rPr>
              <a:t></a:t>
            </a:r>
            <a:r>
              <a:rPr lang="zh-CN" altLang="en-US" b="1" dirty="0"/>
              <a:t>归约冲突和归约</a:t>
            </a:r>
            <a:r>
              <a:rPr lang="zh-CN" altLang="en-US" b="1" dirty="0">
                <a:sym typeface="Symbol" panose="05050102010706020507" pitchFamily="18" charset="2"/>
              </a:rPr>
              <a:t></a:t>
            </a:r>
            <a:r>
              <a:rPr lang="zh-CN" altLang="en-US" b="1" dirty="0"/>
              <a:t>归约冲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/>
              <a:t>    </a:t>
            </a:r>
            <a:r>
              <a:rPr lang="zh-CN" altLang="en-US" b="1" dirty="0"/>
              <a:t>突的解决方法</a:t>
            </a:r>
            <a:endParaRPr lang="zh-CN" altLang="en-US" b="1" dirty="0">
              <a:latin typeface="楷体_GB2312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sz="1000" b="1" dirty="0">
              <a:latin typeface="楷体_GB2312" pitchFamily="49" charset="-122"/>
            </a:endParaRPr>
          </a:p>
        </p:txBody>
      </p:sp>
      <p:sp>
        <p:nvSpPr>
          <p:cNvPr id="512007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008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009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010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011" name="Rectangle 11"/>
          <p:cNvSpPr>
            <a:spLocks noChangeArrowheads="1"/>
          </p:cNvSpPr>
          <p:nvPr/>
        </p:nvSpPr>
        <p:spPr bwMode="auto">
          <a:xfrm>
            <a:off x="35496" y="188913"/>
            <a:ext cx="3598863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zh-CN" altLang="en-US" sz="4000" b="1" dirty="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移进</a:t>
            </a:r>
            <a:r>
              <a:rPr lang="zh-CN" altLang="en-US" sz="4000" b="1" dirty="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  <a:sym typeface="Symbol" panose="05050102010706020507" pitchFamily="18" charset="2"/>
              </a:rPr>
              <a:t></a:t>
            </a:r>
            <a:r>
              <a:rPr lang="zh-CN" altLang="en-US" sz="4000" b="1" dirty="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归约分析</a:t>
            </a:r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29" name="Text Box 5"/>
          <p:cNvSpPr txBox="1">
            <a:spLocks noChangeArrowheads="1"/>
          </p:cNvSpPr>
          <p:nvPr/>
        </p:nvSpPr>
        <p:spPr bwMode="auto">
          <a:xfrm>
            <a:off x="755650" y="1409700"/>
            <a:ext cx="7129463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 dirty="0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3200" b="1" dirty="0">
                <a:solidFill>
                  <a:srgbClr val="800080"/>
                </a:solidFill>
                <a:latin typeface="楷体_GB2312" pitchFamily="49" charset="-122"/>
              </a:rPr>
              <a:t>移进</a:t>
            </a:r>
            <a:r>
              <a:rPr lang="zh-CN" altLang="en-US" sz="3200" b="1" dirty="0">
                <a:solidFill>
                  <a:srgbClr val="800080"/>
                </a:solidFill>
                <a:sym typeface="Symbol" panose="05050102010706020507" pitchFamily="18" charset="2"/>
              </a:rPr>
              <a:t></a:t>
            </a:r>
            <a:r>
              <a:rPr lang="zh-CN" altLang="en-US" sz="3200" b="1" dirty="0">
                <a:solidFill>
                  <a:srgbClr val="800080"/>
                </a:solidFill>
                <a:latin typeface="楷体_GB2312" pitchFamily="49" charset="-122"/>
              </a:rPr>
              <a:t>归约分析模型</a:t>
            </a:r>
          </a:p>
        </p:txBody>
      </p:sp>
      <p:sp>
        <p:nvSpPr>
          <p:cNvPr id="513030" name="AutoShape 6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3031" name="AutoShape 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3032" name="AutoShape 8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3033" name="AutoShape 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3034" name="Rectangle 10"/>
          <p:cNvSpPr>
            <a:spLocks noChangeArrowheads="1"/>
          </p:cNvSpPr>
          <p:nvPr/>
        </p:nvSpPr>
        <p:spPr bwMode="auto">
          <a:xfrm>
            <a:off x="35496" y="188913"/>
            <a:ext cx="3598863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zh-CN" altLang="en-US" sz="4000" b="1" dirty="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移进</a:t>
            </a:r>
            <a:r>
              <a:rPr lang="zh-CN" altLang="en-US" sz="4000" b="1" dirty="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  <a:sym typeface="Symbol" panose="05050102010706020507" pitchFamily="18" charset="2"/>
              </a:rPr>
              <a:t></a:t>
            </a:r>
            <a:r>
              <a:rPr lang="zh-CN" altLang="en-US" sz="4000" b="1" dirty="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归约分析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7598" y="2639944"/>
            <a:ext cx="4588804" cy="2733272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4" name="AutoShape 4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805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806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807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809" name="Rectangle 9"/>
          <p:cNvSpPr>
            <a:spLocks noChangeArrowheads="1"/>
          </p:cNvSpPr>
          <p:nvPr/>
        </p:nvSpPr>
        <p:spPr bwMode="auto">
          <a:xfrm>
            <a:off x="107504" y="339378"/>
            <a:ext cx="1871662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460810" name="Text Box 10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1042988" y="1700213"/>
            <a:ext cx="4832350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>
                <a:solidFill>
                  <a:srgbClr val="800080"/>
                </a:solidFill>
              </a:rPr>
              <a:t>LR</a:t>
            </a:r>
            <a:r>
              <a:rPr lang="zh-CN" altLang="en-US" sz="3200" b="1">
                <a:solidFill>
                  <a:srgbClr val="800080"/>
                </a:solidFill>
              </a:rPr>
              <a:t>分析基础</a:t>
            </a:r>
          </a:p>
        </p:txBody>
      </p:sp>
      <p:sp>
        <p:nvSpPr>
          <p:cNvPr id="460811" name="Text Box 11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1042988" y="3136900"/>
            <a:ext cx="5033962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>
                <a:solidFill>
                  <a:srgbClr val="800080"/>
                </a:solidFill>
              </a:rPr>
              <a:t>SLR</a:t>
            </a:r>
            <a:r>
              <a:rPr lang="zh-CN" altLang="en-US" sz="3200">
                <a:solidFill>
                  <a:srgbClr val="800080"/>
                </a:solidFill>
              </a:rPr>
              <a:t>（</a:t>
            </a:r>
            <a:r>
              <a:rPr lang="en-US" altLang="zh-CN" sz="3200">
                <a:solidFill>
                  <a:srgbClr val="800080"/>
                </a:solidFill>
              </a:rPr>
              <a:t>1</a:t>
            </a:r>
            <a:r>
              <a:rPr lang="zh-CN" altLang="en-US" sz="3200">
                <a:solidFill>
                  <a:srgbClr val="800080"/>
                </a:solidFill>
              </a:rPr>
              <a:t>）</a:t>
            </a:r>
            <a:r>
              <a:rPr lang="zh-CN" altLang="en-US" sz="3200" b="1">
                <a:solidFill>
                  <a:srgbClr val="800080"/>
                </a:solidFill>
              </a:rPr>
              <a:t>分析</a:t>
            </a:r>
          </a:p>
        </p:txBody>
      </p:sp>
      <p:sp>
        <p:nvSpPr>
          <p:cNvPr id="460813" name="Text Box 13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1042988" y="2420938"/>
            <a:ext cx="5176837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>
                <a:solidFill>
                  <a:srgbClr val="800080"/>
                </a:solidFill>
              </a:rPr>
              <a:t>LR</a:t>
            </a:r>
            <a:r>
              <a:rPr lang="zh-CN" altLang="en-US" sz="3200">
                <a:solidFill>
                  <a:srgbClr val="800080"/>
                </a:solidFill>
              </a:rPr>
              <a:t>（</a:t>
            </a:r>
            <a:r>
              <a:rPr lang="en-US" altLang="zh-CN" sz="3200">
                <a:solidFill>
                  <a:srgbClr val="800080"/>
                </a:solidFill>
              </a:rPr>
              <a:t>0</a:t>
            </a:r>
            <a:r>
              <a:rPr lang="zh-CN" altLang="en-US" sz="3200">
                <a:solidFill>
                  <a:srgbClr val="800080"/>
                </a:solidFill>
              </a:rPr>
              <a:t>）</a:t>
            </a:r>
            <a:r>
              <a:rPr lang="zh-CN" altLang="en-US" sz="3200" b="1">
                <a:solidFill>
                  <a:srgbClr val="800080"/>
                </a:solidFill>
              </a:rPr>
              <a:t>分析</a:t>
            </a:r>
          </a:p>
        </p:txBody>
      </p:sp>
      <p:sp>
        <p:nvSpPr>
          <p:cNvPr id="460816" name="Text Box 16">
            <a:hlinkClick r:id="rId6" action="ppaction://hlinksldjump"/>
          </p:cNvPr>
          <p:cNvSpPr txBox="1">
            <a:spLocks noChangeArrowheads="1"/>
          </p:cNvSpPr>
          <p:nvPr/>
        </p:nvSpPr>
        <p:spPr bwMode="auto">
          <a:xfrm>
            <a:off x="1050925" y="3857625"/>
            <a:ext cx="5033963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>
                <a:solidFill>
                  <a:srgbClr val="800080"/>
                </a:solidFill>
              </a:rPr>
              <a:t>LR</a:t>
            </a:r>
            <a:r>
              <a:rPr lang="zh-CN" altLang="en-US" sz="3200">
                <a:solidFill>
                  <a:srgbClr val="800080"/>
                </a:solidFill>
              </a:rPr>
              <a:t>（</a:t>
            </a:r>
            <a:r>
              <a:rPr lang="en-US" altLang="zh-CN" sz="3200">
                <a:solidFill>
                  <a:srgbClr val="800080"/>
                </a:solidFill>
              </a:rPr>
              <a:t>1</a:t>
            </a:r>
            <a:r>
              <a:rPr lang="zh-CN" altLang="en-US" sz="3200">
                <a:solidFill>
                  <a:srgbClr val="800080"/>
                </a:solidFill>
              </a:rPr>
              <a:t>）</a:t>
            </a:r>
            <a:r>
              <a:rPr lang="zh-CN" altLang="en-US" sz="3200" b="1">
                <a:solidFill>
                  <a:srgbClr val="800080"/>
                </a:solidFill>
              </a:rPr>
              <a:t>分析</a:t>
            </a:r>
          </a:p>
        </p:txBody>
      </p:sp>
      <p:sp>
        <p:nvSpPr>
          <p:cNvPr id="460817" name="Text Box 17">
            <a:hlinkClick r:id="rId7" action="ppaction://hlinksldjump"/>
          </p:cNvPr>
          <p:cNvSpPr txBox="1">
            <a:spLocks noChangeArrowheads="1"/>
          </p:cNvSpPr>
          <p:nvPr/>
        </p:nvSpPr>
        <p:spPr bwMode="auto">
          <a:xfrm>
            <a:off x="1042988" y="4578350"/>
            <a:ext cx="5033962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>
                <a:solidFill>
                  <a:srgbClr val="800080"/>
                </a:solidFill>
              </a:rPr>
              <a:t>LALR</a:t>
            </a:r>
            <a:r>
              <a:rPr lang="zh-CN" altLang="en-US" sz="3200">
                <a:solidFill>
                  <a:srgbClr val="800080"/>
                </a:solidFill>
              </a:rPr>
              <a:t>（</a:t>
            </a:r>
            <a:r>
              <a:rPr lang="en-US" altLang="zh-CN" sz="3200">
                <a:solidFill>
                  <a:srgbClr val="800080"/>
                </a:solidFill>
              </a:rPr>
              <a:t>1</a:t>
            </a:r>
            <a:r>
              <a:rPr lang="zh-CN" altLang="en-US" sz="3200">
                <a:solidFill>
                  <a:srgbClr val="800080"/>
                </a:solidFill>
              </a:rPr>
              <a:t>）</a:t>
            </a:r>
            <a:r>
              <a:rPr lang="zh-CN" altLang="en-US" sz="3200" b="1">
                <a:solidFill>
                  <a:srgbClr val="800080"/>
                </a:solidFill>
              </a:rPr>
              <a:t>分析</a:t>
            </a:r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30" name="AutoShape 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831" name="AutoShape 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832" name="AutoShape 8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833" name="AutoShape 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834" name="Rectangle 10"/>
          <p:cNvSpPr>
            <a:spLocks noChangeArrowheads="1"/>
          </p:cNvSpPr>
          <p:nvPr/>
        </p:nvSpPr>
        <p:spPr bwMode="auto">
          <a:xfrm>
            <a:off x="35496" y="267370"/>
            <a:ext cx="30226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>
                <a:solidFill>
                  <a:srgbClr val="800080"/>
                </a:solidFill>
                <a:ea typeface="华文行楷" pitchFamily="2" charset="-122"/>
              </a:rPr>
              <a:t>LR </a:t>
            </a: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分析基础</a:t>
            </a:r>
          </a:p>
        </p:txBody>
      </p:sp>
      <p:sp>
        <p:nvSpPr>
          <p:cNvPr id="461835" name="Rectangle 11"/>
          <p:cNvSpPr>
            <a:spLocks noChangeArrowheads="1"/>
          </p:cNvSpPr>
          <p:nvPr/>
        </p:nvSpPr>
        <p:spPr bwMode="auto">
          <a:xfrm>
            <a:off x="1116013" y="2276475"/>
            <a:ext cx="7704137" cy="1098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anose="05050102010706020507" pitchFamily="18" charset="2"/>
              <a:buChar char="-"/>
            </a:pPr>
            <a:r>
              <a:rPr lang="en-US" altLang="zh-CN" sz="2800" b="1" dirty="0">
                <a:solidFill>
                  <a:srgbClr val="800080"/>
                </a:solidFill>
              </a:rPr>
              <a:t>  “</a:t>
            </a:r>
            <a:r>
              <a:rPr lang="en-US" altLang="zh-CN" sz="2800" dirty="0">
                <a:solidFill>
                  <a:srgbClr val="800080"/>
                </a:solidFill>
              </a:rPr>
              <a:t>L</a:t>
            </a:r>
            <a:r>
              <a:rPr lang="en-US" altLang="zh-CN" sz="2800" b="1" dirty="0">
                <a:solidFill>
                  <a:srgbClr val="800080"/>
                </a:solidFill>
              </a:rPr>
              <a:t>”,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代表从</a:t>
            </a:r>
            <a:r>
              <a:rPr lang="zh-CN" altLang="en-US" sz="2800" b="1" dirty="0">
                <a:solidFill>
                  <a:srgbClr val="800080"/>
                </a:solidFill>
              </a:rPr>
              <a:t>左</a:t>
            </a:r>
            <a:r>
              <a:rPr lang="zh-CN" altLang="en-US" sz="2800" b="1" dirty="0"/>
              <a:t>（</a:t>
            </a:r>
            <a:r>
              <a:rPr lang="en-US" altLang="zh-CN" sz="2800" i="1" dirty="0"/>
              <a:t>Left</a:t>
            </a:r>
            <a:r>
              <a:rPr lang="zh-CN" altLang="en-US" sz="2800" b="1" dirty="0"/>
              <a:t>）向右扫描输入单词序列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 dirty="0"/>
          </a:p>
          <a:p>
            <a:pPr>
              <a:buFont typeface="Symbol" panose="05050102010706020507" pitchFamily="18" charset="2"/>
              <a:buChar char="-"/>
            </a:pPr>
            <a:r>
              <a:rPr lang="zh-CN" altLang="en-US" sz="2800" b="1" dirty="0">
                <a:latin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800080"/>
                </a:solidFill>
                <a:latin typeface="Arial" panose="020B0604020202020204"/>
              </a:rPr>
              <a:t>“</a:t>
            </a:r>
            <a:r>
              <a:rPr lang="en-US" altLang="zh-CN" sz="2800" dirty="0">
                <a:solidFill>
                  <a:srgbClr val="800080"/>
                </a:solidFill>
              </a:rPr>
              <a:t>R</a:t>
            </a:r>
            <a:r>
              <a:rPr lang="en-US" altLang="zh-CN" sz="2800" b="1" dirty="0">
                <a:solidFill>
                  <a:srgbClr val="800080"/>
                </a:solidFill>
                <a:latin typeface="Arial" panose="020B0604020202020204"/>
              </a:rPr>
              <a:t>”</a:t>
            </a:r>
            <a:r>
              <a:rPr lang="en-US" altLang="zh-CN" sz="2800" b="1" dirty="0">
                <a:latin typeface="楷体_GB2312" pitchFamily="49" charset="-122"/>
              </a:rPr>
              <a:t>,</a:t>
            </a:r>
            <a:r>
              <a:rPr lang="zh-CN" altLang="en-US" sz="2800" b="1" dirty="0">
                <a:latin typeface="楷体_GB2312" pitchFamily="49" charset="-122"/>
              </a:rPr>
              <a:t>代表产生的是</a:t>
            </a:r>
            <a:r>
              <a:rPr lang="zh-CN" altLang="en-US" sz="2800" b="1" dirty="0">
                <a:solidFill>
                  <a:srgbClr val="800080"/>
                </a:solidFill>
                <a:latin typeface="楷体_GB2312" pitchFamily="49" charset="-122"/>
              </a:rPr>
              <a:t>最右</a:t>
            </a:r>
            <a:r>
              <a:rPr lang="zh-CN" altLang="en-US" sz="2800" b="1" dirty="0">
                <a:latin typeface="楷体_GB2312" pitchFamily="49" charset="-122"/>
              </a:rPr>
              <a:t>（</a:t>
            </a:r>
            <a:r>
              <a:rPr lang="en-US" altLang="zh-CN" sz="2800" i="1" dirty="0"/>
              <a:t>Rightmost</a:t>
            </a:r>
            <a:r>
              <a:rPr lang="zh-CN" altLang="en-US" sz="2800" b="1" dirty="0">
                <a:latin typeface="楷体_GB2312" pitchFamily="49" charset="-122"/>
              </a:rPr>
              <a:t>）推导</a:t>
            </a:r>
            <a:endParaRPr lang="zh-CN" altLang="en-US" sz="1000" b="1" dirty="0">
              <a:latin typeface="楷体_GB2312" pitchFamily="49" charset="-122"/>
            </a:endParaRPr>
          </a:p>
        </p:txBody>
      </p:sp>
      <p:sp>
        <p:nvSpPr>
          <p:cNvPr id="461836" name="Text Box 12"/>
          <p:cNvSpPr txBox="1">
            <a:spLocks noChangeArrowheads="1"/>
          </p:cNvSpPr>
          <p:nvPr/>
        </p:nvSpPr>
        <p:spPr bwMode="auto">
          <a:xfrm>
            <a:off x="755650" y="1409700"/>
            <a:ext cx="7129463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en-US" altLang="zh-CN" sz="3200">
                <a:solidFill>
                  <a:srgbClr val="800080"/>
                </a:solidFill>
              </a:rPr>
              <a:t>LR</a:t>
            </a:r>
            <a:r>
              <a:rPr lang="zh-CN" altLang="en-US" sz="3200" b="1">
                <a:solidFill>
                  <a:srgbClr val="800080"/>
                </a:solidFill>
              </a:rPr>
              <a:t>的</a:t>
            </a:r>
            <a:r>
              <a:rPr lang="zh-CN" altLang="en-US" sz="3200" b="1">
                <a:solidFill>
                  <a:srgbClr val="800080"/>
                </a:solidFill>
                <a:latin typeface="楷体_GB2312" pitchFamily="49" charset="-122"/>
              </a:rPr>
              <a:t>含义</a:t>
            </a:r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859" name="Text Box 11"/>
          <p:cNvSpPr txBox="1">
            <a:spLocks noChangeArrowheads="1"/>
          </p:cNvSpPr>
          <p:nvPr/>
        </p:nvSpPr>
        <p:spPr bwMode="auto">
          <a:xfrm>
            <a:off x="755650" y="1196975"/>
            <a:ext cx="7129463" cy="1600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 dirty="0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en-US" altLang="zh-CN" sz="3200" dirty="0">
                <a:solidFill>
                  <a:srgbClr val="800080"/>
                </a:solidFill>
              </a:rPr>
              <a:t>LR</a:t>
            </a:r>
            <a:r>
              <a:rPr lang="en-US" altLang="zh-CN" dirty="0">
                <a:solidFill>
                  <a:srgbClr val="800080"/>
                </a:solidFill>
              </a:rPr>
              <a:t> </a:t>
            </a:r>
            <a:r>
              <a:rPr lang="zh-CN" altLang="en-US" sz="3200" b="1" dirty="0">
                <a:solidFill>
                  <a:srgbClr val="800080"/>
                </a:solidFill>
                <a:latin typeface="楷体_GB2312" pitchFamily="49" charset="-122"/>
              </a:rPr>
              <a:t>分析模型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 dirty="0">
              <a:solidFill>
                <a:srgbClr val="800080"/>
              </a:solidFill>
              <a:latin typeface="楷体_GB2312" pitchFamily="49" charset="-122"/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 b="1" dirty="0">
                <a:solidFill>
                  <a:srgbClr val="800080"/>
                </a:solidFill>
              </a:rPr>
              <a:t> </a:t>
            </a:r>
            <a:r>
              <a:rPr lang="en-US" altLang="zh-CN" sz="2800" dirty="0">
                <a:solidFill>
                  <a:srgbClr val="800080"/>
                </a:solidFill>
              </a:rPr>
              <a:t>LR </a:t>
            </a:r>
            <a:r>
              <a:rPr lang="zh-CN" altLang="en-US" sz="2800" b="1" dirty="0">
                <a:solidFill>
                  <a:srgbClr val="800080"/>
                </a:solidFill>
              </a:rPr>
              <a:t>分析是一种利用分析表的移进</a:t>
            </a:r>
            <a:r>
              <a:rPr lang="zh-CN" altLang="en-US" sz="2800" b="1" dirty="0">
                <a:solidFill>
                  <a:srgbClr val="800080"/>
                </a:solidFill>
                <a:sym typeface="Symbol" panose="05050102010706020507" pitchFamily="18" charset="2"/>
              </a:rPr>
              <a:t></a:t>
            </a:r>
            <a:r>
              <a:rPr lang="zh-CN" altLang="en-US" sz="2800" b="1" dirty="0">
                <a:solidFill>
                  <a:srgbClr val="800080"/>
                </a:solidFill>
              </a:rPr>
              <a:t>归约分析</a:t>
            </a:r>
          </a:p>
        </p:txBody>
      </p:sp>
      <p:sp>
        <p:nvSpPr>
          <p:cNvPr id="462860" name="AutoShape 1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861" name="AutoShape 1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862" name="AutoShape 1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863" name="AutoShape 1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865" name="Rectangle 17"/>
          <p:cNvSpPr>
            <a:spLocks noChangeArrowheads="1"/>
          </p:cNvSpPr>
          <p:nvPr/>
        </p:nvSpPr>
        <p:spPr bwMode="auto">
          <a:xfrm>
            <a:off x="35496" y="188913"/>
            <a:ext cx="30226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LR 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分析基础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252" y="3068960"/>
            <a:ext cx="4179495" cy="2519521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85" name="Text Box 13"/>
          <p:cNvSpPr txBox="1">
            <a:spLocks noChangeArrowheads="1"/>
          </p:cNvSpPr>
          <p:nvPr/>
        </p:nvSpPr>
        <p:spPr bwMode="auto">
          <a:xfrm>
            <a:off x="755650" y="1333500"/>
            <a:ext cx="5761038" cy="51196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 dirty="0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3200" b="1" dirty="0">
                <a:solidFill>
                  <a:srgbClr val="800080"/>
                </a:solidFill>
                <a:latin typeface="楷体_GB2312" pitchFamily="49" charset="-122"/>
              </a:rPr>
              <a:t>主要学习四种 </a:t>
            </a:r>
            <a:r>
              <a:rPr lang="en-US" altLang="zh-CN" sz="3200" dirty="0">
                <a:solidFill>
                  <a:srgbClr val="800080"/>
                </a:solidFill>
              </a:rPr>
              <a:t>LR</a:t>
            </a:r>
            <a:r>
              <a:rPr lang="en-US" altLang="zh-CN" dirty="0">
                <a:solidFill>
                  <a:srgbClr val="800080"/>
                </a:solidFill>
              </a:rPr>
              <a:t> </a:t>
            </a:r>
            <a:r>
              <a:rPr lang="zh-CN" altLang="en-US" sz="3200" b="1" dirty="0">
                <a:solidFill>
                  <a:srgbClr val="800080"/>
                </a:solidFill>
                <a:latin typeface="楷体_GB2312" pitchFamily="49" charset="-122"/>
              </a:rPr>
              <a:t>分析技术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 dirty="0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 dirty="0">
              <a:solidFill>
                <a:srgbClr val="800080"/>
              </a:solidFill>
              <a:latin typeface="楷体_GB2312" pitchFamily="49" charset="-122"/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 b="1" dirty="0">
                <a:solidFill>
                  <a:srgbClr val="800080"/>
                </a:solidFill>
              </a:rPr>
              <a:t> </a:t>
            </a:r>
            <a:r>
              <a:rPr lang="en-US" altLang="zh-CN" sz="2800" dirty="0">
                <a:solidFill>
                  <a:srgbClr val="800080"/>
                </a:solidFill>
              </a:rPr>
              <a:t>LR</a:t>
            </a:r>
            <a:r>
              <a:rPr lang="zh-CN" altLang="en-US" sz="2800" dirty="0">
                <a:solidFill>
                  <a:srgbClr val="800080"/>
                </a:solidFill>
              </a:rPr>
              <a:t>（</a:t>
            </a:r>
            <a:r>
              <a:rPr lang="en-US" altLang="zh-CN" sz="2800" dirty="0">
                <a:solidFill>
                  <a:srgbClr val="800080"/>
                </a:solidFill>
              </a:rPr>
              <a:t>0</a:t>
            </a:r>
            <a:r>
              <a:rPr lang="zh-CN" altLang="en-US" sz="2800" dirty="0">
                <a:solidFill>
                  <a:srgbClr val="800080"/>
                </a:solidFill>
              </a:rPr>
              <a:t>）</a:t>
            </a:r>
            <a:r>
              <a:rPr lang="zh-CN" altLang="en-US" sz="2800" b="1" dirty="0">
                <a:solidFill>
                  <a:srgbClr val="800080"/>
                </a:solidFill>
              </a:rPr>
              <a:t>分析</a:t>
            </a:r>
          </a:p>
          <a:p>
            <a:pPr lvl="1">
              <a:buClrTx/>
              <a:buFont typeface="Symbol" panose="05050102010706020507" pitchFamily="18" charset="2"/>
              <a:buChar char="-"/>
            </a:pPr>
            <a:endParaRPr lang="zh-CN" altLang="en-US" sz="1000" b="1" dirty="0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lang="zh-CN" altLang="en-US" b="1" dirty="0">
                <a:solidFill>
                  <a:srgbClr val="800080"/>
                </a:solidFill>
              </a:rPr>
              <a:t>   </a:t>
            </a:r>
            <a:r>
              <a:rPr lang="zh-CN" altLang="en-US" b="1" dirty="0"/>
              <a:t>适用于 </a:t>
            </a:r>
            <a:r>
              <a:rPr lang="en-US" altLang="zh-CN" dirty="0">
                <a:solidFill>
                  <a:srgbClr val="800080"/>
                </a:solidFill>
              </a:rPr>
              <a:t>LR</a:t>
            </a:r>
            <a:r>
              <a:rPr lang="zh-CN" altLang="en-US" dirty="0">
                <a:solidFill>
                  <a:srgbClr val="800080"/>
                </a:solidFill>
              </a:rPr>
              <a:t>（</a:t>
            </a:r>
            <a:r>
              <a:rPr lang="en-US" altLang="zh-CN" dirty="0">
                <a:solidFill>
                  <a:srgbClr val="800080"/>
                </a:solidFill>
              </a:rPr>
              <a:t>0</a:t>
            </a:r>
            <a:r>
              <a:rPr lang="zh-CN" altLang="en-US" dirty="0">
                <a:solidFill>
                  <a:srgbClr val="800080"/>
                </a:solidFill>
              </a:rPr>
              <a:t>）</a:t>
            </a:r>
            <a:r>
              <a:rPr lang="zh-CN" altLang="en-US" b="1" dirty="0">
                <a:solidFill>
                  <a:srgbClr val="800080"/>
                </a:solidFill>
              </a:rPr>
              <a:t>文法</a:t>
            </a:r>
          </a:p>
          <a:p>
            <a:pPr lvl="1">
              <a:buClrTx/>
              <a:buFont typeface="Symbol" panose="05050102010706020507" pitchFamily="18" charset="2"/>
              <a:buChar char="-"/>
            </a:pPr>
            <a:endParaRPr lang="zh-CN" altLang="en-US" sz="1000" b="1" dirty="0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 b="1" dirty="0">
                <a:solidFill>
                  <a:srgbClr val="800080"/>
                </a:solidFill>
              </a:rPr>
              <a:t> </a:t>
            </a:r>
            <a:r>
              <a:rPr lang="en-US" altLang="zh-CN" sz="2800" dirty="0">
                <a:solidFill>
                  <a:srgbClr val="800080"/>
                </a:solidFill>
              </a:rPr>
              <a:t>SLR</a:t>
            </a:r>
            <a:r>
              <a:rPr lang="zh-CN" altLang="en-US" sz="2800" dirty="0">
                <a:solidFill>
                  <a:srgbClr val="800080"/>
                </a:solidFill>
              </a:rPr>
              <a:t>（</a:t>
            </a:r>
            <a:r>
              <a:rPr lang="en-US" altLang="zh-CN" sz="2800" dirty="0">
                <a:solidFill>
                  <a:srgbClr val="800080"/>
                </a:solidFill>
              </a:rPr>
              <a:t>1</a:t>
            </a:r>
            <a:r>
              <a:rPr lang="zh-CN" altLang="en-US" sz="2800" dirty="0">
                <a:solidFill>
                  <a:srgbClr val="800080"/>
                </a:solidFill>
              </a:rPr>
              <a:t>）</a:t>
            </a:r>
            <a:r>
              <a:rPr lang="zh-CN" altLang="en-US" sz="2800" b="1" dirty="0">
                <a:solidFill>
                  <a:srgbClr val="800080"/>
                </a:solidFill>
              </a:rPr>
              <a:t>分析</a:t>
            </a:r>
          </a:p>
          <a:p>
            <a:pPr lvl="1">
              <a:buClrTx/>
              <a:buFont typeface="Symbol" panose="05050102010706020507" pitchFamily="18" charset="2"/>
              <a:buNone/>
            </a:pPr>
            <a:endParaRPr lang="zh-CN" altLang="en-US" sz="1000" b="1" dirty="0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lang="zh-CN" altLang="en-US" b="1" dirty="0"/>
              <a:t>   适用于 </a:t>
            </a:r>
            <a:r>
              <a:rPr lang="en-US" altLang="zh-CN" dirty="0">
                <a:solidFill>
                  <a:srgbClr val="800080"/>
                </a:solidFill>
              </a:rPr>
              <a:t>SLR</a:t>
            </a:r>
            <a:r>
              <a:rPr lang="zh-CN" altLang="en-US" dirty="0">
                <a:solidFill>
                  <a:srgbClr val="800080"/>
                </a:solidFill>
              </a:rPr>
              <a:t>（</a:t>
            </a:r>
            <a:r>
              <a:rPr lang="en-US" altLang="zh-CN" dirty="0">
                <a:solidFill>
                  <a:srgbClr val="800080"/>
                </a:solidFill>
              </a:rPr>
              <a:t>1</a:t>
            </a:r>
            <a:r>
              <a:rPr lang="zh-CN" altLang="en-US" dirty="0">
                <a:solidFill>
                  <a:srgbClr val="800080"/>
                </a:solidFill>
              </a:rPr>
              <a:t>）</a:t>
            </a:r>
            <a:r>
              <a:rPr lang="zh-CN" altLang="en-US" b="1" dirty="0">
                <a:solidFill>
                  <a:srgbClr val="800080"/>
                </a:solidFill>
              </a:rPr>
              <a:t>文法</a:t>
            </a:r>
          </a:p>
          <a:p>
            <a:pPr lvl="1">
              <a:buClrTx/>
              <a:buFont typeface="Symbol" panose="05050102010706020507" pitchFamily="18" charset="2"/>
              <a:buNone/>
            </a:pPr>
            <a:endParaRPr lang="zh-CN" altLang="en-US" sz="1000" b="1" dirty="0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 b="1" dirty="0">
                <a:solidFill>
                  <a:srgbClr val="800080"/>
                </a:solidFill>
              </a:rPr>
              <a:t> </a:t>
            </a:r>
            <a:r>
              <a:rPr lang="en-US" altLang="zh-CN" sz="2800" dirty="0">
                <a:solidFill>
                  <a:srgbClr val="800080"/>
                </a:solidFill>
              </a:rPr>
              <a:t>LR</a:t>
            </a:r>
            <a:r>
              <a:rPr lang="zh-CN" altLang="en-US" sz="2800" dirty="0">
                <a:solidFill>
                  <a:srgbClr val="800080"/>
                </a:solidFill>
              </a:rPr>
              <a:t>（</a:t>
            </a:r>
            <a:r>
              <a:rPr lang="en-US" altLang="zh-CN" sz="2800" dirty="0">
                <a:solidFill>
                  <a:srgbClr val="800080"/>
                </a:solidFill>
              </a:rPr>
              <a:t>1</a:t>
            </a:r>
            <a:r>
              <a:rPr lang="zh-CN" altLang="en-US" sz="2800" dirty="0">
                <a:solidFill>
                  <a:srgbClr val="800080"/>
                </a:solidFill>
              </a:rPr>
              <a:t>）</a:t>
            </a:r>
            <a:r>
              <a:rPr lang="zh-CN" altLang="en-US" sz="2800" b="1" dirty="0">
                <a:solidFill>
                  <a:srgbClr val="800080"/>
                </a:solidFill>
              </a:rPr>
              <a:t>分析</a:t>
            </a:r>
          </a:p>
          <a:p>
            <a:pPr lvl="1">
              <a:buClrTx/>
              <a:buFont typeface="Symbol" panose="05050102010706020507" pitchFamily="18" charset="2"/>
              <a:buNone/>
            </a:pPr>
            <a:endParaRPr lang="zh-CN" altLang="en-US" sz="1000" b="1" dirty="0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lang="zh-CN" altLang="en-US" b="1" dirty="0"/>
              <a:t>   适用于 </a:t>
            </a:r>
            <a:r>
              <a:rPr lang="en-US" altLang="zh-CN" dirty="0">
                <a:solidFill>
                  <a:srgbClr val="800080"/>
                </a:solidFill>
              </a:rPr>
              <a:t>LR</a:t>
            </a:r>
            <a:r>
              <a:rPr lang="zh-CN" altLang="en-US" dirty="0">
                <a:solidFill>
                  <a:srgbClr val="800080"/>
                </a:solidFill>
              </a:rPr>
              <a:t>（</a:t>
            </a:r>
            <a:r>
              <a:rPr lang="en-US" altLang="zh-CN" dirty="0">
                <a:solidFill>
                  <a:srgbClr val="800080"/>
                </a:solidFill>
              </a:rPr>
              <a:t>1</a:t>
            </a:r>
            <a:r>
              <a:rPr lang="zh-CN" altLang="en-US" dirty="0">
                <a:solidFill>
                  <a:srgbClr val="800080"/>
                </a:solidFill>
              </a:rPr>
              <a:t>）</a:t>
            </a:r>
            <a:r>
              <a:rPr lang="zh-CN" altLang="en-US" b="1" dirty="0">
                <a:solidFill>
                  <a:srgbClr val="800080"/>
                </a:solidFill>
              </a:rPr>
              <a:t>文法</a:t>
            </a:r>
          </a:p>
          <a:p>
            <a:pPr lvl="1">
              <a:buClrTx/>
              <a:buFont typeface="Symbol" panose="05050102010706020507" pitchFamily="18" charset="2"/>
              <a:buNone/>
            </a:pPr>
            <a:endParaRPr lang="zh-CN" altLang="en-US" sz="1000" b="1" dirty="0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 b="1" dirty="0">
                <a:solidFill>
                  <a:srgbClr val="800080"/>
                </a:solidFill>
              </a:rPr>
              <a:t> </a:t>
            </a:r>
            <a:r>
              <a:rPr lang="en-US" altLang="zh-CN" sz="2800" dirty="0">
                <a:solidFill>
                  <a:srgbClr val="800080"/>
                </a:solidFill>
              </a:rPr>
              <a:t>LALR</a:t>
            </a:r>
            <a:r>
              <a:rPr lang="zh-CN" altLang="en-US" sz="2800" dirty="0">
                <a:solidFill>
                  <a:srgbClr val="800080"/>
                </a:solidFill>
              </a:rPr>
              <a:t>（</a:t>
            </a:r>
            <a:r>
              <a:rPr lang="en-US" altLang="zh-CN" sz="2800" dirty="0">
                <a:solidFill>
                  <a:srgbClr val="800080"/>
                </a:solidFill>
              </a:rPr>
              <a:t>1</a:t>
            </a:r>
            <a:r>
              <a:rPr lang="zh-CN" altLang="en-US" sz="2800" dirty="0">
                <a:solidFill>
                  <a:srgbClr val="800080"/>
                </a:solidFill>
              </a:rPr>
              <a:t>）</a:t>
            </a:r>
            <a:r>
              <a:rPr lang="zh-CN" altLang="en-US" sz="2800" b="1" dirty="0">
                <a:solidFill>
                  <a:srgbClr val="800080"/>
                </a:solidFill>
              </a:rPr>
              <a:t>分析</a:t>
            </a:r>
          </a:p>
          <a:p>
            <a:pPr lvl="1">
              <a:buClrTx/>
              <a:buFont typeface="Symbol" panose="05050102010706020507" pitchFamily="18" charset="2"/>
              <a:buNone/>
            </a:pPr>
            <a:endParaRPr lang="zh-CN" altLang="en-US" sz="1000" b="1" dirty="0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lang="zh-CN" altLang="en-US" b="1" dirty="0"/>
              <a:t>   适用于 </a:t>
            </a:r>
            <a:r>
              <a:rPr lang="en-US" altLang="zh-CN" dirty="0">
                <a:solidFill>
                  <a:srgbClr val="800080"/>
                </a:solidFill>
              </a:rPr>
              <a:t>LALR</a:t>
            </a:r>
            <a:r>
              <a:rPr lang="zh-CN" altLang="en-US" dirty="0">
                <a:solidFill>
                  <a:srgbClr val="800080"/>
                </a:solidFill>
              </a:rPr>
              <a:t>（</a:t>
            </a:r>
            <a:r>
              <a:rPr lang="en-US" altLang="zh-CN" dirty="0">
                <a:solidFill>
                  <a:srgbClr val="800080"/>
                </a:solidFill>
              </a:rPr>
              <a:t>1</a:t>
            </a:r>
            <a:r>
              <a:rPr lang="zh-CN" altLang="en-US" dirty="0">
                <a:solidFill>
                  <a:srgbClr val="800080"/>
                </a:solidFill>
              </a:rPr>
              <a:t>）</a:t>
            </a:r>
            <a:r>
              <a:rPr lang="zh-CN" altLang="en-US" b="1" dirty="0">
                <a:solidFill>
                  <a:srgbClr val="800080"/>
                </a:solidFill>
              </a:rPr>
              <a:t>文法</a:t>
            </a:r>
          </a:p>
        </p:txBody>
      </p:sp>
      <p:sp>
        <p:nvSpPr>
          <p:cNvPr id="463886" name="AutoShape 1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3887" name="AutoShape 1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3888" name="AutoShape 1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3889" name="AutoShape 1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3890" name="Rectangle 18"/>
          <p:cNvSpPr>
            <a:spLocks noChangeArrowheads="1"/>
          </p:cNvSpPr>
          <p:nvPr/>
        </p:nvSpPr>
        <p:spPr bwMode="auto">
          <a:xfrm>
            <a:off x="35496" y="188913"/>
            <a:ext cx="30226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LR 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分析基础</a:t>
            </a:r>
          </a:p>
        </p:txBody>
      </p:sp>
      <p:sp>
        <p:nvSpPr>
          <p:cNvPr id="463892" name="AutoShape 20"/>
          <p:cNvSpPr/>
          <p:nvPr/>
        </p:nvSpPr>
        <p:spPr bwMode="auto">
          <a:xfrm>
            <a:off x="5724525" y="3360738"/>
            <a:ext cx="2016125" cy="609600"/>
          </a:xfrm>
          <a:prstGeom prst="borderCallout2">
            <a:avLst>
              <a:gd name="adj1" fmla="val 18750"/>
              <a:gd name="adj2" fmla="val -3778"/>
              <a:gd name="adj3" fmla="val 18750"/>
              <a:gd name="adj4" fmla="val -58111"/>
              <a:gd name="adj5" fmla="val 79949"/>
              <a:gd name="adj6" fmla="val -141417"/>
            </a:avLst>
          </a:prstGeom>
          <a:noFill/>
          <a:ln w="9525" cap="rnd" algn="ctr">
            <a:solidFill>
              <a:srgbClr val="000080"/>
            </a:solidFill>
            <a:prstDash val="sysDot"/>
            <a:miter lim="800000"/>
          </a:ln>
          <a:effectLst/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kumimoji="0" lang="en-US" altLang="zh-CN" i="1">
                <a:solidFill>
                  <a:srgbClr val="800080"/>
                </a:solidFill>
              </a:rPr>
              <a:t>S</a:t>
            </a:r>
            <a:r>
              <a:rPr kumimoji="0" lang="en-US" altLang="zh-CN" i="1"/>
              <a:t>i</a:t>
            </a:r>
            <a:r>
              <a:rPr lang="en-US" altLang="zh-CN" i="1"/>
              <a:t>mple</a:t>
            </a:r>
            <a:r>
              <a:rPr lang="en-US" altLang="zh-CN" i="1">
                <a:solidFill>
                  <a:srgbClr val="800080"/>
                </a:solidFill>
              </a:rPr>
              <a:t> LR(1)</a:t>
            </a:r>
          </a:p>
        </p:txBody>
      </p:sp>
      <p:sp>
        <p:nvSpPr>
          <p:cNvPr id="463895" name="AutoShape 23"/>
          <p:cNvSpPr/>
          <p:nvPr/>
        </p:nvSpPr>
        <p:spPr bwMode="auto">
          <a:xfrm>
            <a:off x="5727700" y="5648325"/>
            <a:ext cx="2660650" cy="609600"/>
          </a:xfrm>
          <a:prstGeom prst="borderCallout2">
            <a:avLst>
              <a:gd name="adj1" fmla="val 18750"/>
              <a:gd name="adj2" fmla="val -2866"/>
              <a:gd name="adj3" fmla="val 18750"/>
              <a:gd name="adj4" fmla="val -44509"/>
              <a:gd name="adj5" fmla="val 69532"/>
              <a:gd name="adj6" fmla="val -104296"/>
            </a:avLst>
          </a:prstGeom>
          <a:noFill/>
          <a:ln w="9525" cap="rnd" algn="ctr">
            <a:solidFill>
              <a:srgbClr val="000080"/>
            </a:solidFill>
            <a:prstDash val="sysDot"/>
            <a:miter lim="800000"/>
          </a:ln>
          <a:effectLst/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kumimoji="0" lang="en-US" altLang="zh-CN" i="1">
                <a:solidFill>
                  <a:srgbClr val="800080"/>
                </a:solidFill>
              </a:rPr>
              <a:t>L</a:t>
            </a:r>
            <a:r>
              <a:rPr kumimoji="0" lang="en-US" altLang="zh-CN" i="1"/>
              <a:t>o</a:t>
            </a:r>
            <a:r>
              <a:rPr lang="en-US" altLang="zh-CN" i="1"/>
              <a:t>ok</a:t>
            </a:r>
            <a:r>
              <a:rPr lang="en-US" altLang="zh-CN" i="1">
                <a:solidFill>
                  <a:srgbClr val="800080"/>
                </a:solidFill>
              </a:rPr>
              <a:t>A</a:t>
            </a:r>
            <a:r>
              <a:rPr lang="en-US" altLang="zh-CN" i="1"/>
              <a:t>head</a:t>
            </a:r>
            <a:r>
              <a:rPr lang="en-US" altLang="zh-CN" i="1">
                <a:solidFill>
                  <a:srgbClr val="800080"/>
                </a:solidFill>
              </a:rPr>
              <a:t>  LR(1)</a:t>
            </a:r>
          </a:p>
        </p:txBody>
      </p:sp>
      <p:sp>
        <p:nvSpPr>
          <p:cNvPr id="463896" name="AutoShape 24"/>
          <p:cNvSpPr/>
          <p:nvPr/>
        </p:nvSpPr>
        <p:spPr bwMode="auto">
          <a:xfrm>
            <a:off x="5148263" y="2243138"/>
            <a:ext cx="3455987" cy="609600"/>
          </a:xfrm>
          <a:prstGeom prst="borderCallout2">
            <a:avLst>
              <a:gd name="adj1" fmla="val 18750"/>
              <a:gd name="adj2" fmla="val -2204"/>
              <a:gd name="adj3" fmla="val 18750"/>
              <a:gd name="adj4" fmla="val -22231"/>
              <a:gd name="adj5" fmla="val 79949"/>
              <a:gd name="adj6" fmla="val -52963"/>
            </a:avLst>
          </a:prstGeom>
          <a:noFill/>
          <a:ln w="9525" cap="rnd" algn="ctr">
            <a:solidFill>
              <a:srgbClr val="000080"/>
            </a:solidFill>
            <a:prstDash val="sysDot"/>
            <a:miter lim="800000"/>
          </a:ln>
          <a:effectLst/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kumimoji="0" lang="en-US" altLang="zh-CN" i="1">
                <a:solidFill>
                  <a:srgbClr val="800080"/>
                </a:solidFill>
              </a:rPr>
              <a:t>“0” </a:t>
            </a:r>
            <a:r>
              <a:rPr kumimoji="0" lang="en-US" altLang="zh-CN" b="1">
                <a:solidFill>
                  <a:srgbClr val="800080"/>
                </a:solidFill>
                <a:sym typeface="Symbol" panose="05050102010706020507" pitchFamily="18" charset="2"/>
              </a:rPr>
              <a:t> </a:t>
            </a:r>
            <a:r>
              <a:rPr kumimoji="0" lang="zh-CN" altLang="en-US" b="1">
                <a:solidFill>
                  <a:srgbClr val="800080"/>
                </a:solidFill>
                <a:sym typeface="Symbol" panose="05050102010706020507" pitchFamily="18" charset="2"/>
              </a:rPr>
              <a:t>向前查看 </a:t>
            </a:r>
            <a:r>
              <a:rPr kumimoji="0" lang="en-US" altLang="zh-CN" i="1">
                <a:solidFill>
                  <a:srgbClr val="800080"/>
                </a:solidFill>
                <a:sym typeface="Symbol" panose="05050102010706020507" pitchFamily="18" charset="2"/>
              </a:rPr>
              <a:t>0 </a:t>
            </a:r>
            <a:r>
              <a:rPr kumimoji="0" lang="zh-CN" altLang="en-US" b="1">
                <a:solidFill>
                  <a:srgbClr val="800080"/>
                </a:solidFill>
                <a:sym typeface="Symbol" panose="05050102010706020507" pitchFamily="18" charset="2"/>
              </a:rPr>
              <a:t>个符号</a:t>
            </a:r>
            <a:endParaRPr lang="zh-CN" altLang="en-US" b="1">
              <a:solidFill>
                <a:srgbClr val="800080"/>
              </a:solidFill>
              <a:sym typeface="Symbol" panose="05050102010706020507" pitchFamily="18" charset="2"/>
            </a:endParaRPr>
          </a:p>
        </p:txBody>
      </p:sp>
      <p:grpSp>
        <p:nvGrpSpPr>
          <p:cNvPr id="463900" name="Group 28"/>
          <p:cNvGrpSpPr/>
          <p:nvPr/>
        </p:nvGrpSpPr>
        <p:grpSpPr bwMode="auto">
          <a:xfrm>
            <a:off x="3563938" y="4221163"/>
            <a:ext cx="5111750" cy="1873250"/>
            <a:chOff x="2245" y="2659"/>
            <a:chExt cx="3220" cy="1180"/>
          </a:xfrm>
        </p:grpSpPr>
        <p:sp>
          <p:nvSpPr>
            <p:cNvPr id="463897" name="AutoShape 25"/>
            <p:cNvSpPr/>
            <p:nvPr/>
          </p:nvSpPr>
          <p:spPr bwMode="auto">
            <a:xfrm>
              <a:off x="3288" y="2795"/>
              <a:ext cx="2177" cy="384"/>
            </a:xfrm>
            <a:prstGeom prst="borderCallout2">
              <a:avLst>
                <a:gd name="adj1" fmla="val 18750"/>
                <a:gd name="adj2" fmla="val -2204"/>
                <a:gd name="adj3" fmla="val 18750"/>
                <a:gd name="adj4" fmla="val -22370"/>
                <a:gd name="adj5" fmla="val 84116"/>
                <a:gd name="adj6" fmla="val -53329"/>
              </a:avLst>
            </a:prstGeom>
            <a:noFill/>
            <a:ln w="9525" cap="rnd" algn="ctr">
              <a:solidFill>
                <a:srgbClr val="000080"/>
              </a:solidFill>
              <a:prstDash val="sysDot"/>
              <a:miter lim="800000"/>
            </a:ln>
            <a:effectLst/>
          </p:spPr>
          <p:txBody>
            <a:bodyPr/>
            <a:lstStyle/>
            <a:p>
              <a:pPr>
                <a:buFont typeface="Wingdings" panose="05000000000000000000" pitchFamily="2" charset="2"/>
                <a:buNone/>
              </a:pPr>
              <a:r>
                <a:rPr kumimoji="0" lang="en-US" altLang="zh-CN" i="1">
                  <a:solidFill>
                    <a:srgbClr val="800080"/>
                  </a:solidFill>
                </a:rPr>
                <a:t>“1” </a:t>
              </a:r>
              <a:r>
                <a:rPr kumimoji="0" lang="en-US" altLang="zh-CN" b="1">
                  <a:solidFill>
                    <a:srgbClr val="800080"/>
                  </a:solidFill>
                  <a:sym typeface="Symbol" panose="05050102010706020507" pitchFamily="18" charset="2"/>
                </a:rPr>
                <a:t> </a:t>
              </a:r>
              <a:r>
                <a:rPr kumimoji="0" lang="zh-CN" altLang="en-US" b="1">
                  <a:solidFill>
                    <a:srgbClr val="800080"/>
                  </a:solidFill>
                  <a:sym typeface="Symbol" panose="05050102010706020507" pitchFamily="18" charset="2"/>
                </a:rPr>
                <a:t>向前查看 </a:t>
              </a:r>
              <a:r>
                <a:rPr kumimoji="0" lang="en-US" altLang="zh-CN" i="1">
                  <a:solidFill>
                    <a:srgbClr val="800080"/>
                  </a:solidFill>
                  <a:sym typeface="Symbol" panose="05050102010706020507" pitchFamily="18" charset="2"/>
                </a:rPr>
                <a:t>1 </a:t>
              </a:r>
              <a:r>
                <a:rPr kumimoji="0" lang="zh-CN" altLang="en-US" b="1">
                  <a:solidFill>
                    <a:srgbClr val="800080"/>
                  </a:solidFill>
                  <a:sym typeface="Symbol" panose="05050102010706020507" pitchFamily="18" charset="2"/>
                </a:rPr>
                <a:t>个符号</a:t>
              </a:r>
              <a:endParaRPr lang="zh-CN" altLang="en-US" b="1">
                <a:solidFill>
                  <a:srgbClr val="800080"/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463898" name="Line 26"/>
            <p:cNvSpPr>
              <a:spLocks noChangeShapeType="1"/>
            </p:cNvSpPr>
            <p:nvPr/>
          </p:nvSpPr>
          <p:spPr bwMode="auto">
            <a:xfrm>
              <a:off x="2245" y="2659"/>
              <a:ext cx="1043" cy="181"/>
            </a:xfrm>
            <a:prstGeom prst="line">
              <a:avLst/>
            </a:prstGeom>
            <a:noFill/>
            <a:ln w="9525" cap="rnd">
              <a:solidFill>
                <a:srgbClr val="000080"/>
              </a:solidFill>
              <a:prstDash val="sysDot"/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63899" name="Line 27"/>
            <p:cNvSpPr>
              <a:spLocks noChangeShapeType="1"/>
            </p:cNvSpPr>
            <p:nvPr/>
          </p:nvSpPr>
          <p:spPr bwMode="auto">
            <a:xfrm flipV="1">
              <a:off x="2336" y="3113"/>
              <a:ext cx="952" cy="726"/>
            </a:xfrm>
            <a:prstGeom prst="line">
              <a:avLst/>
            </a:prstGeom>
            <a:noFill/>
            <a:ln w="9525" cap="rnd">
              <a:solidFill>
                <a:srgbClr val="000080"/>
              </a:solidFill>
              <a:prstDash val="sysDot"/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1000"/>
                                        <p:tgtEl>
                                          <p:spTgt spid="463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1000"/>
                                        <p:tgtEl>
                                          <p:spTgt spid="463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1000"/>
                                        <p:tgtEl>
                                          <p:spTgt spid="463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1000"/>
                                        <p:tgtEl>
                                          <p:spTgt spid="463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3892" grpId="0" animBg="1"/>
      <p:bldP spid="463895" grpId="0" animBg="1"/>
      <p:bldP spid="46389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914" name="Text Box 18"/>
          <p:cNvSpPr txBox="1">
            <a:spLocks noChangeArrowheads="1"/>
          </p:cNvSpPr>
          <p:nvPr/>
        </p:nvSpPr>
        <p:spPr bwMode="auto">
          <a:xfrm>
            <a:off x="755650" y="1333500"/>
            <a:ext cx="7920038" cy="218521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 dirty="0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en-US" altLang="zh-CN" sz="3200" dirty="0">
                <a:solidFill>
                  <a:srgbClr val="800080"/>
                </a:solidFill>
              </a:rPr>
              <a:t>LR</a:t>
            </a:r>
            <a:r>
              <a:rPr lang="en-US" altLang="zh-CN" dirty="0">
                <a:solidFill>
                  <a:srgbClr val="800080"/>
                </a:solidFill>
              </a:rPr>
              <a:t> </a:t>
            </a:r>
            <a:r>
              <a:rPr lang="zh-CN" altLang="en-US" sz="3200" b="1" dirty="0">
                <a:solidFill>
                  <a:srgbClr val="800080"/>
                </a:solidFill>
                <a:latin typeface="楷体_GB2312" pitchFamily="49" charset="-122"/>
              </a:rPr>
              <a:t>分析表</a:t>
            </a:r>
            <a:endParaRPr lang="zh-CN" altLang="en-US" sz="1000" b="1" dirty="0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 dirty="0">
              <a:solidFill>
                <a:srgbClr val="800080"/>
              </a:solidFill>
              <a:latin typeface="楷体_GB2312" pitchFamily="49" charset="-122"/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 b="1" dirty="0">
                <a:solidFill>
                  <a:srgbClr val="800080"/>
                </a:solidFill>
              </a:rPr>
              <a:t> </a:t>
            </a:r>
            <a:r>
              <a:rPr lang="en-US" altLang="zh-CN" sz="2800" dirty="0"/>
              <a:t>LR </a:t>
            </a:r>
            <a:r>
              <a:rPr lang="zh-CN" altLang="en-US" sz="2800" b="1" dirty="0"/>
              <a:t>分析表的构造是</a:t>
            </a:r>
            <a:r>
              <a:rPr lang="en-US" altLang="zh-CN" sz="2800" dirty="0"/>
              <a:t>LR </a:t>
            </a:r>
            <a:r>
              <a:rPr lang="zh-CN" altLang="en-US" sz="2800" b="1" dirty="0"/>
              <a:t>分析的基础</a:t>
            </a:r>
            <a:endParaRPr lang="zh-CN" altLang="en-US" b="1" dirty="0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endParaRPr lang="zh-CN" altLang="en-US" sz="1000" b="1" dirty="0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 b="1" dirty="0">
                <a:solidFill>
                  <a:srgbClr val="800080"/>
                </a:solidFill>
              </a:rPr>
              <a:t> </a:t>
            </a:r>
            <a:r>
              <a:rPr lang="en-US" altLang="zh-CN" sz="2800" dirty="0"/>
              <a:t>LR</a:t>
            </a:r>
            <a:r>
              <a:rPr lang="zh-CN" altLang="en-US" sz="2800" dirty="0"/>
              <a:t>（</a:t>
            </a:r>
            <a:r>
              <a:rPr lang="en-US" altLang="zh-CN" sz="2800" dirty="0"/>
              <a:t>0</a:t>
            </a:r>
            <a:r>
              <a:rPr lang="zh-CN" altLang="en-US" sz="2800" dirty="0"/>
              <a:t>）</a:t>
            </a:r>
            <a:r>
              <a:rPr lang="en-US" altLang="zh-CN" sz="2800" dirty="0"/>
              <a:t>, SLR</a:t>
            </a: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</a:t>
            </a:r>
            <a:r>
              <a:rPr lang="en-US" altLang="zh-CN" sz="2800" dirty="0"/>
              <a:t>, LR</a:t>
            </a: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</a:t>
            </a:r>
            <a:r>
              <a:rPr lang="zh-CN" altLang="en-US" sz="2800" b="1" dirty="0"/>
              <a:t>和 </a:t>
            </a:r>
            <a:r>
              <a:rPr lang="en-US" altLang="zh-CN" sz="2800" dirty="0"/>
              <a:t>LALR</a:t>
            </a: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lang="zh-CN" altLang="en-US" sz="2800" b="1" dirty="0">
                <a:solidFill>
                  <a:srgbClr val="800080"/>
                </a:solidFill>
              </a:rPr>
              <a:t>  四种分析方法可共享同样的</a:t>
            </a:r>
            <a:r>
              <a:rPr lang="en-US" altLang="zh-CN" sz="2800" dirty="0">
                <a:solidFill>
                  <a:srgbClr val="800080"/>
                </a:solidFill>
              </a:rPr>
              <a:t>LR </a:t>
            </a:r>
            <a:r>
              <a:rPr lang="zh-CN" altLang="en-US" sz="2800" b="1" dirty="0">
                <a:solidFill>
                  <a:srgbClr val="800080"/>
                </a:solidFill>
              </a:rPr>
              <a:t>分析表</a:t>
            </a:r>
          </a:p>
        </p:txBody>
      </p:sp>
      <p:sp>
        <p:nvSpPr>
          <p:cNvPr id="464915" name="AutoShape 1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4916" name="AutoShape 2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4917" name="AutoShape 2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4918" name="AutoShape 2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4919" name="Rectangle 23"/>
          <p:cNvSpPr>
            <a:spLocks noChangeArrowheads="1"/>
          </p:cNvSpPr>
          <p:nvPr/>
        </p:nvSpPr>
        <p:spPr bwMode="auto">
          <a:xfrm>
            <a:off x="37232" y="188913"/>
            <a:ext cx="30226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LR 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分析基础</a:t>
            </a:r>
          </a:p>
        </p:txBody>
      </p:sp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9" name="Text Box 9"/>
          <p:cNvSpPr txBox="1">
            <a:spLocks noChangeArrowheads="1"/>
          </p:cNvSpPr>
          <p:nvPr/>
        </p:nvSpPr>
        <p:spPr bwMode="auto">
          <a:xfrm>
            <a:off x="755650" y="1125538"/>
            <a:ext cx="3024188" cy="9461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en-US" altLang="zh-CN" sz="2800"/>
              <a:t>LR </a:t>
            </a:r>
            <a:r>
              <a:rPr lang="zh-CN" altLang="en-US" sz="2800" b="1">
                <a:latin typeface="楷体_GB2312" pitchFamily="49" charset="-122"/>
              </a:rPr>
              <a:t>分析表</a:t>
            </a:r>
            <a:r>
              <a:rPr lang="zh-CN" altLang="en-US" sz="2800" b="1">
                <a:solidFill>
                  <a:srgbClr val="800080"/>
                </a:solidFill>
                <a:latin typeface="楷体_GB2312" pitchFamily="49" charset="-122"/>
              </a:rPr>
              <a:t>举例</a:t>
            </a: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 b="1">
                <a:solidFill>
                  <a:srgbClr val="800080"/>
                </a:solidFill>
              </a:rPr>
              <a:t> </a:t>
            </a:r>
            <a:r>
              <a:rPr kumimoji="0" lang="zh-CN" altLang="en-US" b="1">
                <a:solidFill>
                  <a:srgbClr val="800080"/>
                </a:solidFill>
                <a:sym typeface="Symbol" panose="05050102010706020507" pitchFamily="18" charset="2"/>
              </a:rPr>
              <a:t>文法： </a:t>
            </a:r>
            <a:r>
              <a:rPr kumimoji="0" lang="en-US" altLang="zh-CN" i="1">
                <a:sym typeface="Symbol" panose="05050102010706020507" pitchFamily="18" charset="2"/>
              </a:rPr>
              <a:t>G</a:t>
            </a:r>
            <a:r>
              <a:rPr kumimoji="0" lang="en-US" altLang="zh-CN">
                <a:sym typeface="Symbol" panose="05050102010706020507" pitchFamily="18" charset="2"/>
              </a:rPr>
              <a:t>[</a:t>
            </a:r>
            <a:r>
              <a:rPr kumimoji="0" lang="en-US" altLang="zh-CN" i="1">
                <a:sym typeface="Symbol" panose="05050102010706020507" pitchFamily="18" charset="2"/>
              </a:rPr>
              <a:t>E</a:t>
            </a:r>
            <a:r>
              <a:rPr kumimoji="0" lang="en-US" altLang="zh-CN">
                <a:sym typeface="Symbol" panose="05050102010706020507" pitchFamily="18" charset="2"/>
              </a:rPr>
              <a:t>]</a:t>
            </a:r>
            <a:r>
              <a:rPr lang="en-US" altLang="zh-CN"/>
              <a:t> </a:t>
            </a:r>
            <a:endParaRPr lang="en-US" altLang="zh-CN" i="1">
              <a:sym typeface="Symbol" panose="05050102010706020507" pitchFamily="18" charset="2"/>
            </a:endParaRPr>
          </a:p>
        </p:txBody>
      </p:sp>
      <p:sp>
        <p:nvSpPr>
          <p:cNvPr id="465930" name="AutoShape 1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5931" name="AutoShape 1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5932" name="AutoShape 12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5933" name="AutoShape 13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5934" name="Rectangle 14"/>
          <p:cNvSpPr>
            <a:spLocks noChangeArrowheads="1"/>
          </p:cNvSpPr>
          <p:nvPr/>
        </p:nvSpPr>
        <p:spPr bwMode="auto">
          <a:xfrm>
            <a:off x="37232" y="188913"/>
            <a:ext cx="30226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LR 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分析基础</a:t>
            </a:r>
          </a:p>
        </p:txBody>
      </p:sp>
      <p:sp>
        <p:nvSpPr>
          <p:cNvPr id="465937" name="Line 17"/>
          <p:cNvSpPr>
            <a:spLocks noChangeShapeType="1"/>
          </p:cNvSpPr>
          <p:nvPr/>
        </p:nvSpPr>
        <p:spPr bwMode="auto">
          <a:xfrm>
            <a:off x="2051050" y="2601913"/>
            <a:ext cx="61214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65938" name="Text Box 18"/>
          <p:cNvSpPr txBox="1">
            <a:spLocks noChangeArrowheads="1"/>
          </p:cNvSpPr>
          <p:nvPr/>
        </p:nvSpPr>
        <p:spPr bwMode="auto">
          <a:xfrm>
            <a:off x="1260475" y="2241550"/>
            <a:ext cx="863600" cy="701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kumimoji="0" lang="zh-CN" altLang="en-US" sz="2000" b="1">
                <a:solidFill>
                  <a:srgbClr val="800080"/>
                </a:solidFill>
                <a:latin typeface="Times New Roman" panose="02020603050405020304" pitchFamily="18" charset="0"/>
              </a:rPr>
              <a:t>栈顶状态</a:t>
            </a:r>
          </a:p>
        </p:txBody>
      </p:sp>
      <p:sp>
        <p:nvSpPr>
          <p:cNvPr id="465939" name="Text Box 19"/>
          <p:cNvSpPr txBox="1">
            <a:spLocks noChangeArrowheads="1"/>
          </p:cNvSpPr>
          <p:nvPr/>
        </p:nvSpPr>
        <p:spPr bwMode="auto">
          <a:xfrm>
            <a:off x="3751263" y="2205038"/>
            <a:ext cx="1181100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kumimoji="0" lang="en-US" altLang="zh-CN" sz="2000">
                <a:solidFill>
                  <a:srgbClr val="800080"/>
                </a:solidFill>
              </a:rPr>
              <a:t>ACTION</a:t>
            </a:r>
          </a:p>
        </p:txBody>
      </p:sp>
      <p:sp>
        <p:nvSpPr>
          <p:cNvPr id="465941" name="Text Box 21"/>
          <p:cNvSpPr txBox="1">
            <a:spLocks noChangeArrowheads="1"/>
          </p:cNvSpPr>
          <p:nvPr/>
        </p:nvSpPr>
        <p:spPr bwMode="auto">
          <a:xfrm>
            <a:off x="6948488" y="2205038"/>
            <a:ext cx="1114425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kumimoji="0" lang="en-US" altLang="zh-CN" sz="2000">
                <a:solidFill>
                  <a:srgbClr val="800080"/>
                </a:solidFill>
              </a:rPr>
              <a:t>GOTO</a:t>
            </a:r>
          </a:p>
        </p:txBody>
      </p:sp>
      <p:sp>
        <p:nvSpPr>
          <p:cNvPr id="465942" name="Line 22"/>
          <p:cNvSpPr>
            <a:spLocks noChangeShapeType="1"/>
          </p:cNvSpPr>
          <p:nvPr/>
        </p:nvSpPr>
        <p:spPr bwMode="auto">
          <a:xfrm>
            <a:off x="2051050" y="2241550"/>
            <a:ext cx="0" cy="4321175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65944" name="Line 24"/>
          <p:cNvSpPr>
            <a:spLocks noChangeShapeType="1"/>
          </p:cNvSpPr>
          <p:nvPr/>
        </p:nvSpPr>
        <p:spPr bwMode="auto">
          <a:xfrm>
            <a:off x="6372225" y="2241550"/>
            <a:ext cx="0" cy="4321175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65945" name="Line 25"/>
          <p:cNvSpPr>
            <a:spLocks noChangeShapeType="1"/>
          </p:cNvSpPr>
          <p:nvPr/>
        </p:nvSpPr>
        <p:spPr bwMode="auto">
          <a:xfrm>
            <a:off x="1223963" y="2962275"/>
            <a:ext cx="6948487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65946" name="Rectangle 26"/>
          <p:cNvSpPr>
            <a:spLocks noChangeArrowheads="1"/>
          </p:cNvSpPr>
          <p:nvPr/>
        </p:nvSpPr>
        <p:spPr bwMode="auto">
          <a:xfrm>
            <a:off x="2147888" y="2530475"/>
            <a:ext cx="3365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>
                <a:sym typeface="Symbol" panose="05050102010706020507" pitchFamily="18" charset="2"/>
              </a:rPr>
              <a:t>v</a:t>
            </a:r>
          </a:p>
        </p:txBody>
      </p:sp>
      <p:sp>
        <p:nvSpPr>
          <p:cNvPr id="465947" name="Rectangle 27"/>
          <p:cNvSpPr>
            <a:spLocks noChangeArrowheads="1"/>
          </p:cNvSpPr>
          <p:nvPr/>
        </p:nvSpPr>
        <p:spPr bwMode="auto">
          <a:xfrm>
            <a:off x="2722563" y="2530475"/>
            <a:ext cx="354012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465948" name="Rectangle 28"/>
          <p:cNvSpPr>
            <a:spLocks noChangeArrowheads="1"/>
          </p:cNvSpPr>
          <p:nvPr/>
        </p:nvSpPr>
        <p:spPr bwMode="auto">
          <a:xfrm>
            <a:off x="3348038" y="2525713"/>
            <a:ext cx="3365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</a:t>
            </a:r>
          </a:p>
        </p:txBody>
      </p:sp>
      <p:sp>
        <p:nvSpPr>
          <p:cNvPr id="465949" name="Rectangle 29"/>
          <p:cNvSpPr>
            <a:spLocks noChangeArrowheads="1"/>
          </p:cNvSpPr>
          <p:nvPr/>
        </p:nvSpPr>
        <p:spPr bwMode="auto">
          <a:xfrm>
            <a:off x="3948113" y="2530475"/>
            <a:ext cx="3619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+</a:t>
            </a:r>
          </a:p>
        </p:txBody>
      </p:sp>
      <p:sp>
        <p:nvSpPr>
          <p:cNvPr id="465950" name="Rectangle 30"/>
          <p:cNvSpPr>
            <a:spLocks noChangeArrowheads="1"/>
          </p:cNvSpPr>
          <p:nvPr/>
        </p:nvSpPr>
        <p:spPr bwMode="auto">
          <a:xfrm>
            <a:off x="4595813" y="2530475"/>
            <a:ext cx="2857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(</a:t>
            </a:r>
          </a:p>
        </p:txBody>
      </p:sp>
      <p:sp>
        <p:nvSpPr>
          <p:cNvPr id="465951" name="Rectangle 31"/>
          <p:cNvSpPr>
            <a:spLocks noChangeArrowheads="1"/>
          </p:cNvSpPr>
          <p:nvPr/>
        </p:nvSpPr>
        <p:spPr bwMode="auto">
          <a:xfrm>
            <a:off x="5243513" y="2530475"/>
            <a:ext cx="2857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465952" name="Rectangle 32"/>
          <p:cNvSpPr>
            <a:spLocks noChangeArrowheads="1"/>
          </p:cNvSpPr>
          <p:nvPr/>
        </p:nvSpPr>
        <p:spPr bwMode="auto">
          <a:xfrm>
            <a:off x="5867400" y="2530475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#</a:t>
            </a:r>
          </a:p>
        </p:txBody>
      </p:sp>
      <p:sp>
        <p:nvSpPr>
          <p:cNvPr id="465953" name="Rectangle 33"/>
          <p:cNvSpPr>
            <a:spLocks noChangeArrowheads="1"/>
          </p:cNvSpPr>
          <p:nvPr/>
        </p:nvSpPr>
        <p:spPr bwMode="auto">
          <a:xfrm>
            <a:off x="6516688" y="2530475"/>
            <a:ext cx="3873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>
                <a:sym typeface="Symbol" panose="05050102010706020507" pitchFamily="18" charset="2"/>
              </a:rPr>
              <a:t>E</a:t>
            </a:r>
          </a:p>
        </p:txBody>
      </p:sp>
      <p:sp>
        <p:nvSpPr>
          <p:cNvPr id="465954" name="Rectangle 34"/>
          <p:cNvSpPr>
            <a:spLocks noChangeArrowheads="1"/>
          </p:cNvSpPr>
          <p:nvPr/>
        </p:nvSpPr>
        <p:spPr bwMode="auto">
          <a:xfrm>
            <a:off x="7115175" y="2530475"/>
            <a:ext cx="369888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>
                <a:sym typeface="Symbol" panose="05050102010706020507" pitchFamily="18" charset="2"/>
              </a:rPr>
              <a:t>T</a:t>
            </a:r>
          </a:p>
        </p:txBody>
      </p:sp>
      <p:sp>
        <p:nvSpPr>
          <p:cNvPr id="465955" name="Rectangle 35"/>
          <p:cNvSpPr>
            <a:spLocks noChangeArrowheads="1"/>
          </p:cNvSpPr>
          <p:nvPr/>
        </p:nvSpPr>
        <p:spPr bwMode="auto">
          <a:xfrm>
            <a:off x="7715250" y="2530475"/>
            <a:ext cx="369888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>
                <a:sym typeface="Symbol" panose="05050102010706020507" pitchFamily="18" charset="2"/>
              </a:rPr>
              <a:t>F</a:t>
            </a:r>
          </a:p>
        </p:txBody>
      </p:sp>
      <p:sp>
        <p:nvSpPr>
          <p:cNvPr id="465958" name="Rectangle 38"/>
          <p:cNvSpPr>
            <a:spLocks noChangeArrowheads="1"/>
          </p:cNvSpPr>
          <p:nvPr/>
        </p:nvSpPr>
        <p:spPr bwMode="auto">
          <a:xfrm>
            <a:off x="1438275" y="2890838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0</a:t>
            </a:r>
          </a:p>
        </p:txBody>
      </p:sp>
      <p:sp>
        <p:nvSpPr>
          <p:cNvPr id="465959" name="Rectangle 39"/>
          <p:cNvSpPr>
            <a:spLocks noChangeArrowheads="1"/>
          </p:cNvSpPr>
          <p:nvPr/>
        </p:nvSpPr>
        <p:spPr bwMode="auto">
          <a:xfrm>
            <a:off x="1438275" y="3144838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1</a:t>
            </a:r>
          </a:p>
        </p:txBody>
      </p:sp>
      <p:sp>
        <p:nvSpPr>
          <p:cNvPr id="465960" name="Rectangle 40"/>
          <p:cNvSpPr>
            <a:spLocks noChangeArrowheads="1"/>
          </p:cNvSpPr>
          <p:nvPr/>
        </p:nvSpPr>
        <p:spPr bwMode="auto">
          <a:xfrm>
            <a:off x="1438275" y="3432175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2</a:t>
            </a:r>
          </a:p>
        </p:txBody>
      </p:sp>
      <p:sp>
        <p:nvSpPr>
          <p:cNvPr id="465961" name="Rectangle 41"/>
          <p:cNvSpPr>
            <a:spLocks noChangeArrowheads="1"/>
          </p:cNvSpPr>
          <p:nvPr/>
        </p:nvSpPr>
        <p:spPr bwMode="auto">
          <a:xfrm>
            <a:off x="1438275" y="3721100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3</a:t>
            </a:r>
          </a:p>
        </p:txBody>
      </p:sp>
      <p:sp>
        <p:nvSpPr>
          <p:cNvPr id="465962" name="Rectangle 42"/>
          <p:cNvSpPr>
            <a:spLocks noChangeArrowheads="1"/>
          </p:cNvSpPr>
          <p:nvPr/>
        </p:nvSpPr>
        <p:spPr bwMode="auto">
          <a:xfrm>
            <a:off x="1438275" y="4008438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4</a:t>
            </a:r>
          </a:p>
        </p:txBody>
      </p:sp>
      <p:sp>
        <p:nvSpPr>
          <p:cNvPr id="465963" name="Rectangle 43"/>
          <p:cNvSpPr>
            <a:spLocks noChangeArrowheads="1"/>
          </p:cNvSpPr>
          <p:nvPr/>
        </p:nvSpPr>
        <p:spPr bwMode="auto">
          <a:xfrm>
            <a:off x="1438275" y="4295775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5</a:t>
            </a:r>
          </a:p>
        </p:txBody>
      </p:sp>
      <p:sp>
        <p:nvSpPr>
          <p:cNvPr id="465964" name="Rectangle 44"/>
          <p:cNvSpPr>
            <a:spLocks noChangeArrowheads="1"/>
          </p:cNvSpPr>
          <p:nvPr/>
        </p:nvSpPr>
        <p:spPr bwMode="auto">
          <a:xfrm>
            <a:off x="1438275" y="4584700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6</a:t>
            </a:r>
          </a:p>
        </p:txBody>
      </p:sp>
      <p:sp>
        <p:nvSpPr>
          <p:cNvPr id="465965" name="Rectangle 45"/>
          <p:cNvSpPr>
            <a:spLocks noChangeArrowheads="1"/>
          </p:cNvSpPr>
          <p:nvPr/>
        </p:nvSpPr>
        <p:spPr bwMode="auto">
          <a:xfrm>
            <a:off x="1438275" y="4835525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7</a:t>
            </a:r>
          </a:p>
        </p:txBody>
      </p:sp>
      <p:sp>
        <p:nvSpPr>
          <p:cNvPr id="465966" name="Rectangle 46"/>
          <p:cNvSpPr>
            <a:spLocks noChangeArrowheads="1"/>
          </p:cNvSpPr>
          <p:nvPr/>
        </p:nvSpPr>
        <p:spPr bwMode="auto">
          <a:xfrm>
            <a:off x="1438275" y="5087938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8</a:t>
            </a:r>
          </a:p>
        </p:txBody>
      </p:sp>
      <p:sp>
        <p:nvSpPr>
          <p:cNvPr id="465967" name="Rectangle 47"/>
          <p:cNvSpPr>
            <a:spLocks noChangeArrowheads="1"/>
          </p:cNvSpPr>
          <p:nvPr/>
        </p:nvSpPr>
        <p:spPr bwMode="auto">
          <a:xfrm>
            <a:off x="1438275" y="5340350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9</a:t>
            </a:r>
          </a:p>
        </p:txBody>
      </p:sp>
      <p:sp>
        <p:nvSpPr>
          <p:cNvPr id="465968" name="Rectangle 48"/>
          <p:cNvSpPr>
            <a:spLocks noChangeArrowheads="1"/>
          </p:cNvSpPr>
          <p:nvPr/>
        </p:nvSpPr>
        <p:spPr bwMode="auto">
          <a:xfrm>
            <a:off x="1368425" y="5592763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10</a:t>
            </a:r>
          </a:p>
        </p:txBody>
      </p:sp>
      <p:sp>
        <p:nvSpPr>
          <p:cNvPr id="465969" name="Rectangle 49"/>
          <p:cNvSpPr>
            <a:spLocks noChangeArrowheads="1"/>
          </p:cNvSpPr>
          <p:nvPr/>
        </p:nvSpPr>
        <p:spPr bwMode="auto">
          <a:xfrm>
            <a:off x="1368425" y="5876925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11</a:t>
            </a:r>
          </a:p>
        </p:txBody>
      </p:sp>
      <p:sp>
        <p:nvSpPr>
          <p:cNvPr id="465970" name="Rectangle 50"/>
          <p:cNvSpPr>
            <a:spLocks noChangeArrowheads="1"/>
          </p:cNvSpPr>
          <p:nvPr/>
        </p:nvSpPr>
        <p:spPr bwMode="auto">
          <a:xfrm>
            <a:off x="1368425" y="6165850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12</a:t>
            </a:r>
          </a:p>
        </p:txBody>
      </p:sp>
      <p:sp>
        <p:nvSpPr>
          <p:cNvPr id="465973" name="Rectangle 53"/>
          <p:cNvSpPr>
            <a:spLocks noChangeArrowheads="1"/>
          </p:cNvSpPr>
          <p:nvPr/>
        </p:nvSpPr>
        <p:spPr bwMode="auto">
          <a:xfrm>
            <a:off x="6551613" y="2889250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1</a:t>
            </a:r>
          </a:p>
        </p:txBody>
      </p:sp>
      <p:sp>
        <p:nvSpPr>
          <p:cNvPr id="465974" name="Rectangle 54"/>
          <p:cNvSpPr>
            <a:spLocks noChangeArrowheads="1"/>
          </p:cNvSpPr>
          <p:nvPr/>
        </p:nvSpPr>
        <p:spPr bwMode="auto">
          <a:xfrm>
            <a:off x="7164388" y="2889250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2</a:t>
            </a:r>
          </a:p>
        </p:txBody>
      </p:sp>
      <p:sp>
        <p:nvSpPr>
          <p:cNvPr id="465975" name="Rectangle 55"/>
          <p:cNvSpPr>
            <a:spLocks noChangeArrowheads="1"/>
          </p:cNvSpPr>
          <p:nvPr/>
        </p:nvSpPr>
        <p:spPr bwMode="auto">
          <a:xfrm>
            <a:off x="7740650" y="2889250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3</a:t>
            </a:r>
          </a:p>
        </p:txBody>
      </p:sp>
      <p:sp>
        <p:nvSpPr>
          <p:cNvPr id="465976" name="Rectangle 56"/>
          <p:cNvSpPr>
            <a:spLocks noChangeArrowheads="1"/>
          </p:cNvSpPr>
          <p:nvPr/>
        </p:nvSpPr>
        <p:spPr bwMode="auto">
          <a:xfrm>
            <a:off x="5792788" y="3105150"/>
            <a:ext cx="579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acc</a:t>
            </a:r>
          </a:p>
        </p:txBody>
      </p:sp>
      <p:sp>
        <p:nvSpPr>
          <p:cNvPr id="465977" name="Rectangle 57"/>
          <p:cNvSpPr>
            <a:spLocks noChangeArrowheads="1"/>
          </p:cNvSpPr>
          <p:nvPr/>
        </p:nvSpPr>
        <p:spPr bwMode="auto">
          <a:xfrm>
            <a:off x="3924300" y="3141663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s7</a:t>
            </a:r>
          </a:p>
        </p:txBody>
      </p:sp>
      <p:sp>
        <p:nvSpPr>
          <p:cNvPr id="465978" name="Rectangle 58"/>
          <p:cNvSpPr>
            <a:spLocks noChangeArrowheads="1"/>
          </p:cNvSpPr>
          <p:nvPr/>
        </p:nvSpPr>
        <p:spPr bwMode="auto">
          <a:xfrm>
            <a:off x="3276600" y="3429000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s8</a:t>
            </a:r>
          </a:p>
        </p:txBody>
      </p:sp>
      <p:sp>
        <p:nvSpPr>
          <p:cNvPr id="465979" name="Rectangle 59"/>
          <p:cNvSpPr>
            <a:spLocks noChangeArrowheads="1"/>
          </p:cNvSpPr>
          <p:nvPr/>
        </p:nvSpPr>
        <p:spPr bwMode="auto">
          <a:xfrm>
            <a:off x="3946525" y="3429000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r2</a:t>
            </a:r>
          </a:p>
        </p:txBody>
      </p:sp>
      <p:sp>
        <p:nvSpPr>
          <p:cNvPr id="465980" name="Text Box 60"/>
          <p:cNvSpPr txBox="1">
            <a:spLocks noChangeArrowheads="1"/>
          </p:cNvSpPr>
          <p:nvPr/>
        </p:nvSpPr>
        <p:spPr bwMode="auto">
          <a:xfrm>
            <a:off x="4140200" y="1066800"/>
            <a:ext cx="4752975" cy="106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1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E </a:t>
            </a:r>
            <a:r>
              <a:rPr lang="en-US" altLang="zh-CN" sz="2000">
                <a:sym typeface="Symbol" panose="05050102010706020507" pitchFamily="18" charset="2"/>
              </a:rPr>
              <a:t> </a:t>
            </a:r>
            <a:r>
              <a:rPr lang="en-US" altLang="zh-CN" sz="2000" i="1">
                <a:sym typeface="Symbol" panose="05050102010706020507" pitchFamily="18" charset="2"/>
              </a:rPr>
              <a:t>E+T</a:t>
            </a:r>
            <a:r>
              <a:rPr lang="en-US" altLang="zh-CN" sz="2000">
                <a:sym typeface="Symbol" panose="05050102010706020507" pitchFamily="18" charset="2"/>
              </a:rPr>
              <a:t>  </a:t>
            </a: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2</a:t>
            </a:r>
            <a:r>
              <a:rPr lang="zh-CN" altLang="en-US" sz="2000">
                <a:sym typeface="Symbol" panose="05050102010706020507" pitchFamily="18" charset="2"/>
              </a:rPr>
              <a:t>） </a:t>
            </a:r>
            <a:r>
              <a:rPr lang="en-US" altLang="zh-CN" sz="2000" i="1">
                <a:sym typeface="Symbol" panose="05050102010706020507" pitchFamily="18" charset="2"/>
              </a:rPr>
              <a:t>E 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/>
              <a:t> </a:t>
            </a:r>
            <a:r>
              <a:rPr lang="en-US" altLang="zh-CN" sz="2000" i="1">
                <a:sym typeface="Symbol" panose="05050102010706020507" pitchFamily="18" charset="2"/>
              </a:rPr>
              <a:t>T 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3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T 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T</a:t>
            </a:r>
            <a:r>
              <a:rPr lang="en-US" altLang="zh-CN" sz="2000">
                <a:sym typeface="Symbol" panose="05050102010706020507" pitchFamily="18" charset="2"/>
              </a:rPr>
              <a:t></a:t>
            </a:r>
            <a:r>
              <a:rPr lang="en-US" altLang="zh-CN" sz="2000" i="1">
                <a:sym typeface="Symbol" panose="05050102010706020507" pitchFamily="18" charset="2"/>
              </a:rPr>
              <a:t>F    </a:t>
            </a: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4</a:t>
            </a:r>
            <a:r>
              <a:rPr lang="zh-CN" altLang="en-US" sz="2000">
                <a:sym typeface="Symbol" panose="05050102010706020507" pitchFamily="18" charset="2"/>
              </a:rPr>
              <a:t>） </a:t>
            </a:r>
            <a:r>
              <a:rPr lang="en-US" altLang="zh-CN" sz="2000" i="1">
                <a:sym typeface="Symbol" panose="05050102010706020507" pitchFamily="18" charset="2"/>
              </a:rPr>
              <a:t>T 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/>
              <a:t> </a:t>
            </a:r>
            <a:r>
              <a:rPr lang="en-US" altLang="zh-CN" sz="2000" i="1">
                <a:sym typeface="Symbol" panose="05050102010706020507" pitchFamily="18" charset="2"/>
              </a:rPr>
              <a:t>F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5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F 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 (E)  </a:t>
            </a: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6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zh-CN" altLang="en-US" sz="2000" i="1">
                <a:sym typeface="Symbol" panose="05050102010706020507" pitchFamily="18" charset="2"/>
              </a:rPr>
              <a:t> </a:t>
            </a:r>
            <a:r>
              <a:rPr lang="en-US" altLang="zh-CN" sz="2000" i="1">
                <a:sym typeface="Symbol" panose="05050102010706020507" pitchFamily="18" charset="2"/>
              </a:rPr>
              <a:t>F 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/>
              <a:t> </a:t>
            </a:r>
            <a:r>
              <a:rPr lang="en-US" altLang="zh-CN" sz="2000" i="1">
                <a:sym typeface="Symbol" panose="05050102010706020507" pitchFamily="18" charset="2"/>
              </a:rPr>
              <a:t>v</a:t>
            </a:r>
            <a:r>
              <a:rPr lang="en-US" altLang="zh-CN" sz="2000"/>
              <a:t> </a:t>
            </a: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7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F 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/>
              <a:t> </a:t>
            </a:r>
            <a:r>
              <a:rPr lang="en-US" altLang="zh-CN" sz="2000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465981" name="Rectangle 61"/>
          <p:cNvSpPr>
            <a:spLocks noChangeArrowheads="1"/>
          </p:cNvSpPr>
          <p:nvPr/>
        </p:nvSpPr>
        <p:spPr bwMode="auto">
          <a:xfrm>
            <a:off x="5148263" y="3429000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r2</a:t>
            </a:r>
          </a:p>
        </p:txBody>
      </p:sp>
      <p:sp>
        <p:nvSpPr>
          <p:cNvPr id="465982" name="Rectangle 62"/>
          <p:cNvSpPr>
            <a:spLocks noChangeArrowheads="1"/>
          </p:cNvSpPr>
          <p:nvPr/>
        </p:nvSpPr>
        <p:spPr bwMode="auto">
          <a:xfrm>
            <a:off x="5867400" y="3429000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r2</a:t>
            </a:r>
          </a:p>
        </p:txBody>
      </p:sp>
      <p:sp>
        <p:nvSpPr>
          <p:cNvPr id="465983" name="Rectangle 63"/>
          <p:cNvSpPr>
            <a:spLocks noChangeArrowheads="1"/>
          </p:cNvSpPr>
          <p:nvPr/>
        </p:nvSpPr>
        <p:spPr bwMode="auto">
          <a:xfrm>
            <a:off x="3946525" y="371792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r4</a:t>
            </a:r>
          </a:p>
        </p:txBody>
      </p:sp>
      <p:sp>
        <p:nvSpPr>
          <p:cNvPr id="465984" name="Rectangle 64"/>
          <p:cNvSpPr>
            <a:spLocks noChangeArrowheads="1"/>
          </p:cNvSpPr>
          <p:nvPr/>
        </p:nvSpPr>
        <p:spPr bwMode="auto">
          <a:xfrm>
            <a:off x="5148263" y="371792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r4</a:t>
            </a:r>
          </a:p>
        </p:txBody>
      </p:sp>
      <p:sp>
        <p:nvSpPr>
          <p:cNvPr id="465985" name="Rectangle 65"/>
          <p:cNvSpPr>
            <a:spLocks noChangeArrowheads="1"/>
          </p:cNvSpPr>
          <p:nvPr/>
        </p:nvSpPr>
        <p:spPr bwMode="auto">
          <a:xfrm>
            <a:off x="5867400" y="371792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r4</a:t>
            </a:r>
          </a:p>
        </p:txBody>
      </p:sp>
      <p:sp>
        <p:nvSpPr>
          <p:cNvPr id="465986" name="Rectangle 66"/>
          <p:cNvSpPr>
            <a:spLocks noChangeArrowheads="1"/>
          </p:cNvSpPr>
          <p:nvPr/>
        </p:nvSpPr>
        <p:spPr bwMode="auto">
          <a:xfrm>
            <a:off x="4500563" y="2889250"/>
            <a:ext cx="452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s4</a:t>
            </a:r>
          </a:p>
        </p:txBody>
      </p:sp>
      <p:sp>
        <p:nvSpPr>
          <p:cNvPr id="465987" name="Rectangle 67"/>
          <p:cNvSpPr>
            <a:spLocks noChangeArrowheads="1"/>
          </p:cNvSpPr>
          <p:nvPr/>
        </p:nvSpPr>
        <p:spPr bwMode="auto">
          <a:xfrm>
            <a:off x="2103438" y="2889250"/>
            <a:ext cx="452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s5</a:t>
            </a:r>
          </a:p>
        </p:txBody>
      </p:sp>
      <p:sp>
        <p:nvSpPr>
          <p:cNvPr id="465988" name="Rectangle 68"/>
          <p:cNvSpPr>
            <a:spLocks noChangeArrowheads="1"/>
          </p:cNvSpPr>
          <p:nvPr/>
        </p:nvSpPr>
        <p:spPr bwMode="auto">
          <a:xfrm>
            <a:off x="2679700" y="2889250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s6</a:t>
            </a:r>
          </a:p>
        </p:txBody>
      </p:sp>
      <p:sp>
        <p:nvSpPr>
          <p:cNvPr id="465989" name="Rectangle 69"/>
          <p:cNvSpPr>
            <a:spLocks noChangeArrowheads="1"/>
          </p:cNvSpPr>
          <p:nvPr/>
        </p:nvSpPr>
        <p:spPr bwMode="auto">
          <a:xfrm>
            <a:off x="2103438" y="4005263"/>
            <a:ext cx="452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s5</a:t>
            </a:r>
          </a:p>
        </p:txBody>
      </p:sp>
      <p:sp>
        <p:nvSpPr>
          <p:cNvPr id="465990" name="Rectangle 70"/>
          <p:cNvSpPr>
            <a:spLocks noChangeArrowheads="1"/>
          </p:cNvSpPr>
          <p:nvPr/>
        </p:nvSpPr>
        <p:spPr bwMode="auto">
          <a:xfrm>
            <a:off x="2679700" y="4005263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s6</a:t>
            </a:r>
          </a:p>
        </p:txBody>
      </p:sp>
      <p:sp>
        <p:nvSpPr>
          <p:cNvPr id="465991" name="Rectangle 71"/>
          <p:cNvSpPr>
            <a:spLocks noChangeArrowheads="1"/>
          </p:cNvSpPr>
          <p:nvPr/>
        </p:nvSpPr>
        <p:spPr bwMode="auto">
          <a:xfrm>
            <a:off x="4479925" y="4005263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s4</a:t>
            </a:r>
          </a:p>
        </p:txBody>
      </p:sp>
      <p:sp>
        <p:nvSpPr>
          <p:cNvPr id="465992" name="Rectangle 72"/>
          <p:cNvSpPr>
            <a:spLocks noChangeArrowheads="1"/>
          </p:cNvSpPr>
          <p:nvPr/>
        </p:nvSpPr>
        <p:spPr bwMode="auto">
          <a:xfrm>
            <a:off x="6551613" y="4041775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9</a:t>
            </a:r>
          </a:p>
        </p:txBody>
      </p:sp>
      <p:sp>
        <p:nvSpPr>
          <p:cNvPr id="465993" name="Rectangle 73"/>
          <p:cNvSpPr>
            <a:spLocks noChangeArrowheads="1"/>
          </p:cNvSpPr>
          <p:nvPr/>
        </p:nvSpPr>
        <p:spPr bwMode="auto">
          <a:xfrm>
            <a:off x="7164388" y="4041775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2</a:t>
            </a:r>
          </a:p>
        </p:txBody>
      </p:sp>
      <p:sp>
        <p:nvSpPr>
          <p:cNvPr id="465994" name="Rectangle 74"/>
          <p:cNvSpPr>
            <a:spLocks noChangeArrowheads="1"/>
          </p:cNvSpPr>
          <p:nvPr/>
        </p:nvSpPr>
        <p:spPr bwMode="auto">
          <a:xfrm>
            <a:off x="7740650" y="4041775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3</a:t>
            </a:r>
          </a:p>
        </p:txBody>
      </p:sp>
      <p:sp>
        <p:nvSpPr>
          <p:cNvPr id="465995" name="Rectangle 75"/>
          <p:cNvSpPr>
            <a:spLocks noChangeArrowheads="1"/>
          </p:cNvSpPr>
          <p:nvPr/>
        </p:nvSpPr>
        <p:spPr bwMode="auto">
          <a:xfrm>
            <a:off x="3298825" y="371792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r4</a:t>
            </a:r>
          </a:p>
        </p:txBody>
      </p:sp>
      <p:sp>
        <p:nvSpPr>
          <p:cNvPr id="465996" name="Rectangle 76"/>
          <p:cNvSpPr>
            <a:spLocks noChangeArrowheads="1"/>
          </p:cNvSpPr>
          <p:nvPr/>
        </p:nvSpPr>
        <p:spPr bwMode="auto">
          <a:xfrm>
            <a:off x="3970338" y="4292600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r6</a:t>
            </a:r>
          </a:p>
        </p:txBody>
      </p:sp>
      <p:sp>
        <p:nvSpPr>
          <p:cNvPr id="465997" name="Rectangle 77"/>
          <p:cNvSpPr>
            <a:spLocks noChangeArrowheads="1"/>
          </p:cNvSpPr>
          <p:nvPr/>
        </p:nvSpPr>
        <p:spPr bwMode="auto">
          <a:xfrm>
            <a:off x="5172075" y="4292600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r6</a:t>
            </a:r>
          </a:p>
        </p:txBody>
      </p:sp>
      <p:sp>
        <p:nvSpPr>
          <p:cNvPr id="465998" name="Rectangle 78"/>
          <p:cNvSpPr>
            <a:spLocks noChangeArrowheads="1"/>
          </p:cNvSpPr>
          <p:nvPr/>
        </p:nvSpPr>
        <p:spPr bwMode="auto">
          <a:xfrm>
            <a:off x="5891213" y="4292600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r6</a:t>
            </a:r>
          </a:p>
        </p:txBody>
      </p:sp>
      <p:sp>
        <p:nvSpPr>
          <p:cNvPr id="465999" name="Rectangle 79"/>
          <p:cNvSpPr>
            <a:spLocks noChangeArrowheads="1"/>
          </p:cNvSpPr>
          <p:nvPr/>
        </p:nvSpPr>
        <p:spPr bwMode="auto">
          <a:xfrm>
            <a:off x="3322638" y="4292600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r6</a:t>
            </a:r>
          </a:p>
        </p:txBody>
      </p:sp>
      <p:sp>
        <p:nvSpPr>
          <p:cNvPr id="466000" name="Rectangle 80"/>
          <p:cNvSpPr>
            <a:spLocks noChangeArrowheads="1"/>
          </p:cNvSpPr>
          <p:nvPr/>
        </p:nvSpPr>
        <p:spPr bwMode="auto">
          <a:xfrm>
            <a:off x="3970338" y="458152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r7</a:t>
            </a:r>
          </a:p>
        </p:txBody>
      </p:sp>
      <p:sp>
        <p:nvSpPr>
          <p:cNvPr id="466001" name="Rectangle 81"/>
          <p:cNvSpPr>
            <a:spLocks noChangeArrowheads="1"/>
          </p:cNvSpPr>
          <p:nvPr/>
        </p:nvSpPr>
        <p:spPr bwMode="auto">
          <a:xfrm>
            <a:off x="5172075" y="458152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r7</a:t>
            </a:r>
          </a:p>
        </p:txBody>
      </p:sp>
      <p:sp>
        <p:nvSpPr>
          <p:cNvPr id="466002" name="Rectangle 82"/>
          <p:cNvSpPr>
            <a:spLocks noChangeArrowheads="1"/>
          </p:cNvSpPr>
          <p:nvPr/>
        </p:nvSpPr>
        <p:spPr bwMode="auto">
          <a:xfrm>
            <a:off x="5891213" y="458152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r7</a:t>
            </a:r>
          </a:p>
        </p:txBody>
      </p:sp>
      <p:sp>
        <p:nvSpPr>
          <p:cNvPr id="466003" name="Rectangle 83"/>
          <p:cNvSpPr>
            <a:spLocks noChangeArrowheads="1"/>
          </p:cNvSpPr>
          <p:nvPr/>
        </p:nvSpPr>
        <p:spPr bwMode="auto">
          <a:xfrm>
            <a:off x="3322638" y="458152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r7</a:t>
            </a:r>
          </a:p>
        </p:txBody>
      </p:sp>
      <p:sp>
        <p:nvSpPr>
          <p:cNvPr id="466004" name="Rectangle 84"/>
          <p:cNvSpPr>
            <a:spLocks noChangeArrowheads="1"/>
          </p:cNvSpPr>
          <p:nvPr/>
        </p:nvSpPr>
        <p:spPr bwMode="auto">
          <a:xfrm>
            <a:off x="2103438" y="4833938"/>
            <a:ext cx="452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s5</a:t>
            </a:r>
          </a:p>
        </p:txBody>
      </p:sp>
      <p:sp>
        <p:nvSpPr>
          <p:cNvPr id="466005" name="Rectangle 85"/>
          <p:cNvSpPr>
            <a:spLocks noChangeArrowheads="1"/>
          </p:cNvSpPr>
          <p:nvPr/>
        </p:nvSpPr>
        <p:spPr bwMode="auto">
          <a:xfrm>
            <a:off x="2679700" y="4833938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s6</a:t>
            </a:r>
          </a:p>
        </p:txBody>
      </p:sp>
      <p:sp>
        <p:nvSpPr>
          <p:cNvPr id="466006" name="Rectangle 86"/>
          <p:cNvSpPr>
            <a:spLocks noChangeArrowheads="1"/>
          </p:cNvSpPr>
          <p:nvPr/>
        </p:nvSpPr>
        <p:spPr bwMode="auto">
          <a:xfrm>
            <a:off x="4479925" y="4833938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s4</a:t>
            </a:r>
          </a:p>
        </p:txBody>
      </p:sp>
      <p:sp>
        <p:nvSpPr>
          <p:cNvPr id="466007" name="Rectangle 87"/>
          <p:cNvSpPr>
            <a:spLocks noChangeArrowheads="1"/>
          </p:cNvSpPr>
          <p:nvPr/>
        </p:nvSpPr>
        <p:spPr bwMode="auto">
          <a:xfrm>
            <a:off x="7058025" y="4833938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10</a:t>
            </a:r>
          </a:p>
        </p:txBody>
      </p:sp>
      <p:sp>
        <p:nvSpPr>
          <p:cNvPr id="466008" name="Rectangle 88"/>
          <p:cNvSpPr>
            <a:spLocks noChangeArrowheads="1"/>
          </p:cNvSpPr>
          <p:nvPr/>
        </p:nvSpPr>
        <p:spPr bwMode="auto">
          <a:xfrm>
            <a:off x="7740650" y="4833938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3</a:t>
            </a:r>
          </a:p>
        </p:txBody>
      </p:sp>
      <p:sp>
        <p:nvSpPr>
          <p:cNvPr id="466009" name="Rectangle 89"/>
          <p:cNvSpPr>
            <a:spLocks noChangeArrowheads="1"/>
          </p:cNvSpPr>
          <p:nvPr/>
        </p:nvSpPr>
        <p:spPr bwMode="auto">
          <a:xfrm>
            <a:off x="2103438" y="5122863"/>
            <a:ext cx="452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s5</a:t>
            </a:r>
          </a:p>
        </p:txBody>
      </p:sp>
      <p:sp>
        <p:nvSpPr>
          <p:cNvPr id="466010" name="Rectangle 90"/>
          <p:cNvSpPr>
            <a:spLocks noChangeArrowheads="1"/>
          </p:cNvSpPr>
          <p:nvPr/>
        </p:nvSpPr>
        <p:spPr bwMode="auto">
          <a:xfrm>
            <a:off x="2679700" y="5122863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s6</a:t>
            </a:r>
          </a:p>
        </p:txBody>
      </p:sp>
      <p:sp>
        <p:nvSpPr>
          <p:cNvPr id="466011" name="Rectangle 91"/>
          <p:cNvSpPr>
            <a:spLocks noChangeArrowheads="1"/>
          </p:cNvSpPr>
          <p:nvPr/>
        </p:nvSpPr>
        <p:spPr bwMode="auto">
          <a:xfrm>
            <a:off x="4479925" y="5122863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s4</a:t>
            </a:r>
          </a:p>
        </p:txBody>
      </p:sp>
      <p:sp>
        <p:nvSpPr>
          <p:cNvPr id="466013" name="Rectangle 93"/>
          <p:cNvSpPr>
            <a:spLocks noChangeArrowheads="1"/>
          </p:cNvSpPr>
          <p:nvPr/>
        </p:nvSpPr>
        <p:spPr bwMode="auto">
          <a:xfrm>
            <a:off x="7634288" y="5122863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11</a:t>
            </a:r>
          </a:p>
        </p:txBody>
      </p:sp>
      <p:sp>
        <p:nvSpPr>
          <p:cNvPr id="466014" name="Rectangle 94"/>
          <p:cNvSpPr>
            <a:spLocks noChangeArrowheads="1"/>
          </p:cNvSpPr>
          <p:nvPr/>
        </p:nvSpPr>
        <p:spPr bwMode="auto">
          <a:xfrm>
            <a:off x="5057775" y="5338763"/>
            <a:ext cx="593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s12</a:t>
            </a:r>
          </a:p>
        </p:txBody>
      </p:sp>
      <p:sp>
        <p:nvSpPr>
          <p:cNvPr id="466016" name="Rectangle 96"/>
          <p:cNvSpPr>
            <a:spLocks noChangeArrowheads="1"/>
          </p:cNvSpPr>
          <p:nvPr/>
        </p:nvSpPr>
        <p:spPr bwMode="auto">
          <a:xfrm>
            <a:off x="3276600" y="5589588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s8</a:t>
            </a:r>
          </a:p>
        </p:txBody>
      </p:sp>
      <p:sp>
        <p:nvSpPr>
          <p:cNvPr id="466017" name="Rectangle 97"/>
          <p:cNvSpPr>
            <a:spLocks noChangeArrowheads="1"/>
          </p:cNvSpPr>
          <p:nvPr/>
        </p:nvSpPr>
        <p:spPr bwMode="auto">
          <a:xfrm>
            <a:off x="3946525" y="558958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r1</a:t>
            </a:r>
          </a:p>
        </p:txBody>
      </p:sp>
      <p:sp>
        <p:nvSpPr>
          <p:cNvPr id="466018" name="Rectangle 98"/>
          <p:cNvSpPr>
            <a:spLocks noChangeArrowheads="1"/>
          </p:cNvSpPr>
          <p:nvPr/>
        </p:nvSpPr>
        <p:spPr bwMode="auto">
          <a:xfrm>
            <a:off x="5148263" y="558958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r1</a:t>
            </a:r>
          </a:p>
        </p:txBody>
      </p:sp>
      <p:sp>
        <p:nvSpPr>
          <p:cNvPr id="466019" name="Rectangle 99"/>
          <p:cNvSpPr>
            <a:spLocks noChangeArrowheads="1"/>
          </p:cNvSpPr>
          <p:nvPr/>
        </p:nvSpPr>
        <p:spPr bwMode="auto">
          <a:xfrm>
            <a:off x="5867400" y="558958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r1</a:t>
            </a:r>
          </a:p>
        </p:txBody>
      </p:sp>
      <p:sp>
        <p:nvSpPr>
          <p:cNvPr id="466020" name="Rectangle 100"/>
          <p:cNvSpPr>
            <a:spLocks noChangeArrowheads="1"/>
          </p:cNvSpPr>
          <p:nvPr/>
        </p:nvSpPr>
        <p:spPr bwMode="auto">
          <a:xfrm>
            <a:off x="3946525" y="591343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r3</a:t>
            </a:r>
          </a:p>
        </p:txBody>
      </p:sp>
      <p:sp>
        <p:nvSpPr>
          <p:cNvPr id="466021" name="Rectangle 101"/>
          <p:cNvSpPr>
            <a:spLocks noChangeArrowheads="1"/>
          </p:cNvSpPr>
          <p:nvPr/>
        </p:nvSpPr>
        <p:spPr bwMode="auto">
          <a:xfrm>
            <a:off x="5148263" y="591343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r3</a:t>
            </a:r>
          </a:p>
        </p:txBody>
      </p:sp>
      <p:sp>
        <p:nvSpPr>
          <p:cNvPr id="466022" name="Rectangle 102"/>
          <p:cNvSpPr>
            <a:spLocks noChangeArrowheads="1"/>
          </p:cNvSpPr>
          <p:nvPr/>
        </p:nvSpPr>
        <p:spPr bwMode="auto">
          <a:xfrm>
            <a:off x="5867400" y="591343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r3</a:t>
            </a:r>
          </a:p>
        </p:txBody>
      </p:sp>
      <p:sp>
        <p:nvSpPr>
          <p:cNvPr id="466023" name="Rectangle 103"/>
          <p:cNvSpPr>
            <a:spLocks noChangeArrowheads="1"/>
          </p:cNvSpPr>
          <p:nvPr/>
        </p:nvSpPr>
        <p:spPr bwMode="auto">
          <a:xfrm>
            <a:off x="3298825" y="591343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r3</a:t>
            </a:r>
          </a:p>
        </p:txBody>
      </p:sp>
      <p:sp>
        <p:nvSpPr>
          <p:cNvPr id="466024" name="Rectangle 104"/>
          <p:cNvSpPr>
            <a:spLocks noChangeArrowheads="1"/>
          </p:cNvSpPr>
          <p:nvPr/>
        </p:nvSpPr>
        <p:spPr bwMode="auto">
          <a:xfrm>
            <a:off x="3924300" y="623728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r5</a:t>
            </a:r>
          </a:p>
        </p:txBody>
      </p:sp>
      <p:sp>
        <p:nvSpPr>
          <p:cNvPr id="466025" name="Rectangle 105"/>
          <p:cNvSpPr>
            <a:spLocks noChangeArrowheads="1"/>
          </p:cNvSpPr>
          <p:nvPr/>
        </p:nvSpPr>
        <p:spPr bwMode="auto">
          <a:xfrm>
            <a:off x="5126038" y="623728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r5</a:t>
            </a:r>
          </a:p>
        </p:txBody>
      </p:sp>
      <p:sp>
        <p:nvSpPr>
          <p:cNvPr id="466026" name="Rectangle 106"/>
          <p:cNvSpPr>
            <a:spLocks noChangeArrowheads="1"/>
          </p:cNvSpPr>
          <p:nvPr/>
        </p:nvSpPr>
        <p:spPr bwMode="auto">
          <a:xfrm>
            <a:off x="5845175" y="623728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r5</a:t>
            </a:r>
          </a:p>
        </p:txBody>
      </p:sp>
      <p:sp>
        <p:nvSpPr>
          <p:cNvPr id="466027" name="Rectangle 107"/>
          <p:cNvSpPr>
            <a:spLocks noChangeArrowheads="1"/>
          </p:cNvSpPr>
          <p:nvPr/>
        </p:nvSpPr>
        <p:spPr bwMode="auto">
          <a:xfrm>
            <a:off x="3276600" y="623728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r5</a:t>
            </a:r>
          </a:p>
        </p:txBody>
      </p:sp>
      <p:sp>
        <p:nvSpPr>
          <p:cNvPr id="466028" name="Rectangle 108"/>
          <p:cNvSpPr>
            <a:spLocks noChangeArrowheads="1"/>
          </p:cNvSpPr>
          <p:nvPr/>
        </p:nvSpPr>
        <p:spPr bwMode="auto">
          <a:xfrm>
            <a:off x="3924300" y="5337175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s7</a:t>
            </a:r>
          </a:p>
        </p:txBody>
      </p:sp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60" name="Text Box 16"/>
          <p:cNvSpPr txBox="1">
            <a:spLocks noChangeArrowheads="1"/>
          </p:cNvSpPr>
          <p:nvPr/>
        </p:nvSpPr>
        <p:spPr bwMode="auto">
          <a:xfrm>
            <a:off x="539750" y="1266825"/>
            <a:ext cx="8459788" cy="51768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 dirty="0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en-US" altLang="zh-CN" sz="3200" dirty="0">
                <a:solidFill>
                  <a:srgbClr val="800080"/>
                </a:solidFill>
              </a:rPr>
              <a:t>LR</a:t>
            </a:r>
            <a:r>
              <a:rPr lang="en-US" altLang="zh-CN" dirty="0">
                <a:solidFill>
                  <a:srgbClr val="800080"/>
                </a:solidFill>
              </a:rPr>
              <a:t> </a:t>
            </a:r>
            <a:r>
              <a:rPr lang="zh-CN" altLang="en-US" sz="3200" b="1" dirty="0">
                <a:solidFill>
                  <a:srgbClr val="800080"/>
                </a:solidFill>
                <a:latin typeface="楷体_GB2312" pitchFamily="49" charset="-122"/>
              </a:rPr>
              <a:t>分析表</a:t>
            </a:r>
            <a:endParaRPr lang="zh-CN" altLang="en-US" sz="1000" b="1" dirty="0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 dirty="0">
              <a:solidFill>
                <a:srgbClr val="800080"/>
              </a:solidFill>
              <a:latin typeface="楷体_GB2312" pitchFamily="49" charset="-122"/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 b="1" dirty="0">
                <a:solidFill>
                  <a:srgbClr val="800080"/>
                </a:solidFill>
              </a:rPr>
              <a:t>  </a:t>
            </a:r>
            <a:r>
              <a:rPr lang="zh-CN" altLang="en-US" sz="2800" b="1" dirty="0"/>
              <a:t>使用两张表</a:t>
            </a:r>
            <a:endParaRPr lang="zh-CN" altLang="en-US" b="1" dirty="0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endParaRPr lang="zh-CN" altLang="en-US" sz="1000" b="1" dirty="0">
              <a:solidFill>
                <a:srgbClr val="800080"/>
              </a:solidFill>
            </a:endParaRPr>
          </a:p>
          <a:p>
            <a:pPr lvl="1">
              <a:buFontTx/>
              <a:buChar char="•"/>
            </a:pPr>
            <a:r>
              <a:rPr lang="zh-CN" altLang="en-US" sz="2800" dirty="0"/>
              <a:t>   </a:t>
            </a:r>
            <a:r>
              <a:rPr lang="en-US" altLang="zh-CN" dirty="0">
                <a:solidFill>
                  <a:srgbClr val="800080"/>
                </a:solidFill>
              </a:rPr>
              <a:t>ACTION </a:t>
            </a:r>
            <a:r>
              <a:rPr lang="zh-CN" altLang="en-US" b="1" dirty="0">
                <a:solidFill>
                  <a:srgbClr val="800080"/>
                </a:solidFill>
              </a:rPr>
              <a:t>表</a:t>
            </a:r>
            <a:r>
              <a:rPr lang="zh-CN" altLang="en-US" sz="2800" b="1" dirty="0">
                <a:solidFill>
                  <a:srgbClr val="800080"/>
                </a:solidFill>
              </a:rPr>
              <a:t>  </a:t>
            </a:r>
            <a:r>
              <a:rPr kumimoji="0" lang="zh-CN" altLang="en-US" b="1" dirty="0"/>
              <a:t>告诉分析引擎：在栈顶状态为</a:t>
            </a:r>
            <a:r>
              <a:rPr kumimoji="0" lang="en-US" altLang="zh-CN" i="1" dirty="0"/>
              <a:t>k</a:t>
            </a:r>
            <a:r>
              <a:rPr kumimoji="0" lang="en-US" altLang="en-US" b="1" dirty="0"/>
              <a:t>,</a:t>
            </a:r>
            <a:r>
              <a:rPr kumimoji="0" lang="en-US" altLang="zh-CN" b="1" dirty="0"/>
              <a:t> </a:t>
            </a:r>
            <a:r>
              <a:rPr kumimoji="0" lang="zh-CN" altLang="en-US" b="1" dirty="0"/>
              <a:t>当前输</a:t>
            </a:r>
          </a:p>
          <a:p>
            <a:pPr lvl="1">
              <a:buFontTx/>
              <a:buNone/>
            </a:pPr>
            <a:r>
              <a:rPr kumimoji="0" lang="zh-CN" altLang="en-US" b="1" dirty="0"/>
              <a:t>     入符号是 </a:t>
            </a:r>
            <a:r>
              <a:rPr kumimoji="0" lang="en-US" altLang="zh-CN" b="1" dirty="0"/>
              <a:t>a </a:t>
            </a:r>
            <a:r>
              <a:rPr kumimoji="0" lang="zh-CN" altLang="zh-CN" b="1" dirty="0"/>
              <a:t>时做什么</a:t>
            </a:r>
            <a:endParaRPr kumimoji="0" lang="zh-CN" altLang="en-US" b="1" dirty="0"/>
          </a:p>
          <a:p>
            <a:pPr lvl="1">
              <a:buFontTx/>
              <a:buNone/>
            </a:pPr>
            <a:r>
              <a:rPr lang="zh-CN" altLang="en-US" b="1" dirty="0"/>
              <a:t>     </a:t>
            </a:r>
            <a:r>
              <a:rPr lang="en-US" altLang="zh-CN" dirty="0"/>
              <a:t>ACTION [</a:t>
            </a:r>
            <a:r>
              <a:rPr lang="en-US" altLang="zh-CN" i="1" dirty="0" err="1"/>
              <a:t>k</a:t>
            </a:r>
            <a:r>
              <a:rPr lang="en-US" altLang="zh-CN" dirty="0" err="1"/>
              <a:t>,a</a:t>
            </a:r>
            <a:r>
              <a:rPr lang="en-US" altLang="zh-CN" dirty="0"/>
              <a:t>]=</a:t>
            </a:r>
            <a:r>
              <a:rPr lang="en-US" altLang="zh-CN" i="1" dirty="0" err="1">
                <a:solidFill>
                  <a:srgbClr val="800080"/>
                </a:solidFill>
              </a:rPr>
              <a:t>s</a:t>
            </a:r>
            <a:r>
              <a:rPr lang="en-US" altLang="zh-CN" i="1" dirty="0" err="1">
                <a:solidFill>
                  <a:srgbClr val="800080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dirty="0"/>
              <a:t>， </a:t>
            </a:r>
            <a:r>
              <a:rPr lang="en-US" altLang="zh-CN" i="1" dirty="0"/>
              <a:t>Shift</a:t>
            </a:r>
            <a:r>
              <a:rPr lang="zh-CN" altLang="en-US" i="1" dirty="0"/>
              <a:t>：</a:t>
            </a:r>
            <a:r>
              <a:rPr lang="zh-CN" altLang="en-US" b="1" dirty="0">
                <a:solidFill>
                  <a:srgbClr val="800080"/>
                </a:solidFill>
              </a:rPr>
              <a:t>状态 </a:t>
            </a:r>
            <a:r>
              <a:rPr lang="en-US" altLang="zh-CN" i="1" dirty="0" err="1">
                <a:solidFill>
                  <a:srgbClr val="80008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i="1" dirty="0">
                <a:solidFill>
                  <a:srgbClr val="80008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800080"/>
                </a:solidFill>
              </a:rPr>
              <a:t>移进栈顶</a:t>
            </a:r>
          </a:p>
          <a:p>
            <a:pPr lvl="1">
              <a:buFontTx/>
              <a:buNone/>
            </a:pPr>
            <a:r>
              <a:rPr lang="zh-CN" altLang="en-US" dirty="0"/>
              <a:t>     </a:t>
            </a:r>
            <a:r>
              <a:rPr lang="en-US" altLang="zh-CN" dirty="0"/>
              <a:t>ACTION [</a:t>
            </a:r>
            <a:r>
              <a:rPr lang="en-US" altLang="zh-CN" i="1" dirty="0" err="1"/>
              <a:t>k</a:t>
            </a:r>
            <a:r>
              <a:rPr lang="en-US" altLang="zh-CN" dirty="0" err="1"/>
              <a:t>,a</a:t>
            </a:r>
            <a:r>
              <a:rPr lang="en-US" altLang="zh-CN" dirty="0"/>
              <a:t>]=</a:t>
            </a:r>
            <a:r>
              <a:rPr lang="en-US" altLang="zh-CN" i="1" dirty="0" err="1">
                <a:solidFill>
                  <a:srgbClr val="800080"/>
                </a:solidFill>
              </a:rPr>
              <a:t>rj</a:t>
            </a:r>
            <a:r>
              <a:rPr lang="zh-CN" altLang="en-US" dirty="0"/>
              <a:t>，  </a:t>
            </a:r>
            <a:r>
              <a:rPr lang="en-US" altLang="zh-CN" i="1" dirty="0"/>
              <a:t>Reduce</a:t>
            </a:r>
            <a:r>
              <a:rPr lang="zh-CN" altLang="en-US" dirty="0"/>
              <a:t>：</a:t>
            </a:r>
            <a:r>
              <a:rPr lang="zh-CN" altLang="en-US" b="1" dirty="0">
                <a:solidFill>
                  <a:srgbClr val="800080"/>
                </a:solidFill>
              </a:rPr>
              <a:t>按第 </a:t>
            </a:r>
            <a:r>
              <a:rPr lang="en-US" altLang="zh-CN" i="1" dirty="0">
                <a:solidFill>
                  <a:srgbClr val="800080"/>
                </a:solidFill>
              </a:rPr>
              <a:t>j </a:t>
            </a:r>
            <a:r>
              <a:rPr lang="zh-CN" altLang="en-US" b="1" dirty="0">
                <a:solidFill>
                  <a:srgbClr val="800080"/>
                </a:solidFill>
              </a:rPr>
              <a:t>条产生式归约</a:t>
            </a:r>
          </a:p>
          <a:p>
            <a:pPr lvl="1">
              <a:buFontTx/>
              <a:buNone/>
            </a:pPr>
            <a:r>
              <a:rPr lang="zh-CN" altLang="en-US" dirty="0"/>
              <a:t>     </a:t>
            </a:r>
            <a:r>
              <a:rPr lang="en-US" altLang="zh-CN" dirty="0"/>
              <a:t>ACTION [</a:t>
            </a:r>
            <a:r>
              <a:rPr lang="en-US" altLang="zh-CN" i="1" dirty="0" err="1"/>
              <a:t>k</a:t>
            </a:r>
            <a:r>
              <a:rPr lang="en-US" altLang="zh-CN" dirty="0" err="1"/>
              <a:t>,a</a:t>
            </a:r>
            <a:r>
              <a:rPr lang="en-US" altLang="zh-CN" dirty="0"/>
              <a:t>]=</a:t>
            </a:r>
            <a:r>
              <a:rPr lang="en-US" altLang="zh-CN" i="1" dirty="0">
                <a:solidFill>
                  <a:srgbClr val="800080"/>
                </a:solidFill>
              </a:rPr>
              <a:t>acc</a:t>
            </a:r>
            <a:r>
              <a:rPr lang="zh-CN" altLang="en-US" dirty="0"/>
              <a:t>， </a:t>
            </a:r>
            <a:r>
              <a:rPr kumimoji="0" lang="en-US" altLang="zh-CN" i="1" dirty="0"/>
              <a:t>Accept</a:t>
            </a:r>
            <a:r>
              <a:rPr lang="en-US" altLang="zh-CN" dirty="0"/>
              <a:t> </a:t>
            </a:r>
            <a:r>
              <a:rPr lang="zh-CN" altLang="en-US" i="1" dirty="0"/>
              <a:t>：</a:t>
            </a:r>
            <a:r>
              <a:rPr lang="zh-CN" altLang="en-US" b="1" dirty="0">
                <a:solidFill>
                  <a:srgbClr val="800080"/>
                </a:solidFill>
              </a:rPr>
              <a:t>分析完成</a:t>
            </a:r>
          </a:p>
          <a:p>
            <a:pPr lvl="1">
              <a:buFontTx/>
              <a:buNone/>
            </a:pPr>
            <a:r>
              <a:rPr lang="zh-CN" altLang="en-US" dirty="0"/>
              <a:t>     </a:t>
            </a:r>
            <a:r>
              <a:rPr lang="en-US" altLang="zh-CN" dirty="0"/>
              <a:t>ACTION [</a:t>
            </a:r>
            <a:r>
              <a:rPr lang="en-US" altLang="zh-CN" i="1" dirty="0" err="1"/>
              <a:t>k</a:t>
            </a:r>
            <a:r>
              <a:rPr lang="en-US" altLang="zh-CN" dirty="0" err="1"/>
              <a:t>,a</a:t>
            </a:r>
            <a:r>
              <a:rPr lang="en-US" altLang="zh-CN" dirty="0"/>
              <a:t>]=</a:t>
            </a:r>
            <a:r>
              <a:rPr lang="en-US" altLang="zh-CN" i="1" dirty="0">
                <a:solidFill>
                  <a:srgbClr val="800080"/>
                </a:solidFill>
              </a:rPr>
              <a:t>err</a:t>
            </a:r>
            <a:r>
              <a:rPr lang="zh-CN" altLang="en-US" dirty="0"/>
              <a:t>，</a:t>
            </a:r>
            <a:r>
              <a:rPr lang="en-US" altLang="zh-CN" i="1" dirty="0"/>
              <a:t>Error</a:t>
            </a:r>
            <a:r>
              <a:rPr lang="en-US" altLang="zh-CN" dirty="0"/>
              <a:t> </a:t>
            </a:r>
            <a:r>
              <a:rPr lang="zh-CN" altLang="en-US" dirty="0"/>
              <a:t>：</a:t>
            </a:r>
            <a:r>
              <a:rPr lang="zh-CN" altLang="en-US" b="1" dirty="0">
                <a:solidFill>
                  <a:srgbClr val="800080"/>
                </a:solidFill>
              </a:rPr>
              <a:t>发现错误 </a:t>
            </a:r>
            <a:r>
              <a:rPr lang="zh-CN" altLang="en-US" b="1" dirty="0"/>
              <a:t>（常标为空白）</a:t>
            </a:r>
          </a:p>
          <a:p>
            <a:pPr lvl="1">
              <a:buFontTx/>
              <a:buNone/>
            </a:pPr>
            <a:endParaRPr lang="zh-CN" altLang="en-US" sz="1000" b="1" dirty="0"/>
          </a:p>
          <a:p>
            <a:pPr lvl="1">
              <a:buFontTx/>
              <a:buChar char="•"/>
            </a:pPr>
            <a:r>
              <a:rPr lang="zh-CN" altLang="en-US" dirty="0"/>
              <a:t>   </a:t>
            </a:r>
            <a:r>
              <a:rPr lang="en-US" altLang="zh-CN" dirty="0">
                <a:solidFill>
                  <a:srgbClr val="800080"/>
                </a:solidFill>
              </a:rPr>
              <a:t>GOTO </a:t>
            </a:r>
            <a:r>
              <a:rPr lang="zh-CN" altLang="en-US" b="1" dirty="0">
                <a:solidFill>
                  <a:srgbClr val="800080"/>
                </a:solidFill>
              </a:rPr>
              <a:t>表   </a:t>
            </a:r>
            <a:r>
              <a:rPr kumimoji="0" lang="en-US" altLang="zh-CN" dirty="0">
                <a:sym typeface="Symbol" panose="05050102010706020507" pitchFamily="18" charset="2"/>
              </a:rPr>
              <a:t>GOTO[</a:t>
            </a:r>
            <a:r>
              <a:rPr kumimoji="0" lang="en-US" altLang="zh-CN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dirty="0" err="1">
                <a:sym typeface="Symbol" panose="05050102010706020507" pitchFamily="18" charset="2"/>
              </a:rPr>
              <a:t>,</a:t>
            </a:r>
            <a:r>
              <a:rPr kumimoji="0" lang="en-US" altLang="zh-CN" i="1" dirty="0" err="1">
                <a:sym typeface="Symbol" panose="05050102010706020507" pitchFamily="18" charset="2"/>
              </a:rPr>
              <a:t>A</a:t>
            </a:r>
            <a:r>
              <a:rPr kumimoji="0" lang="en-US" altLang="zh-CN" dirty="0">
                <a:sym typeface="Symbol" panose="05050102010706020507" pitchFamily="18" charset="2"/>
              </a:rPr>
              <a:t>]=</a:t>
            </a:r>
            <a:r>
              <a:rPr kumimoji="0" lang="en-US" altLang="zh-CN" b="1" i="1" dirty="0">
                <a:sym typeface="Symbol" panose="05050102010706020507" pitchFamily="18" charset="2"/>
              </a:rPr>
              <a:t>j</a:t>
            </a:r>
            <a:r>
              <a:rPr kumimoji="0" lang="en-US" altLang="zh-CN" dirty="0">
                <a:sym typeface="Symbol" panose="05050102010706020507" pitchFamily="18" charset="2"/>
              </a:rPr>
              <a:t>  </a:t>
            </a:r>
            <a:r>
              <a:rPr kumimoji="0" lang="zh-CN" altLang="en-US" b="1" dirty="0"/>
              <a:t>告诉分析引擎：</a:t>
            </a:r>
          </a:p>
          <a:p>
            <a:pPr lvl="1">
              <a:buFontTx/>
              <a:buNone/>
            </a:pPr>
            <a:r>
              <a:rPr kumimoji="0" lang="zh-CN" altLang="en-US" b="1" dirty="0"/>
              <a:t>    在依产生式 </a:t>
            </a:r>
            <a:r>
              <a:rPr kumimoji="0" lang="en-US" altLang="zh-CN" i="1" dirty="0"/>
              <a:t>A</a:t>
            </a:r>
            <a:r>
              <a:rPr kumimoji="0" lang="en-US" altLang="zh-CN" dirty="0">
                <a:sym typeface="Symbol" panose="05050102010706020507" pitchFamily="18" charset="2"/>
              </a:rPr>
              <a:t></a:t>
            </a:r>
            <a:r>
              <a:rPr kumimoji="0" lang="en-US" altLang="zh-CN" i="1" dirty="0">
                <a:sym typeface="Symbol" panose="05050102010706020507" pitchFamily="18" charset="2"/>
              </a:rPr>
              <a:t></a:t>
            </a:r>
            <a:r>
              <a:rPr kumimoji="0"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kumimoji="0" lang="zh-CN" altLang="en-US" b="1" dirty="0"/>
              <a:t>归约之后，栈顶状态为</a:t>
            </a:r>
            <a:r>
              <a:rPr kumimoji="0" lang="en-US" altLang="zh-CN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b="1" i="1" dirty="0">
                <a:sym typeface="Symbol" panose="05050102010706020507" pitchFamily="18" charset="2"/>
              </a:rPr>
              <a:t> </a:t>
            </a:r>
            <a:r>
              <a:rPr kumimoji="0" lang="zh-CN" altLang="en-US" b="1" dirty="0"/>
              <a:t>时，要将新</a:t>
            </a:r>
          </a:p>
          <a:p>
            <a:pPr lvl="1">
              <a:buFontTx/>
              <a:buNone/>
            </a:pPr>
            <a:r>
              <a:rPr kumimoji="0" lang="zh-CN" altLang="en-US" b="1" dirty="0"/>
              <a:t>    状态 </a:t>
            </a:r>
            <a:r>
              <a:rPr kumimoji="0" lang="en-US" altLang="zh-CN" b="1" i="1" dirty="0">
                <a:sym typeface="Symbol" panose="05050102010706020507" pitchFamily="18" charset="2"/>
              </a:rPr>
              <a:t>j </a:t>
            </a:r>
            <a:r>
              <a:rPr lang="zh-CN" altLang="en-US" b="1" dirty="0"/>
              <a:t>移进栈顶</a:t>
            </a:r>
            <a:endParaRPr kumimoji="0" lang="zh-CN" altLang="en-US" b="1" dirty="0"/>
          </a:p>
          <a:p>
            <a:pPr lvl="1">
              <a:buFontTx/>
              <a:buNone/>
            </a:pPr>
            <a:r>
              <a:rPr kumimoji="0" lang="zh-CN" altLang="en-US" b="1" dirty="0"/>
              <a:t>   （依产生式 </a:t>
            </a:r>
            <a:r>
              <a:rPr kumimoji="0" lang="en-US" altLang="zh-CN" i="1" dirty="0"/>
              <a:t>A</a:t>
            </a:r>
            <a:r>
              <a:rPr kumimoji="0" lang="en-US" altLang="zh-CN" dirty="0">
                <a:sym typeface="Symbol" panose="05050102010706020507" pitchFamily="18" charset="2"/>
              </a:rPr>
              <a:t></a:t>
            </a:r>
            <a:r>
              <a:rPr kumimoji="0" lang="en-US" altLang="zh-CN" i="1" dirty="0">
                <a:sym typeface="Symbol" panose="05050102010706020507" pitchFamily="18" charset="2"/>
              </a:rPr>
              <a:t></a:t>
            </a:r>
            <a:r>
              <a:rPr kumimoji="0"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kumimoji="0" lang="zh-CN" altLang="en-US" b="1" dirty="0"/>
              <a:t>归约时，要将栈顶的 </a:t>
            </a:r>
            <a:r>
              <a:rPr lang="en-US" altLang="zh-CN" dirty="0"/>
              <a:t>|</a:t>
            </a:r>
            <a:r>
              <a:rPr kumimoji="0" lang="en-US" altLang="zh-CN" i="1" dirty="0">
                <a:sym typeface="Symbol" panose="05050102010706020507" pitchFamily="18" charset="2"/>
              </a:rPr>
              <a:t></a:t>
            </a:r>
            <a:r>
              <a:rPr lang="en-US" altLang="zh-CN" dirty="0"/>
              <a:t>| </a:t>
            </a:r>
            <a:r>
              <a:rPr kumimoji="0" lang="zh-CN" altLang="en-US" b="1" dirty="0"/>
              <a:t>个状态弹出）</a:t>
            </a:r>
          </a:p>
        </p:txBody>
      </p:sp>
      <p:sp>
        <p:nvSpPr>
          <p:cNvPr id="466961" name="AutoShape 1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6962" name="AutoShape 1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6963" name="AutoShape 1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6964" name="AutoShape 2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6965" name="Rectangle 21"/>
          <p:cNvSpPr>
            <a:spLocks noChangeArrowheads="1"/>
          </p:cNvSpPr>
          <p:nvPr/>
        </p:nvSpPr>
        <p:spPr bwMode="auto">
          <a:xfrm>
            <a:off x="37232" y="267370"/>
            <a:ext cx="30226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LR 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分析基础</a:t>
            </a:r>
          </a:p>
        </p:txBody>
      </p:sp>
    </p:spTree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658" name="Text Box 2"/>
          <p:cNvSpPr txBox="1">
            <a:spLocks noChangeArrowheads="1"/>
          </p:cNvSpPr>
          <p:nvPr/>
        </p:nvSpPr>
        <p:spPr bwMode="auto">
          <a:xfrm>
            <a:off x="611188" y="1336675"/>
            <a:ext cx="3744912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en-US" altLang="zh-CN" sz="3200">
                <a:solidFill>
                  <a:srgbClr val="800080"/>
                </a:solidFill>
              </a:rPr>
              <a:t>LR</a:t>
            </a:r>
            <a:r>
              <a:rPr lang="en-US" altLang="zh-CN">
                <a:solidFill>
                  <a:srgbClr val="800080"/>
                </a:solidFill>
              </a:rPr>
              <a:t> </a:t>
            </a:r>
            <a:r>
              <a:rPr lang="zh-CN" altLang="en-US" sz="3200" b="1">
                <a:solidFill>
                  <a:srgbClr val="800080"/>
                </a:solidFill>
                <a:latin typeface="楷体_GB2312" pitchFamily="49" charset="-122"/>
              </a:rPr>
              <a:t>分析算法</a:t>
            </a:r>
            <a:endParaRPr lang="zh-CN" altLang="en-US" sz="1000" b="1">
              <a:solidFill>
                <a:srgbClr val="800080"/>
              </a:solidFill>
              <a:latin typeface="楷体_GB2312" pitchFamily="49" charset="-122"/>
            </a:endParaRPr>
          </a:p>
        </p:txBody>
      </p:sp>
      <p:sp>
        <p:nvSpPr>
          <p:cNvPr id="582659" name="AutoShape 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2660" name="AutoShape 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2661" name="AutoShape 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2662" name="AutoShape 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2663" name="Rectangle 7"/>
          <p:cNvSpPr>
            <a:spLocks noChangeArrowheads="1"/>
          </p:cNvSpPr>
          <p:nvPr/>
        </p:nvSpPr>
        <p:spPr bwMode="auto">
          <a:xfrm>
            <a:off x="37232" y="332656"/>
            <a:ext cx="30226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LR 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分析基础</a:t>
            </a:r>
          </a:p>
        </p:txBody>
      </p:sp>
      <p:sp>
        <p:nvSpPr>
          <p:cNvPr id="582664" name="Rectangle 8"/>
          <p:cNvSpPr>
            <a:spLocks noChangeArrowheads="1"/>
          </p:cNvSpPr>
          <p:nvPr/>
        </p:nvSpPr>
        <p:spPr bwMode="auto">
          <a:xfrm>
            <a:off x="971550" y="1989138"/>
            <a:ext cx="7921625" cy="44640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SzPct val="75000"/>
              <a:buFont typeface="Symbol" panose="05050102010706020507" pitchFamily="18" charset="2"/>
              <a:buChar char="-"/>
            </a:pPr>
            <a:r>
              <a:rPr lang="zh-CN" altLang="en-US" b="1" dirty="0"/>
              <a:t>置 </a:t>
            </a:r>
            <a:r>
              <a:rPr lang="en-US" altLang="en-US" b="1" i="1" dirty="0" err="1">
                <a:latin typeface="Times New Roman" panose="02020603050405020304" pitchFamily="18" charset="0"/>
              </a:rPr>
              <a:t>i</a:t>
            </a:r>
            <a:r>
              <a:rPr lang="en-US" altLang="en-US" b="1" i="1" dirty="0" err="1"/>
              <a:t>p</a:t>
            </a:r>
            <a:r>
              <a:rPr lang="en-US" altLang="zh-CN" dirty="0"/>
              <a:t> </a:t>
            </a:r>
            <a:r>
              <a:rPr lang="zh-CN" altLang="en-US" b="1" dirty="0"/>
              <a:t>指向输入串 </a:t>
            </a:r>
            <a:r>
              <a:rPr lang="en-US" altLang="zh-CN" b="1" i="1" dirty="0"/>
              <a:t>w</a:t>
            </a:r>
            <a:r>
              <a:rPr lang="en-US" altLang="zh-CN" b="1" dirty="0"/>
              <a:t> </a:t>
            </a:r>
            <a:r>
              <a:rPr lang="zh-CN" altLang="en-US" b="1" dirty="0"/>
              <a:t>的首符号，置初始栈顶状态为 </a:t>
            </a:r>
            <a:r>
              <a:rPr lang="en-US" altLang="zh-CN" i="1" dirty="0"/>
              <a:t>0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dirty="0"/>
              <a:t>    </a:t>
            </a:r>
            <a:r>
              <a:rPr lang="zh-CN" altLang="en-US" b="1" dirty="0"/>
              <a:t>令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i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zh-CN" altLang="en-US" b="1" dirty="0"/>
              <a:t>为栈顶状态，</a:t>
            </a:r>
            <a:r>
              <a:rPr lang="en-US" altLang="zh-CN" dirty="0"/>
              <a:t>a </a:t>
            </a:r>
            <a:r>
              <a:rPr lang="zh-CN" altLang="en-US" b="1" dirty="0"/>
              <a:t>是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i</a:t>
            </a:r>
            <a:r>
              <a:rPr lang="en-US" altLang="zh-CN" b="1" i="1" dirty="0" err="1"/>
              <a:t>p</a:t>
            </a:r>
            <a:r>
              <a:rPr lang="en-US" altLang="zh-CN" i="1" dirty="0"/>
              <a:t> </a:t>
            </a:r>
            <a:r>
              <a:rPr lang="zh-CN" altLang="en-US" b="1" dirty="0"/>
              <a:t>指向的符号，重复如下步骤：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endParaRPr lang="zh-CN" altLang="en-US" sz="1000" dirty="0"/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75000"/>
              <a:buFontTx/>
              <a:buNone/>
            </a:pPr>
            <a:r>
              <a:rPr lang="en-US" altLang="zh-CN" sz="2000" dirty="0"/>
              <a:t>if  ( ACTION[</a:t>
            </a:r>
            <a:r>
              <a:rPr lang="en-US" altLang="zh-CN" sz="2000" b="1" i="1" dirty="0" err="1">
                <a:latin typeface="Times New Roman" panose="02020603050405020304" pitchFamily="18" charset="0"/>
              </a:rPr>
              <a:t>i</a:t>
            </a:r>
            <a:r>
              <a:rPr lang="en-US" altLang="zh-CN" sz="2000" dirty="0" err="1"/>
              <a:t>,a</a:t>
            </a:r>
            <a:r>
              <a:rPr lang="en-US" altLang="zh-CN" sz="2000" dirty="0"/>
              <a:t>]=</a:t>
            </a:r>
            <a:r>
              <a:rPr lang="en-US" altLang="zh-CN" sz="2000" b="1" i="1" dirty="0" err="1"/>
              <a:t>sj</a:t>
            </a:r>
            <a:r>
              <a:rPr lang="en-US" altLang="zh-CN" sz="2000" b="1" i="1" dirty="0"/>
              <a:t> </a:t>
            </a:r>
            <a:r>
              <a:rPr lang="en-US" altLang="zh-CN" sz="2000" dirty="0"/>
              <a:t>) {</a:t>
            </a:r>
            <a:endParaRPr lang="en-US" altLang="zh-CN" sz="2000" baseline="-25000" dirty="0"/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75000"/>
              <a:buFontTx/>
              <a:buNone/>
            </a:pPr>
            <a:r>
              <a:rPr lang="en-US" altLang="zh-CN" sz="2000" baseline="-25000" dirty="0"/>
              <a:t>       </a:t>
            </a:r>
            <a:r>
              <a:rPr lang="en-US" altLang="zh-CN" sz="2000" dirty="0"/>
              <a:t>PUSH  </a:t>
            </a:r>
            <a:r>
              <a:rPr lang="en-US" altLang="zh-CN" sz="2000" b="1" i="1" dirty="0"/>
              <a:t>j </a:t>
            </a:r>
            <a:r>
              <a:rPr lang="en-US" altLang="zh-CN" sz="2000" b="1" dirty="0">
                <a:latin typeface="楷体_GB2312" pitchFamily="49" charset="-122"/>
              </a:rPr>
              <a:t>;</a:t>
            </a:r>
            <a:r>
              <a:rPr lang="en-US" altLang="zh-CN" sz="2000" b="1" dirty="0"/>
              <a:t> </a:t>
            </a:r>
            <a:r>
              <a:rPr lang="en-US" altLang="zh-CN" sz="2000" b="1" i="1" dirty="0"/>
              <a:t> /*</a:t>
            </a:r>
            <a:r>
              <a:rPr lang="zh-CN" altLang="en-US" sz="2000" b="1" dirty="0"/>
              <a:t>进栈*</a:t>
            </a:r>
            <a:r>
              <a:rPr lang="en-US" altLang="zh-CN" sz="2000" b="1" dirty="0"/>
              <a:t>/</a:t>
            </a:r>
            <a:r>
              <a:rPr lang="en-US" altLang="zh-CN" sz="2000" dirty="0"/>
              <a:t>      </a:t>
            </a:r>
            <a:r>
              <a:rPr lang="en-US" altLang="zh-CN" sz="2000" b="1" dirty="0"/>
              <a:t> </a:t>
            </a:r>
            <a:r>
              <a:rPr lang="en-US" altLang="zh-CN" sz="2000" b="1" i="1" dirty="0" err="1">
                <a:latin typeface="Times New Roman" panose="02020603050405020304" pitchFamily="18" charset="0"/>
              </a:rPr>
              <a:t>i</a:t>
            </a:r>
            <a:r>
              <a:rPr lang="en-US" altLang="zh-CN" sz="2000" b="1" i="1" dirty="0" err="1"/>
              <a:t>p</a:t>
            </a:r>
            <a:r>
              <a:rPr lang="en-US" altLang="zh-CN" sz="2000" dirty="0"/>
              <a:t>  </a:t>
            </a:r>
            <a:r>
              <a:rPr lang="zh-CN" altLang="en-US" sz="2000" b="1" dirty="0"/>
              <a:t>前进 ；</a:t>
            </a:r>
            <a:r>
              <a:rPr lang="en-US" altLang="zh-CN" sz="2000" b="1" dirty="0"/>
              <a:t>/*</a:t>
            </a:r>
            <a:r>
              <a:rPr lang="zh-CN" altLang="en-US" sz="2000" b="1" dirty="0"/>
              <a:t>指向下一输入符号*</a:t>
            </a:r>
            <a:r>
              <a:rPr lang="en-US" altLang="zh-CN" sz="2000" b="1" dirty="0"/>
              <a:t>/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75000"/>
              <a:buFontTx/>
              <a:buNone/>
            </a:pPr>
            <a:r>
              <a:rPr lang="en-US" altLang="zh-CN" sz="2000" dirty="0"/>
              <a:t>}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75000"/>
              <a:buFontTx/>
              <a:buNone/>
            </a:pPr>
            <a:r>
              <a:rPr lang="en-US" altLang="zh-CN" sz="2000" dirty="0"/>
              <a:t>else if </a:t>
            </a:r>
            <a:r>
              <a:rPr lang="zh-CN" altLang="en-US" sz="2000" b="1" dirty="0"/>
              <a:t>（</a:t>
            </a:r>
            <a:r>
              <a:rPr lang="en-US" altLang="zh-CN" sz="2000" dirty="0"/>
              <a:t>ACTION[</a:t>
            </a:r>
            <a:r>
              <a:rPr lang="en-US" altLang="zh-CN" sz="2000" b="1" i="1" dirty="0" err="1">
                <a:latin typeface="Times New Roman" panose="02020603050405020304" pitchFamily="18" charset="0"/>
              </a:rPr>
              <a:t>i</a:t>
            </a:r>
            <a:r>
              <a:rPr lang="en-US" altLang="zh-CN" sz="2000" dirty="0" err="1"/>
              <a:t>,a</a:t>
            </a:r>
            <a:r>
              <a:rPr lang="en-US" altLang="zh-CN" sz="2000" dirty="0"/>
              <a:t>]=</a:t>
            </a:r>
            <a:r>
              <a:rPr lang="en-US" altLang="zh-CN" sz="2000" b="1" i="1" dirty="0" err="1"/>
              <a:t>rj</a:t>
            </a:r>
            <a:r>
              <a:rPr lang="en-US" altLang="zh-CN" sz="2000" b="1" i="1" dirty="0"/>
              <a:t> </a:t>
            </a:r>
            <a:r>
              <a:rPr lang="en-US" altLang="zh-CN" sz="2000" dirty="0"/>
              <a:t>)  {    </a:t>
            </a:r>
            <a:r>
              <a:rPr lang="en-US" altLang="zh-CN" sz="2000" baseline="-25000" dirty="0"/>
              <a:t>   </a:t>
            </a:r>
            <a:r>
              <a:rPr lang="en-US" altLang="zh-CN" sz="2000" b="1" dirty="0"/>
              <a:t>/*</a:t>
            </a:r>
            <a:r>
              <a:rPr lang="zh-CN" altLang="en-US" sz="2000" b="1" dirty="0"/>
              <a:t>第 </a:t>
            </a:r>
            <a:r>
              <a:rPr lang="en-US" altLang="zh-CN" sz="2000" b="1" i="1" dirty="0"/>
              <a:t>j </a:t>
            </a:r>
            <a:r>
              <a:rPr lang="zh-CN" altLang="en-US" sz="2000" b="1" dirty="0"/>
              <a:t>条产生式为 </a:t>
            </a:r>
            <a:r>
              <a:rPr lang="en-US" altLang="zh-CN" sz="2000" b="1" i="1" dirty="0"/>
              <a:t>A</a:t>
            </a:r>
            <a:r>
              <a:rPr lang="en-US" altLang="zh-CN" sz="2000" b="1" dirty="0">
                <a:sym typeface="Symbol" panose="05050102010706020507" pitchFamily="18" charset="2"/>
              </a:rPr>
              <a:t></a:t>
            </a:r>
            <a:r>
              <a:rPr lang="en-US" altLang="zh-CN" sz="2000" b="1" i="1" dirty="0">
                <a:sym typeface="Symbol" panose="05050102010706020507" pitchFamily="18" charset="2"/>
              </a:rPr>
              <a:t> </a:t>
            </a:r>
            <a:r>
              <a:rPr lang="en-US" altLang="zh-CN" sz="2000" b="1" dirty="0">
                <a:sym typeface="Symbol" panose="05050102010706020507" pitchFamily="18" charset="2"/>
              </a:rPr>
              <a:t>*/</a:t>
            </a:r>
          </a:p>
          <a:p>
            <a:pPr marL="1600200" lvl="3" indent="-228600">
              <a:spcBef>
                <a:spcPct val="20000"/>
              </a:spcBef>
              <a:buClr>
                <a:schemeClr val="tx1"/>
              </a:buClr>
              <a:buSzPct val="80000"/>
              <a:buFontTx/>
              <a:buNone/>
            </a:pPr>
            <a:r>
              <a:rPr lang="en-US" altLang="zh-CN" sz="2000" dirty="0"/>
              <a:t>POP  | </a:t>
            </a:r>
            <a:r>
              <a:rPr lang="en-US" altLang="zh-CN" sz="2000" b="1" i="1" dirty="0">
                <a:sym typeface="Symbol" panose="05050102010706020507" pitchFamily="18" charset="2"/>
              </a:rPr>
              <a:t> </a:t>
            </a:r>
            <a:r>
              <a:rPr lang="en-US" altLang="zh-CN" sz="2000" dirty="0">
                <a:sym typeface="Symbol" panose="05050102010706020507" pitchFamily="18" charset="2"/>
              </a:rPr>
              <a:t>| </a:t>
            </a:r>
            <a:r>
              <a:rPr lang="en-US" altLang="zh-CN" sz="2000" b="1" dirty="0">
                <a:sym typeface="Symbol" panose="05050102010706020507" pitchFamily="18" charset="2"/>
              </a:rPr>
              <a:t> </a:t>
            </a:r>
            <a:r>
              <a:rPr lang="zh-CN" altLang="en-US" sz="2000" b="1" dirty="0">
                <a:sym typeface="Symbol" panose="05050102010706020507" pitchFamily="18" charset="2"/>
              </a:rPr>
              <a:t>项</a:t>
            </a:r>
            <a:r>
              <a:rPr lang="en-US" altLang="zh-CN" sz="2000" b="1" dirty="0">
                <a:latin typeface="楷体_GB2312" pitchFamily="49" charset="-122"/>
                <a:sym typeface="Symbol" panose="05050102010706020507" pitchFamily="18" charset="2"/>
              </a:rPr>
              <a:t>; </a:t>
            </a:r>
            <a:r>
              <a:rPr lang="en-US" altLang="zh-CN" sz="2000" b="1" i="1" dirty="0"/>
              <a:t>/*</a:t>
            </a:r>
            <a:r>
              <a:rPr lang="zh-CN" altLang="en-US" sz="2000" b="1" dirty="0"/>
              <a:t>位于栈顶部的 </a:t>
            </a:r>
            <a:r>
              <a:rPr lang="en-US" altLang="zh-CN" sz="2000" dirty="0"/>
              <a:t>| </a:t>
            </a:r>
            <a:r>
              <a:rPr lang="en-US" altLang="zh-CN" sz="2000" b="1" i="1" dirty="0">
                <a:sym typeface="Symbol" panose="05050102010706020507" pitchFamily="18" charset="2"/>
              </a:rPr>
              <a:t> </a:t>
            </a:r>
            <a:r>
              <a:rPr lang="en-US" altLang="zh-CN" sz="2000" dirty="0">
                <a:sym typeface="Symbol" panose="05050102010706020507" pitchFamily="18" charset="2"/>
              </a:rPr>
              <a:t>| </a:t>
            </a:r>
            <a:r>
              <a:rPr lang="zh-CN" altLang="en-US" sz="2000" b="1" dirty="0"/>
              <a:t>个状态退栈*</a:t>
            </a:r>
            <a:r>
              <a:rPr lang="en-US" altLang="zh-CN" sz="2000" b="1" dirty="0"/>
              <a:t>/</a:t>
            </a:r>
            <a:endParaRPr lang="en-US" altLang="zh-CN" sz="2000" b="1" dirty="0">
              <a:latin typeface="楷体_GB2312" pitchFamily="49" charset="-122"/>
              <a:sym typeface="Symbol" panose="05050102010706020507" pitchFamily="18" charset="2"/>
            </a:endParaRPr>
          </a:p>
          <a:p>
            <a:pPr marL="1600200" lvl="3" indent="-228600">
              <a:spcBef>
                <a:spcPct val="20000"/>
              </a:spcBef>
              <a:buClr>
                <a:schemeClr val="tx1"/>
              </a:buClr>
              <a:buSzPct val="80000"/>
              <a:buFontTx/>
              <a:buNone/>
            </a:pPr>
            <a:r>
              <a:rPr lang="zh-CN" altLang="en-US" sz="2000" b="1" dirty="0">
                <a:sym typeface="Symbol" panose="05050102010706020507" pitchFamily="18" charset="2"/>
              </a:rPr>
              <a:t>令当前栈顶状态为 </a:t>
            </a:r>
            <a:r>
              <a:rPr lang="en-US" altLang="zh-CN" sz="2000" i="1" dirty="0">
                <a:sym typeface="Symbol" panose="05050102010706020507" pitchFamily="18" charset="2"/>
              </a:rPr>
              <a:t>k</a:t>
            </a:r>
            <a:r>
              <a:rPr lang="zh-CN" altLang="en-US" sz="2000" dirty="0">
                <a:sym typeface="Symbol" panose="05050102010706020507" pitchFamily="18" charset="2"/>
              </a:rPr>
              <a:t>；</a:t>
            </a:r>
            <a:r>
              <a:rPr lang="zh-CN" altLang="en-US" sz="2000" b="1" dirty="0">
                <a:sym typeface="Symbol" panose="05050102010706020507" pitchFamily="18" charset="2"/>
              </a:rPr>
              <a:t> </a:t>
            </a:r>
            <a:r>
              <a:rPr lang="en-US" altLang="zh-CN" sz="2000" dirty="0"/>
              <a:t>PUSH</a:t>
            </a:r>
            <a:r>
              <a:rPr lang="en-US" altLang="zh-CN" sz="2000" dirty="0">
                <a:sym typeface="Symbol" panose="05050102010706020507" pitchFamily="18" charset="2"/>
              </a:rPr>
              <a:t>  GOTO[</a:t>
            </a:r>
            <a:r>
              <a:rPr lang="en-US" altLang="zh-CN" sz="2000" i="1" dirty="0" err="1">
                <a:sym typeface="Symbol" panose="05050102010706020507" pitchFamily="18" charset="2"/>
              </a:rPr>
              <a:t>k</a:t>
            </a:r>
            <a:r>
              <a:rPr lang="en-US" altLang="zh-CN" sz="2000" dirty="0" err="1">
                <a:sym typeface="Symbol" panose="05050102010706020507" pitchFamily="18" charset="2"/>
              </a:rPr>
              <a:t>,A</a:t>
            </a:r>
            <a:r>
              <a:rPr lang="en-US" altLang="zh-CN" sz="2000" dirty="0">
                <a:sym typeface="Symbol" panose="05050102010706020507" pitchFamily="18" charset="2"/>
              </a:rPr>
              <a:t>]</a:t>
            </a:r>
            <a:r>
              <a:rPr lang="zh-CN" altLang="en-US" sz="2000" dirty="0">
                <a:sym typeface="Symbol" panose="05050102010706020507" pitchFamily="18" charset="2"/>
              </a:rPr>
              <a:t>；</a:t>
            </a:r>
          </a:p>
          <a:p>
            <a:pPr marL="1143000" lvl="2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000" dirty="0"/>
              <a:t> </a:t>
            </a:r>
            <a:r>
              <a:rPr lang="en-US" altLang="zh-CN" sz="2000" dirty="0"/>
              <a:t>}</a:t>
            </a:r>
          </a:p>
          <a:p>
            <a:pPr marL="1143000" lvl="2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dirty="0"/>
              <a:t>else if  </a:t>
            </a:r>
            <a:r>
              <a:rPr lang="zh-CN" altLang="en-US" sz="2000" b="1" dirty="0"/>
              <a:t>（</a:t>
            </a:r>
            <a:r>
              <a:rPr lang="en-US" altLang="zh-CN" sz="2000" dirty="0"/>
              <a:t>ACTION[</a:t>
            </a:r>
            <a:r>
              <a:rPr lang="en-US" altLang="zh-CN" sz="1800" b="1" i="1" dirty="0" err="1">
                <a:latin typeface="Times New Roman" panose="02020603050405020304" pitchFamily="18" charset="0"/>
              </a:rPr>
              <a:t>i</a:t>
            </a:r>
            <a:r>
              <a:rPr lang="en-US" altLang="zh-CN" sz="2000" dirty="0" err="1"/>
              <a:t>,a</a:t>
            </a:r>
            <a:r>
              <a:rPr lang="en-US" altLang="zh-CN" sz="2000" dirty="0"/>
              <a:t>]=acc ) </a:t>
            </a:r>
            <a:r>
              <a:rPr lang="en-US" altLang="zh-CN" dirty="0"/>
              <a:t> </a:t>
            </a:r>
            <a:r>
              <a:rPr lang="en-US" altLang="zh-CN" sz="2000" dirty="0"/>
              <a:t>return</a:t>
            </a:r>
            <a:r>
              <a:rPr lang="zh-CN" altLang="en-US" sz="2000" dirty="0"/>
              <a:t>； </a:t>
            </a:r>
            <a:r>
              <a:rPr lang="en-US" altLang="zh-CN" sz="2000" b="1" dirty="0"/>
              <a:t>/*</a:t>
            </a:r>
            <a:r>
              <a:rPr lang="zh-CN" altLang="zh-CN" sz="2000" b="1" dirty="0"/>
              <a:t>成功</a:t>
            </a:r>
            <a:r>
              <a:rPr lang="zh-CN" altLang="en-US" sz="2000" b="1" dirty="0"/>
              <a:t>*</a:t>
            </a:r>
            <a:r>
              <a:rPr lang="en-US" altLang="zh-CN" sz="2000" b="1" dirty="0"/>
              <a:t>/</a:t>
            </a:r>
          </a:p>
          <a:p>
            <a:pPr marL="1600200" lvl="3" indent="-228600">
              <a:spcBef>
                <a:spcPct val="20000"/>
              </a:spcBef>
              <a:buClr>
                <a:schemeClr val="tx1"/>
              </a:buClr>
              <a:buSzPct val="80000"/>
              <a:buFontTx/>
              <a:buNone/>
            </a:pPr>
            <a:r>
              <a:rPr lang="en-US" altLang="zh-CN" sz="2000" dirty="0"/>
              <a:t> else  error</a:t>
            </a:r>
            <a:r>
              <a:rPr lang="zh-CN" altLang="en-US" sz="2000" b="1" dirty="0"/>
              <a:t>；    </a:t>
            </a:r>
            <a:r>
              <a:rPr lang="en-US" altLang="zh-CN" sz="2000" b="1" dirty="0"/>
              <a:t>/*</a:t>
            </a:r>
            <a:r>
              <a:rPr lang="zh-CN" altLang="zh-CN" sz="2000" b="1" dirty="0"/>
              <a:t>报错</a:t>
            </a:r>
            <a:r>
              <a:rPr lang="en-US" altLang="zh-CN" sz="2000" b="1" dirty="0"/>
              <a:t>/</a:t>
            </a:r>
            <a:r>
              <a:rPr lang="zh-CN" altLang="en-US" sz="2000" b="1" dirty="0"/>
              <a:t>错误恢复*</a:t>
            </a:r>
            <a:r>
              <a:rPr lang="en-US" altLang="zh-CN" sz="2000" b="1" dirty="0"/>
              <a:t>/</a:t>
            </a:r>
          </a:p>
        </p:txBody>
      </p:sp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89" name="AutoShape 2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7990" name="AutoShape 2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7991" name="AutoShape 23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7992" name="AutoShape 2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7993" name="Rectangle 25"/>
          <p:cNvSpPr>
            <a:spLocks noChangeArrowheads="1"/>
          </p:cNvSpPr>
          <p:nvPr/>
        </p:nvSpPr>
        <p:spPr bwMode="auto">
          <a:xfrm>
            <a:off x="35496" y="188913"/>
            <a:ext cx="30226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LR 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分析基础</a:t>
            </a:r>
          </a:p>
        </p:txBody>
      </p:sp>
      <p:sp>
        <p:nvSpPr>
          <p:cNvPr id="467995" name="Line 27"/>
          <p:cNvSpPr>
            <a:spLocks noChangeShapeType="1"/>
          </p:cNvSpPr>
          <p:nvPr/>
        </p:nvSpPr>
        <p:spPr bwMode="auto">
          <a:xfrm>
            <a:off x="1258888" y="2636838"/>
            <a:ext cx="74168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67997" name="Text Box 29"/>
          <p:cNvSpPr txBox="1">
            <a:spLocks noChangeArrowheads="1"/>
          </p:cNvSpPr>
          <p:nvPr/>
        </p:nvSpPr>
        <p:spPr bwMode="auto">
          <a:xfrm>
            <a:off x="1584325" y="2205038"/>
            <a:ext cx="11811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kumimoji="0" lang="zh-CN" altLang="en-US" b="1">
                <a:latin typeface="Times New Roman" panose="02020603050405020304" pitchFamily="18" charset="0"/>
              </a:rPr>
              <a:t>分析栈</a:t>
            </a:r>
          </a:p>
        </p:txBody>
      </p:sp>
      <p:sp>
        <p:nvSpPr>
          <p:cNvPr id="467998" name="Text Box 30"/>
          <p:cNvSpPr txBox="1">
            <a:spLocks noChangeArrowheads="1"/>
          </p:cNvSpPr>
          <p:nvPr/>
        </p:nvSpPr>
        <p:spPr bwMode="auto">
          <a:xfrm>
            <a:off x="2951163" y="2205038"/>
            <a:ext cx="1728787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kumimoji="0" lang="zh-CN" altLang="en-US" b="1">
                <a:latin typeface="Times New Roman" panose="02020603050405020304" pitchFamily="18" charset="0"/>
              </a:rPr>
              <a:t>余留输入串</a:t>
            </a:r>
          </a:p>
        </p:txBody>
      </p:sp>
      <p:sp>
        <p:nvSpPr>
          <p:cNvPr id="467999" name="Text Box 31"/>
          <p:cNvSpPr txBox="1">
            <a:spLocks noChangeArrowheads="1"/>
          </p:cNvSpPr>
          <p:nvPr/>
        </p:nvSpPr>
        <p:spPr bwMode="auto">
          <a:xfrm>
            <a:off x="5867400" y="2205038"/>
            <a:ext cx="15113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kumimoji="0" lang="zh-CN" altLang="en-US" b="1">
                <a:latin typeface="Times New Roman" panose="02020603050405020304" pitchFamily="18" charset="0"/>
              </a:rPr>
              <a:t>分析动作</a:t>
            </a:r>
          </a:p>
        </p:txBody>
      </p:sp>
      <p:sp>
        <p:nvSpPr>
          <p:cNvPr id="468001" name="Line 33"/>
          <p:cNvSpPr>
            <a:spLocks noChangeShapeType="1"/>
          </p:cNvSpPr>
          <p:nvPr/>
        </p:nvSpPr>
        <p:spPr bwMode="auto">
          <a:xfrm>
            <a:off x="2879725" y="2276475"/>
            <a:ext cx="0" cy="4321175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68002" name="Line 34"/>
          <p:cNvSpPr>
            <a:spLocks noChangeShapeType="1"/>
          </p:cNvSpPr>
          <p:nvPr/>
        </p:nvSpPr>
        <p:spPr bwMode="auto">
          <a:xfrm flipH="1">
            <a:off x="4714875" y="2276475"/>
            <a:ext cx="36513" cy="4321175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468133" name="Group 165"/>
          <p:cNvGrpSpPr/>
          <p:nvPr/>
        </p:nvGrpSpPr>
        <p:grpSpPr bwMode="auto">
          <a:xfrm>
            <a:off x="1258888" y="2565400"/>
            <a:ext cx="7416800" cy="396875"/>
            <a:chOff x="703" y="1616"/>
            <a:chExt cx="4672" cy="250"/>
          </a:xfrm>
        </p:grpSpPr>
        <p:sp>
          <p:nvSpPr>
            <p:cNvPr id="468086" name="Rectangle 118"/>
            <p:cNvSpPr>
              <a:spLocks noChangeArrowheads="1"/>
            </p:cNvSpPr>
            <p:nvPr/>
          </p:nvSpPr>
          <p:spPr bwMode="auto">
            <a:xfrm>
              <a:off x="703" y="1616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kumimoji="0" lang="en-US" altLang="zh-CN" sz="2000">
                  <a:sym typeface="Symbol" panose="05050102010706020507" pitchFamily="18" charset="2"/>
                </a:rPr>
                <a:t>0</a:t>
              </a:r>
              <a:endParaRPr lang="en-US" altLang="zh-CN" sz="2000" b="1" i="1"/>
            </a:p>
          </p:txBody>
        </p:sp>
        <p:sp>
          <p:nvSpPr>
            <p:cNvPr id="468087" name="Rectangle 119"/>
            <p:cNvSpPr>
              <a:spLocks noChangeArrowheads="1"/>
            </p:cNvSpPr>
            <p:nvPr/>
          </p:nvSpPr>
          <p:spPr bwMode="auto">
            <a:xfrm>
              <a:off x="1860" y="1616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b="1" i="1"/>
                <a:t>v </a:t>
              </a:r>
              <a:r>
                <a:rPr lang="en-US" altLang="zh-CN" sz="2000">
                  <a:sym typeface="Symbol" panose="05050102010706020507" pitchFamily="18" charset="2"/>
                </a:rPr>
                <a:t>+ </a:t>
              </a:r>
              <a:r>
                <a:rPr lang="en-US" altLang="zh-CN" sz="2000" b="1" i="1"/>
                <a:t>v</a:t>
              </a:r>
              <a:r>
                <a:rPr lang="en-US" altLang="zh-CN" sz="2000" b="1">
                  <a:sym typeface="Symbol" panose="05050102010706020507" pitchFamily="18" charset="2"/>
                </a:rPr>
                <a:t> 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468089" name="Rectangle 121"/>
            <p:cNvSpPr>
              <a:spLocks noChangeArrowheads="1"/>
            </p:cNvSpPr>
            <p:nvPr/>
          </p:nvSpPr>
          <p:spPr bwMode="auto">
            <a:xfrm>
              <a:off x="2925" y="1616"/>
              <a:ext cx="2450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/>
                <a:t>ACTION [</a:t>
              </a:r>
              <a:r>
                <a:rPr lang="en-US" altLang="zh-CN" sz="2000" i="1"/>
                <a:t>0</a:t>
              </a:r>
              <a:r>
                <a:rPr lang="en-US" altLang="zh-CN" sz="2000"/>
                <a:t>,</a:t>
              </a:r>
              <a:r>
                <a:rPr lang="en-US" altLang="zh-CN" sz="2000" i="1"/>
                <a:t>v</a:t>
              </a:r>
              <a:r>
                <a:rPr lang="en-US" altLang="zh-CN" sz="2000"/>
                <a:t>]=</a:t>
              </a:r>
              <a:r>
                <a:rPr lang="en-US" altLang="zh-CN" sz="2000" i="1"/>
                <a:t>s5</a:t>
              </a:r>
              <a:endParaRPr lang="en-US" altLang="zh-CN" sz="2000"/>
            </a:p>
          </p:txBody>
        </p:sp>
      </p:grpSp>
      <p:grpSp>
        <p:nvGrpSpPr>
          <p:cNvPr id="468147" name="Group 179"/>
          <p:cNvGrpSpPr/>
          <p:nvPr/>
        </p:nvGrpSpPr>
        <p:grpSpPr bwMode="auto">
          <a:xfrm>
            <a:off x="1258888" y="2852738"/>
            <a:ext cx="7416800" cy="396875"/>
            <a:chOff x="793" y="1797"/>
            <a:chExt cx="4672" cy="250"/>
          </a:xfrm>
        </p:grpSpPr>
        <p:sp>
          <p:nvSpPr>
            <p:cNvPr id="468092" name="Rectangle 124"/>
            <p:cNvSpPr>
              <a:spLocks noChangeArrowheads="1"/>
            </p:cNvSpPr>
            <p:nvPr/>
          </p:nvSpPr>
          <p:spPr bwMode="auto">
            <a:xfrm>
              <a:off x="1972" y="1797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b="1" i="1"/>
                <a:t> </a:t>
              </a:r>
              <a:r>
                <a:rPr lang="en-US" altLang="zh-CN" sz="2000">
                  <a:sym typeface="Symbol" panose="05050102010706020507" pitchFamily="18" charset="2"/>
                </a:rPr>
                <a:t>+ </a:t>
              </a:r>
              <a:r>
                <a:rPr lang="en-US" altLang="zh-CN" sz="2000" b="1" i="1"/>
                <a:t>v</a:t>
              </a:r>
              <a:r>
                <a:rPr lang="en-US" altLang="zh-CN" sz="2000" b="1">
                  <a:sym typeface="Symbol" panose="05050102010706020507" pitchFamily="18" charset="2"/>
                </a:rPr>
                <a:t> 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468093" name="Rectangle 125"/>
            <p:cNvSpPr>
              <a:spLocks noChangeArrowheads="1"/>
            </p:cNvSpPr>
            <p:nvPr/>
          </p:nvSpPr>
          <p:spPr bwMode="auto">
            <a:xfrm>
              <a:off x="3015" y="1797"/>
              <a:ext cx="2450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/>
                <a:t>ACTION [</a:t>
              </a:r>
              <a:r>
                <a:rPr lang="en-US" altLang="zh-CN" sz="2000" i="1"/>
                <a:t>5</a:t>
              </a:r>
              <a:r>
                <a:rPr lang="en-US" altLang="zh-CN" sz="2000"/>
                <a:t>,</a:t>
              </a:r>
              <a:r>
                <a:rPr lang="en-US" altLang="zh-CN" sz="2000" i="1"/>
                <a:t>+</a:t>
              </a:r>
              <a:r>
                <a:rPr lang="en-US" altLang="zh-CN" sz="2000"/>
                <a:t>]=</a:t>
              </a:r>
              <a:r>
                <a:rPr lang="en-US" altLang="zh-CN" sz="2000" i="1"/>
                <a:t>r6, </a:t>
              </a:r>
              <a:r>
                <a:rPr lang="en-US" altLang="zh-CN" sz="2000"/>
                <a:t>GOTO [</a:t>
              </a:r>
              <a:r>
                <a:rPr lang="en-US" altLang="zh-CN" sz="2000" i="1"/>
                <a:t>0</a:t>
              </a:r>
              <a:r>
                <a:rPr lang="en-US" altLang="zh-CN" sz="2000"/>
                <a:t>,</a:t>
              </a:r>
              <a:r>
                <a:rPr lang="en-US" altLang="zh-CN" sz="2000" i="1"/>
                <a:t>F</a:t>
              </a:r>
              <a:r>
                <a:rPr lang="en-US" altLang="zh-CN" sz="2000"/>
                <a:t>]=</a:t>
              </a:r>
              <a:r>
                <a:rPr lang="en-US" altLang="zh-CN" sz="2000" i="1"/>
                <a:t>3</a:t>
              </a:r>
            </a:p>
          </p:txBody>
        </p:sp>
        <p:sp>
          <p:nvSpPr>
            <p:cNvPr id="468094" name="Rectangle 126"/>
            <p:cNvSpPr>
              <a:spLocks noChangeArrowheads="1"/>
            </p:cNvSpPr>
            <p:nvPr/>
          </p:nvSpPr>
          <p:spPr bwMode="auto">
            <a:xfrm>
              <a:off x="793" y="1797"/>
              <a:ext cx="636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kumimoji="0" lang="en-US" altLang="zh-CN" sz="2000">
                  <a:sym typeface="Symbol" panose="05050102010706020507" pitchFamily="18" charset="2"/>
                </a:rPr>
                <a:t>0 5</a:t>
              </a:r>
              <a:endParaRPr lang="en-US" altLang="zh-CN" sz="2000" b="1" i="1"/>
            </a:p>
          </p:txBody>
        </p:sp>
      </p:grpSp>
      <p:grpSp>
        <p:nvGrpSpPr>
          <p:cNvPr id="468148" name="Group 180"/>
          <p:cNvGrpSpPr/>
          <p:nvPr/>
        </p:nvGrpSpPr>
        <p:grpSpPr bwMode="auto">
          <a:xfrm>
            <a:off x="1258888" y="3105150"/>
            <a:ext cx="7416800" cy="396875"/>
            <a:chOff x="793" y="1956"/>
            <a:chExt cx="4672" cy="250"/>
          </a:xfrm>
        </p:grpSpPr>
        <p:sp>
          <p:nvSpPr>
            <p:cNvPr id="468095" name="Rectangle 127"/>
            <p:cNvSpPr>
              <a:spLocks noChangeArrowheads="1"/>
            </p:cNvSpPr>
            <p:nvPr/>
          </p:nvSpPr>
          <p:spPr bwMode="auto">
            <a:xfrm>
              <a:off x="1972" y="1956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b="1" i="1"/>
                <a:t> </a:t>
              </a:r>
              <a:r>
                <a:rPr lang="en-US" altLang="zh-CN" sz="2000">
                  <a:sym typeface="Symbol" panose="05050102010706020507" pitchFamily="18" charset="2"/>
                </a:rPr>
                <a:t>+ </a:t>
              </a:r>
              <a:r>
                <a:rPr lang="en-US" altLang="zh-CN" sz="2000" b="1" i="1"/>
                <a:t>v</a:t>
              </a:r>
              <a:r>
                <a:rPr lang="en-US" altLang="zh-CN" sz="2000" b="1">
                  <a:sym typeface="Symbol" panose="05050102010706020507" pitchFamily="18" charset="2"/>
                </a:rPr>
                <a:t> 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468096" name="Rectangle 128"/>
            <p:cNvSpPr>
              <a:spLocks noChangeArrowheads="1"/>
            </p:cNvSpPr>
            <p:nvPr/>
          </p:nvSpPr>
          <p:spPr bwMode="auto">
            <a:xfrm>
              <a:off x="3015" y="1956"/>
              <a:ext cx="2450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/>
                <a:t>ACTION [</a:t>
              </a:r>
              <a:r>
                <a:rPr lang="en-US" altLang="zh-CN" sz="2000" i="1"/>
                <a:t>3</a:t>
              </a:r>
              <a:r>
                <a:rPr lang="en-US" altLang="zh-CN" sz="2000"/>
                <a:t>,</a:t>
              </a:r>
              <a:r>
                <a:rPr lang="en-US" altLang="zh-CN" sz="2000" i="1"/>
                <a:t>+</a:t>
              </a:r>
              <a:r>
                <a:rPr lang="en-US" altLang="zh-CN" sz="2000"/>
                <a:t>]=</a:t>
              </a:r>
              <a:r>
                <a:rPr lang="en-US" altLang="zh-CN" sz="2000" i="1"/>
                <a:t>r4, </a:t>
              </a:r>
              <a:r>
                <a:rPr lang="en-US" altLang="zh-CN" sz="2000"/>
                <a:t>GOTO [</a:t>
              </a:r>
              <a:r>
                <a:rPr lang="en-US" altLang="zh-CN" sz="2000" i="1"/>
                <a:t>0</a:t>
              </a:r>
              <a:r>
                <a:rPr lang="en-US" altLang="zh-CN" sz="2000"/>
                <a:t>,</a:t>
              </a:r>
              <a:r>
                <a:rPr lang="en-US" altLang="zh-CN" sz="2000" i="1"/>
                <a:t>T</a:t>
              </a:r>
              <a:r>
                <a:rPr lang="en-US" altLang="zh-CN" sz="2000"/>
                <a:t>]=</a:t>
              </a:r>
              <a:r>
                <a:rPr lang="en-US" altLang="zh-CN" sz="2000" i="1"/>
                <a:t>2</a:t>
              </a:r>
            </a:p>
          </p:txBody>
        </p:sp>
        <p:sp>
          <p:nvSpPr>
            <p:cNvPr id="468097" name="Rectangle 129"/>
            <p:cNvSpPr>
              <a:spLocks noChangeArrowheads="1"/>
            </p:cNvSpPr>
            <p:nvPr/>
          </p:nvSpPr>
          <p:spPr bwMode="auto">
            <a:xfrm>
              <a:off x="793" y="1956"/>
              <a:ext cx="636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kumimoji="0" lang="en-US" altLang="zh-CN" sz="2000">
                  <a:sym typeface="Symbol" panose="05050102010706020507" pitchFamily="18" charset="2"/>
                </a:rPr>
                <a:t>0 3</a:t>
              </a:r>
              <a:endParaRPr lang="en-US" altLang="zh-CN" sz="2000" b="1" i="1"/>
            </a:p>
          </p:txBody>
        </p:sp>
      </p:grpSp>
      <p:grpSp>
        <p:nvGrpSpPr>
          <p:cNvPr id="468149" name="Group 181"/>
          <p:cNvGrpSpPr/>
          <p:nvPr/>
        </p:nvGrpSpPr>
        <p:grpSpPr bwMode="auto">
          <a:xfrm>
            <a:off x="1258888" y="3355975"/>
            <a:ext cx="7416800" cy="396875"/>
            <a:chOff x="793" y="2114"/>
            <a:chExt cx="4672" cy="250"/>
          </a:xfrm>
        </p:grpSpPr>
        <p:sp>
          <p:nvSpPr>
            <p:cNvPr id="468098" name="Rectangle 130"/>
            <p:cNvSpPr>
              <a:spLocks noChangeArrowheads="1"/>
            </p:cNvSpPr>
            <p:nvPr/>
          </p:nvSpPr>
          <p:spPr bwMode="auto">
            <a:xfrm>
              <a:off x="1972" y="2114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b="1" i="1"/>
                <a:t> </a:t>
              </a:r>
              <a:r>
                <a:rPr lang="en-US" altLang="zh-CN" sz="2000">
                  <a:sym typeface="Symbol" panose="05050102010706020507" pitchFamily="18" charset="2"/>
                </a:rPr>
                <a:t>+ </a:t>
              </a:r>
              <a:r>
                <a:rPr lang="en-US" altLang="zh-CN" sz="2000" b="1" i="1"/>
                <a:t>v</a:t>
              </a:r>
              <a:r>
                <a:rPr lang="en-US" altLang="zh-CN" sz="2000" b="1">
                  <a:sym typeface="Symbol" panose="05050102010706020507" pitchFamily="18" charset="2"/>
                </a:rPr>
                <a:t> 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468099" name="Rectangle 131"/>
            <p:cNvSpPr>
              <a:spLocks noChangeArrowheads="1"/>
            </p:cNvSpPr>
            <p:nvPr/>
          </p:nvSpPr>
          <p:spPr bwMode="auto">
            <a:xfrm>
              <a:off x="3015" y="2114"/>
              <a:ext cx="2450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/>
                <a:t>ACTION [</a:t>
              </a:r>
              <a:r>
                <a:rPr lang="en-US" altLang="zh-CN" sz="2000" i="1"/>
                <a:t>2</a:t>
              </a:r>
              <a:r>
                <a:rPr lang="en-US" altLang="zh-CN" sz="2000"/>
                <a:t>,</a:t>
              </a:r>
              <a:r>
                <a:rPr lang="en-US" altLang="zh-CN" sz="2000" i="1"/>
                <a:t>+</a:t>
              </a:r>
              <a:r>
                <a:rPr lang="en-US" altLang="zh-CN" sz="2000"/>
                <a:t>]=</a:t>
              </a:r>
              <a:r>
                <a:rPr lang="en-US" altLang="zh-CN" sz="2000" i="1"/>
                <a:t>r2, </a:t>
              </a:r>
              <a:r>
                <a:rPr lang="en-US" altLang="zh-CN" sz="2000"/>
                <a:t>GOTO [</a:t>
              </a:r>
              <a:r>
                <a:rPr lang="en-US" altLang="zh-CN" sz="2000" i="1"/>
                <a:t>0</a:t>
              </a:r>
              <a:r>
                <a:rPr lang="en-US" altLang="zh-CN" sz="2000"/>
                <a:t>,</a:t>
              </a:r>
              <a:r>
                <a:rPr lang="en-US" altLang="zh-CN" sz="2000" i="1"/>
                <a:t>E</a:t>
              </a:r>
              <a:r>
                <a:rPr lang="en-US" altLang="zh-CN" sz="2000"/>
                <a:t>]=</a:t>
              </a:r>
              <a:r>
                <a:rPr lang="en-US" altLang="zh-CN" sz="2000" i="1"/>
                <a:t>1</a:t>
              </a:r>
            </a:p>
          </p:txBody>
        </p:sp>
        <p:sp>
          <p:nvSpPr>
            <p:cNvPr id="468100" name="Rectangle 132"/>
            <p:cNvSpPr>
              <a:spLocks noChangeArrowheads="1"/>
            </p:cNvSpPr>
            <p:nvPr/>
          </p:nvSpPr>
          <p:spPr bwMode="auto">
            <a:xfrm>
              <a:off x="793" y="2114"/>
              <a:ext cx="636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kumimoji="0" lang="en-US" altLang="zh-CN" sz="2000">
                  <a:sym typeface="Symbol" panose="05050102010706020507" pitchFamily="18" charset="2"/>
                </a:rPr>
                <a:t>0 2</a:t>
              </a:r>
              <a:endParaRPr lang="en-US" altLang="zh-CN" sz="2000" b="1" i="1"/>
            </a:p>
          </p:txBody>
        </p:sp>
      </p:grpSp>
      <p:grpSp>
        <p:nvGrpSpPr>
          <p:cNvPr id="468137" name="Group 169"/>
          <p:cNvGrpSpPr/>
          <p:nvPr/>
        </p:nvGrpSpPr>
        <p:grpSpPr bwMode="auto">
          <a:xfrm>
            <a:off x="1258888" y="3609975"/>
            <a:ext cx="7237412" cy="396875"/>
            <a:chOff x="703" y="2274"/>
            <a:chExt cx="4559" cy="250"/>
          </a:xfrm>
        </p:grpSpPr>
        <p:sp>
          <p:nvSpPr>
            <p:cNvPr id="468101" name="Rectangle 133"/>
            <p:cNvSpPr>
              <a:spLocks noChangeArrowheads="1"/>
            </p:cNvSpPr>
            <p:nvPr/>
          </p:nvSpPr>
          <p:spPr bwMode="auto">
            <a:xfrm>
              <a:off x="1882" y="2274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b="1" i="1"/>
                <a:t> </a:t>
              </a:r>
              <a:r>
                <a:rPr lang="en-US" altLang="zh-CN" sz="2000">
                  <a:sym typeface="Symbol" panose="05050102010706020507" pitchFamily="18" charset="2"/>
                </a:rPr>
                <a:t>+ </a:t>
              </a:r>
              <a:r>
                <a:rPr lang="en-US" altLang="zh-CN" sz="2000" b="1" i="1"/>
                <a:t>v</a:t>
              </a:r>
              <a:r>
                <a:rPr lang="en-US" altLang="zh-CN" sz="2000" b="1">
                  <a:sym typeface="Symbol" panose="05050102010706020507" pitchFamily="18" charset="2"/>
                </a:rPr>
                <a:t> 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468102" name="Rectangle 134"/>
            <p:cNvSpPr>
              <a:spLocks noChangeArrowheads="1"/>
            </p:cNvSpPr>
            <p:nvPr/>
          </p:nvSpPr>
          <p:spPr bwMode="auto">
            <a:xfrm>
              <a:off x="2925" y="2274"/>
              <a:ext cx="233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/>
                <a:t>ACTION [</a:t>
              </a:r>
              <a:r>
                <a:rPr lang="en-US" altLang="zh-CN" sz="2000" i="1"/>
                <a:t>1</a:t>
              </a:r>
              <a:r>
                <a:rPr lang="en-US" altLang="zh-CN" sz="2000"/>
                <a:t>,</a:t>
              </a:r>
              <a:r>
                <a:rPr lang="en-US" altLang="zh-CN" sz="2000" i="1"/>
                <a:t>+</a:t>
              </a:r>
              <a:r>
                <a:rPr lang="en-US" altLang="zh-CN" sz="2000"/>
                <a:t>]=</a:t>
              </a:r>
              <a:r>
                <a:rPr lang="en-US" altLang="zh-CN" sz="2000" i="1"/>
                <a:t>s7</a:t>
              </a:r>
            </a:p>
          </p:txBody>
        </p:sp>
        <p:sp>
          <p:nvSpPr>
            <p:cNvPr id="468103" name="Rectangle 135"/>
            <p:cNvSpPr>
              <a:spLocks noChangeArrowheads="1"/>
            </p:cNvSpPr>
            <p:nvPr/>
          </p:nvSpPr>
          <p:spPr bwMode="auto">
            <a:xfrm>
              <a:off x="703" y="2274"/>
              <a:ext cx="636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kumimoji="0" lang="en-US" altLang="zh-CN" sz="2000">
                  <a:sym typeface="Symbol" panose="05050102010706020507" pitchFamily="18" charset="2"/>
                </a:rPr>
                <a:t>0 1</a:t>
              </a:r>
              <a:endParaRPr lang="en-US" altLang="zh-CN" sz="2000" b="1" i="1"/>
            </a:p>
          </p:txBody>
        </p:sp>
      </p:grpSp>
      <p:grpSp>
        <p:nvGrpSpPr>
          <p:cNvPr id="468138" name="Group 170"/>
          <p:cNvGrpSpPr/>
          <p:nvPr/>
        </p:nvGrpSpPr>
        <p:grpSpPr bwMode="auto">
          <a:xfrm>
            <a:off x="1258888" y="3860800"/>
            <a:ext cx="7237412" cy="396875"/>
            <a:chOff x="703" y="2432"/>
            <a:chExt cx="4559" cy="250"/>
          </a:xfrm>
        </p:grpSpPr>
        <p:sp>
          <p:nvSpPr>
            <p:cNvPr id="468104" name="Rectangle 136"/>
            <p:cNvSpPr>
              <a:spLocks noChangeArrowheads="1"/>
            </p:cNvSpPr>
            <p:nvPr/>
          </p:nvSpPr>
          <p:spPr bwMode="auto">
            <a:xfrm>
              <a:off x="1882" y="2432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b="1" i="1"/>
                <a:t> v</a:t>
              </a:r>
              <a:r>
                <a:rPr lang="en-US" altLang="zh-CN" sz="2000" b="1">
                  <a:sym typeface="Symbol" panose="05050102010706020507" pitchFamily="18" charset="2"/>
                </a:rPr>
                <a:t> 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468105" name="Rectangle 137"/>
            <p:cNvSpPr>
              <a:spLocks noChangeArrowheads="1"/>
            </p:cNvSpPr>
            <p:nvPr/>
          </p:nvSpPr>
          <p:spPr bwMode="auto">
            <a:xfrm>
              <a:off x="2925" y="2432"/>
              <a:ext cx="233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/>
                <a:t>ACTION [</a:t>
              </a:r>
              <a:r>
                <a:rPr lang="en-US" altLang="zh-CN" sz="2000" i="1"/>
                <a:t>7</a:t>
              </a:r>
              <a:r>
                <a:rPr lang="en-US" altLang="zh-CN" sz="2000"/>
                <a:t>,</a:t>
              </a:r>
              <a:r>
                <a:rPr lang="en-US" altLang="zh-CN" sz="2000" i="1"/>
                <a:t>v</a:t>
              </a:r>
              <a:r>
                <a:rPr lang="en-US" altLang="zh-CN" sz="2000"/>
                <a:t>]=</a:t>
              </a:r>
              <a:r>
                <a:rPr lang="en-US" altLang="zh-CN" sz="2000" i="1"/>
                <a:t>s5</a:t>
              </a:r>
            </a:p>
          </p:txBody>
        </p:sp>
        <p:sp>
          <p:nvSpPr>
            <p:cNvPr id="468106" name="Rectangle 138"/>
            <p:cNvSpPr>
              <a:spLocks noChangeArrowheads="1"/>
            </p:cNvSpPr>
            <p:nvPr/>
          </p:nvSpPr>
          <p:spPr bwMode="auto">
            <a:xfrm>
              <a:off x="703" y="2432"/>
              <a:ext cx="636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kumimoji="0" lang="en-US" altLang="zh-CN" sz="2000">
                  <a:sym typeface="Symbol" panose="05050102010706020507" pitchFamily="18" charset="2"/>
                </a:rPr>
                <a:t>0 1 7</a:t>
              </a:r>
              <a:endParaRPr lang="en-US" altLang="zh-CN" sz="2000" b="1" i="1"/>
            </a:p>
          </p:txBody>
        </p:sp>
      </p:grpSp>
      <p:grpSp>
        <p:nvGrpSpPr>
          <p:cNvPr id="468150" name="Group 182"/>
          <p:cNvGrpSpPr/>
          <p:nvPr/>
        </p:nvGrpSpPr>
        <p:grpSpPr bwMode="auto">
          <a:xfrm>
            <a:off x="1258888" y="4113213"/>
            <a:ext cx="7416800" cy="396875"/>
            <a:chOff x="793" y="2591"/>
            <a:chExt cx="4672" cy="250"/>
          </a:xfrm>
        </p:grpSpPr>
        <p:sp>
          <p:nvSpPr>
            <p:cNvPr id="468107" name="Rectangle 139"/>
            <p:cNvSpPr>
              <a:spLocks noChangeArrowheads="1"/>
            </p:cNvSpPr>
            <p:nvPr/>
          </p:nvSpPr>
          <p:spPr bwMode="auto">
            <a:xfrm>
              <a:off x="1972" y="2591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b="1" i="1"/>
                <a:t> </a:t>
              </a:r>
              <a:r>
                <a:rPr lang="en-US" altLang="zh-CN" sz="2000" b="1">
                  <a:sym typeface="Symbol" panose="05050102010706020507" pitchFamily="18" charset="2"/>
                </a:rPr>
                <a:t>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468108" name="Rectangle 140"/>
            <p:cNvSpPr>
              <a:spLocks noChangeArrowheads="1"/>
            </p:cNvSpPr>
            <p:nvPr/>
          </p:nvSpPr>
          <p:spPr bwMode="auto">
            <a:xfrm>
              <a:off x="3015" y="2591"/>
              <a:ext cx="2450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/>
                <a:t>ACTION [</a:t>
              </a:r>
              <a:r>
                <a:rPr lang="en-US" altLang="zh-CN" sz="2000" i="1"/>
                <a:t>5</a:t>
              </a:r>
              <a:r>
                <a:rPr lang="en-US" altLang="zh-CN" sz="2000"/>
                <a:t>,</a:t>
              </a:r>
              <a:r>
                <a:rPr lang="en-US" altLang="zh-CN" sz="2000">
                  <a:sym typeface="Symbol" panose="05050102010706020507" pitchFamily="18" charset="2"/>
                </a:rPr>
                <a:t></a:t>
              </a:r>
              <a:r>
                <a:rPr lang="en-US" altLang="zh-CN" sz="2000"/>
                <a:t>]=</a:t>
              </a:r>
              <a:r>
                <a:rPr lang="en-US" altLang="zh-CN" sz="2000" i="1"/>
                <a:t>r6, </a:t>
              </a:r>
              <a:r>
                <a:rPr lang="en-US" altLang="zh-CN" sz="2000"/>
                <a:t>GOTO [</a:t>
              </a:r>
              <a:r>
                <a:rPr lang="en-US" altLang="zh-CN" sz="2000" i="1"/>
                <a:t>7</a:t>
              </a:r>
              <a:r>
                <a:rPr lang="en-US" altLang="zh-CN" sz="2000"/>
                <a:t>,</a:t>
              </a:r>
              <a:r>
                <a:rPr lang="en-US" altLang="zh-CN" sz="2000" i="1"/>
                <a:t>F</a:t>
              </a:r>
              <a:r>
                <a:rPr lang="en-US" altLang="zh-CN" sz="2000"/>
                <a:t>]=</a:t>
              </a:r>
              <a:r>
                <a:rPr lang="en-US" altLang="zh-CN" sz="2000" i="1"/>
                <a:t>3</a:t>
              </a:r>
            </a:p>
          </p:txBody>
        </p:sp>
        <p:sp>
          <p:nvSpPr>
            <p:cNvPr id="468109" name="Rectangle 141"/>
            <p:cNvSpPr>
              <a:spLocks noChangeArrowheads="1"/>
            </p:cNvSpPr>
            <p:nvPr/>
          </p:nvSpPr>
          <p:spPr bwMode="auto">
            <a:xfrm>
              <a:off x="793" y="2591"/>
              <a:ext cx="636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kumimoji="0" lang="en-US" altLang="zh-CN" sz="2000">
                  <a:sym typeface="Symbol" panose="05050102010706020507" pitchFamily="18" charset="2"/>
                </a:rPr>
                <a:t>0 1 7 5</a:t>
              </a:r>
              <a:endParaRPr lang="en-US" altLang="zh-CN" sz="2000" b="1" i="1"/>
            </a:p>
          </p:txBody>
        </p:sp>
      </p:grpSp>
      <p:grpSp>
        <p:nvGrpSpPr>
          <p:cNvPr id="468151" name="Group 183"/>
          <p:cNvGrpSpPr/>
          <p:nvPr/>
        </p:nvGrpSpPr>
        <p:grpSpPr bwMode="auto">
          <a:xfrm>
            <a:off x="1258888" y="4400550"/>
            <a:ext cx="7561262" cy="396875"/>
            <a:chOff x="793" y="2772"/>
            <a:chExt cx="4763" cy="250"/>
          </a:xfrm>
        </p:grpSpPr>
        <p:sp>
          <p:nvSpPr>
            <p:cNvPr id="468110" name="Rectangle 142"/>
            <p:cNvSpPr>
              <a:spLocks noChangeArrowheads="1"/>
            </p:cNvSpPr>
            <p:nvPr/>
          </p:nvSpPr>
          <p:spPr bwMode="auto">
            <a:xfrm>
              <a:off x="1972" y="2772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b="1" i="1"/>
                <a:t> </a:t>
              </a:r>
              <a:r>
                <a:rPr lang="en-US" altLang="zh-CN" sz="2000" b="1">
                  <a:sym typeface="Symbol" panose="05050102010706020507" pitchFamily="18" charset="2"/>
                </a:rPr>
                <a:t>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468111" name="Rectangle 143"/>
            <p:cNvSpPr>
              <a:spLocks noChangeArrowheads="1"/>
            </p:cNvSpPr>
            <p:nvPr/>
          </p:nvSpPr>
          <p:spPr bwMode="auto">
            <a:xfrm>
              <a:off x="3015" y="2772"/>
              <a:ext cx="2541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/>
                <a:t>ACTION [</a:t>
              </a:r>
              <a:r>
                <a:rPr lang="en-US" altLang="zh-CN" sz="2000" i="1"/>
                <a:t>3</a:t>
              </a:r>
              <a:r>
                <a:rPr lang="en-US" altLang="zh-CN" sz="2000"/>
                <a:t>,</a:t>
              </a:r>
              <a:r>
                <a:rPr lang="en-US" altLang="zh-CN" sz="2000">
                  <a:sym typeface="Symbol" panose="05050102010706020507" pitchFamily="18" charset="2"/>
                </a:rPr>
                <a:t></a:t>
              </a:r>
              <a:r>
                <a:rPr lang="en-US" altLang="zh-CN" sz="2000"/>
                <a:t>]=</a:t>
              </a:r>
              <a:r>
                <a:rPr lang="en-US" altLang="zh-CN" sz="2000" i="1"/>
                <a:t>r4, </a:t>
              </a:r>
              <a:r>
                <a:rPr lang="en-US" altLang="zh-CN" sz="2000"/>
                <a:t>GOTO [</a:t>
              </a:r>
              <a:r>
                <a:rPr lang="en-US" altLang="zh-CN" sz="2000" i="1"/>
                <a:t>7</a:t>
              </a:r>
              <a:r>
                <a:rPr lang="en-US" altLang="zh-CN" sz="2000"/>
                <a:t>,</a:t>
              </a:r>
              <a:r>
                <a:rPr lang="en-US" altLang="zh-CN" sz="2000" i="1"/>
                <a:t>T</a:t>
              </a:r>
              <a:r>
                <a:rPr lang="en-US" altLang="zh-CN" sz="2000"/>
                <a:t>]=</a:t>
              </a:r>
              <a:r>
                <a:rPr lang="en-US" altLang="zh-CN" sz="2000" i="1"/>
                <a:t>10</a:t>
              </a:r>
            </a:p>
          </p:txBody>
        </p:sp>
        <p:sp>
          <p:nvSpPr>
            <p:cNvPr id="468112" name="Rectangle 144"/>
            <p:cNvSpPr>
              <a:spLocks noChangeArrowheads="1"/>
            </p:cNvSpPr>
            <p:nvPr/>
          </p:nvSpPr>
          <p:spPr bwMode="auto">
            <a:xfrm>
              <a:off x="793" y="2772"/>
              <a:ext cx="636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kumimoji="0" lang="en-US" altLang="zh-CN" sz="2000">
                  <a:sym typeface="Symbol" panose="05050102010706020507" pitchFamily="18" charset="2"/>
                </a:rPr>
                <a:t>0 1 7 3</a:t>
              </a:r>
              <a:endParaRPr lang="en-US" altLang="zh-CN" sz="2000" b="1" i="1"/>
            </a:p>
          </p:txBody>
        </p:sp>
      </p:grpSp>
      <p:grpSp>
        <p:nvGrpSpPr>
          <p:cNvPr id="468141" name="Group 173"/>
          <p:cNvGrpSpPr/>
          <p:nvPr/>
        </p:nvGrpSpPr>
        <p:grpSpPr bwMode="auto">
          <a:xfrm>
            <a:off x="1258888" y="4687888"/>
            <a:ext cx="7488237" cy="396875"/>
            <a:chOff x="703" y="2953"/>
            <a:chExt cx="4717" cy="250"/>
          </a:xfrm>
        </p:grpSpPr>
        <p:sp>
          <p:nvSpPr>
            <p:cNvPr id="468113" name="Rectangle 145"/>
            <p:cNvSpPr>
              <a:spLocks noChangeArrowheads="1"/>
            </p:cNvSpPr>
            <p:nvPr/>
          </p:nvSpPr>
          <p:spPr bwMode="auto">
            <a:xfrm>
              <a:off x="1882" y="2953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b="1" i="1"/>
                <a:t> </a:t>
              </a:r>
              <a:r>
                <a:rPr lang="en-US" altLang="zh-CN" sz="2000" b="1">
                  <a:sym typeface="Symbol" panose="05050102010706020507" pitchFamily="18" charset="2"/>
                </a:rPr>
                <a:t>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468114" name="Rectangle 146"/>
            <p:cNvSpPr>
              <a:spLocks noChangeArrowheads="1"/>
            </p:cNvSpPr>
            <p:nvPr/>
          </p:nvSpPr>
          <p:spPr bwMode="auto">
            <a:xfrm>
              <a:off x="2925" y="2953"/>
              <a:ext cx="249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/>
                <a:t>ACTION [</a:t>
              </a:r>
              <a:r>
                <a:rPr lang="en-US" altLang="zh-CN" sz="2000" i="1"/>
                <a:t>10</a:t>
              </a:r>
              <a:r>
                <a:rPr lang="en-US" altLang="zh-CN" sz="2000"/>
                <a:t>,</a:t>
              </a:r>
              <a:r>
                <a:rPr lang="en-US" altLang="zh-CN" sz="2000">
                  <a:sym typeface="Symbol" panose="05050102010706020507" pitchFamily="18" charset="2"/>
                </a:rPr>
                <a:t></a:t>
              </a:r>
              <a:r>
                <a:rPr lang="en-US" altLang="zh-CN" sz="2000"/>
                <a:t>]=</a:t>
              </a:r>
              <a:r>
                <a:rPr lang="en-US" altLang="zh-CN" sz="2000" i="1"/>
                <a:t>s8</a:t>
              </a:r>
            </a:p>
          </p:txBody>
        </p:sp>
        <p:sp>
          <p:nvSpPr>
            <p:cNvPr id="468115" name="Rectangle 147"/>
            <p:cNvSpPr>
              <a:spLocks noChangeArrowheads="1"/>
            </p:cNvSpPr>
            <p:nvPr/>
          </p:nvSpPr>
          <p:spPr bwMode="auto">
            <a:xfrm>
              <a:off x="703" y="2953"/>
              <a:ext cx="772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kumimoji="0" lang="en-US" altLang="zh-CN" sz="2000">
                  <a:sym typeface="Symbol" panose="05050102010706020507" pitchFamily="18" charset="2"/>
                </a:rPr>
                <a:t>0 1 7 10</a:t>
              </a:r>
              <a:endParaRPr lang="en-US" altLang="zh-CN" sz="2000" b="1" i="1"/>
            </a:p>
          </p:txBody>
        </p:sp>
      </p:grpSp>
      <p:grpSp>
        <p:nvGrpSpPr>
          <p:cNvPr id="468142" name="Group 174"/>
          <p:cNvGrpSpPr/>
          <p:nvPr/>
        </p:nvGrpSpPr>
        <p:grpSpPr bwMode="auto">
          <a:xfrm>
            <a:off x="1258888" y="4976813"/>
            <a:ext cx="7488237" cy="396875"/>
            <a:chOff x="703" y="3135"/>
            <a:chExt cx="4717" cy="250"/>
          </a:xfrm>
        </p:grpSpPr>
        <p:sp>
          <p:nvSpPr>
            <p:cNvPr id="468116" name="Rectangle 148"/>
            <p:cNvSpPr>
              <a:spLocks noChangeArrowheads="1"/>
            </p:cNvSpPr>
            <p:nvPr/>
          </p:nvSpPr>
          <p:spPr bwMode="auto">
            <a:xfrm>
              <a:off x="1882" y="3135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b="1" i="1"/>
                <a:t> </a:t>
              </a:r>
              <a:r>
                <a:rPr lang="en-US" altLang="zh-CN" sz="2000" b="1">
                  <a:sym typeface="Symbol" panose="05050102010706020507" pitchFamily="18" charset="2"/>
                </a:rPr>
                <a:t>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468117" name="Rectangle 149"/>
            <p:cNvSpPr>
              <a:spLocks noChangeArrowheads="1"/>
            </p:cNvSpPr>
            <p:nvPr/>
          </p:nvSpPr>
          <p:spPr bwMode="auto">
            <a:xfrm>
              <a:off x="2925" y="3135"/>
              <a:ext cx="249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/>
                <a:t>ACTION [</a:t>
              </a:r>
              <a:r>
                <a:rPr lang="en-US" altLang="zh-CN" sz="2000" i="1"/>
                <a:t>8</a:t>
              </a:r>
              <a:r>
                <a:rPr lang="en-US" altLang="zh-CN" sz="2000"/>
                <a:t>,</a:t>
              </a:r>
              <a:r>
                <a:rPr lang="en-US" altLang="zh-CN" sz="2000" i="1">
                  <a:sym typeface="Symbol" panose="05050102010706020507" pitchFamily="18" charset="2"/>
                </a:rPr>
                <a:t>d</a:t>
              </a:r>
              <a:r>
                <a:rPr lang="en-US" altLang="zh-CN" sz="2000"/>
                <a:t>]=</a:t>
              </a:r>
              <a:r>
                <a:rPr lang="en-US" altLang="zh-CN" sz="2000" i="1"/>
                <a:t>s6</a:t>
              </a:r>
            </a:p>
          </p:txBody>
        </p:sp>
        <p:sp>
          <p:nvSpPr>
            <p:cNvPr id="468118" name="Rectangle 150"/>
            <p:cNvSpPr>
              <a:spLocks noChangeArrowheads="1"/>
            </p:cNvSpPr>
            <p:nvPr/>
          </p:nvSpPr>
          <p:spPr bwMode="auto">
            <a:xfrm>
              <a:off x="703" y="3135"/>
              <a:ext cx="953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kumimoji="0" lang="en-US" altLang="zh-CN" sz="2000">
                  <a:sym typeface="Symbol" panose="05050102010706020507" pitchFamily="18" charset="2"/>
                </a:rPr>
                <a:t>0 1 7 10 8</a:t>
              </a:r>
              <a:endParaRPr lang="en-US" altLang="zh-CN" sz="2000" b="1" i="1"/>
            </a:p>
          </p:txBody>
        </p:sp>
      </p:grpSp>
      <p:grpSp>
        <p:nvGrpSpPr>
          <p:cNvPr id="468152" name="Group 184"/>
          <p:cNvGrpSpPr/>
          <p:nvPr/>
        </p:nvGrpSpPr>
        <p:grpSpPr bwMode="auto">
          <a:xfrm>
            <a:off x="1258888" y="5264150"/>
            <a:ext cx="7634287" cy="396875"/>
            <a:chOff x="793" y="3316"/>
            <a:chExt cx="4809" cy="250"/>
          </a:xfrm>
        </p:grpSpPr>
        <p:sp>
          <p:nvSpPr>
            <p:cNvPr id="468119" name="Rectangle 151"/>
            <p:cNvSpPr>
              <a:spLocks noChangeArrowheads="1"/>
            </p:cNvSpPr>
            <p:nvPr/>
          </p:nvSpPr>
          <p:spPr bwMode="auto">
            <a:xfrm>
              <a:off x="1972" y="3316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b="1" i="1"/>
                <a:t> </a:t>
              </a:r>
              <a:r>
                <a:rPr lang="en-US" altLang="zh-CN" sz="2000" b="1">
                  <a:sym typeface="Symbol" panose="05050102010706020507" pitchFamily="18" charset="2"/>
                </a:rPr>
                <a:t> </a:t>
              </a:r>
              <a:r>
                <a:rPr lang="en-US" altLang="zh-CN" sz="2000" b="1" i="1"/>
                <a:t> #</a:t>
              </a:r>
            </a:p>
          </p:txBody>
        </p:sp>
        <p:sp>
          <p:nvSpPr>
            <p:cNvPr id="468120" name="Rectangle 152"/>
            <p:cNvSpPr>
              <a:spLocks noChangeArrowheads="1"/>
            </p:cNvSpPr>
            <p:nvPr/>
          </p:nvSpPr>
          <p:spPr bwMode="auto">
            <a:xfrm>
              <a:off x="3015" y="3316"/>
              <a:ext cx="258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/>
                <a:t>ACTION [</a:t>
              </a:r>
              <a:r>
                <a:rPr lang="en-US" altLang="zh-CN" sz="2000" i="1"/>
                <a:t>6</a:t>
              </a:r>
              <a:r>
                <a:rPr lang="en-US" altLang="zh-CN" sz="2000"/>
                <a:t>,</a:t>
              </a:r>
              <a:r>
                <a:rPr lang="en-US" altLang="zh-CN" sz="2000" i="1"/>
                <a:t>#</a:t>
              </a:r>
              <a:r>
                <a:rPr lang="en-US" altLang="zh-CN" sz="2000"/>
                <a:t>]=</a:t>
              </a:r>
              <a:r>
                <a:rPr lang="en-US" altLang="zh-CN" sz="2000" i="1"/>
                <a:t>r7, </a:t>
              </a:r>
              <a:r>
                <a:rPr lang="en-US" altLang="zh-CN" sz="2000"/>
                <a:t>GOTO [</a:t>
              </a:r>
              <a:r>
                <a:rPr lang="en-US" altLang="zh-CN" sz="2000" i="1"/>
                <a:t>8</a:t>
              </a:r>
              <a:r>
                <a:rPr lang="en-US" altLang="zh-CN" sz="2000"/>
                <a:t>,</a:t>
              </a:r>
              <a:r>
                <a:rPr lang="en-US" altLang="zh-CN" sz="2000" i="1"/>
                <a:t>F</a:t>
              </a:r>
              <a:r>
                <a:rPr lang="en-US" altLang="zh-CN" sz="2000"/>
                <a:t>]=</a:t>
              </a:r>
              <a:r>
                <a:rPr lang="en-US" altLang="zh-CN" sz="2000" i="1"/>
                <a:t>11</a:t>
              </a:r>
            </a:p>
          </p:txBody>
        </p:sp>
        <p:sp>
          <p:nvSpPr>
            <p:cNvPr id="468121" name="Rectangle 153"/>
            <p:cNvSpPr>
              <a:spLocks noChangeArrowheads="1"/>
            </p:cNvSpPr>
            <p:nvPr/>
          </p:nvSpPr>
          <p:spPr bwMode="auto">
            <a:xfrm>
              <a:off x="793" y="3316"/>
              <a:ext cx="1043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kumimoji="0" lang="en-US" altLang="zh-CN" sz="2000">
                  <a:sym typeface="Symbol" panose="05050102010706020507" pitchFamily="18" charset="2"/>
                </a:rPr>
                <a:t>0 1 7 10 8 6</a:t>
              </a:r>
              <a:endParaRPr lang="en-US" altLang="zh-CN" sz="2000" b="1" i="1"/>
            </a:p>
          </p:txBody>
        </p:sp>
      </p:grpSp>
      <p:grpSp>
        <p:nvGrpSpPr>
          <p:cNvPr id="468153" name="Group 185"/>
          <p:cNvGrpSpPr/>
          <p:nvPr/>
        </p:nvGrpSpPr>
        <p:grpSpPr bwMode="auto">
          <a:xfrm>
            <a:off x="1258888" y="5553075"/>
            <a:ext cx="7705725" cy="396875"/>
            <a:chOff x="793" y="3498"/>
            <a:chExt cx="4854" cy="250"/>
          </a:xfrm>
        </p:grpSpPr>
        <p:sp>
          <p:nvSpPr>
            <p:cNvPr id="468122" name="Rectangle 154"/>
            <p:cNvSpPr>
              <a:spLocks noChangeArrowheads="1"/>
            </p:cNvSpPr>
            <p:nvPr/>
          </p:nvSpPr>
          <p:spPr bwMode="auto">
            <a:xfrm>
              <a:off x="1972" y="3498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b="1" i="1"/>
                <a:t> </a:t>
              </a:r>
              <a:r>
                <a:rPr lang="en-US" altLang="zh-CN" sz="2000" b="1">
                  <a:sym typeface="Symbol" panose="05050102010706020507" pitchFamily="18" charset="2"/>
                </a:rPr>
                <a:t> </a:t>
              </a:r>
              <a:r>
                <a:rPr lang="en-US" altLang="zh-CN" sz="2000" b="1" i="1"/>
                <a:t> #</a:t>
              </a:r>
            </a:p>
          </p:txBody>
        </p:sp>
        <p:sp>
          <p:nvSpPr>
            <p:cNvPr id="468123" name="Rectangle 155"/>
            <p:cNvSpPr>
              <a:spLocks noChangeArrowheads="1"/>
            </p:cNvSpPr>
            <p:nvPr/>
          </p:nvSpPr>
          <p:spPr bwMode="auto">
            <a:xfrm>
              <a:off x="3015" y="3498"/>
              <a:ext cx="2632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/>
                <a:t>ACTION [</a:t>
              </a:r>
              <a:r>
                <a:rPr lang="en-US" altLang="zh-CN" sz="2000" i="1"/>
                <a:t>11</a:t>
              </a:r>
              <a:r>
                <a:rPr lang="en-US" altLang="zh-CN" sz="2000"/>
                <a:t>,</a:t>
              </a:r>
              <a:r>
                <a:rPr lang="en-US" altLang="zh-CN" sz="2000" i="1"/>
                <a:t>#</a:t>
              </a:r>
              <a:r>
                <a:rPr lang="en-US" altLang="zh-CN" sz="2000"/>
                <a:t>]=</a:t>
              </a:r>
              <a:r>
                <a:rPr lang="en-US" altLang="zh-CN" sz="2000" i="1"/>
                <a:t>r3, </a:t>
              </a:r>
              <a:r>
                <a:rPr lang="en-US" altLang="zh-CN" sz="2000"/>
                <a:t>GOTO [</a:t>
              </a:r>
              <a:r>
                <a:rPr lang="en-US" altLang="zh-CN" sz="2000" i="1"/>
                <a:t>7</a:t>
              </a:r>
              <a:r>
                <a:rPr lang="en-US" altLang="zh-CN" sz="2000"/>
                <a:t>,</a:t>
              </a:r>
              <a:r>
                <a:rPr lang="en-US" altLang="zh-CN" sz="2000" i="1"/>
                <a:t>T</a:t>
              </a:r>
              <a:r>
                <a:rPr lang="en-US" altLang="zh-CN" sz="2000"/>
                <a:t>]=</a:t>
              </a:r>
              <a:r>
                <a:rPr lang="en-US" altLang="zh-CN" sz="2000" i="1"/>
                <a:t>10</a:t>
              </a:r>
            </a:p>
          </p:txBody>
        </p:sp>
        <p:sp>
          <p:nvSpPr>
            <p:cNvPr id="468124" name="Rectangle 156"/>
            <p:cNvSpPr>
              <a:spLocks noChangeArrowheads="1"/>
            </p:cNvSpPr>
            <p:nvPr/>
          </p:nvSpPr>
          <p:spPr bwMode="auto">
            <a:xfrm>
              <a:off x="793" y="3498"/>
              <a:ext cx="113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kumimoji="0" lang="en-US" altLang="zh-CN" sz="2000">
                  <a:sym typeface="Symbol" panose="05050102010706020507" pitchFamily="18" charset="2"/>
                </a:rPr>
                <a:t>0 1 7 10 8 11</a:t>
              </a:r>
              <a:endParaRPr lang="en-US" altLang="zh-CN" sz="2000" b="1" i="1"/>
            </a:p>
          </p:txBody>
        </p:sp>
      </p:grpSp>
      <p:grpSp>
        <p:nvGrpSpPr>
          <p:cNvPr id="468154" name="Group 186"/>
          <p:cNvGrpSpPr/>
          <p:nvPr/>
        </p:nvGrpSpPr>
        <p:grpSpPr bwMode="auto">
          <a:xfrm>
            <a:off x="1258888" y="5840413"/>
            <a:ext cx="7634287" cy="396875"/>
            <a:chOff x="793" y="3679"/>
            <a:chExt cx="4809" cy="250"/>
          </a:xfrm>
        </p:grpSpPr>
        <p:sp>
          <p:nvSpPr>
            <p:cNvPr id="468125" name="Rectangle 157"/>
            <p:cNvSpPr>
              <a:spLocks noChangeArrowheads="1"/>
            </p:cNvSpPr>
            <p:nvPr/>
          </p:nvSpPr>
          <p:spPr bwMode="auto">
            <a:xfrm>
              <a:off x="1972" y="3679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b="1" i="1"/>
                <a:t> </a:t>
              </a:r>
              <a:r>
                <a:rPr lang="en-US" altLang="zh-CN" sz="2000" b="1">
                  <a:sym typeface="Symbol" panose="05050102010706020507" pitchFamily="18" charset="2"/>
                </a:rPr>
                <a:t> </a:t>
              </a:r>
              <a:r>
                <a:rPr lang="en-US" altLang="zh-CN" sz="2000" b="1" i="1"/>
                <a:t> #</a:t>
              </a:r>
            </a:p>
          </p:txBody>
        </p:sp>
        <p:sp>
          <p:nvSpPr>
            <p:cNvPr id="468126" name="Rectangle 158"/>
            <p:cNvSpPr>
              <a:spLocks noChangeArrowheads="1"/>
            </p:cNvSpPr>
            <p:nvPr/>
          </p:nvSpPr>
          <p:spPr bwMode="auto">
            <a:xfrm>
              <a:off x="3015" y="3679"/>
              <a:ext cx="258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/>
                <a:t>ACTION [</a:t>
              </a:r>
              <a:r>
                <a:rPr lang="en-US" altLang="zh-CN" sz="2000" i="1"/>
                <a:t>10</a:t>
              </a:r>
              <a:r>
                <a:rPr lang="en-US" altLang="zh-CN" sz="2000"/>
                <a:t>,</a:t>
              </a:r>
              <a:r>
                <a:rPr lang="en-US" altLang="zh-CN" sz="2000" i="1"/>
                <a:t>#</a:t>
              </a:r>
              <a:r>
                <a:rPr lang="en-US" altLang="zh-CN" sz="2000"/>
                <a:t>]=</a:t>
              </a:r>
              <a:r>
                <a:rPr lang="en-US" altLang="zh-CN" sz="2000" i="1"/>
                <a:t>r1, </a:t>
              </a:r>
              <a:r>
                <a:rPr lang="en-US" altLang="zh-CN" sz="2000"/>
                <a:t>GOTO [</a:t>
              </a:r>
              <a:r>
                <a:rPr lang="en-US" altLang="zh-CN" sz="2000" i="1"/>
                <a:t>0</a:t>
              </a:r>
              <a:r>
                <a:rPr lang="en-US" altLang="zh-CN" sz="2000"/>
                <a:t>,</a:t>
              </a:r>
              <a:r>
                <a:rPr lang="en-US" altLang="zh-CN" sz="2000" i="1"/>
                <a:t>E</a:t>
              </a:r>
              <a:r>
                <a:rPr lang="en-US" altLang="zh-CN" sz="2000"/>
                <a:t>]=</a:t>
              </a:r>
              <a:r>
                <a:rPr lang="en-US" altLang="zh-CN" sz="2000" i="1"/>
                <a:t>1</a:t>
              </a:r>
            </a:p>
          </p:txBody>
        </p:sp>
        <p:sp>
          <p:nvSpPr>
            <p:cNvPr id="468127" name="Rectangle 159"/>
            <p:cNvSpPr>
              <a:spLocks noChangeArrowheads="1"/>
            </p:cNvSpPr>
            <p:nvPr/>
          </p:nvSpPr>
          <p:spPr bwMode="auto">
            <a:xfrm>
              <a:off x="793" y="3679"/>
              <a:ext cx="113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kumimoji="0" lang="en-US" altLang="zh-CN" sz="2000">
                  <a:sym typeface="Symbol" panose="05050102010706020507" pitchFamily="18" charset="2"/>
                </a:rPr>
                <a:t>0 1 7 10</a:t>
              </a:r>
              <a:endParaRPr lang="en-US" altLang="zh-CN" sz="2000" b="1" i="1"/>
            </a:p>
          </p:txBody>
        </p:sp>
      </p:grpSp>
      <p:grpSp>
        <p:nvGrpSpPr>
          <p:cNvPr id="468146" name="Group 178"/>
          <p:cNvGrpSpPr/>
          <p:nvPr/>
        </p:nvGrpSpPr>
        <p:grpSpPr bwMode="auto">
          <a:xfrm>
            <a:off x="1258888" y="6127750"/>
            <a:ext cx="7488237" cy="396875"/>
            <a:chOff x="703" y="3860"/>
            <a:chExt cx="4717" cy="250"/>
          </a:xfrm>
        </p:grpSpPr>
        <p:sp>
          <p:nvSpPr>
            <p:cNvPr id="468128" name="Rectangle 160"/>
            <p:cNvSpPr>
              <a:spLocks noChangeArrowheads="1"/>
            </p:cNvSpPr>
            <p:nvPr/>
          </p:nvSpPr>
          <p:spPr bwMode="auto">
            <a:xfrm>
              <a:off x="1882" y="3860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b="1" i="1"/>
                <a:t> </a:t>
              </a:r>
              <a:r>
                <a:rPr lang="en-US" altLang="zh-CN" sz="2000" b="1">
                  <a:sym typeface="Symbol" panose="05050102010706020507" pitchFamily="18" charset="2"/>
                </a:rPr>
                <a:t> </a:t>
              </a:r>
              <a:r>
                <a:rPr lang="en-US" altLang="zh-CN" sz="2000" b="1" i="1"/>
                <a:t> #</a:t>
              </a:r>
            </a:p>
          </p:txBody>
        </p:sp>
        <p:sp>
          <p:nvSpPr>
            <p:cNvPr id="468129" name="Rectangle 161"/>
            <p:cNvSpPr>
              <a:spLocks noChangeArrowheads="1"/>
            </p:cNvSpPr>
            <p:nvPr/>
          </p:nvSpPr>
          <p:spPr bwMode="auto">
            <a:xfrm>
              <a:off x="2925" y="3860"/>
              <a:ext cx="249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/>
                <a:t>ACTION [</a:t>
              </a:r>
              <a:r>
                <a:rPr lang="en-US" altLang="zh-CN" sz="2000" i="1"/>
                <a:t>1</a:t>
              </a:r>
              <a:r>
                <a:rPr lang="en-US" altLang="zh-CN" sz="2000"/>
                <a:t>,</a:t>
              </a:r>
              <a:r>
                <a:rPr lang="en-US" altLang="zh-CN" sz="2000" i="1"/>
                <a:t>#</a:t>
              </a:r>
              <a:r>
                <a:rPr lang="en-US" altLang="zh-CN" sz="2000"/>
                <a:t>]=</a:t>
              </a:r>
              <a:r>
                <a:rPr lang="en-US" altLang="zh-CN" sz="2000" i="1">
                  <a:sym typeface="Symbol" panose="05050102010706020507" pitchFamily="18" charset="2"/>
                </a:rPr>
                <a:t>acc</a:t>
              </a:r>
            </a:p>
          </p:txBody>
        </p:sp>
        <p:sp>
          <p:nvSpPr>
            <p:cNvPr id="468130" name="Rectangle 162"/>
            <p:cNvSpPr>
              <a:spLocks noChangeArrowheads="1"/>
            </p:cNvSpPr>
            <p:nvPr/>
          </p:nvSpPr>
          <p:spPr bwMode="auto">
            <a:xfrm>
              <a:off x="703" y="3860"/>
              <a:ext cx="113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kumimoji="0" lang="en-US" altLang="zh-CN" sz="2000">
                  <a:sym typeface="Symbol" panose="05050102010706020507" pitchFamily="18" charset="2"/>
                </a:rPr>
                <a:t>0 1</a:t>
              </a:r>
              <a:endParaRPr lang="en-US" altLang="zh-CN" sz="2000" b="1" i="1"/>
            </a:p>
          </p:txBody>
        </p:sp>
      </p:grpSp>
      <p:sp>
        <p:nvSpPr>
          <p:cNvPr id="468131" name="Text Box 163"/>
          <p:cNvSpPr txBox="1">
            <a:spLocks noChangeArrowheads="1"/>
          </p:cNvSpPr>
          <p:nvPr/>
        </p:nvSpPr>
        <p:spPr bwMode="auto">
          <a:xfrm>
            <a:off x="755650" y="1052513"/>
            <a:ext cx="3455988" cy="11287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28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en-US" altLang="zh-CN" sz="2800"/>
              <a:t>LR </a:t>
            </a:r>
            <a:r>
              <a:rPr lang="zh-CN" altLang="en-US" sz="2800" b="1">
                <a:latin typeface="楷体_GB2312" pitchFamily="49" charset="-122"/>
              </a:rPr>
              <a:t>分析过程</a:t>
            </a:r>
            <a:r>
              <a:rPr lang="zh-CN" altLang="en-US" sz="2800" b="1">
                <a:solidFill>
                  <a:srgbClr val="800080"/>
                </a:solidFill>
                <a:latin typeface="楷体_GB2312" pitchFamily="49" charset="-122"/>
              </a:rPr>
              <a:t>举例</a:t>
            </a: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000" b="1">
                <a:solidFill>
                  <a:srgbClr val="800080"/>
                </a:solidFill>
              </a:rPr>
              <a:t> </a:t>
            </a:r>
            <a:r>
              <a:rPr kumimoji="0" lang="zh-CN" altLang="en-US" sz="2000" b="1">
                <a:solidFill>
                  <a:srgbClr val="800080"/>
                </a:solidFill>
                <a:sym typeface="Symbol" panose="05050102010706020507" pitchFamily="18" charset="2"/>
              </a:rPr>
              <a:t>文法：</a:t>
            </a:r>
            <a:r>
              <a:rPr kumimoji="0" lang="en-US" altLang="zh-CN" sz="2000" i="1">
                <a:sym typeface="Symbol" panose="05050102010706020507" pitchFamily="18" charset="2"/>
              </a:rPr>
              <a:t>G</a:t>
            </a:r>
            <a:r>
              <a:rPr kumimoji="0" lang="en-US" altLang="zh-CN" sz="2000">
                <a:sym typeface="Symbol" panose="05050102010706020507" pitchFamily="18" charset="2"/>
              </a:rPr>
              <a:t>[</a:t>
            </a:r>
            <a:r>
              <a:rPr kumimoji="0" lang="en-US" altLang="zh-CN" sz="2000" i="1">
                <a:sym typeface="Symbol" panose="05050102010706020507" pitchFamily="18" charset="2"/>
              </a:rPr>
              <a:t>E</a:t>
            </a:r>
            <a:r>
              <a:rPr kumimoji="0" lang="en-US" altLang="zh-CN" sz="2000">
                <a:sym typeface="Symbol" panose="05050102010706020507" pitchFamily="18" charset="2"/>
              </a:rPr>
              <a:t>]</a:t>
            </a:r>
            <a:r>
              <a:rPr lang="en-US" altLang="zh-CN" sz="2000"/>
              <a:t> </a:t>
            </a: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en-US" altLang="zh-CN" sz="2000">
                <a:solidFill>
                  <a:srgbClr val="800080"/>
                </a:solidFill>
              </a:rPr>
              <a:t>  </a:t>
            </a:r>
            <a:r>
              <a:rPr lang="zh-CN" altLang="en-US" sz="2000" b="1">
                <a:solidFill>
                  <a:srgbClr val="800080"/>
                </a:solidFill>
                <a:sym typeface="Symbol" panose="05050102010706020507" pitchFamily="18" charset="2"/>
              </a:rPr>
              <a:t>输入串： </a:t>
            </a:r>
            <a:r>
              <a:rPr lang="en-US" altLang="zh-CN" sz="2000" b="1" i="1"/>
              <a:t>v </a:t>
            </a:r>
            <a:r>
              <a:rPr lang="en-US" altLang="zh-CN" sz="2000">
                <a:sym typeface="Symbol" panose="05050102010706020507" pitchFamily="18" charset="2"/>
              </a:rPr>
              <a:t>+ </a:t>
            </a:r>
            <a:r>
              <a:rPr lang="en-US" altLang="zh-CN" sz="2000" b="1" i="1"/>
              <a:t>v</a:t>
            </a:r>
            <a:r>
              <a:rPr lang="en-US" altLang="zh-CN" sz="2000" b="1">
                <a:sym typeface="Symbol" panose="05050102010706020507" pitchFamily="18" charset="2"/>
              </a:rPr>
              <a:t>  </a:t>
            </a:r>
            <a:r>
              <a:rPr lang="en-US" altLang="zh-CN" sz="2000" b="1" i="1"/>
              <a:t>d</a:t>
            </a:r>
            <a:r>
              <a:rPr lang="en-US" altLang="zh-CN" sz="2000"/>
              <a:t> </a:t>
            </a:r>
          </a:p>
        </p:txBody>
      </p:sp>
      <p:sp>
        <p:nvSpPr>
          <p:cNvPr id="468132" name="Text Box 164"/>
          <p:cNvSpPr txBox="1">
            <a:spLocks noChangeArrowheads="1"/>
          </p:cNvSpPr>
          <p:nvPr/>
        </p:nvSpPr>
        <p:spPr bwMode="auto">
          <a:xfrm>
            <a:off x="4140200" y="1125538"/>
            <a:ext cx="4752975" cy="1006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1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E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E+T</a:t>
            </a:r>
            <a:r>
              <a:rPr lang="en-US" altLang="zh-CN" sz="2000">
                <a:sym typeface="Symbol" panose="05050102010706020507" pitchFamily="18" charset="2"/>
              </a:rPr>
              <a:t>   </a:t>
            </a: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2</a:t>
            </a:r>
            <a:r>
              <a:rPr lang="zh-CN" altLang="en-US" sz="2000">
                <a:sym typeface="Symbol" panose="05050102010706020507" pitchFamily="18" charset="2"/>
              </a:rPr>
              <a:t>） </a:t>
            </a:r>
            <a:r>
              <a:rPr lang="en-US" altLang="zh-CN" sz="2000" i="1">
                <a:sym typeface="Symbol" panose="05050102010706020507" pitchFamily="18" charset="2"/>
              </a:rPr>
              <a:t>E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T 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3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T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T</a:t>
            </a:r>
            <a:r>
              <a:rPr lang="en-US" altLang="zh-CN" sz="2000">
                <a:sym typeface="Symbol" panose="05050102010706020507" pitchFamily="18" charset="2"/>
              </a:rPr>
              <a:t></a:t>
            </a:r>
            <a:r>
              <a:rPr lang="en-US" altLang="zh-CN" sz="2000" i="1">
                <a:sym typeface="Symbol" panose="05050102010706020507" pitchFamily="18" charset="2"/>
              </a:rPr>
              <a:t>F    </a:t>
            </a: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4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T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F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5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F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(E)  </a:t>
            </a: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6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zh-CN" altLang="en-US" sz="2000" i="1">
                <a:sym typeface="Symbol" panose="05050102010706020507" pitchFamily="18" charset="2"/>
              </a:rPr>
              <a:t> </a:t>
            </a:r>
            <a:r>
              <a:rPr lang="en-US" altLang="zh-CN" sz="2000" i="1">
                <a:sym typeface="Symbol" panose="05050102010706020507" pitchFamily="18" charset="2"/>
              </a:rPr>
              <a:t>F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v</a:t>
            </a:r>
            <a:r>
              <a:rPr lang="en-US" altLang="zh-CN" sz="2000"/>
              <a:t> </a:t>
            </a: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7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F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d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6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68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468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468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46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468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468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468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468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468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468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468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468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2" dur="500"/>
                                        <p:tgtEl>
                                          <p:spTgt spid="468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292" name="Text Box 4"/>
          <p:cNvSpPr txBox="1">
            <a:spLocks noChangeArrowheads="1"/>
          </p:cNvSpPr>
          <p:nvPr/>
        </p:nvSpPr>
        <p:spPr bwMode="auto">
          <a:xfrm>
            <a:off x="898525" y="1336675"/>
            <a:ext cx="7129463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3200" b="1">
                <a:solidFill>
                  <a:srgbClr val="800080"/>
                </a:solidFill>
                <a:latin typeface="楷体_GB2312" pitchFamily="49" charset="-122"/>
              </a:rPr>
              <a:t>带符号栈的</a:t>
            </a:r>
            <a:r>
              <a:rPr lang="en-US" altLang="zh-CN" sz="3200">
                <a:solidFill>
                  <a:srgbClr val="800080"/>
                </a:solidFill>
              </a:rPr>
              <a:t>LR</a:t>
            </a:r>
            <a:r>
              <a:rPr lang="en-US" altLang="zh-CN">
                <a:solidFill>
                  <a:srgbClr val="800080"/>
                </a:solidFill>
              </a:rPr>
              <a:t> </a:t>
            </a:r>
            <a:r>
              <a:rPr lang="zh-CN" altLang="en-US" sz="3200" b="1">
                <a:solidFill>
                  <a:srgbClr val="800080"/>
                </a:solidFill>
                <a:latin typeface="楷体_GB2312" pitchFamily="49" charset="-122"/>
              </a:rPr>
              <a:t>分析模型</a:t>
            </a:r>
            <a:endParaRPr lang="zh-CN" altLang="en-US" sz="1000" b="1">
              <a:solidFill>
                <a:srgbClr val="800080"/>
              </a:solidFill>
              <a:latin typeface="楷体_GB2312" pitchFamily="49" charset="-122"/>
            </a:endParaRPr>
          </a:p>
        </p:txBody>
      </p:sp>
      <p:sp>
        <p:nvSpPr>
          <p:cNvPr id="524293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4294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4295" name="AutoShape 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4296" name="AutoShape 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4297" name="Rectangle 9"/>
          <p:cNvSpPr>
            <a:spLocks noChangeArrowheads="1"/>
          </p:cNvSpPr>
          <p:nvPr/>
        </p:nvSpPr>
        <p:spPr bwMode="auto">
          <a:xfrm>
            <a:off x="37232" y="267370"/>
            <a:ext cx="30226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LR 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分析基础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611" y="2335995"/>
            <a:ext cx="4538777" cy="2965213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16" name="Text Box 4"/>
          <p:cNvSpPr txBox="1">
            <a:spLocks noChangeArrowheads="1"/>
          </p:cNvSpPr>
          <p:nvPr/>
        </p:nvSpPr>
        <p:spPr bwMode="auto">
          <a:xfrm>
            <a:off x="611188" y="1125538"/>
            <a:ext cx="5113337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zh-CN" altLang="en-US" sz="3200" b="1">
                <a:solidFill>
                  <a:srgbClr val="800080"/>
                </a:solidFill>
              </a:rPr>
              <a:t>带符号栈的 </a:t>
            </a:r>
            <a:r>
              <a:rPr lang="en-US" altLang="zh-CN" sz="3200">
                <a:solidFill>
                  <a:srgbClr val="800080"/>
                </a:solidFill>
              </a:rPr>
              <a:t>LR </a:t>
            </a:r>
            <a:r>
              <a:rPr lang="zh-CN" altLang="en-US" sz="3200" b="1">
                <a:solidFill>
                  <a:srgbClr val="800080"/>
                </a:solidFill>
                <a:latin typeface="楷体_GB2312" pitchFamily="49" charset="-122"/>
              </a:rPr>
              <a:t>分析算法</a:t>
            </a:r>
          </a:p>
        </p:txBody>
      </p:sp>
      <p:sp>
        <p:nvSpPr>
          <p:cNvPr id="525317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5318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5319" name="AutoShape 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5320" name="AutoShape 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5321" name="Rectangle 9"/>
          <p:cNvSpPr>
            <a:spLocks noChangeArrowheads="1"/>
          </p:cNvSpPr>
          <p:nvPr/>
        </p:nvSpPr>
        <p:spPr bwMode="auto">
          <a:xfrm>
            <a:off x="35496" y="267370"/>
            <a:ext cx="30226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LR 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分析基础</a:t>
            </a:r>
          </a:p>
        </p:txBody>
      </p:sp>
      <p:sp>
        <p:nvSpPr>
          <p:cNvPr id="525322" name="Rectangle 10"/>
          <p:cNvSpPr>
            <a:spLocks noChangeArrowheads="1"/>
          </p:cNvSpPr>
          <p:nvPr/>
        </p:nvSpPr>
        <p:spPr bwMode="auto">
          <a:xfrm>
            <a:off x="971550" y="1844675"/>
            <a:ext cx="7921625" cy="4679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SzPct val="75000"/>
              <a:buFont typeface="Symbol" panose="05050102010706020507" pitchFamily="18" charset="2"/>
              <a:buChar char="-"/>
            </a:pPr>
            <a:r>
              <a:rPr lang="zh-CN" altLang="en-US" b="1"/>
              <a:t>置 </a:t>
            </a:r>
            <a:r>
              <a:rPr lang="en-US" altLang="en-US" b="1" i="1">
                <a:latin typeface="Times New Roman" panose="02020603050405020304" pitchFamily="18" charset="0"/>
              </a:rPr>
              <a:t>i</a:t>
            </a:r>
            <a:r>
              <a:rPr lang="en-US" altLang="en-US" b="1" i="1"/>
              <a:t>p</a:t>
            </a:r>
            <a:r>
              <a:rPr lang="en-US" altLang="zh-CN"/>
              <a:t> </a:t>
            </a:r>
            <a:r>
              <a:rPr lang="zh-CN" altLang="en-US" b="1"/>
              <a:t>指向输入串 </a:t>
            </a:r>
            <a:r>
              <a:rPr lang="en-US" altLang="zh-CN" b="1" i="1"/>
              <a:t>w</a:t>
            </a:r>
            <a:r>
              <a:rPr lang="en-US" altLang="zh-CN" b="1"/>
              <a:t> </a:t>
            </a:r>
            <a:r>
              <a:rPr lang="zh-CN" altLang="en-US" b="1"/>
              <a:t>的首符号，置状态栈顶为 </a:t>
            </a:r>
            <a:r>
              <a:rPr lang="en-US" altLang="zh-CN" i="1"/>
              <a:t>0</a:t>
            </a:r>
            <a:r>
              <a:rPr lang="zh-CN" altLang="en-US" i="1"/>
              <a:t>，</a:t>
            </a:r>
            <a:r>
              <a:rPr lang="zh-CN" altLang="en-US" b="1"/>
              <a:t>状态栈顶为 </a:t>
            </a:r>
            <a:r>
              <a:rPr lang="en-US" altLang="zh-CN" i="1"/>
              <a:t>#</a:t>
            </a:r>
            <a:r>
              <a:rPr lang="zh-CN" altLang="en-US" i="1"/>
              <a:t>，</a:t>
            </a:r>
            <a:r>
              <a:rPr lang="zh-CN" altLang="en-US" b="1"/>
              <a:t>令 </a:t>
            </a:r>
            <a:r>
              <a:rPr lang="en-US" altLang="zh-CN" b="1" i="1">
                <a:latin typeface="Times New Roman" panose="02020603050405020304" pitchFamily="18" charset="0"/>
              </a:rPr>
              <a:t>i</a:t>
            </a:r>
            <a:r>
              <a:rPr lang="en-US" altLang="zh-CN" i="1">
                <a:latin typeface="Times New Roman" panose="02020603050405020304" pitchFamily="18" charset="0"/>
              </a:rPr>
              <a:t> </a:t>
            </a:r>
            <a:r>
              <a:rPr lang="zh-CN" altLang="en-US" b="1"/>
              <a:t>为栈顶状态，</a:t>
            </a:r>
            <a:r>
              <a:rPr lang="en-US" altLang="zh-CN"/>
              <a:t>a </a:t>
            </a:r>
            <a:r>
              <a:rPr lang="zh-CN" altLang="en-US" b="1"/>
              <a:t>是 </a:t>
            </a:r>
            <a:r>
              <a:rPr lang="en-US" altLang="zh-CN" b="1" i="1">
                <a:latin typeface="Times New Roman" panose="02020603050405020304" pitchFamily="18" charset="0"/>
              </a:rPr>
              <a:t>i</a:t>
            </a:r>
            <a:r>
              <a:rPr lang="en-US" altLang="zh-CN" b="1" i="1"/>
              <a:t>p</a:t>
            </a:r>
            <a:r>
              <a:rPr lang="en-US" altLang="zh-CN" i="1"/>
              <a:t> </a:t>
            </a:r>
            <a:r>
              <a:rPr lang="zh-CN" altLang="en-US" b="1"/>
              <a:t>指向的符号，重复如下步骤：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endParaRPr lang="zh-CN" altLang="en-US" sz="1000"/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75000"/>
              <a:buFontTx/>
              <a:buNone/>
            </a:pPr>
            <a:r>
              <a:rPr lang="en-US" altLang="zh-CN" sz="2000"/>
              <a:t>if  ( ACTION[</a:t>
            </a:r>
            <a:r>
              <a:rPr lang="en-US" altLang="zh-CN" sz="2000" b="1" i="1">
                <a:latin typeface="Times New Roman" panose="02020603050405020304" pitchFamily="18" charset="0"/>
              </a:rPr>
              <a:t>i</a:t>
            </a:r>
            <a:r>
              <a:rPr lang="en-US" altLang="zh-CN" sz="2000"/>
              <a:t>,a]=</a:t>
            </a:r>
            <a:r>
              <a:rPr lang="en-US" altLang="zh-CN" sz="2000" b="1" i="1"/>
              <a:t>sj </a:t>
            </a:r>
            <a:r>
              <a:rPr lang="en-US" altLang="zh-CN" sz="2000"/>
              <a:t>) {</a:t>
            </a:r>
            <a:endParaRPr lang="en-US" altLang="zh-CN" sz="2000" baseline="-25000"/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75000"/>
              <a:buFontTx/>
              <a:buNone/>
            </a:pPr>
            <a:r>
              <a:rPr lang="en-US" altLang="zh-CN" sz="2000" baseline="-25000"/>
              <a:t>       </a:t>
            </a:r>
            <a:r>
              <a:rPr lang="en-US" altLang="zh-CN" sz="2000"/>
              <a:t>PUSH  </a:t>
            </a:r>
            <a:r>
              <a:rPr lang="en-US" altLang="zh-CN" sz="2000" b="1" i="1"/>
              <a:t>j</a:t>
            </a:r>
            <a:r>
              <a:rPr lang="zh-CN" altLang="en-US" sz="2000" b="1" i="1"/>
              <a:t>，</a:t>
            </a:r>
            <a:r>
              <a:rPr lang="en-US" altLang="zh-CN" sz="2000"/>
              <a:t>a</a:t>
            </a:r>
            <a:r>
              <a:rPr lang="en-US" altLang="zh-CN" sz="2000" b="1">
                <a:latin typeface="楷体_GB2312" pitchFamily="49" charset="-122"/>
              </a:rPr>
              <a:t>;</a:t>
            </a:r>
            <a:r>
              <a:rPr lang="en-US" altLang="zh-CN" sz="2000" b="1"/>
              <a:t> </a:t>
            </a:r>
            <a:r>
              <a:rPr lang="en-US" altLang="zh-CN" sz="2000" b="1" i="1"/>
              <a:t> /*</a:t>
            </a:r>
            <a:r>
              <a:rPr lang="zh-CN" altLang="en-US" sz="2000" b="1"/>
              <a:t>进栈*</a:t>
            </a:r>
            <a:r>
              <a:rPr lang="en-US" altLang="zh-CN" sz="2000" b="1"/>
              <a:t>/</a:t>
            </a:r>
            <a:r>
              <a:rPr lang="en-US" altLang="zh-CN" sz="2000"/>
              <a:t>      </a:t>
            </a:r>
            <a:r>
              <a:rPr lang="en-US" altLang="zh-CN" sz="2000" b="1"/>
              <a:t> </a:t>
            </a:r>
            <a:r>
              <a:rPr lang="en-US" altLang="zh-CN" sz="2000" b="1" i="1">
                <a:latin typeface="Times New Roman" panose="02020603050405020304" pitchFamily="18" charset="0"/>
              </a:rPr>
              <a:t>i</a:t>
            </a:r>
            <a:r>
              <a:rPr lang="en-US" altLang="zh-CN" sz="2000" b="1" i="1"/>
              <a:t>p</a:t>
            </a:r>
            <a:r>
              <a:rPr lang="en-US" altLang="zh-CN" sz="2000"/>
              <a:t>  </a:t>
            </a:r>
            <a:r>
              <a:rPr lang="zh-CN" altLang="en-US" sz="2000" b="1"/>
              <a:t>前进 ；</a:t>
            </a:r>
            <a:r>
              <a:rPr lang="en-US" altLang="zh-CN" sz="2000" b="1"/>
              <a:t>/*</a:t>
            </a:r>
            <a:r>
              <a:rPr lang="zh-CN" altLang="en-US" sz="2000" b="1"/>
              <a:t>指向下一输入符号*</a:t>
            </a:r>
            <a:r>
              <a:rPr lang="en-US" altLang="zh-CN" sz="2000" b="1"/>
              <a:t>/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75000"/>
              <a:buFontTx/>
              <a:buNone/>
            </a:pPr>
            <a:r>
              <a:rPr lang="en-US" altLang="zh-CN" sz="2000"/>
              <a:t>}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75000"/>
              <a:buFontTx/>
              <a:buNone/>
            </a:pPr>
            <a:r>
              <a:rPr lang="en-US" altLang="zh-CN" sz="2000"/>
              <a:t>else if </a:t>
            </a:r>
            <a:r>
              <a:rPr lang="zh-CN" altLang="en-US" sz="2000" b="1"/>
              <a:t>（</a:t>
            </a:r>
            <a:r>
              <a:rPr lang="en-US" altLang="zh-CN" sz="2000"/>
              <a:t>ACTION[</a:t>
            </a:r>
            <a:r>
              <a:rPr lang="en-US" altLang="zh-CN" sz="2000" b="1" i="1">
                <a:latin typeface="Times New Roman" panose="02020603050405020304" pitchFamily="18" charset="0"/>
              </a:rPr>
              <a:t>i</a:t>
            </a:r>
            <a:r>
              <a:rPr lang="en-US" altLang="zh-CN" sz="2000"/>
              <a:t>,a]=</a:t>
            </a:r>
            <a:r>
              <a:rPr lang="en-US" altLang="zh-CN" sz="2000" b="1" i="1"/>
              <a:t>rj </a:t>
            </a:r>
            <a:r>
              <a:rPr lang="en-US" altLang="zh-CN" sz="2000"/>
              <a:t>)  {    </a:t>
            </a:r>
            <a:r>
              <a:rPr lang="en-US" altLang="zh-CN" sz="2000" baseline="-25000"/>
              <a:t>   </a:t>
            </a:r>
            <a:r>
              <a:rPr lang="en-US" altLang="zh-CN" sz="2000" b="1"/>
              <a:t>/*</a:t>
            </a:r>
            <a:r>
              <a:rPr lang="zh-CN" altLang="en-US" sz="2000" b="1"/>
              <a:t>第 </a:t>
            </a:r>
            <a:r>
              <a:rPr lang="en-US" altLang="zh-CN" sz="2000" b="1" i="1"/>
              <a:t>j </a:t>
            </a:r>
            <a:r>
              <a:rPr lang="zh-CN" altLang="en-US" sz="2000" b="1"/>
              <a:t>条产生式为 </a:t>
            </a:r>
            <a:r>
              <a:rPr lang="en-US" altLang="zh-CN" sz="2000" b="1" i="1"/>
              <a:t>A</a:t>
            </a:r>
            <a:r>
              <a:rPr lang="en-US" altLang="zh-CN" sz="2000" b="1">
                <a:sym typeface="Symbol" panose="05050102010706020507" pitchFamily="18" charset="2"/>
              </a:rPr>
              <a:t></a:t>
            </a:r>
            <a:r>
              <a:rPr lang="en-US" altLang="zh-CN" sz="2000" b="1" i="1">
                <a:sym typeface="Symbol" panose="05050102010706020507" pitchFamily="18" charset="2"/>
              </a:rPr>
              <a:t> </a:t>
            </a:r>
            <a:r>
              <a:rPr lang="en-US" altLang="zh-CN" sz="2000" b="1">
                <a:sym typeface="Symbol" panose="05050102010706020507" pitchFamily="18" charset="2"/>
              </a:rPr>
              <a:t>*/</a:t>
            </a:r>
          </a:p>
          <a:p>
            <a:pPr marL="1600200" lvl="3" indent="-228600">
              <a:spcBef>
                <a:spcPct val="20000"/>
              </a:spcBef>
              <a:buClr>
                <a:schemeClr val="tx1"/>
              </a:buClr>
              <a:buSzPct val="80000"/>
              <a:buFontTx/>
              <a:buNone/>
            </a:pPr>
            <a:r>
              <a:rPr lang="en-US" altLang="zh-CN" sz="2000"/>
              <a:t>POP  | </a:t>
            </a:r>
            <a:r>
              <a:rPr lang="en-US" altLang="zh-CN" sz="2000" b="1" i="1">
                <a:sym typeface="Symbol" panose="05050102010706020507" pitchFamily="18" charset="2"/>
              </a:rPr>
              <a:t> </a:t>
            </a:r>
            <a:r>
              <a:rPr lang="en-US" altLang="zh-CN" sz="2000">
                <a:sym typeface="Symbol" panose="05050102010706020507" pitchFamily="18" charset="2"/>
              </a:rPr>
              <a:t>| </a:t>
            </a:r>
            <a:r>
              <a:rPr lang="en-US" altLang="zh-CN" sz="2000" b="1">
                <a:sym typeface="Symbol" panose="05050102010706020507" pitchFamily="18" charset="2"/>
              </a:rPr>
              <a:t> </a:t>
            </a:r>
            <a:r>
              <a:rPr lang="zh-CN" altLang="en-US" sz="2000" b="1">
                <a:sym typeface="Symbol" panose="05050102010706020507" pitchFamily="18" charset="2"/>
              </a:rPr>
              <a:t>项</a:t>
            </a:r>
            <a:r>
              <a:rPr lang="en-US" altLang="zh-CN" sz="2000" b="1">
                <a:latin typeface="楷体_GB2312" pitchFamily="49" charset="-122"/>
                <a:sym typeface="Symbol" panose="05050102010706020507" pitchFamily="18" charset="2"/>
              </a:rPr>
              <a:t>; </a:t>
            </a:r>
            <a:r>
              <a:rPr lang="en-US" altLang="zh-CN" sz="2000" b="1" i="1"/>
              <a:t>/*</a:t>
            </a:r>
            <a:r>
              <a:rPr lang="zh-CN" altLang="en-US" sz="2000" b="1"/>
              <a:t>位于两个栈顶部的 </a:t>
            </a:r>
            <a:r>
              <a:rPr lang="en-US" altLang="zh-CN" sz="2000"/>
              <a:t>| </a:t>
            </a:r>
            <a:r>
              <a:rPr lang="en-US" altLang="zh-CN" sz="2000" b="1" i="1">
                <a:sym typeface="Symbol" panose="05050102010706020507" pitchFamily="18" charset="2"/>
              </a:rPr>
              <a:t> </a:t>
            </a:r>
            <a:r>
              <a:rPr lang="en-US" altLang="zh-CN" sz="2000">
                <a:sym typeface="Symbol" panose="05050102010706020507" pitchFamily="18" charset="2"/>
              </a:rPr>
              <a:t>| </a:t>
            </a:r>
            <a:r>
              <a:rPr lang="zh-CN" altLang="en-US" sz="2000" b="1"/>
              <a:t>个元素退栈*</a:t>
            </a:r>
            <a:r>
              <a:rPr lang="en-US" altLang="zh-CN" sz="2000" b="1"/>
              <a:t>/</a:t>
            </a:r>
            <a:endParaRPr lang="en-US" altLang="zh-CN" sz="2000" b="1">
              <a:latin typeface="楷体_GB2312" pitchFamily="49" charset="-122"/>
              <a:sym typeface="Symbol" panose="05050102010706020507" pitchFamily="18" charset="2"/>
            </a:endParaRPr>
          </a:p>
          <a:p>
            <a:pPr marL="1600200" lvl="3" indent="-228600">
              <a:spcBef>
                <a:spcPct val="20000"/>
              </a:spcBef>
              <a:buClr>
                <a:schemeClr val="tx1"/>
              </a:buClr>
              <a:buSzPct val="80000"/>
              <a:buFontTx/>
              <a:buNone/>
            </a:pPr>
            <a:r>
              <a:rPr lang="zh-CN" altLang="en-US" sz="2000" b="1">
                <a:sym typeface="Symbol" panose="05050102010706020507" pitchFamily="18" charset="2"/>
              </a:rPr>
              <a:t>令当前状态栈顶为 </a:t>
            </a:r>
            <a:r>
              <a:rPr lang="en-US" altLang="zh-CN" sz="2000" i="1">
                <a:sym typeface="Symbol" panose="05050102010706020507" pitchFamily="18" charset="2"/>
              </a:rPr>
              <a:t>k</a:t>
            </a:r>
            <a:r>
              <a:rPr lang="zh-CN" altLang="en-US" sz="2000">
                <a:sym typeface="Symbol" panose="05050102010706020507" pitchFamily="18" charset="2"/>
              </a:rPr>
              <a:t>；</a:t>
            </a:r>
            <a:r>
              <a:rPr lang="zh-CN" altLang="en-US" sz="2000" b="1">
                <a:sym typeface="Symbol" panose="05050102010706020507" pitchFamily="18" charset="2"/>
              </a:rPr>
              <a:t> </a:t>
            </a:r>
            <a:r>
              <a:rPr lang="en-US" altLang="zh-CN" sz="2000"/>
              <a:t>PUSH</a:t>
            </a:r>
            <a:r>
              <a:rPr lang="en-US" altLang="zh-CN" sz="2000">
                <a:sym typeface="Symbol" panose="05050102010706020507" pitchFamily="18" charset="2"/>
              </a:rPr>
              <a:t>  GOTO[</a:t>
            </a:r>
            <a:r>
              <a:rPr lang="en-US" altLang="zh-CN" sz="2000" i="1">
                <a:sym typeface="Symbol" panose="05050102010706020507" pitchFamily="18" charset="2"/>
              </a:rPr>
              <a:t>k</a:t>
            </a:r>
            <a:r>
              <a:rPr lang="en-US" altLang="zh-CN" sz="2000">
                <a:sym typeface="Symbol" panose="05050102010706020507" pitchFamily="18" charset="2"/>
              </a:rPr>
              <a:t>,A]</a:t>
            </a:r>
            <a:r>
              <a:rPr lang="zh-CN" altLang="en-US" sz="2000" b="1">
                <a:sym typeface="Symbol" panose="05050102010706020507" pitchFamily="18" charset="2"/>
              </a:rPr>
              <a:t>， </a:t>
            </a:r>
            <a:r>
              <a:rPr lang="en-US" altLang="zh-CN" sz="2000" b="1" i="1"/>
              <a:t>A</a:t>
            </a:r>
            <a:r>
              <a:rPr lang="en-US" altLang="zh-CN" sz="2000">
                <a:sym typeface="Symbol" panose="05050102010706020507" pitchFamily="18" charset="2"/>
              </a:rPr>
              <a:t> </a:t>
            </a:r>
            <a:r>
              <a:rPr lang="zh-CN" altLang="en-US" sz="2000">
                <a:sym typeface="Symbol" panose="05050102010706020507" pitchFamily="18" charset="2"/>
              </a:rPr>
              <a:t>；</a:t>
            </a:r>
          </a:p>
          <a:p>
            <a:pPr marL="1143000" lvl="2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000"/>
              <a:t> </a:t>
            </a:r>
            <a:r>
              <a:rPr lang="en-US" altLang="zh-CN" sz="2000"/>
              <a:t>}</a:t>
            </a:r>
          </a:p>
          <a:p>
            <a:pPr marL="1143000" lvl="2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/>
              <a:t>else if  </a:t>
            </a:r>
            <a:r>
              <a:rPr lang="zh-CN" altLang="en-US" sz="2000" b="1"/>
              <a:t>（</a:t>
            </a:r>
            <a:r>
              <a:rPr lang="en-US" altLang="zh-CN" sz="2000"/>
              <a:t>ACTION[</a:t>
            </a:r>
            <a:r>
              <a:rPr lang="en-US" altLang="zh-CN" sz="1800" b="1" i="1">
                <a:latin typeface="Times New Roman" panose="02020603050405020304" pitchFamily="18" charset="0"/>
              </a:rPr>
              <a:t>i</a:t>
            </a:r>
            <a:r>
              <a:rPr lang="en-US" altLang="zh-CN" sz="2000"/>
              <a:t>,a]=acc ) </a:t>
            </a:r>
            <a:r>
              <a:rPr lang="en-US" altLang="zh-CN"/>
              <a:t> </a:t>
            </a:r>
            <a:r>
              <a:rPr lang="en-US" altLang="zh-CN" sz="2000"/>
              <a:t>return</a:t>
            </a:r>
            <a:r>
              <a:rPr lang="zh-CN" altLang="en-US" sz="2000"/>
              <a:t>； </a:t>
            </a:r>
            <a:r>
              <a:rPr lang="en-US" altLang="zh-CN" sz="2000" b="1"/>
              <a:t>/*</a:t>
            </a:r>
            <a:r>
              <a:rPr lang="zh-CN" altLang="zh-CN" sz="2000" b="1"/>
              <a:t>成功</a:t>
            </a:r>
            <a:r>
              <a:rPr lang="zh-CN" altLang="en-US" sz="2000" b="1"/>
              <a:t>*</a:t>
            </a:r>
            <a:r>
              <a:rPr lang="en-US" altLang="zh-CN" sz="2000" b="1"/>
              <a:t>/</a:t>
            </a:r>
          </a:p>
          <a:p>
            <a:pPr marL="1600200" lvl="3" indent="-228600">
              <a:spcBef>
                <a:spcPct val="20000"/>
              </a:spcBef>
              <a:buClr>
                <a:schemeClr val="tx1"/>
              </a:buClr>
              <a:buSzPct val="80000"/>
              <a:buFontTx/>
              <a:buNone/>
            </a:pPr>
            <a:r>
              <a:rPr lang="en-US" altLang="zh-CN" sz="2000"/>
              <a:t> else  error</a:t>
            </a:r>
            <a:r>
              <a:rPr lang="zh-CN" altLang="en-US" sz="2000" b="1"/>
              <a:t>；    </a:t>
            </a:r>
            <a:r>
              <a:rPr lang="en-US" altLang="zh-CN" sz="2000" b="1"/>
              <a:t>/*</a:t>
            </a:r>
            <a:r>
              <a:rPr lang="zh-CN" altLang="zh-CN" sz="2000" b="1"/>
              <a:t>报错</a:t>
            </a:r>
            <a:r>
              <a:rPr lang="en-US" altLang="zh-CN" sz="2000" b="1"/>
              <a:t>/</a:t>
            </a:r>
            <a:r>
              <a:rPr lang="zh-CN" altLang="en-US" sz="2000" b="1"/>
              <a:t>错误恢复*</a:t>
            </a:r>
            <a:r>
              <a:rPr lang="en-US" altLang="zh-CN" sz="2000" b="1"/>
              <a:t>/</a:t>
            </a:r>
          </a:p>
        </p:txBody>
      </p:sp>
    </p:spTree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40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6341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6342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6343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6344" name="Rectangle 8"/>
          <p:cNvSpPr>
            <a:spLocks noChangeArrowheads="1"/>
          </p:cNvSpPr>
          <p:nvPr/>
        </p:nvSpPr>
        <p:spPr bwMode="auto">
          <a:xfrm>
            <a:off x="1477963" y="188913"/>
            <a:ext cx="30226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>
                <a:solidFill>
                  <a:srgbClr val="800080"/>
                </a:solidFill>
                <a:ea typeface="华文行楷" pitchFamily="2" charset="-122"/>
              </a:rPr>
              <a:t>LR </a:t>
            </a: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分析基础</a:t>
            </a:r>
          </a:p>
        </p:txBody>
      </p:sp>
      <p:sp>
        <p:nvSpPr>
          <p:cNvPr id="526345" name="Line 9"/>
          <p:cNvSpPr>
            <a:spLocks noChangeShapeType="1"/>
          </p:cNvSpPr>
          <p:nvPr/>
        </p:nvSpPr>
        <p:spPr bwMode="auto">
          <a:xfrm>
            <a:off x="611188" y="2636838"/>
            <a:ext cx="8208962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26346" name="Text Box 10"/>
          <p:cNvSpPr txBox="1">
            <a:spLocks noChangeArrowheads="1"/>
          </p:cNvSpPr>
          <p:nvPr/>
        </p:nvSpPr>
        <p:spPr bwMode="auto">
          <a:xfrm>
            <a:off x="1403350" y="2205038"/>
            <a:ext cx="11811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kumimoji="0" lang="zh-CN" altLang="en-US" b="1">
                <a:latin typeface="Times New Roman" panose="02020603050405020304" pitchFamily="18" charset="0"/>
              </a:rPr>
              <a:t>分析栈</a:t>
            </a:r>
          </a:p>
        </p:txBody>
      </p:sp>
      <p:sp>
        <p:nvSpPr>
          <p:cNvPr id="526347" name="Text Box 11"/>
          <p:cNvSpPr txBox="1">
            <a:spLocks noChangeArrowheads="1"/>
          </p:cNvSpPr>
          <p:nvPr/>
        </p:nvSpPr>
        <p:spPr bwMode="auto">
          <a:xfrm>
            <a:off x="3276600" y="2205038"/>
            <a:ext cx="172878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kumimoji="0" lang="zh-CN" altLang="en-US" b="1">
                <a:latin typeface="Times New Roman" panose="02020603050405020304" pitchFamily="18" charset="0"/>
              </a:rPr>
              <a:t>余留输入串</a:t>
            </a:r>
          </a:p>
        </p:txBody>
      </p:sp>
      <p:sp>
        <p:nvSpPr>
          <p:cNvPr id="526348" name="Text Box 12"/>
          <p:cNvSpPr txBox="1">
            <a:spLocks noChangeArrowheads="1"/>
          </p:cNvSpPr>
          <p:nvPr/>
        </p:nvSpPr>
        <p:spPr bwMode="auto">
          <a:xfrm>
            <a:off x="6011863" y="2205038"/>
            <a:ext cx="15113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kumimoji="0" lang="zh-CN" altLang="en-US" b="1">
                <a:latin typeface="Times New Roman" panose="02020603050405020304" pitchFamily="18" charset="0"/>
              </a:rPr>
              <a:t>分析动作</a:t>
            </a:r>
          </a:p>
        </p:txBody>
      </p:sp>
      <p:sp>
        <p:nvSpPr>
          <p:cNvPr id="526349" name="Line 13"/>
          <p:cNvSpPr>
            <a:spLocks noChangeShapeType="1"/>
          </p:cNvSpPr>
          <p:nvPr/>
        </p:nvSpPr>
        <p:spPr bwMode="auto">
          <a:xfrm>
            <a:off x="3348038" y="2276475"/>
            <a:ext cx="0" cy="4321175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26350" name="Line 14"/>
          <p:cNvSpPr>
            <a:spLocks noChangeShapeType="1"/>
          </p:cNvSpPr>
          <p:nvPr/>
        </p:nvSpPr>
        <p:spPr bwMode="auto">
          <a:xfrm flipH="1">
            <a:off x="4932363" y="2276475"/>
            <a:ext cx="36512" cy="4321175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526411" name="Group 75"/>
          <p:cNvGrpSpPr/>
          <p:nvPr/>
        </p:nvGrpSpPr>
        <p:grpSpPr bwMode="auto">
          <a:xfrm>
            <a:off x="684213" y="2565400"/>
            <a:ext cx="8135937" cy="396875"/>
            <a:chOff x="431" y="1616"/>
            <a:chExt cx="5125" cy="250"/>
          </a:xfrm>
        </p:grpSpPr>
        <p:sp>
          <p:nvSpPr>
            <p:cNvPr id="526352" name="Rectangle 16"/>
            <p:cNvSpPr>
              <a:spLocks noChangeArrowheads="1"/>
            </p:cNvSpPr>
            <p:nvPr/>
          </p:nvSpPr>
          <p:spPr bwMode="auto">
            <a:xfrm>
              <a:off x="431" y="1616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kumimoji="0" lang="en-US" altLang="zh-CN" sz="2000">
                  <a:sym typeface="Symbol" panose="05050102010706020507" pitchFamily="18" charset="2"/>
                </a:rPr>
                <a:t>0#</a:t>
              </a:r>
              <a:endParaRPr lang="en-US" altLang="zh-CN" sz="2000" b="1" i="1"/>
            </a:p>
          </p:txBody>
        </p:sp>
        <p:sp>
          <p:nvSpPr>
            <p:cNvPr id="526353" name="Rectangle 17"/>
            <p:cNvSpPr>
              <a:spLocks noChangeArrowheads="1"/>
            </p:cNvSpPr>
            <p:nvPr/>
          </p:nvSpPr>
          <p:spPr bwMode="auto">
            <a:xfrm>
              <a:off x="2132" y="1616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b="1" i="1"/>
                <a:t>v </a:t>
              </a:r>
              <a:r>
                <a:rPr lang="en-US" altLang="zh-CN" sz="2000">
                  <a:sym typeface="Symbol" panose="05050102010706020507" pitchFamily="18" charset="2"/>
                </a:rPr>
                <a:t>+ </a:t>
              </a:r>
              <a:r>
                <a:rPr lang="en-US" altLang="zh-CN" sz="2000" b="1" i="1"/>
                <a:t>v</a:t>
              </a:r>
              <a:r>
                <a:rPr lang="en-US" altLang="zh-CN" sz="2000" b="1">
                  <a:sym typeface="Symbol" panose="05050102010706020507" pitchFamily="18" charset="2"/>
                </a:rPr>
                <a:t> 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526354" name="Rectangle 18"/>
            <p:cNvSpPr>
              <a:spLocks noChangeArrowheads="1"/>
            </p:cNvSpPr>
            <p:nvPr/>
          </p:nvSpPr>
          <p:spPr bwMode="auto">
            <a:xfrm>
              <a:off x="3106" y="1616"/>
              <a:ext cx="2450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/>
                <a:t>ACTION [</a:t>
              </a:r>
              <a:r>
                <a:rPr lang="en-US" altLang="zh-CN" sz="2000" i="1"/>
                <a:t>0</a:t>
              </a:r>
              <a:r>
                <a:rPr lang="en-US" altLang="zh-CN" sz="2000"/>
                <a:t>,</a:t>
              </a:r>
              <a:r>
                <a:rPr lang="en-US" altLang="zh-CN" sz="2000" i="1"/>
                <a:t>v</a:t>
              </a:r>
              <a:r>
                <a:rPr lang="en-US" altLang="zh-CN" sz="2000"/>
                <a:t>]=</a:t>
              </a:r>
              <a:r>
                <a:rPr lang="en-US" altLang="zh-CN" sz="2000" i="1"/>
                <a:t>s5</a:t>
              </a:r>
              <a:endParaRPr lang="en-US" altLang="zh-CN" sz="2000"/>
            </a:p>
          </p:txBody>
        </p:sp>
      </p:grpSp>
      <p:grpSp>
        <p:nvGrpSpPr>
          <p:cNvPr id="526412" name="Group 76"/>
          <p:cNvGrpSpPr/>
          <p:nvPr/>
        </p:nvGrpSpPr>
        <p:grpSpPr bwMode="auto">
          <a:xfrm>
            <a:off x="684213" y="2852738"/>
            <a:ext cx="8135937" cy="396875"/>
            <a:chOff x="431" y="1797"/>
            <a:chExt cx="5125" cy="250"/>
          </a:xfrm>
        </p:grpSpPr>
        <p:sp>
          <p:nvSpPr>
            <p:cNvPr id="526356" name="Rectangle 20"/>
            <p:cNvSpPr>
              <a:spLocks noChangeArrowheads="1"/>
            </p:cNvSpPr>
            <p:nvPr/>
          </p:nvSpPr>
          <p:spPr bwMode="auto">
            <a:xfrm>
              <a:off x="2154" y="1797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b="1" i="1"/>
                <a:t> </a:t>
              </a:r>
              <a:r>
                <a:rPr lang="en-US" altLang="zh-CN" sz="2000">
                  <a:sym typeface="Symbol" panose="05050102010706020507" pitchFamily="18" charset="2"/>
                </a:rPr>
                <a:t>+ </a:t>
              </a:r>
              <a:r>
                <a:rPr lang="en-US" altLang="zh-CN" sz="2000" b="1" i="1"/>
                <a:t>v</a:t>
              </a:r>
              <a:r>
                <a:rPr lang="en-US" altLang="zh-CN" sz="2000" b="1">
                  <a:sym typeface="Symbol" panose="05050102010706020507" pitchFamily="18" charset="2"/>
                </a:rPr>
                <a:t> 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526357" name="Rectangle 21"/>
            <p:cNvSpPr>
              <a:spLocks noChangeArrowheads="1"/>
            </p:cNvSpPr>
            <p:nvPr/>
          </p:nvSpPr>
          <p:spPr bwMode="auto">
            <a:xfrm>
              <a:off x="3106" y="1797"/>
              <a:ext cx="2450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/>
                <a:t>ACTION [</a:t>
              </a:r>
              <a:r>
                <a:rPr lang="en-US" altLang="zh-CN" sz="2000" i="1"/>
                <a:t>5</a:t>
              </a:r>
              <a:r>
                <a:rPr lang="en-US" altLang="zh-CN" sz="2000"/>
                <a:t>,</a:t>
              </a:r>
              <a:r>
                <a:rPr lang="en-US" altLang="zh-CN" sz="2000" i="1"/>
                <a:t>+</a:t>
              </a:r>
              <a:r>
                <a:rPr lang="en-US" altLang="zh-CN" sz="2000"/>
                <a:t>]=</a:t>
              </a:r>
              <a:r>
                <a:rPr lang="en-US" altLang="zh-CN" sz="2000" i="1"/>
                <a:t>r6, </a:t>
              </a:r>
              <a:r>
                <a:rPr lang="en-US" altLang="zh-CN" sz="2000"/>
                <a:t>GOTO [</a:t>
              </a:r>
              <a:r>
                <a:rPr lang="en-US" altLang="zh-CN" sz="2000" i="1"/>
                <a:t>0</a:t>
              </a:r>
              <a:r>
                <a:rPr lang="en-US" altLang="zh-CN" sz="2000"/>
                <a:t>,</a:t>
              </a:r>
              <a:r>
                <a:rPr lang="en-US" altLang="zh-CN" sz="2000" i="1"/>
                <a:t>F</a:t>
              </a:r>
              <a:r>
                <a:rPr lang="en-US" altLang="zh-CN" sz="2000"/>
                <a:t>]=</a:t>
              </a:r>
              <a:r>
                <a:rPr lang="en-US" altLang="zh-CN" sz="2000" i="1"/>
                <a:t>3</a:t>
              </a:r>
            </a:p>
          </p:txBody>
        </p:sp>
        <p:sp>
          <p:nvSpPr>
            <p:cNvPr id="526358" name="Rectangle 22"/>
            <p:cNvSpPr>
              <a:spLocks noChangeArrowheads="1"/>
            </p:cNvSpPr>
            <p:nvPr/>
          </p:nvSpPr>
          <p:spPr bwMode="auto">
            <a:xfrm>
              <a:off x="431" y="1797"/>
              <a:ext cx="636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kumimoji="0" lang="en-US" altLang="zh-CN" sz="2000">
                  <a:sym typeface="Symbol" panose="05050102010706020507" pitchFamily="18" charset="2"/>
                </a:rPr>
                <a:t>0# 5</a:t>
              </a:r>
              <a:r>
                <a:rPr kumimoji="0" lang="en-US" altLang="zh-CN" sz="2000" i="1">
                  <a:sym typeface="Symbol" panose="05050102010706020507" pitchFamily="18" charset="2"/>
                </a:rPr>
                <a:t>v</a:t>
              </a:r>
              <a:endParaRPr lang="en-US" altLang="zh-CN" sz="2000" i="1"/>
            </a:p>
          </p:txBody>
        </p:sp>
      </p:grpSp>
      <p:grpSp>
        <p:nvGrpSpPr>
          <p:cNvPr id="526413" name="Group 77"/>
          <p:cNvGrpSpPr/>
          <p:nvPr/>
        </p:nvGrpSpPr>
        <p:grpSpPr bwMode="auto">
          <a:xfrm>
            <a:off x="684213" y="3105150"/>
            <a:ext cx="8135937" cy="396875"/>
            <a:chOff x="431" y="1956"/>
            <a:chExt cx="5125" cy="250"/>
          </a:xfrm>
        </p:grpSpPr>
        <p:sp>
          <p:nvSpPr>
            <p:cNvPr id="526360" name="Rectangle 24"/>
            <p:cNvSpPr>
              <a:spLocks noChangeArrowheads="1"/>
            </p:cNvSpPr>
            <p:nvPr/>
          </p:nvSpPr>
          <p:spPr bwMode="auto">
            <a:xfrm>
              <a:off x="2154" y="1956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b="1" i="1"/>
                <a:t> </a:t>
              </a:r>
              <a:r>
                <a:rPr lang="en-US" altLang="zh-CN" sz="2000">
                  <a:sym typeface="Symbol" panose="05050102010706020507" pitchFamily="18" charset="2"/>
                </a:rPr>
                <a:t>+ </a:t>
              </a:r>
              <a:r>
                <a:rPr lang="en-US" altLang="zh-CN" sz="2000" b="1" i="1"/>
                <a:t>v</a:t>
              </a:r>
              <a:r>
                <a:rPr lang="en-US" altLang="zh-CN" sz="2000" b="1">
                  <a:sym typeface="Symbol" panose="05050102010706020507" pitchFamily="18" charset="2"/>
                </a:rPr>
                <a:t> 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526361" name="Rectangle 25"/>
            <p:cNvSpPr>
              <a:spLocks noChangeArrowheads="1"/>
            </p:cNvSpPr>
            <p:nvPr/>
          </p:nvSpPr>
          <p:spPr bwMode="auto">
            <a:xfrm>
              <a:off x="3106" y="1956"/>
              <a:ext cx="2450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/>
                <a:t>ACTION [</a:t>
              </a:r>
              <a:r>
                <a:rPr lang="en-US" altLang="zh-CN" sz="2000" i="1"/>
                <a:t>3</a:t>
              </a:r>
              <a:r>
                <a:rPr lang="en-US" altLang="zh-CN" sz="2000"/>
                <a:t>,</a:t>
              </a:r>
              <a:r>
                <a:rPr lang="en-US" altLang="zh-CN" sz="2000" i="1"/>
                <a:t>+</a:t>
              </a:r>
              <a:r>
                <a:rPr lang="en-US" altLang="zh-CN" sz="2000"/>
                <a:t>]=</a:t>
              </a:r>
              <a:r>
                <a:rPr lang="en-US" altLang="zh-CN" sz="2000" i="1"/>
                <a:t>r4, </a:t>
              </a:r>
              <a:r>
                <a:rPr lang="en-US" altLang="zh-CN" sz="2000"/>
                <a:t>GOTO [</a:t>
              </a:r>
              <a:r>
                <a:rPr lang="en-US" altLang="zh-CN" sz="2000" i="1"/>
                <a:t>0</a:t>
              </a:r>
              <a:r>
                <a:rPr lang="en-US" altLang="zh-CN" sz="2000"/>
                <a:t>,</a:t>
              </a:r>
              <a:r>
                <a:rPr lang="en-US" altLang="zh-CN" sz="2000" i="1"/>
                <a:t>T</a:t>
              </a:r>
              <a:r>
                <a:rPr lang="en-US" altLang="zh-CN" sz="2000"/>
                <a:t>]=</a:t>
              </a:r>
              <a:r>
                <a:rPr lang="en-US" altLang="zh-CN" sz="2000" i="1"/>
                <a:t>2</a:t>
              </a:r>
            </a:p>
          </p:txBody>
        </p:sp>
        <p:sp>
          <p:nvSpPr>
            <p:cNvPr id="526362" name="Rectangle 26"/>
            <p:cNvSpPr>
              <a:spLocks noChangeArrowheads="1"/>
            </p:cNvSpPr>
            <p:nvPr/>
          </p:nvSpPr>
          <p:spPr bwMode="auto">
            <a:xfrm>
              <a:off x="431" y="1956"/>
              <a:ext cx="636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kumimoji="0" lang="en-US" altLang="zh-CN" sz="2000">
                  <a:sym typeface="Symbol" panose="05050102010706020507" pitchFamily="18" charset="2"/>
                </a:rPr>
                <a:t>0# 3</a:t>
              </a:r>
              <a:r>
                <a:rPr kumimoji="0" lang="en-US" altLang="zh-CN" sz="2000" i="1">
                  <a:sym typeface="Symbol" panose="05050102010706020507" pitchFamily="18" charset="2"/>
                </a:rPr>
                <a:t>F</a:t>
              </a:r>
              <a:endParaRPr lang="en-US" altLang="zh-CN" sz="2000" b="1" i="1">
                <a:sym typeface="Symbol" panose="05050102010706020507" pitchFamily="18" charset="2"/>
              </a:endParaRPr>
            </a:p>
          </p:txBody>
        </p:sp>
      </p:grpSp>
      <p:grpSp>
        <p:nvGrpSpPr>
          <p:cNvPr id="526414" name="Group 78"/>
          <p:cNvGrpSpPr/>
          <p:nvPr/>
        </p:nvGrpSpPr>
        <p:grpSpPr bwMode="auto">
          <a:xfrm>
            <a:off x="684213" y="3355975"/>
            <a:ext cx="8135937" cy="396875"/>
            <a:chOff x="431" y="2114"/>
            <a:chExt cx="5125" cy="250"/>
          </a:xfrm>
        </p:grpSpPr>
        <p:sp>
          <p:nvSpPr>
            <p:cNvPr id="526364" name="Rectangle 28"/>
            <p:cNvSpPr>
              <a:spLocks noChangeArrowheads="1"/>
            </p:cNvSpPr>
            <p:nvPr/>
          </p:nvSpPr>
          <p:spPr bwMode="auto">
            <a:xfrm>
              <a:off x="2154" y="2114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b="1" i="1"/>
                <a:t> </a:t>
              </a:r>
              <a:r>
                <a:rPr lang="en-US" altLang="zh-CN" sz="2000">
                  <a:sym typeface="Symbol" panose="05050102010706020507" pitchFamily="18" charset="2"/>
                </a:rPr>
                <a:t>+ </a:t>
              </a:r>
              <a:r>
                <a:rPr lang="en-US" altLang="zh-CN" sz="2000" b="1" i="1"/>
                <a:t>v</a:t>
              </a:r>
              <a:r>
                <a:rPr lang="en-US" altLang="zh-CN" sz="2000" b="1">
                  <a:sym typeface="Symbol" panose="05050102010706020507" pitchFamily="18" charset="2"/>
                </a:rPr>
                <a:t> 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526365" name="Rectangle 29"/>
            <p:cNvSpPr>
              <a:spLocks noChangeArrowheads="1"/>
            </p:cNvSpPr>
            <p:nvPr/>
          </p:nvSpPr>
          <p:spPr bwMode="auto">
            <a:xfrm>
              <a:off x="3106" y="2114"/>
              <a:ext cx="2450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/>
                <a:t>ACTION [</a:t>
              </a:r>
              <a:r>
                <a:rPr lang="en-US" altLang="zh-CN" sz="2000" i="1"/>
                <a:t>2</a:t>
              </a:r>
              <a:r>
                <a:rPr lang="en-US" altLang="zh-CN" sz="2000"/>
                <a:t>,</a:t>
              </a:r>
              <a:r>
                <a:rPr lang="en-US" altLang="zh-CN" sz="2000" i="1"/>
                <a:t>+</a:t>
              </a:r>
              <a:r>
                <a:rPr lang="en-US" altLang="zh-CN" sz="2000"/>
                <a:t>]=</a:t>
              </a:r>
              <a:r>
                <a:rPr lang="en-US" altLang="zh-CN" sz="2000" i="1"/>
                <a:t>r2, </a:t>
              </a:r>
              <a:r>
                <a:rPr lang="en-US" altLang="zh-CN" sz="2000"/>
                <a:t>GOTO [</a:t>
              </a:r>
              <a:r>
                <a:rPr lang="en-US" altLang="zh-CN" sz="2000" i="1"/>
                <a:t>0</a:t>
              </a:r>
              <a:r>
                <a:rPr lang="en-US" altLang="zh-CN" sz="2000"/>
                <a:t>,</a:t>
              </a:r>
              <a:r>
                <a:rPr lang="en-US" altLang="zh-CN" sz="2000" i="1"/>
                <a:t>E</a:t>
              </a:r>
              <a:r>
                <a:rPr lang="en-US" altLang="zh-CN" sz="2000"/>
                <a:t>]=</a:t>
              </a:r>
              <a:r>
                <a:rPr lang="en-US" altLang="zh-CN" sz="2000" i="1"/>
                <a:t>1</a:t>
              </a:r>
            </a:p>
          </p:txBody>
        </p:sp>
        <p:sp>
          <p:nvSpPr>
            <p:cNvPr id="526366" name="Rectangle 30"/>
            <p:cNvSpPr>
              <a:spLocks noChangeArrowheads="1"/>
            </p:cNvSpPr>
            <p:nvPr/>
          </p:nvSpPr>
          <p:spPr bwMode="auto">
            <a:xfrm>
              <a:off x="431" y="2114"/>
              <a:ext cx="636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kumimoji="0" lang="en-US" altLang="zh-CN" sz="2000">
                  <a:sym typeface="Symbol" panose="05050102010706020507" pitchFamily="18" charset="2"/>
                </a:rPr>
                <a:t>0# 2</a:t>
              </a:r>
              <a:r>
                <a:rPr kumimoji="0" lang="en-US" altLang="zh-CN" sz="2000" i="1">
                  <a:sym typeface="Symbol" panose="05050102010706020507" pitchFamily="18" charset="2"/>
                </a:rPr>
                <a:t>T</a:t>
              </a:r>
            </a:p>
          </p:txBody>
        </p:sp>
      </p:grpSp>
      <p:grpSp>
        <p:nvGrpSpPr>
          <p:cNvPr id="526415" name="Group 79"/>
          <p:cNvGrpSpPr/>
          <p:nvPr/>
        </p:nvGrpSpPr>
        <p:grpSpPr bwMode="auto">
          <a:xfrm>
            <a:off x="684213" y="3609975"/>
            <a:ext cx="7956550" cy="396875"/>
            <a:chOff x="431" y="2274"/>
            <a:chExt cx="5012" cy="250"/>
          </a:xfrm>
        </p:grpSpPr>
        <p:sp>
          <p:nvSpPr>
            <p:cNvPr id="526368" name="Rectangle 32"/>
            <p:cNvSpPr>
              <a:spLocks noChangeArrowheads="1"/>
            </p:cNvSpPr>
            <p:nvPr/>
          </p:nvSpPr>
          <p:spPr bwMode="auto">
            <a:xfrm>
              <a:off x="2154" y="2274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b="1" i="1"/>
                <a:t> </a:t>
              </a:r>
              <a:r>
                <a:rPr lang="en-US" altLang="zh-CN" sz="2000">
                  <a:sym typeface="Symbol" panose="05050102010706020507" pitchFamily="18" charset="2"/>
                </a:rPr>
                <a:t>+ </a:t>
              </a:r>
              <a:r>
                <a:rPr lang="en-US" altLang="zh-CN" sz="2000" b="1" i="1"/>
                <a:t>v</a:t>
              </a:r>
              <a:r>
                <a:rPr lang="en-US" altLang="zh-CN" sz="2000" b="1">
                  <a:sym typeface="Symbol" panose="05050102010706020507" pitchFamily="18" charset="2"/>
                </a:rPr>
                <a:t> 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526369" name="Rectangle 33"/>
            <p:cNvSpPr>
              <a:spLocks noChangeArrowheads="1"/>
            </p:cNvSpPr>
            <p:nvPr/>
          </p:nvSpPr>
          <p:spPr bwMode="auto">
            <a:xfrm>
              <a:off x="3106" y="2274"/>
              <a:ext cx="233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/>
                <a:t>ACTION [</a:t>
              </a:r>
              <a:r>
                <a:rPr lang="en-US" altLang="zh-CN" sz="2000" i="1"/>
                <a:t>1</a:t>
              </a:r>
              <a:r>
                <a:rPr lang="en-US" altLang="zh-CN" sz="2000"/>
                <a:t>,</a:t>
              </a:r>
              <a:r>
                <a:rPr lang="en-US" altLang="zh-CN" sz="2000" i="1"/>
                <a:t>+</a:t>
              </a:r>
              <a:r>
                <a:rPr lang="en-US" altLang="zh-CN" sz="2000"/>
                <a:t>]=</a:t>
              </a:r>
              <a:r>
                <a:rPr lang="en-US" altLang="zh-CN" sz="2000" i="1"/>
                <a:t>s7</a:t>
              </a:r>
            </a:p>
          </p:txBody>
        </p:sp>
        <p:sp>
          <p:nvSpPr>
            <p:cNvPr id="526370" name="Rectangle 34"/>
            <p:cNvSpPr>
              <a:spLocks noChangeArrowheads="1"/>
            </p:cNvSpPr>
            <p:nvPr/>
          </p:nvSpPr>
          <p:spPr bwMode="auto">
            <a:xfrm>
              <a:off x="431" y="2274"/>
              <a:ext cx="636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kumimoji="0" lang="en-US" altLang="zh-CN" sz="2000">
                  <a:sym typeface="Symbol" panose="05050102010706020507" pitchFamily="18" charset="2"/>
                </a:rPr>
                <a:t>0# 1</a:t>
              </a:r>
              <a:r>
                <a:rPr kumimoji="0" lang="en-US" altLang="zh-CN" sz="2000" i="1">
                  <a:sym typeface="Symbol" panose="05050102010706020507" pitchFamily="18" charset="2"/>
                </a:rPr>
                <a:t>E</a:t>
              </a:r>
            </a:p>
          </p:txBody>
        </p:sp>
      </p:grpSp>
      <p:grpSp>
        <p:nvGrpSpPr>
          <p:cNvPr id="526416" name="Group 80"/>
          <p:cNvGrpSpPr/>
          <p:nvPr/>
        </p:nvGrpSpPr>
        <p:grpSpPr bwMode="auto">
          <a:xfrm>
            <a:off x="684213" y="3860800"/>
            <a:ext cx="7956550" cy="396875"/>
            <a:chOff x="431" y="2432"/>
            <a:chExt cx="5012" cy="250"/>
          </a:xfrm>
        </p:grpSpPr>
        <p:sp>
          <p:nvSpPr>
            <p:cNvPr id="526372" name="Rectangle 36"/>
            <p:cNvSpPr>
              <a:spLocks noChangeArrowheads="1"/>
            </p:cNvSpPr>
            <p:nvPr/>
          </p:nvSpPr>
          <p:spPr bwMode="auto">
            <a:xfrm>
              <a:off x="2154" y="2432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b="1" i="1"/>
                <a:t> v</a:t>
              </a:r>
              <a:r>
                <a:rPr lang="en-US" altLang="zh-CN" sz="2000" b="1">
                  <a:sym typeface="Symbol" panose="05050102010706020507" pitchFamily="18" charset="2"/>
                </a:rPr>
                <a:t> 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526373" name="Rectangle 37"/>
            <p:cNvSpPr>
              <a:spLocks noChangeArrowheads="1"/>
            </p:cNvSpPr>
            <p:nvPr/>
          </p:nvSpPr>
          <p:spPr bwMode="auto">
            <a:xfrm>
              <a:off x="3106" y="2432"/>
              <a:ext cx="233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/>
                <a:t>ACTION [</a:t>
              </a:r>
              <a:r>
                <a:rPr lang="en-US" altLang="zh-CN" sz="2000" i="1"/>
                <a:t>7</a:t>
              </a:r>
              <a:r>
                <a:rPr lang="en-US" altLang="zh-CN" sz="2000"/>
                <a:t>,</a:t>
              </a:r>
              <a:r>
                <a:rPr lang="en-US" altLang="zh-CN" sz="2000" i="1"/>
                <a:t>v</a:t>
              </a:r>
              <a:r>
                <a:rPr lang="en-US" altLang="zh-CN" sz="2000"/>
                <a:t>]=</a:t>
              </a:r>
              <a:r>
                <a:rPr lang="en-US" altLang="zh-CN" sz="2000" i="1"/>
                <a:t>s5</a:t>
              </a:r>
            </a:p>
          </p:txBody>
        </p:sp>
        <p:sp>
          <p:nvSpPr>
            <p:cNvPr id="526374" name="Rectangle 38"/>
            <p:cNvSpPr>
              <a:spLocks noChangeArrowheads="1"/>
            </p:cNvSpPr>
            <p:nvPr/>
          </p:nvSpPr>
          <p:spPr bwMode="auto">
            <a:xfrm>
              <a:off x="431" y="2432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kumimoji="0" lang="en-US" altLang="zh-CN" sz="2000">
                  <a:sym typeface="Symbol" panose="05050102010706020507" pitchFamily="18" charset="2"/>
                </a:rPr>
                <a:t>0# 1</a:t>
              </a:r>
              <a:r>
                <a:rPr kumimoji="0" lang="en-US" altLang="zh-CN" sz="2000" i="1">
                  <a:sym typeface="Symbol" panose="05050102010706020507" pitchFamily="18" charset="2"/>
                </a:rPr>
                <a:t>E</a:t>
              </a:r>
              <a:r>
                <a:rPr kumimoji="0" lang="en-US" altLang="zh-CN" sz="2000">
                  <a:sym typeface="Symbol" panose="05050102010706020507" pitchFamily="18" charset="2"/>
                </a:rPr>
                <a:t> 7</a:t>
              </a:r>
              <a:r>
                <a:rPr lang="en-US" altLang="zh-CN" sz="2000">
                  <a:sym typeface="Symbol" panose="05050102010706020507" pitchFamily="18" charset="2"/>
                </a:rPr>
                <a:t>+</a:t>
              </a:r>
            </a:p>
          </p:txBody>
        </p:sp>
      </p:grpSp>
      <p:grpSp>
        <p:nvGrpSpPr>
          <p:cNvPr id="526417" name="Group 81"/>
          <p:cNvGrpSpPr/>
          <p:nvPr/>
        </p:nvGrpSpPr>
        <p:grpSpPr bwMode="auto">
          <a:xfrm>
            <a:off x="684213" y="4113213"/>
            <a:ext cx="8135937" cy="396875"/>
            <a:chOff x="431" y="2591"/>
            <a:chExt cx="5125" cy="250"/>
          </a:xfrm>
        </p:grpSpPr>
        <p:sp>
          <p:nvSpPr>
            <p:cNvPr id="526376" name="Rectangle 40"/>
            <p:cNvSpPr>
              <a:spLocks noChangeArrowheads="1"/>
            </p:cNvSpPr>
            <p:nvPr/>
          </p:nvSpPr>
          <p:spPr bwMode="auto">
            <a:xfrm>
              <a:off x="2154" y="2591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b="1" i="1"/>
                <a:t> </a:t>
              </a:r>
              <a:r>
                <a:rPr lang="en-US" altLang="zh-CN" sz="2000" b="1">
                  <a:sym typeface="Symbol" panose="05050102010706020507" pitchFamily="18" charset="2"/>
                </a:rPr>
                <a:t>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526377" name="Rectangle 41"/>
            <p:cNvSpPr>
              <a:spLocks noChangeArrowheads="1"/>
            </p:cNvSpPr>
            <p:nvPr/>
          </p:nvSpPr>
          <p:spPr bwMode="auto">
            <a:xfrm>
              <a:off x="3106" y="2591"/>
              <a:ext cx="2450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/>
                <a:t>ACTION [</a:t>
              </a:r>
              <a:r>
                <a:rPr lang="en-US" altLang="zh-CN" sz="2000" i="1"/>
                <a:t>5</a:t>
              </a:r>
              <a:r>
                <a:rPr lang="en-US" altLang="zh-CN" sz="2000"/>
                <a:t>,</a:t>
              </a:r>
              <a:r>
                <a:rPr lang="en-US" altLang="zh-CN" sz="2000">
                  <a:sym typeface="Symbol" panose="05050102010706020507" pitchFamily="18" charset="2"/>
                </a:rPr>
                <a:t></a:t>
              </a:r>
              <a:r>
                <a:rPr lang="en-US" altLang="zh-CN" sz="2000"/>
                <a:t>]=</a:t>
              </a:r>
              <a:r>
                <a:rPr lang="en-US" altLang="zh-CN" sz="2000" i="1"/>
                <a:t>r6, </a:t>
              </a:r>
              <a:r>
                <a:rPr lang="en-US" altLang="zh-CN" sz="2000"/>
                <a:t>GOTO [</a:t>
              </a:r>
              <a:r>
                <a:rPr lang="en-US" altLang="zh-CN" sz="2000" i="1"/>
                <a:t>7</a:t>
              </a:r>
              <a:r>
                <a:rPr lang="en-US" altLang="zh-CN" sz="2000"/>
                <a:t>,</a:t>
              </a:r>
              <a:r>
                <a:rPr lang="en-US" altLang="zh-CN" sz="2000" i="1"/>
                <a:t>F</a:t>
              </a:r>
              <a:r>
                <a:rPr lang="en-US" altLang="zh-CN" sz="2000"/>
                <a:t>]=</a:t>
              </a:r>
              <a:r>
                <a:rPr lang="en-US" altLang="zh-CN" sz="2000" i="1"/>
                <a:t>3</a:t>
              </a:r>
            </a:p>
          </p:txBody>
        </p:sp>
        <p:sp>
          <p:nvSpPr>
            <p:cNvPr id="526378" name="Rectangle 42"/>
            <p:cNvSpPr>
              <a:spLocks noChangeArrowheads="1"/>
            </p:cNvSpPr>
            <p:nvPr/>
          </p:nvSpPr>
          <p:spPr bwMode="auto">
            <a:xfrm>
              <a:off x="431" y="2591"/>
              <a:ext cx="1452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kumimoji="0" lang="en-US" altLang="zh-CN" sz="2000">
                  <a:sym typeface="Symbol" panose="05050102010706020507" pitchFamily="18" charset="2"/>
                </a:rPr>
                <a:t>0# 1</a:t>
              </a:r>
              <a:r>
                <a:rPr kumimoji="0" lang="en-US" altLang="zh-CN" sz="2000" i="1">
                  <a:sym typeface="Symbol" panose="05050102010706020507" pitchFamily="18" charset="2"/>
                </a:rPr>
                <a:t>E</a:t>
              </a:r>
              <a:r>
                <a:rPr kumimoji="0" lang="en-US" altLang="zh-CN" sz="2000">
                  <a:sym typeface="Symbol" panose="05050102010706020507" pitchFamily="18" charset="2"/>
                </a:rPr>
                <a:t> 7</a:t>
              </a:r>
              <a:r>
                <a:rPr lang="en-US" altLang="zh-CN" sz="2000">
                  <a:sym typeface="Symbol" panose="05050102010706020507" pitchFamily="18" charset="2"/>
                </a:rPr>
                <a:t>+</a:t>
              </a:r>
              <a:r>
                <a:rPr kumimoji="0" lang="en-US" altLang="zh-CN" sz="2000">
                  <a:sym typeface="Symbol" panose="05050102010706020507" pitchFamily="18" charset="2"/>
                </a:rPr>
                <a:t> 5</a:t>
              </a:r>
              <a:r>
                <a:rPr lang="en-US" altLang="zh-CN" sz="2000" i="1"/>
                <a:t>v</a:t>
              </a:r>
            </a:p>
          </p:txBody>
        </p:sp>
      </p:grpSp>
      <p:grpSp>
        <p:nvGrpSpPr>
          <p:cNvPr id="526418" name="Group 82"/>
          <p:cNvGrpSpPr/>
          <p:nvPr/>
        </p:nvGrpSpPr>
        <p:grpSpPr bwMode="auto">
          <a:xfrm>
            <a:off x="684213" y="4400550"/>
            <a:ext cx="8280400" cy="396875"/>
            <a:chOff x="431" y="2772"/>
            <a:chExt cx="5216" cy="250"/>
          </a:xfrm>
        </p:grpSpPr>
        <p:sp>
          <p:nvSpPr>
            <p:cNvPr id="526380" name="Rectangle 44"/>
            <p:cNvSpPr>
              <a:spLocks noChangeArrowheads="1"/>
            </p:cNvSpPr>
            <p:nvPr/>
          </p:nvSpPr>
          <p:spPr bwMode="auto">
            <a:xfrm>
              <a:off x="2154" y="2772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b="1" i="1"/>
                <a:t> </a:t>
              </a:r>
              <a:r>
                <a:rPr lang="en-US" altLang="zh-CN" sz="2000" b="1">
                  <a:sym typeface="Symbol" panose="05050102010706020507" pitchFamily="18" charset="2"/>
                </a:rPr>
                <a:t>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526381" name="Rectangle 45"/>
            <p:cNvSpPr>
              <a:spLocks noChangeArrowheads="1"/>
            </p:cNvSpPr>
            <p:nvPr/>
          </p:nvSpPr>
          <p:spPr bwMode="auto">
            <a:xfrm>
              <a:off x="3106" y="2772"/>
              <a:ext cx="2541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/>
                <a:t>ACTION [</a:t>
              </a:r>
              <a:r>
                <a:rPr lang="en-US" altLang="zh-CN" sz="2000" i="1"/>
                <a:t>3</a:t>
              </a:r>
              <a:r>
                <a:rPr lang="en-US" altLang="zh-CN" sz="2000"/>
                <a:t>,</a:t>
              </a:r>
              <a:r>
                <a:rPr lang="en-US" altLang="zh-CN" sz="2000">
                  <a:sym typeface="Symbol" panose="05050102010706020507" pitchFamily="18" charset="2"/>
                </a:rPr>
                <a:t></a:t>
              </a:r>
              <a:r>
                <a:rPr lang="en-US" altLang="zh-CN" sz="2000"/>
                <a:t>]=</a:t>
              </a:r>
              <a:r>
                <a:rPr lang="en-US" altLang="zh-CN" sz="2000" i="1"/>
                <a:t>r4, </a:t>
              </a:r>
              <a:r>
                <a:rPr lang="en-US" altLang="zh-CN" sz="2000"/>
                <a:t>GOTO [</a:t>
              </a:r>
              <a:r>
                <a:rPr lang="en-US" altLang="zh-CN" sz="2000" i="1"/>
                <a:t>7</a:t>
              </a:r>
              <a:r>
                <a:rPr lang="en-US" altLang="zh-CN" sz="2000"/>
                <a:t>,</a:t>
              </a:r>
              <a:r>
                <a:rPr lang="en-US" altLang="zh-CN" sz="2000" i="1"/>
                <a:t>T</a:t>
              </a:r>
              <a:r>
                <a:rPr lang="en-US" altLang="zh-CN" sz="2000"/>
                <a:t>]=</a:t>
              </a:r>
              <a:r>
                <a:rPr lang="en-US" altLang="zh-CN" sz="2000" i="1"/>
                <a:t>10</a:t>
              </a:r>
            </a:p>
          </p:txBody>
        </p:sp>
        <p:sp>
          <p:nvSpPr>
            <p:cNvPr id="526382" name="Rectangle 46"/>
            <p:cNvSpPr>
              <a:spLocks noChangeArrowheads="1"/>
            </p:cNvSpPr>
            <p:nvPr/>
          </p:nvSpPr>
          <p:spPr bwMode="auto">
            <a:xfrm>
              <a:off x="431" y="2772"/>
              <a:ext cx="1542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kumimoji="0" lang="en-US" altLang="zh-CN" sz="2000">
                  <a:sym typeface="Symbol" panose="05050102010706020507" pitchFamily="18" charset="2"/>
                </a:rPr>
                <a:t>0# 1</a:t>
              </a:r>
              <a:r>
                <a:rPr kumimoji="0" lang="en-US" altLang="zh-CN" sz="2000" i="1">
                  <a:sym typeface="Symbol" panose="05050102010706020507" pitchFamily="18" charset="2"/>
                </a:rPr>
                <a:t>E</a:t>
              </a:r>
              <a:r>
                <a:rPr kumimoji="0" lang="en-US" altLang="zh-CN" sz="2000">
                  <a:sym typeface="Symbol" panose="05050102010706020507" pitchFamily="18" charset="2"/>
                </a:rPr>
                <a:t> 7</a:t>
              </a:r>
              <a:r>
                <a:rPr lang="en-US" altLang="zh-CN" sz="2000">
                  <a:sym typeface="Symbol" panose="05050102010706020507" pitchFamily="18" charset="2"/>
                </a:rPr>
                <a:t>+</a:t>
              </a:r>
              <a:r>
                <a:rPr kumimoji="0" lang="en-US" altLang="zh-CN" sz="2000">
                  <a:sym typeface="Symbol" panose="05050102010706020507" pitchFamily="18" charset="2"/>
                </a:rPr>
                <a:t> 3</a:t>
              </a:r>
              <a:r>
                <a:rPr kumimoji="0" lang="en-US" altLang="zh-CN" sz="2000" i="1">
                  <a:sym typeface="Symbol" panose="05050102010706020507" pitchFamily="18" charset="2"/>
                </a:rPr>
                <a:t>F</a:t>
              </a:r>
            </a:p>
          </p:txBody>
        </p:sp>
      </p:grpSp>
      <p:grpSp>
        <p:nvGrpSpPr>
          <p:cNvPr id="526419" name="Group 83"/>
          <p:cNvGrpSpPr/>
          <p:nvPr/>
        </p:nvGrpSpPr>
        <p:grpSpPr bwMode="auto">
          <a:xfrm>
            <a:off x="684213" y="4687888"/>
            <a:ext cx="8207375" cy="396875"/>
            <a:chOff x="431" y="2953"/>
            <a:chExt cx="5170" cy="250"/>
          </a:xfrm>
        </p:grpSpPr>
        <p:sp>
          <p:nvSpPr>
            <p:cNvPr id="526384" name="Rectangle 48"/>
            <p:cNvSpPr>
              <a:spLocks noChangeArrowheads="1"/>
            </p:cNvSpPr>
            <p:nvPr/>
          </p:nvSpPr>
          <p:spPr bwMode="auto">
            <a:xfrm>
              <a:off x="2154" y="2953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b="1" i="1"/>
                <a:t> </a:t>
              </a:r>
              <a:r>
                <a:rPr lang="en-US" altLang="zh-CN" sz="2000" b="1">
                  <a:sym typeface="Symbol" panose="05050102010706020507" pitchFamily="18" charset="2"/>
                </a:rPr>
                <a:t>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526385" name="Rectangle 49"/>
            <p:cNvSpPr>
              <a:spLocks noChangeArrowheads="1"/>
            </p:cNvSpPr>
            <p:nvPr/>
          </p:nvSpPr>
          <p:spPr bwMode="auto">
            <a:xfrm>
              <a:off x="3106" y="2953"/>
              <a:ext cx="249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/>
                <a:t>ACTION [</a:t>
              </a:r>
              <a:r>
                <a:rPr lang="en-US" altLang="zh-CN" sz="2000" i="1"/>
                <a:t>10</a:t>
              </a:r>
              <a:r>
                <a:rPr lang="en-US" altLang="zh-CN" sz="2000"/>
                <a:t>,</a:t>
              </a:r>
              <a:r>
                <a:rPr lang="en-US" altLang="zh-CN" sz="2000">
                  <a:sym typeface="Symbol" panose="05050102010706020507" pitchFamily="18" charset="2"/>
                </a:rPr>
                <a:t></a:t>
              </a:r>
              <a:r>
                <a:rPr lang="en-US" altLang="zh-CN" sz="2000"/>
                <a:t>]=</a:t>
              </a:r>
              <a:r>
                <a:rPr lang="en-US" altLang="zh-CN" sz="2000" i="1"/>
                <a:t>s8</a:t>
              </a:r>
            </a:p>
          </p:txBody>
        </p:sp>
        <p:sp>
          <p:nvSpPr>
            <p:cNvPr id="526386" name="Rectangle 50"/>
            <p:cNvSpPr>
              <a:spLocks noChangeArrowheads="1"/>
            </p:cNvSpPr>
            <p:nvPr/>
          </p:nvSpPr>
          <p:spPr bwMode="auto">
            <a:xfrm>
              <a:off x="431" y="2953"/>
              <a:ext cx="1361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kumimoji="0" lang="en-US" altLang="zh-CN" sz="2000">
                  <a:sym typeface="Symbol" panose="05050102010706020507" pitchFamily="18" charset="2"/>
                </a:rPr>
                <a:t>0# 1</a:t>
              </a:r>
              <a:r>
                <a:rPr kumimoji="0" lang="en-US" altLang="zh-CN" sz="2000" i="1">
                  <a:sym typeface="Symbol" panose="05050102010706020507" pitchFamily="18" charset="2"/>
                </a:rPr>
                <a:t>E</a:t>
              </a:r>
              <a:r>
                <a:rPr kumimoji="0" lang="en-US" altLang="zh-CN" sz="2000">
                  <a:sym typeface="Symbol" panose="05050102010706020507" pitchFamily="18" charset="2"/>
                </a:rPr>
                <a:t> 7</a:t>
              </a:r>
              <a:r>
                <a:rPr lang="en-US" altLang="zh-CN" sz="2000">
                  <a:sym typeface="Symbol" panose="05050102010706020507" pitchFamily="18" charset="2"/>
                </a:rPr>
                <a:t>+</a:t>
              </a:r>
              <a:r>
                <a:rPr kumimoji="0" lang="en-US" altLang="zh-CN" sz="2000">
                  <a:sym typeface="Symbol" panose="05050102010706020507" pitchFamily="18" charset="2"/>
                </a:rPr>
                <a:t> 10</a:t>
              </a:r>
              <a:r>
                <a:rPr kumimoji="0" lang="en-US" altLang="zh-CN" sz="2000" i="1">
                  <a:sym typeface="Symbol" panose="05050102010706020507" pitchFamily="18" charset="2"/>
                </a:rPr>
                <a:t>T</a:t>
              </a:r>
            </a:p>
          </p:txBody>
        </p:sp>
      </p:grpSp>
      <p:grpSp>
        <p:nvGrpSpPr>
          <p:cNvPr id="526420" name="Group 84"/>
          <p:cNvGrpSpPr/>
          <p:nvPr/>
        </p:nvGrpSpPr>
        <p:grpSpPr bwMode="auto">
          <a:xfrm>
            <a:off x="684213" y="4976813"/>
            <a:ext cx="8207375" cy="396875"/>
            <a:chOff x="431" y="3135"/>
            <a:chExt cx="5170" cy="250"/>
          </a:xfrm>
        </p:grpSpPr>
        <p:sp>
          <p:nvSpPr>
            <p:cNvPr id="526388" name="Rectangle 52"/>
            <p:cNvSpPr>
              <a:spLocks noChangeArrowheads="1"/>
            </p:cNvSpPr>
            <p:nvPr/>
          </p:nvSpPr>
          <p:spPr bwMode="auto">
            <a:xfrm>
              <a:off x="2154" y="3135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b="1" i="1"/>
                <a:t> </a:t>
              </a:r>
              <a:r>
                <a:rPr lang="en-US" altLang="zh-CN" sz="2000" b="1">
                  <a:sym typeface="Symbol" panose="05050102010706020507" pitchFamily="18" charset="2"/>
                </a:rPr>
                <a:t> </a:t>
              </a:r>
              <a:r>
                <a:rPr lang="en-US" altLang="zh-CN" sz="2000" b="1" i="1"/>
                <a:t>d #</a:t>
              </a:r>
            </a:p>
          </p:txBody>
        </p:sp>
        <p:sp>
          <p:nvSpPr>
            <p:cNvPr id="526389" name="Rectangle 53"/>
            <p:cNvSpPr>
              <a:spLocks noChangeArrowheads="1"/>
            </p:cNvSpPr>
            <p:nvPr/>
          </p:nvSpPr>
          <p:spPr bwMode="auto">
            <a:xfrm>
              <a:off x="3106" y="3135"/>
              <a:ext cx="249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/>
                <a:t>ACTION [</a:t>
              </a:r>
              <a:r>
                <a:rPr lang="en-US" altLang="zh-CN" sz="2000" i="1"/>
                <a:t>8</a:t>
              </a:r>
              <a:r>
                <a:rPr lang="en-US" altLang="zh-CN" sz="2000"/>
                <a:t>,</a:t>
              </a:r>
              <a:r>
                <a:rPr lang="en-US" altLang="zh-CN" sz="2000" i="1">
                  <a:sym typeface="Symbol" panose="05050102010706020507" pitchFamily="18" charset="2"/>
                </a:rPr>
                <a:t>d</a:t>
              </a:r>
              <a:r>
                <a:rPr lang="en-US" altLang="zh-CN" sz="2000"/>
                <a:t>]=</a:t>
              </a:r>
              <a:r>
                <a:rPr lang="en-US" altLang="zh-CN" sz="2000" i="1"/>
                <a:t>s6</a:t>
              </a:r>
            </a:p>
          </p:txBody>
        </p:sp>
        <p:sp>
          <p:nvSpPr>
            <p:cNvPr id="526390" name="Rectangle 54"/>
            <p:cNvSpPr>
              <a:spLocks noChangeArrowheads="1"/>
            </p:cNvSpPr>
            <p:nvPr/>
          </p:nvSpPr>
          <p:spPr bwMode="auto">
            <a:xfrm>
              <a:off x="431" y="3135"/>
              <a:ext cx="1588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kumimoji="0" lang="en-US" altLang="zh-CN" sz="2000">
                  <a:sym typeface="Symbol" panose="05050102010706020507" pitchFamily="18" charset="2"/>
                </a:rPr>
                <a:t>0# 1</a:t>
              </a:r>
              <a:r>
                <a:rPr kumimoji="0" lang="en-US" altLang="zh-CN" sz="2000" i="1">
                  <a:sym typeface="Symbol" panose="05050102010706020507" pitchFamily="18" charset="2"/>
                </a:rPr>
                <a:t>E</a:t>
              </a:r>
              <a:r>
                <a:rPr kumimoji="0" lang="en-US" altLang="zh-CN" sz="2000">
                  <a:sym typeface="Symbol" panose="05050102010706020507" pitchFamily="18" charset="2"/>
                </a:rPr>
                <a:t> 7</a:t>
              </a:r>
              <a:r>
                <a:rPr lang="en-US" altLang="zh-CN" sz="2000">
                  <a:sym typeface="Symbol" panose="05050102010706020507" pitchFamily="18" charset="2"/>
                </a:rPr>
                <a:t>+</a:t>
              </a:r>
              <a:r>
                <a:rPr kumimoji="0" lang="en-US" altLang="zh-CN" sz="2000">
                  <a:sym typeface="Symbol" panose="05050102010706020507" pitchFamily="18" charset="2"/>
                </a:rPr>
                <a:t> 10</a:t>
              </a:r>
              <a:r>
                <a:rPr kumimoji="0" lang="en-US" altLang="zh-CN" sz="2000" i="1">
                  <a:sym typeface="Symbol" panose="05050102010706020507" pitchFamily="18" charset="2"/>
                </a:rPr>
                <a:t>T</a:t>
              </a:r>
              <a:r>
                <a:rPr kumimoji="0" lang="en-US" altLang="zh-CN" sz="2000">
                  <a:sym typeface="Symbol" panose="05050102010706020507" pitchFamily="18" charset="2"/>
                </a:rPr>
                <a:t> 8</a:t>
              </a:r>
              <a:r>
                <a:rPr lang="en-US" altLang="zh-CN" sz="2000">
                  <a:sym typeface="Symbol" panose="05050102010706020507" pitchFamily="18" charset="2"/>
                </a:rPr>
                <a:t></a:t>
              </a:r>
            </a:p>
          </p:txBody>
        </p:sp>
      </p:grpSp>
      <p:grpSp>
        <p:nvGrpSpPr>
          <p:cNvPr id="526421" name="Group 85"/>
          <p:cNvGrpSpPr/>
          <p:nvPr/>
        </p:nvGrpSpPr>
        <p:grpSpPr bwMode="auto">
          <a:xfrm>
            <a:off x="684213" y="5264150"/>
            <a:ext cx="8353425" cy="396875"/>
            <a:chOff x="431" y="3316"/>
            <a:chExt cx="5262" cy="250"/>
          </a:xfrm>
        </p:grpSpPr>
        <p:sp>
          <p:nvSpPr>
            <p:cNvPr id="526392" name="Rectangle 56"/>
            <p:cNvSpPr>
              <a:spLocks noChangeArrowheads="1"/>
            </p:cNvSpPr>
            <p:nvPr/>
          </p:nvSpPr>
          <p:spPr bwMode="auto">
            <a:xfrm>
              <a:off x="2154" y="3316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b="1" i="1"/>
                <a:t> </a:t>
              </a:r>
              <a:r>
                <a:rPr lang="en-US" altLang="zh-CN" sz="2000" b="1">
                  <a:sym typeface="Symbol" panose="05050102010706020507" pitchFamily="18" charset="2"/>
                </a:rPr>
                <a:t> </a:t>
              </a:r>
              <a:r>
                <a:rPr lang="en-US" altLang="zh-CN" sz="2000" b="1" i="1"/>
                <a:t> #</a:t>
              </a:r>
            </a:p>
          </p:txBody>
        </p:sp>
        <p:sp>
          <p:nvSpPr>
            <p:cNvPr id="526393" name="Rectangle 57"/>
            <p:cNvSpPr>
              <a:spLocks noChangeArrowheads="1"/>
            </p:cNvSpPr>
            <p:nvPr/>
          </p:nvSpPr>
          <p:spPr bwMode="auto">
            <a:xfrm>
              <a:off x="3106" y="3316"/>
              <a:ext cx="258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/>
                <a:t>ACTION [</a:t>
              </a:r>
              <a:r>
                <a:rPr lang="en-US" altLang="zh-CN" sz="2000" i="1"/>
                <a:t>6</a:t>
              </a:r>
              <a:r>
                <a:rPr lang="en-US" altLang="zh-CN" sz="2000"/>
                <a:t>,</a:t>
              </a:r>
              <a:r>
                <a:rPr lang="en-US" altLang="zh-CN" sz="2000" i="1"/>
                <a:t>#</a:t>
              </a:r>
              <a:r>
                <a:rPr lang="en-US" altLang="zh-CN" sz="2000"/>
                <a:t>]=</a:t>
              </a:r>
              <a:r>
                <a:rPr lang="en-US" altLang="zh-CN" sz="2000" i="1"/>
                <a:t>r7, </a:t>
              </a:r>
              <a:r>
                <a:rPr lang="en-US" altLang="zh-CN" sz="2000"/>
                <a:t>GOTO [</a:t>
              </a:r>
              <a:r>
                <a:rPr lang="en-US" altLang="zh-CN" sz="2000" i="1"/>
                <a:t>8</a:t>
              </a:r>
              <a:r>
                <a:rPr lang="en-US" altLang="zh-CN" sz="2000"/>
                <a:t>,</a:t>
              </a:r>
              <a:r>
                <a:rPr lang="en-US" altLang="zh-CN" sz="2000" i="1"/>
                <a:t>F</a:t>
              </a:r>
              <a:r>
                <a:rPr lang="en-US" altLang="zh-CN" sz="2000"/>
                <a:t>]=</a:t>
              </a:r>
              <a:r>
                <a:rPr lang="en-US" altLang="zh-CN" sz="2000" i="1"/>
                <a:t>11</a:t>
              </a:r>
            </a:p>
          </p:txBody>
        </p:sp>
        <p:sp>
          <p:nvSpPr>
            <p:cNvPr id="526394" name="Rectangle 58"/>
            <p:cNvSpPr>
              <a:spLocks noChangeArrowheads="1"/>
            </p:cNvSpPr>
            <p:nvPr/>
          </p:nvSpPr>
          <p:spPr bwMode="auto">
            <a:xfrm>
              <a:off x="431" y="3316"/>
              <a:ext cx="1588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kumimoji="0" lang="en-US" altLang="zh-CN" sz="2000">
                  <a:sym typeface="Symbol" panose="05050102010706020507" pitchFamily="18" charset="2"/>
                </a:rPr>
                <a:t>0# 1</a:t>
              </a:r>
              <a:r>
                <a:rPr kumimoji="0" lang="en-US" altLang="zh-CN" sz="2000" i="1">
                  <a:sym typeface="Symbol" panose="05050102010706020507" pitchFamily="18" charset="2"/>
                </a:rPr>
                <a:t>E</a:t>
              </a:r>
              <a:r>
                <a:rPr kumimoji="0" lang="en-US" altLang="zh-CN" sz="2000">
                  <a:sym typeface="Symbol" panose="05050102010706020507" pitchFamily="18" charset="2"/>
                </a:rPr>
                <a:t> 7</a:t>
              </a:r>
              <a:r>
                <a:rPr lang="en-US" altLang="zh-CN" sz="2000">
                  <a:sym typeface="Symbol" panose="05050102010706020507" pitchFamily="18" charset="2"/>
                </a:rPr>
                <a:t>+</a:t>
              </a:r>
              <a:r>
                <a:rPr kumimoji="0" lang="en-US" altLang="zh-CN" sz="2000">
                  <a:sym typeface="Symbol" panose="05050102010706020507" pitchFamily="18" charset="2"/>
                </a:rPr>
                <a:t> 10</a:t>
              </a:r>
              <a:r>
                <a:rPr kumimoji="0" lang="en-US" altLang="zh-CN" sz="2000" i="1">
                  <a:sym typeface="Symbol" panose="05050102010706020507" pitchFamily="18" charset="2"/>
                </a:rPr>
                <a:t>T</a:t>
              </a:r>
              <a:r>
                <a:rPr kumimoji="0" lang="en-US" altLang="zh-CN" sz="2000">
                  <a:sym typeface="Symbol" panose="05050102010706020507" pitchFamily="18" charset="2"/>
                </a:rPr>
                <a:t> 8</a:t>
              </a:r>
              <a:r>
                <a:rPr lang="en-US" altLang="zh-CN" sz="2000">
                  <a:sym typeface="Symbol" panose="05050102010706020507" pitchFamily="18" charset="2"/>
                </a:rPr>
                <a:t></a:t>
              </a:r>
              <a:r>
                <a:rPr kumimoji="0" lang="en-US" altLang="zh-CN" sz="2000">
                  <a:sym typeface="Symbol" panose="05050102010706020507" pitchFamily="18" charset="2"/>
                </a:rPr>
                <a:t> 6</a:t>
              </a:r>
              <a:r>
                <a:rPr lang="en-US" altLang="zh-CN" sz="2000" i="1"/>
                <a:t>d</a:t>
              </a:r>
            </a:p>
          </p:txBody>
        </p:sp>
      </p:grpSp>
      <p:grpSp>
        <p:nvGrpSpPr>
          <p:cNvPr id="526422" name="Group 86"/>
          <p:cNvGrpSpPr/>
          <p:nvPr/>
        </p:nvGrpSpPr>
        <p:grpSpPr bwMode="auto">
          <a:xfrm>
            <a:off x="684213" y="5553075"/>
            <a:ext cx="8424862" cy="396875"/>
            <a:chOff x="431" y="3498"/>
            <a:chExt cx="5307" cy="250"/>
          </a:xfrm>
        </p:grpSpPr>
        <p:sp>
          <p:nvSpPr>
            <p:cNvPr id="526396" name="Rectangle 60"/>
            <p:cNvSpPr>
              <a:spLocks noChangeArrowheads="1"/>
            </p:cNvSpPr>
            <p:nvPr/>
          </p:nvSpPr>
          <p:spPr bwMode="auto">
            <a:xfrm>
              <a:off x="2154" y="3498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b="1" i="1"/>
                <a:t> </a:t>
              </a:r>
              <a:r>
                <a:rPr lang="en-US" altLang="zh-CN" sz="2000" b="1">
                  <a:sym typeface="Symbol" panose="05050102010706020507" pitchFamily="18" charset="2"/>
                </a:rPr>
                <a:t> </a:t>
              </a:r>
              <a:r>
                <a:rPr lang="en-US" altLang="zh-CN" sz="2000" b="1" i="1"/>
                <a:t> #</a:t>
              </a:r>
            </a:p>
          </p:txBody>
        </p:sp>
        <p:sp>
          <p:nvSpPr>
            <p:cNvPr id="526397" name="Rectangle 61"/>
            <p:cNvSpPr>
              <a:spLocks noChangeArrowheads="1"/>
            </p:cNvSpPr>
            <p:nvPr/>
          </p:nvSpPr>
          <p:spPr bwMode="auto">
            <a:xfrm>
              <a:off x="3106" y="3498"/>
              <a:ext cx="2632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/>
                <a:t>ACTION [</a:t>
              </a:r>
              <a:r>
                <a:rPr lang="en-US" altLang="zh-CN" sz="2000" i="1"/>
                <a:t>11</a:t>
              </a:r>
              <a:r>
                <a:rPr lang="en-US" altLang="zh-CN" sz="2000"/>
                <a:t>,</a:t>
              </a:r>
              <a:r>
                <a:rPr lang="en-US" altLang="zh-CN" sz="2000" i="1"/>
                <a:t>#</a:t>
              </a:r>
              <a:r>
                <a:rPr lang="en-US" altLang="zh-CN" sz="2000"/>
                <a:t>]=</a:t>
              </a:r>
              <a:r>
                <a:rPr lang="en-US" altLang="zh-CN" sz="2000" i="1"/>
                <a:t>r3, </a:t>
              </a:r>
              <a:r>
                <a:rPr lang="en-US" altLang="zh-CN" sz="2000"/>
                <a:t>GOTO [</a:t>
              </a:r>
              <a:r>
                <a:rPr lang="en-US" altLang="zh-CN" sz="2000" i="1"/>
                <a:t>7</a:t>
              </a:r>
              <a:r>
                <a:rPr lang="en-US" altLang="zh-CN" sz="2000"/>
                <a:t>,</a:t>
              </a:r>
              <a:r>
                <a:rPr lang="en-US" altLang="zh-CN" sz="2000" i="1"/>
                <a:t>T</a:t>
              </a:r>
              <a:r>
                <a:rPr lang="en-US" altLang="zh-CN" sz="2000"/>
                <a:t>]=</a:t>
              </a:r>
              <a:r>
                <a:rPr lang="en-US" altLang="zh-CN" sz="2000" i="1"/>
                <a:t>10</a:t>
              </a:r>
            </a:p>
          </p:txBody>
        </p:sp>
        <p:sp>
          <p:nvSpPr>
            <p:cNvPr id="526398" name="Rectangle 62"/>
            <p:cNvSpPr>
              <a:spLocks noChangeArrowheads="1"/>
            </p:cNvSpPr>
            <p:nvPr/>
          </p:nvSpPr>
          <p:spPr bwMode="auto">
            <a:xfrm>
              <a:off x="431" y="3498"/>
              <a:ext cx="1633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kumimoji="0" lang="en-US" altLang="zh-CN" sz="2000">
                  <a:sym typeface="Symbol" panose="05050102010706020507" pitchFamily="18" charset="2"/>
                </a:rPr>
                <a:t>0# 1</a:t>
              </a:r>
              <a:r>
                <a:rPr kumimoji="0" lang="en-US" altLang="zh-CN" sz="2000" i="1">
                  <a:sym typeface="Symbol" panose="05050102010706020507" pitchFamily="18" charset="2"/>
                </a:rPr>
                <a:t>E</a:t>
              </a:r>
              <a:r>
                <a:rPr kumimoji="0" lang="en-US" altLang="zh-CN" sz="2000">
                  <a:sym typeface="Symbol" panose="05050102010706020507" pitchFamily="18" charset="2"/>
                </a:rPr>
                <a:t> 7</a:t>
              </a:r>
              <a:r>
                <a:rPr lang="en-US" altLang="zh-CN" sz="2000">
                  <a:sym typeface="Symbol" panose="05050102010706020507" pitchFamily="18" charset="2"/>
                </a:rPr>
                <a:t>+</a:t>
              </a:r>
              <a:r>
                <a:rPr kumimoji="0" lang="en-US" altLang="zh-CN" sz="2000">
                  <a:sym typeface="Symbol" panose="05050102010706020507" pitchFamily="18" charset="2"/>
                </a:rPr>
                <a:t> 10</a:t>
              </a:r>
              <a:r>
                <a:rPr kumimoji="0" lang="en-US" altLang="zh-CN" sz="2000" i="1">
                  <a:sym typeface="Symbol" panose="05050102010706020507" pitchFamily="18" charset="2"/>
                </a:rPr>
                <a:t>T</a:t>
              </a:r>
              <a:r>
                <a:rPr kumimoji="0" lang="en-US" altLang="zh-CN" sz="2000">
                  <a:sym typeface="Symbol" panose="05050102010706020507" pitchFamily="18" charset="2"/>
                </a:rPr>
                <a:t> 8</a:t>
              </a:r>
              <a:r>
                <a:rPr lang="en-US" altLang="zh-CN" sz="2000">
                  <a:sym typeface="Symbol" panose="05050102010706020507" pitchFamily="18" charset="2"/>
                </a:rPr>
                <a:t></a:t>
              </a:r>
              <a:r>
                <a:rPr kumimoji="0" lang="en-US" altLang="zh-CN" sz="2000">
                  <a:sym typeface="Symbol" panose="05050102010706020507" pitchFamily="18" charset="2"/>
                </a:rPr>
                <a:t> 11</a:t>
              </a:r>
              <a:r>
                <a:rPr kumimoji="0" lang="en-US" altLang="zh-CN" sz="2000" i="1">
                  <a:sym typeface="Symbol" panose="05050102010706020507" pitchFamily="18" charset="2"/>
                </a:rPr>
                <a:t>F</a:t>
              </a:r>
            </a:p>
          </p:txBody>
        </p:sp>
      </p:grpSp>
      <p:grpSp>
        <p:nvGrpSpPr>
          <p:cNvPr id="526424" name="Group 88"/>
          <p:cNvGrpSpPr/>
          <p:nvPr/>
        </p:nvGrpSpPr>
        <p:grpSpPr bwMode="auto">
          <a:xfrm>
            <a:off x="684213" y="6127750"/>
            <a:ext cx="8207375" cy="396875"/>
            <a:chOff x="431" y="3860"/>
            <a:chExt cx="5170" cy="250"/>
          </a:xfrm>
        </p:grpSpPr>
        <p:sp>
          <p:nvSpPr>
            <p:cNvPr id="526404" name="Rectangle 68"/>
            <p:cNvSpPr>
              <a:spLocks noChangeArrowheads="1"/>
            </p:cNvSpPr>
            <p:nvPr/>
          </p:nvSpPr>
          <p:spPr bwMode="auto">
            <a:xfrm>
              <a:off x="2154" y="3860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b="1" i="1"/>
                <a:t> </a:t>
              </a:r>
              <a:r>
                <a:rPr lang="en-US" altLang="zh-CN" sz="2000" b="1">
                  <a:sym typeface="Symbol" panose="05050102010706020507" pitchFamily="18" charset="2"/>
                </a:rPr>
                <a:t> </a:t>
              </a:r>
              <a:r>
                <a:rPr lang="en-US" altLang="zh-CN" sz="2000" b="1" i="1"/>
                <a:t> #</a:t>
              </a:r>
            </a:p>
          </p:txBody>
        </p:sp>
        <p:sp>
          <p:nvSpPr>
            <p:cNvPr id="526405" name="Rectangle 69"/>
            <p:cNvSpPr>
              <a:spLocks noChangeArrowheads="1"/>
            </p:cNvSpPr>
            <p:nvPr/>
          </p:nvSpPr>
          <p:spPr bwMode="auto">
            <a:xfrm>
              <a:off x="3106" y="3860"/>
              <a:ext cx="249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/>
                <a:t>ACTION [</a:t>
              </a:r>
              <a:r>
                <a:rPr lang="en-US" altLang="zh-CN" sz="2000" i="1"/>
                <a:t>1</a:t>
              </a:r>
              <a:r>
                <a:rPr lang="en-US" altLang="zh-CN" sz="2000"/>
                <a:t>,</a:t>
              </a:r>
              <a:r>
                <a:rPr lang="en-US" altLang="zh-CN" sz="2000" i="1"/>
                <a:t>#</a:t>
              </a:r>
              <a:r>
                <a:rPr lang="en-US" altLang="zh-CN" sz="2000"/>
                <a:t>]=</a:t>
              </a:r>
              <a:r>
                <a:rPr lang="en-US" altLang="zh-CN" sz="2000" i="1">
                  <a:sym typeface="Symbol" panose="05050102010706020507" pitchFamily="18" charset="2"/>
                </a:rPr>
                <a:t>acc</a:t>
              </a:r>
            </a:p>
          </p:txBody>
        </p:sp>
        <p:sp>
          <p:nvSpPr>
            <p:cNvPr id="526406" name="Rectangle 70"/>
            <p:cNvSpPr>
              <a:spLocks noChangeArrowheads="1"/>
            </p:cNvSpPr>
            <p:nvPr/>
          </p:nvSpPr>
          <p:spPr bwMode="auto">
            <a:xfrm>
              <a:off x="431" y="3860"/>
              <a:ext cx="113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kumimoji="0" lang="en-US" altLang="zh-CN" sz="2000">
                  <a:sym typeface="Symbol" panose="05050102010706020507" pitchFamily="18" charset="2"/>
                </a:rPr>
                <a:t>0# 1</a:t>
              </a:r>
              <a:r>
                <a:rPr kumimoji="0" lang="en-US" altLang="zh-CN" sz="2000" i="1">
                  <a:sym typeface="Symbol" panose="05050102010706020507" pitchFamily="18" charset="2"/>
                </a:rPr>
                <a:t>E</a:t>
              </a:r>
            </a:p>
          </p:txBody>
        </p:sp>
      </p:grpSp>
      <p:sp>
        <p:nvSpPr>
          <p:cNvPr id="526407" name="Text Box 71"/>
          <p:cNvSpPr txBox="1">
            <a:spLocks noChangeArrowheads="1"/>
          </p:cNvSpPr>
          <p:nvPr/>
        </p:nvSpPr>
        <p:spPr bwMode="auto">
          <a:xfrm>
            <a:off x="395288" y="1052513"/>
            <a:ext cx="4464050" cy="11874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b="1">
                <a:latin typeface="楷体_GB2312" pitchFamily="49" charset="-122"/>
              </a:rPr>
              <a:t>带分析栈的</a:t>
            </a:r>
            <a:r>
              <a:rPr lang="en-US" altLang="zh-CN"/>
              <a:t>LR </a:t>
            </a:r>
            <a:r>
              <a:rPr lang="zh-CN" altLang="en-US" b="1">
                <a:latin typeface="楷体_GB2312" pitchFamily="49" charset="-122"/>
              </a:rPr>
              <a:t>分析过程</a:t>
            </a:r>
            <a:r>
              <a:rPr lang="zh-CN" altLang="en-US" b="1">
                <a:solidFill>
                  <a:srgbClr val="800080"/>
                </a:solidFill>
                <a:latin typeface="楷体_GB2312" pitchFamily="49" charset="-122"/>
              </a:rPr>
              <a:t>举例</a:t>
            </a: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b="1">
                <a:solidFill>
                  <a:srgbClr val="800080"/>
                </a:solidFill>
              </a:rPr>
              <a:t> </a:t>
            </a:r>
            <a:r>
              <a:rPr kumimoji="0" lang="zh-CN" altLang="en-US" b="1">
                <a:solidFill>
                  <a:srgbClr val="800080"/>
                </a:solidFill>
                <a:sym typeface="Symbol" panose="05050102010706020507" pitchFamily="18" charset="2"/>
              </a:rPr>
              <a:t>文法：</a:t>
            </a:r>
            <a:r>
              <a:rPr kumimoji="0" lang="en-US" altLang="zh-CN" i="1">
                <a:sym typeface="Symbol" panose="05050102010706020507" pitchFamily="18" charset="2"/>
              </a:rPr>
              <a:t>G</a:t>
            </a:r>
            <a:r>
              <a:rPr kumimoji="0" lang="en-US" altLang="zh-CN">
                <a:sym typeface="Symbol" panose="05050102010706020507" pitchFamily="18" charset="2"/>
              </a:rPr>
              <a:t>[</a:t>
            </a:r>
            <a:r>
              <a:rPr kumimoji="0" lang="en-US" altLang="zh-CN" i="1">
                <a:sym typeface="Symbol" panose="05050102010706020507" pitchFamily="18" charset="2"/>
              </a:rPr>
              <a:t>E</a:t>
            </a:r>
            <a:r>
              <a:rPr kumimoji="0" lang="en-US" altLang="zh-CN">
                <a:sym typeface="Symbol" panose="05050102010706020507" pitchFamily="18" charset="2"/>
              </a:rPr>
              <a:t>]</a:t>
            </a:r>
            <a:r>
              <a:rPr lang="en-US" altLang="zh-CN"/>
              <a:t> </a:t>
            </a: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en-US" altLang="zh-CN">
                <a:solidFill>
                  <a:srgbClr val="800080"/>
                </a:solidFill>
              </a:rPr>
              <a:t>  </a:t>
            </a:r>
            <a:r>
              <a:rPr lang="zh-CN" altLang="en-US" b="1">
                <a:solidFill>
                  <a:srgbClr val="800080"/>
                </a:solidFill>
                <a:sym typeface="Symbol" panose="05050102010706020507" pitchFamily="18" charset="2"/>
              </a:rPr>
              <a:t>输入串： </a:t>
            </a:r>
            <a:r>
              <a:rPr lang="en-US" altLang="zh-CN" b="1" i="1"/>
              <a:t>v </a:t>
            </a:r>
            <a:r>
              <a:rPr lang="en-US" altLang="zh-CN">
                <a:sym typeface="Symbol" panose="05050102010706020507" pitchFamily="18" charset="2"/>
              </a:rPr>
              <a:t>+ </a:t>
            </a:r>
            <a:r>
              <a:rPr lang="en-US" altLang="zh-CN" b="1" i="1"/>
              <a:t>v</a:t>
            </a:r>
            <a:r>
              <a:rPr lang="en-US" altLang="zh-CN" b="1">
                <a:sym typeface="Symbol" panose="05050102010706020507" pitchFamily="18" charset="2"/>
              </a:rPr>
              <a:t>  </a:t>
            </a:r>
            <a:r>
              <a:rPr lang="en-US" altLang="zh-CN" b="1" i="1"/>
              <a:t>d</a:t>
            </a:r>
            <a:r>
              <a:rPr lang="en-US" altLang="zh-CN"/>
              <a:t> </a:t>
            </a:r>
          </a:p>
        </p:txBody>
      </p:sp>
      <p:sp>
        <p:nvSpPr>
          <p:cNvPr id="526408" name="Text Box 72"/>
          <p:cNvSpPr txBox="1">
            <a:spLocks noChangeArrowheads="1"/>
          </p:cNvSpPr>
          <p:nvPr/>
        </p:nvSpPr>
        <p:spPr bwMode="auto">
          <a:xfrm>
            <a:off x="4786313" y="1125538"/>
            <a:ext cx="4249737" cy="1006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1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E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E+T</a:t>
            </a:r>
            <a:r>
              <a:rPr lang="en-US" altLang="zh-CN" sz="2000">
                <a:sym typeface="Symbol" panose="05050102010706020507" pitchFamily="18" charset="2"/>
              </a:rPr>
              <a:t>   </a:t>
            </a: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2</a:t>
            </a:r>
            <a:r>
              <a:rPr lang="zh-CN" altLang="en-US" sz="2000">
                <a:sym typeface="Symbol" panose="05050102010706020507" pitchFamily="18" charset="2"/>
              </a:rPr>
              <a:t>） </a:t>
            </a:r>
            <a:r>
              <a:rPr lang="en-US" altLang="zh-CN" sz="2000" i="1">
                <a:sym typeface="Symbol" panose="05050102010706020507" pitchFamily="18" charset="2"/>
              </a:rPr>
              <a:t>E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T 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3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T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T</a:t>
            </a:r>
            <a:r>
              <a:rPr lang="en-US" altLang="zh-CN" sz="2000">
                <a:sym typeface="Symbol" panose="05050102010706020507" pitchFamily="18" charset="2"/>
              </a:rPr>
              <a:t></a:t>
            </a:r>
            <a:r>
              <a:rPr lang="en-US" altLang="zh-CN" sz="2000" i="1">
                <a:sym typeface="Symbol" panose="05050102010706020507" pitchFamily="18" charset="2"/>
              </a:rPr>
              <a:t>F    </a:t>
            </a: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4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T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F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5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F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(E)  </a:t>
            </a: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6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zh-CN" altLang="en-US" sz="2000" i="1">
                <a:sym typeface="Symbol" panose="05050102010706020507" pitchFamily="18" charset="2"/>
              </a:rPr>
              <a:t> </a:t>
            </a:r>
            <a:r>
              <a:rPr lang="en-US" altLang="zh-CN" sz="2000" i="1">
                <a:sym typeface="Symbol" panose="05050102010706020507" pitchFamily="18" charset="2"/>
              </a:rPr>
              <a:t>F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v</a:t>
            </a:r>
            <a:r>
              <a:rPr lang="en-US" altLang="zh-CN" sz="2000"/>
              <a:t> </a:t>
            </a: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7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F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d</a:t>
            </a:r>
          </a:p>
        </p:txBody>
      </p:sp>
      <p:grpSp>
        <p:nvGrpSpPr>
          <p:cNvPr id="526423" name="Group 87"/>
          <p:cNvGrpSpPr/>
          <p:nvPr/>
        </p:nvGrpSpPr>
        <p:grpSpPr bwMode="auto">
          <a:xfrm>
            <a:off x="684213" y="5840413"/>
            <a:ext cx="8353425" cy="396875"/>
            <a:chOff x="431" y="3679"/>
            <a:chExt cx="5262" cy="250"/>
          </a:xfrm>
        </p:grpSpPr>
        <p:sp>
          <p:nvSpPr>
            <p:cNvPr id="526400" name="Rectangle 64"/>
            <p:cNvSpPr>
              <a:spLocks noChangeArrowheads="1"/>
            </p:cNvSpPr>
            <p:nvPr/>
          </p:nvSpPr>
          <p:spPr bwMode="auto">
            <a:xfrm>
              <a:off x="2154" y="3679"/>
              <a:ext cx="90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000" b="1" i="1"/>
                <a:t> </a:t>
              </a:r>
              <a:r>
                <a:rPr lang="en-US" altLang="zh-CN" sz="2000" b="1">
                  <a:sym typeface="Symbol" panose="05050102010706020507" pitchFamily="18" charset="2"/>
                </a:rPr>
                <a:t> </a:t>
              </a:r>
              <a:r>
                <a:rPr lang="en-US" altLang="zh-CN" sz="2000" b="1" i="1"/>
                <a:t> #</a:t>
              </a:r>
            </a:p>
          </p:txBody>
        </p:sp>
        <p:sp>
          <p:nvSpPr>
            <p:cNvPr id="526401" name="Rectangle 65"/>
            <p:cNvSpPr>
              <a:spLocks noChangeArrowheads="1"/>
            </p:cNvSpPr>
            <p:nvPr/>
          </p:nvSpPr>
          <p:spPr bwMode="auto">
            <a:xfrm>
              <a:off x="3106" y="3679"/>
              <a:ext cx="2587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/>
                <a:t>ACTION [</a:t>
              </a:r>
              <a:r>
                <a:rPr lang="en-US" altLang="zh-CN" sz="2000" i="1"/>
                <a:t>10</a:t>
              </a:r>
              <a:r>
                <a:rPr lang="en-US" altLang="zh-CN" sz="2000"/>
                <a:t>,</a:t>
              </a:r>
              <a:r>
                <a:rPr lang="en-US" altLang="zh-CN" sz="2000" i="1"/>
                <a:t>#</a:t>
              </a:r>
              <a:r>
                <a:rPr lang="en-US" altLang="zh-CN" sz="2000"/>
                <a:t>]=</a:t>
              </a:r>
              <a:r>
                <a:rPr lang="en-US" altLang="zh-CN" sz="2000" i="1"/>
                <a:t>r1, </a:t>
              </a:r>
              <a:r>
                <a:rPr lang="en-US" altLang="zh-CN" sz="2000"/>
                <a:t>GOTO [</a:t>
              </a:r>
              <a:r>
                <a:rPr lang="en-US" altLang="zh-CN" sz="2000" i="1"/>
                <a:t>0</a:t>
              </a:r>
              <a:r>
                <a:rPr lang="en-US" altLang="zh-CN" sz="2000"/>
                <a:t>,</a:t>
              </a:r>
              <a:r>
                <a:rPr lang="en-US" altLang="zh-CN" sz="2000" i="1"/>
                <a:t>E</a:t>
              </a:r>
              <a:r>
                <a:rPr lang="en-US" altLang="zh-CN" sz="2000"/>
                <a:t>]=</a:t>
              </a:r>
              <a:r>
                <a:rPr lang="en-US" altLang="zh-CN" sz="2000" i="1"/>
                <a:t>1</a:t>
              </a:r>
            </a:p>
          </p:txBody>
        </p:sp>
        <p:sp>
          <p:nvSpPr>
            <p:cNvPr id="526409" name="Rectangle 73"/>
            <p:cNvSpPr>
              <a:spLocks noChangeArrowheads="1"/>
            </p:cNvSpPr>
            <p:nvPr/>
          </p:nvSpPr>
          <p:spPr bwMode="auto">
            <a:xfrm>
              <a:off x="431" y="3679"/>
              <a:ext cx="1633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kumimoji="0" lang="en-US" altLang="zh-CN" sz="2000">
                  <a:sym typeface="Symbol" panose="05050102010706020507" pitchFamily="18" charset="2"/>
                </a:rPr>
                <a:t>0# 1</a:t>
              </a:r>
              <a:r>
                <a:rPr kumimoji="0" lang="en-US" altLang="zh-CN" sz="2000" i="1">
                  <a:sym typeface="Symbol" panose="05050102010706020507" pitchFamily="18" charset="2"/>
                </a:rPr>
                <a:t>E</a:t>
              </a:r>
              <a:r>
                <a:rPr kumimoji="0" lang="en-US" altLang="zh-CN" sz="2000">
                  <a:sym typeface="Symbol" panose="05050102010706020507" pitchFamily="18" charset="2"/>
                </a:rPr>
                <a:t> 7</a:t>
              </a:r>
              <a:r>
                <a:rPr lang="en-US" altLang="zh-CN" sz="2000">
                  <a:sym typeface="Symbol" panose="05050102010706020507" pitchFamily="18" charset="2"/>
                </a:rPr>
                <a:t>+</a:t>
              </a:r>
              <a:r>
                <a:rPr kumimoji="0" lang="en-US" altLang="zh-CN" sz="2000">
                  <a:sym typeface="Symbol" panose="05050102010706020507" pitchFamily="18" charset="2"/>
                </a:rPr>
                <a:t> 10</a:t>
              </a:r>
              <a:r>
                <a:rPr kumimoji="0" lang="en-US" altLang="zh-CN" sz="2000" i="1">
                  <a:sym typeface="Symbol" panose="05050102010706020507" pitchFamily="18" charset="2"/>
                </a:rPr>
                <a:t>T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26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26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26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26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26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526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526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526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526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526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526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526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526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2" dur="500"/>
                                        <p:tgtEl>
                                          <p:spTgt spid="526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4" name="Text Box 4"/>
          <p:cNvSpPr txBox="1">
            <a:spLocks noChangeArrowheads="1"/>
          </p:cNvSpPr>
          <p:nvPr/>
        </p:nvSpPr>
        <p:spPr bwMode="auto">
          <a:xfrm>
            <a:off x="755650" y="1333500"/>
            <a:ext cx="7920038" cy="15859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zh-CN" altLang="en-US" sz="3200" b="1">
                <a:solidFill>
                  <a:srgbClr val="800080"/>
                </a:solidFill>
              </a:rPr>
              <a:t>如何获得 </a:t>
            </a:r>
            <a:r>
              <a:rPr lang="en-US" altLang="zh-CN" sz="3200">
                <a:solidFill>
                  <a:srgbClr val="800080"/>
                </a:solidFill>
              </a:rPr>
              <a:t>LR </a:t>
            </a:r>
            <a:r>
              <a:rPr lang="zh-CN" altLang="en-US" sz="3200" b="1">
                <a:solidFill>
                  <a:srgbClr val="800080"/>
                </a:solidFill>
                <a:latin typeface="楷体_GB2312" pitchFamily="49" charset="-122"/>
              </a:rPr>
              <a:t>分析表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 b="1">
                <a:solidFill>
                  <a:srgbClr val="800080"/>
                </a:solidFill>
              </a:rPr>
              <a:t> </a:t>
            </a:r>
            <a:r>
              <a:rPr lang="en-US" altLang="zh-CN" sz="2800"/>
              <a:t>LR</a:t>
            </a:r>
            <a:r>
              <a:rPr lang="zh-CN" altLang="en-US" sz="2800"/>
              <a:t>（</a:t>
            </a:r>
            <a:r>
              <a:rPr lang="en-US" altLang="zh-CN" sz="2800"/>
              <a:t>0</a:t>
            </a:r>
            <a:r>
              <a:rPr lang="zh-CN" altLang="en-US" sz="2800"/>
              <a:t>）</a:t>
            </a:r>
            <a:r>
              <a:rPr lang="en-US" altLang="zh-CN" sz="2800"/>
              <a:t>, SLR</a:t>
            </a:r>
            <a:r>
              <a:rPr lang="zh-CN" altLang="en-US" sz="2800"/>
              <a:t>（</a:t>
            </a:r>
            <a:r>
              <a:rPr lang="en-US" altLang="zh-CN" sz="2800"/>
              <a:t>1</a:t>
            </a:r>
            <a:r>
              <a:rPr lang="zh-CN" altLang="en-US" sz="2800"/>
              <a:t>）</a:t>
            </a:r>
            <a:r>
              <a:rPr lang="en-US" altLang="zh-CN" sz="2800"/>
              <a:t>, LR</a:t>
            </a:r>
            <a:r>
              <a:rPr lang="zh-CN" altLang="en-US" sz="2800"/>
              <a:t>（</a:t>
            </a:r>
            <a:r>
              <a:rPr lang="en-US" altLang="zh-CN" sz="2800"/>
              <a:t>1</a:t>
            </a:r>
            <a:r>
              <a:rPr lang="zh-CN" altLang="en-US" sz="2800"/>
              <a:t>）</a:t>
            </a:r>
            <a:r>
              <a:rPr lang="zh-CN" altLang="en-US" sz="2800" b="1"/>
              <a:t>和 </a:t>
            </a:r>
            <a:r>
              <a:rPr lang="en-US" altLang="zh-CN" sz="2800"/>
              <a:t>LALR</a:t>
            </a:r>
            <a:r>
              <a:rPr lang="zh-CN" altLang="en-US" sz="2800"/>
              <a:t>（</a:t>
            </a:r>
            <a:r>
              <a:rPr lang="en-US" altLang="zh-CN" sz="2800"/>
              <a:t>1</a:t>
            </a:r>
            <a:r>
              <a:rPr lang="zh-CN" altLang="en-US" sz="2800"/>
              <a:t>）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lang="zh-CN" altLang="en-US" sz="2800" b="1">
                <a:solidFill>
                  <a:srgbClr val="800080"/>
                </a:solidFill>
              </a:rPr>
              <a:t>  四种分析方法分别讨论</a:t>
            </a:r>
          </a:p>
        </p:txBody>
      </p:sp>
      <p:sp>
        <p:nvSpPr>
          <p:cNvPr id="527365" name="AutoShape 5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7366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7367" name="AutoShape 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7368" name="AutoShape 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7369" name="Rectangle 9"/>
          <p:cNvSpPr>
            <a:spLocks noChangeArrowheads="1"/>
          </p:cNvSpPr>
          <p:nvPr/>
        </p:nvSpPr>
        <p:spPr bwMode="auto">
          <a:xfrm>
            <a:off x="107504" y="188913"/>
            <a:ext cx="30226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>
                <a:solidFill>
                  <a:srgbClr val="800080"/>
                </a:solidFill>
                <a:ea typeface="华文行楷" pitchFamily="2" charset="-122"/>
              </a:rPr>
              <a:t>LR </a:t>
            </a: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分析基础</a:t>
            </a:r>
          </a:p>
        </p:txBody>
      </p:sp>
    </p:spTree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538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7539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7540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7541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7542" name="Rectangle 6"/>
          <p:cNvSpPr>
            <a:spLocks noChangeArrowheads="1"/>
          </p:cNvSpPr>
          <p:nvPr/>
        </p:nvSpPr>
        <p:spPr bwMode="auto">
          <a:xfrm>
            <a:off x="35496" y="188913"/>
            <a:ext cx="32385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0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577543" name="Text Box 7"/>
          <p:cNvSpPr txBox="1">
            <a:spLocks noChangeArrowheads="1"/>
          </p:cNvSpPr>
          <p:nvPr/>
        </p:nvSpPr>
        <p:spPr bwMode="auto">
          <a:xfrm>
            <a:off x="900113" y="1341438"/>
            <a:ext cx="7704137" cy="432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 </a:t>
            </a:r>
            <a:r>
              <a:rPr lang="zh-CN" altLang="en-US" sz="3200" b="1">
                <a:solidFill>
                  <a:srgbClr val="800080"/>
                </a:solidFill>
              </a:rPr>
              <a:t>核心概念</a:t>
            </a:r>
            <a:endParaRPr lang="zh-CN" altLang="en-US" sz="3200" b="1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 b="1">
                <a:solidFill>
                  <a:srgbClr val="800080"/>
                </a:solidFill>
              </a:rPr>
              <a:t> 增广文法</a:t>
            </a:r>
            <a:r>
              <a:rPr lang="zh-CN" altLang="en-US" sz="2800" b="1"/>
              <a:t>（</a:t>
            </a:r>
            <a:r>
              <a:rPr lang="en-US" altLang="en-US" sz="2800" i="1"/>
              <a:t>augmented grammar</a:t>
            </a:r>
            <a:r>
              <a:rPr lang="zh-CN" altLang="en-US" sz="2800" b="1"/>
              <a:t>）</a:t>
            </a:r>
          </a:p>
          <a:p>
            <a:pPr lvl="1">
              <a:buClrTx/>
              <a:buFont typeface="Symbol" panose="05050102010706020507" pitchFamily="18" charset="2"/>
              <a:buNone/>
            </a:pPr>
            <a:endParaRPr lang="zh-CN" altLang="en-US" sz="1000" b="1"/>
          </a:p>
          <a:p>
            <a:pPr lvl="1">
              <a:buClrTx/>
              <a:buFont typeface="Symbol" panose="05050102010706020507" pitchFamily="18" charset="2"/>
              <a:buNone/>
            </a:pPr>
            <a:r>
              <a:rPr lang="zh-CN" altLang="en-US" b="1"/>
              <a:t>   对于文法 </a:t>
            </a:r>
            <a:r>
              <a:rPr lang="en-US" altLang="zh-CN" b="1" i="1"/>
              <a:t>G</a:t>
            </a:r>
            <a:r>
              <a:rPr lang="en-US" altLang="zh-CN" b="1"/>
              <a:t> = (</a:t>
            </a:r>
            <a:r>
              <a:rPr lang="en-US" altLang="zh-CN" b="1" i="1"/>
              <a:t>V</a:t>
            </a:r>
            <a:r>
              <a:rPr lang="en-US" altLang="zh-CN" b="1" i="1" baseline="-25000"/>
              <a:t>N</a:t>
            </a:r>
            <a:r>
              <a:rPr lang="en-US" altLang="zh-CN" b="1" i="1"/>
              <a:t>,</a:t>
            </a:r>
            <a:r>
              <a:rPr lang="en-US" altLang="zh-CN" b="1"/>
              <a:t> </a:t>
            </a:r>
            <a:r>
              <a:rPr lang="en-US" altLang="zh-CN" b="1" i="1"/>
              <a:t>V</a:t>
            </a:r>
            <a:r>
              <a:rPr lang="en-US" altLang="zh-CN" b="1" i="1" baseline="-25000">
                <a:sym typeface="Symbol" panose="05050102010706020507" pitchFamily="18" charset="2"/>
              </a:rPr>
              <a:t>T</a:t>
            </a:r>
            <a:r>
              <a:rPr lang="en-US" altLang="zh-CN" b="1" i="1"/>
              <a:t>, </a:t>
            </a:r>
            <a:r>
              <a:rPr lang="en-US" altLang="zh-CN" b="1" i="1">
                <a:sym typeface="Symbol" panose="05050102010706020507" pitchFamily="18" charset="2"/>
              </a:rPr>
              <a:t>P</a:t>
            </a:r>
            <a:r>
              <a:rPr lang="en-US" altLang="zh-CN" b="1" i="1"/>
              <a:t> , S </a:t>
            </a:r>
            <a:r>
              <a:rPr lang="en-US" altLang="zh-CN" b="1"/>
              <a:t>)</a:t>
            </a:r>
            <a:r>
              <a:rPr lang="en-US" altLang="zh-CN"/>
              <a:t> </a:t>
            </a:r>
            <a:r>
              <a:rPr lang="en-US" altLang="zh-CN" b="1"/>
              <a:t>, </a:t>
            </a:r>
            <a:r>
              <a:rPr lang="zh-CN" altLang="en-US" b="1">
                <a:solidFill>
                  <a:srgbClr val="800080"/>
                </a:solidFill>
              </a:rPr>
              <a:t>增加</a:t>
            </a:r>
            <a:r>
              <a:rPr lang="zh-CN" altLang="en-US" b="1"/>
              <a:t>如下</a:t>
            </a:r>
            <a:r>
              <a:rPr lang="zh-CN" altLang="en-US" b="1">
                <a:solidFill>
                  <a:srgbClr val="800080"/>
                </a:solidFill>
              </a:rPr>
              <a:t>产生式</a:t>
            </a:r>
          </a:p>
          <a:p>
            <a:pPr lvl="1">
              <a:buClrTx/>
              <a:buFont typeface="Symbol" panose="05050102010706020507" pitchFamily="18" charset="2"/>
              <a:buNone/>
            </a:pPr>
            <a:endParaRPr lang="zh-CN" altLang="en-US" sz="1000" b="1"/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 i="1">
                <a:sym typeface="Symbol" panose="05050102010706020507" pitchFamily="18" charset="2"/>
              </a:rPr>
              <a:t>                         </a:t>
            </a:r>
            <a:r>
              <a:rPr lang="en-US" altLang="zh-CN" b="1" i="1">
                <a:solidFill>
                  <a:srgbClr val="800080"/>
                </a:solidFill>
              </a:rPr>
              <a:t>S’ </a:t>
            </a:r>
            <a:r>
              <a:rPr lang="en-US" altLang="zh-CN">
                <a:solidFill>
                  <a:srgbClr val="800080"/>
                </a:solidFill>
                <a:sym typeface="Symbol" panose="05050102010706020507" pitchFamily="18" charset="2"/>
              </a:rPr>
              <a:t> </a:t>
            </a:r>
            <a:r>
              <a:rPr lang="en-US" altLang="zh-CN" b="1" i="1">
                <a:solidFill>
                  <a:srgbClr val="800080"/>
                </a:solidFill>
              </a:rPr>
              <a:t>S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000"/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    </a:t>
            </a:r>
            <a:r>
              <a:rPr lang="zh-CN" altLang="en-US" b="1"/>
              <a:t>其中，</a:t>
            </a:r>
            <a:r>
              <a:rPr kumimoji="0" lang="en-US" altLang="zh-CN" b="1" i="1"/>
              <a:t>S’ </a:t>
            </a:r>
            <a:r>
              <a:rPr kumimoji="0" lang="en-US" altLang="zh-CN" b="1">
                <a:sym typeface="Symbol" panose="05050102010706020507" pitchFamily="18" charset="2"/>
              </a:rPr>
              <a:t></a:t>
            </a:r>
            <a:r>
              <a:rPr kumimoji="0" lang="en-US" altLang="zh-CN" b="1"/>
              <a:t> </a:t>
            </a:r>
            <a:r>
              <a:rPr lang="en-US" altLang="zh-CN" b="1" i="1"/>
              <a:t>V</a:t>
            </a:r>
            <a:r>
              <a:rPr lang="en-US" altLang="zh-CN" b="1" i="1" baseline="-25000"/>
              <a:t>N</a:t>
            </a:r>
            <a:r>
              <a:rPr kumimoji="0" lang="en-US" altLang="zh-CN"/>
              <a:t> </a:t>
            </a:r>
            <a:r>
              <a:rPr kumimoji="0" lang="en-US" altLang="zh-CN" b="1">
                <a:sym typeface="Symbol" panose="05050102010706020507" pitchFamily="18" charset="2"/>
              </a:rPr>
              <a:t></a:t>
            </a:r>
            <a:r>
              <a:rPr kumimoji="0" lang="en-US" altLang="zh-CN" b="1"/>
              <a:t> </a:t>
            </a:r>
            <a:r>
              <a:rPr lang="en-US" altLang="zh-CN" b="1" i="1"/>
              <a:t>V</a:t>
            </a:r>
            <a:r>
              <a:rPr lang="en-US" altLang="zh-CN" b="1" i="1" baseline="-25000">
                <a:sym typeface="Symbol" panose="05050102010706020507" pitchFamily="18" charset="2"/>
              </a:rPr>
              <a:t>T</a:t>
            </a:r>
            <a:r>
              <a:rPr kumimoji="0" lang="en-US" altLang="zh-CN"/>
              <a:t> </a:t>
            </a:r>
            <a:r>
              <a:rPr kumimoji="0" lang="zh-CN" altLang="en-US" b="1"/>
              <a:t>，得到 </a:t>
            </a:r>
            <a:r>
              <a:rPr lang="en-US" altLang="zh-CN" b="1" i="1"/>
              <a:t>G </a:t>
            </a:r>
            <a:r>
              <a:rPr kumimoji="0" lang="zh-CN" altLang="en-US" b="1"/>
              <a:t>的增广文法</a:t>
            </a:r>
          </a:p>
          <a:p>
            <a:pPr>
              <a:buFont typeface="Wingdings" panose="05000000000000000000" pitchFamily="2" charset="2"/>
              <a:buNone/>
            </a:pPr>
            <a:endParaRPr kumimoji="0" lang="zh-CN" altLang="en-US" sz="1000" b="1"/>
          </a:p>
          <a:p>
            <a:pPr>
              <a:buFont typeface="Wingdings" panose="05000000000000000000" pitchFamily="2" charset="2"/>
              <a:buNone/>
            </a:pPr>
            <a:r>
              <a:rPr kumimoji="0" lang="zh-CN" altLang="en-US" b="1">
                <a:solidFill>
                  <a:srgbClr val="800080"/>
                </a:solidFill>
              </a:rPr>
              <a:t>                        </a:t>
            </a:r>
            <a:r>
              <a:rPr lang="en-US" altLang="zh-CN" b="1" i="1"/>
              <a:t>G’</a:t>
            </a:r>
            <a:r>
              <a:rPr lang="en-US" altLang="zh-CN" b="1"/>
              <a:t> = (</a:t>
            </a:r>
            <a:r>
              <a:rPr lang="en-US" altLang="zh-CN" b="1" i="1"/>
              <a:t>V</a:t>
            </a:r>
            <a:r>
              <a:rPr lang="en-US" altLang="zh-CN" b="1" i="1" baseline="-25000"/>
              <a:t>N</a:t>
            </a:r>
            <a:r>
              <a:rPr lang="en-US" altLang="zh-CN" b="1" i="1"/>
              <a:t>,</a:t>
            </a:r>
            <a:r>
              <a:rPr lang="en-US" altLang="zh-CN" b="1"/>
              <a:t> </a:t>
            </a:r>
            <a:r>
              <a:rPr lang="en-US" altLang="zh-CN" b="1" i="1"/>
              <a:t>V</a:t>
            </a:r>
            <a:r>
              <a:rPr lang="en-US" altLang="zh-CN" b="1" i="1" baseline="-25000">
                <a:sym typeface="Symbol" panose="05050102010706020507" pitchFamily="18" charset="2"/>
              </a:rPr>
              <a:t>T</a:t>
            </a:r>
            <a:r>
              <a:rPr lang="en-US" altLang="zh-CN" b="1" i="1"/>
              <a:t>, </a:t>
            </a:r>
            <a:r>
              <a:rPr lang="en-US" altLang="zh-CN" b="1" i="1">
                <a:sym typeface="Symbol" panose="05050102010706020507" pitchFamily="18" charset="2"/>
              </a:rPr>
              <a:t>P</a:t>
            </a:r>
            <a:r>
              <a:rPr lang="en-US" altLang="zh-CN" b="1" i="1"/>
              <a:t> , S’ </a:t>
            </a:r>
            <a:r>
              <a:rPr lang="en-US" altLang="zh-CN" b="1"/>
              <a:t>)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b="1"/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    </a:t>
            </a:r>
            <a:r>
              <a:rPr lang="zh-CN" altLang="en-US" b="1">
                <a:solidFill>
                  <a:srgbClr val="800080"/>
                </a:solidFill>
              </a:rPr>
              <a:t>注：</a:t>
            </a:r>
            <a:r>
              <a:rPr lang="zh-CN" altLang="en-US" b="1"/>
              <a:t>增广文法等价于原文法；增广文法的开始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/>
              <a:t>               符号不会出现在任何产生式的右部</a:t>
            </a:r>
          </a:p>
        </p:txBody>
      </p:sp>
    </p:spTree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562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8563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8564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8565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8566" name="Rectangle 6"/>
          <p:cNvSpPr>
            <a:spLocks noChangeArrowheads="1"/>
          </p:cNvSpPr>
          <p:nvPr/>
        </p:nvSpPr>
        <p:spPr bwMode="auto">
          <a:xfrm>
            <a:off x="35496" y="188913"/>
            <a:ext cx="32385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0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578567" name="Text Box 7"/>
          <p:cNvSpPr txBox="1">
            <a:spLocks noChangeArrowheads="1"/>
          </p:cNvSpPr>
          <p:nvPr/>
        </p:nvSpPr>
        <p:spPr bwMode="auto">
          <a:xfrm>
            <a:off x="1044575" y="1341438"/>
            <a:ext cx="7920038" cy="4111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 </a:t>
            </a:r>
            <a:r>
              <a:rPr lang="zh-CN" altLang="en-US" sz="3200" b="1">
                <a:solidFill>
                  <a:srgbClr val="800080"/>
                </a:solidFill>
              </a:rPr>
              <a:t>核心概念</a:t>
            </a:r>
            <a:endParaRPr lang="zh-CN" altLang="en-US" sz="3200" b="1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 b="1">
                <a:solidFill>
                  <a:srgbClr val="800080"/>
                </a:solidFill>
              </a:rPr>
              <a:t> 活前缀</a:t>
            </a:r>
            <a:r>
              <a:rPr lang="zh-CN" altLang="en-US" sz="2800" b="1"/>
              <a:t>（</a:t>
            </a:r>
            <a:r>
              <a:rPr lang="en-US" altLang="zh-CN" sz="2800" i="1"/>
              <a:t>viable prefix</a:t>
            </a:r>
            <a:r>
              <a:rPr lang="zh-CN" altLang="en-US" sz="2800" b="1"/>
              <a:t>）</a:t>
            </a:r>
          </a:p>
          <a:p>
            <a:pPr lvl="1">
              <a:buClrTx/>
              <a:buFont typeface="Symbol" panose="05050102010706020507" pitchFamily="18" charset="2"/>
              <a:buNone/>
            </a:pPr>
            <a:endParaRPr kumimoji="0" lang="zh-CN" altLang="en-US" sz="1000" b="1"/>
          </a:p>
          <a:p>
            <a:pPr lvl="2">
              <a:buFontTx/>
              <a:buChar char="•"/>
            </a:pPr>
            <a:r>
              <a:rPr lang="zh-CN" altLang="en-US"/>
              <a:t>  </a:t>
            </a:r>
            <a:r>
              <a:rPr lang="zh-CN" altLang="en-US" b="1"/>
              <a:t>对于文法 </a:t>
            </a:r>
            <a:r>
              <a:rPr lang="en-US" altLang="zh-CN" b="1" i="1"/>
              <a:t>G</a:t>
            </a:r>
            <a:r>
              <a:rPr lang="en-US" altLang="zh-CN" b="1"/>
              <a:t> = (</a:t>
            </a:r>
            <a:r>
              <a:rPr lang="en-US" altLang="zh-CN" b="1" i="1"/>
              <a:t>V</a:t>
            </a:r>
            <a:r>
              <a:rPr lang="en-US" altLang="zh-CN" b="1" i="1" baseline="-25000"/>
              <a:t>N</a:t>
            </a:r>
            <a:r>
              <a:rPr lang="en-US" altLang="zh-CN" b="1" i="1"/>
              <a:t>,</a:t>
            </a:r>
            <a:r>
              <a:rPr lang="en-US" altLang="zh-CN" b="1"/>
              <a:t> </a:t>
            </a:r>
            <a:r>
              <a:rPr lang="en-US" altLang="zh-CN" b="1" i="1"/>
              <a:t>V</a:t>
            </a:r>
            <a:r>
              <a:rPr lang="en-US" altLang="zh-CN" b="1" i="1" baseline="-25000">
                <a:sym typeface="Symbol" panose="05050102010706020507" pitchFamily="18" charset="2"/>
              </a:rPr>
              <a:t>T</a:t>
            </a:r>
            <a:r>
              <a:rPr lang="en-US" altLang="zh-CN" b="1" i="1"/>
              <a:t>, </a:t>
            </a:r>
            <a:r>
              <a:rPr lang="en-US" altLang="zh-CN" b="1" i="1">
                <a:sym typeface="Symbol" panose="05050102010706020507" pitchFamily="18" charset="2"/>
              </a:rPr>
              <a:t>P</a:t>
            </a:r>
            <a:r>
              <a:rPr lang="en-US" altLang="zh-CN" b="1" i="1"/>
              <a:t> , S </a:t>
            </a:r>
            <a:r>
              <a:rPr lang="en-US" altLang="zh-CN" b="1"/>
              <a:t>)</a:t>
            </a:r>
            <a:r>
              <a:rPr lang="en-US" altLang="zh-CN"/>
              <a:t> </a:t>
            </a:r>
            <a:r>
              <a:rPr lang="en-US" altLang="zh-CN" b="1"/>
              <a:t>, </a:t>
            </a:r>
            <a:r>
              <a:rPr lang="zh-CN" b="1"/>
              <a:t>设 </a:t>
            </a:r>
            <a:r>
              <a:rPr lang="zh-CN" altLang="zh-CN" b="1" i="1"/>
              <a:t>S’ </a:t>
            </a:r>
            <a:r>
              <a:rPr lang="zh-CN" b="1"/>
              <a:t>是其增广</a:t>
            </a:r>
          </a:p>
          <a:p>
            <a:pPr lvl="2">
              <a:buFontTx/>
              <a:buNone/>
            </a:pPr>
            <a:r>
              <a:rPr lang="zh-CN" b="1"/>
              <a:t>   文法的开始符号（即有产生式 </a:t>
            </a:r>
            <a:r>
              <a:rPr lang="zh-CN" altLang="zh-CN" b="1" i="1"/>
              <a:t>S’</a:t>
            </a:r>
            <a:r>
              <a:rPr lang="zh-CN" altLang="zh-CN" b="1"/>
              <a:t> </a:t>
            </a:r>
            <a:r>
              <a:rPr lang="zh-CN" altLang="zh-CN" b="1">
                <a:sym typeface="Symbol" panose="05050102010706020507" pitchFamily="18" charset="2"/>
              </a:rPr>
              <a:t></a:t>
            </a:r>
            <a:r>
              <a:rPr lang="zh-CN" altLang="zh-CN" b="1" i="1"/>
              <a:t> S</a:t>
            </a:r>
            <a:r>
              <a:rPr lang="zh-CN" altLang="en-US" b="1"/>
              <a:t>），且</a:t>
            </a:r>
          </a:p>
          <a:p>
            <a:pPr lvl="2">
              <a:buFontTx/>
              <a:buNone/>
            </a:pPr>
            <a:r>
              <a:rPr lang="zh-CN" altLang="en-US" sz="1000" b="1" i="1">
                <a:sym typeface="Symbol" panose="05050102010706020507" pitchFamily="18" charset="2"/>
              </a:rPr>
              <a:t> </a:t>
            </a:r>
          </a:p>
          <a:p>
            <a:pPr lvl="2">
              <a:buFontTx/>
              <a:buNone/>
            </a:pPr>
            <a:r>
              <a:rPr lang="zh-CN" altLang="en-US" b="1" i="1">
                <a:sym typeface="Symbol" panose="05050102010706020507" pitchFamily="18" charset="2"/>
              </a:rPr>
              <a:t>               </a:t>
            </a:r>
            <a:r>
              <a:rPr lang="en-US" altLang="zh-CN" b="1" i="1">
                <a:sym typeface="Symbol" panose="05050102010706020507" pitchFamily="18" charset="2"/>
              </a:rPr>
              <a:t>,</a:t>
            </a:r>
            <a:r>
              <a:rPr kumimoji="0" lang="en-US" altLang="zh-CN" b="1" i="1"/>
              <a:t>β</a:t>
            </a:r>
            <a:r>
              <a:rPr lang="en-US" altLang="zh-CN" b="1">
                <a:sym typeface="Symbol" panose="05050102010706020507" pitchFamily="18" charset="2"/>
              </a:rPr>
              <a:t>(</a:t>
            </a:r>
            <a:r>
              <a:rPr lang="en-US" altLang="zh-CN" b="1" i="1">
                <a:sym typeface="Symbol" panose="05050102010706020507" pitchFamily="18" charset="2"/>
              </a:rPr>
              <a:t>V</a:t>
            </a:r>
            <a:r>
              <a:rPr lang="en-US" altLang="zh-CN" b="1" i="1" baseline="-25000">
                <a:sym typeface="Symbol" panose="05050102010706020507" pitchFamily="18" charset="2"/>
              </a:rPr>
              <a:t>N</a:t>
            </a:r>
            <a:r>
              <a:rPr lang="en-US" altLang="zh-CN" b="1">
                <a:sym typeface="Symbol" panose="05050102010706020507" pitchFamily="18" charset="2"/>
              </a:rPr>
              <a:t></a:t>
            </a:r>
            <a:r>
              <a:rPr lang="en-US" altLang="zh-CN" b="1" i="1">
                <a:sym typeface="Symbol" panose="05050102010706020507" pitchFamily="18" charset="2"/>
              </a:rPr>
              <a:t>V</a:t>
            </a:r>
            <a:r>
              <a:rPr lang="en-US" altLang="zh-CN" b="1" i="1" baseline="-25000">
                <a:sym typeface="Symbol" panose="05050102010706020507" pitchFamily="18" charset="2"/>
              </a:rPr>
              <a:t>T</a:t>
            </a:r>
            <a:r>
              <a:rPr lang="en-US" altLang="zh-CN" b="1" i="1">
                <a:sym typeface="Symbol" panose="05050102010706020507" pitchFamily="18" charset="2"/>
              </a:rPr>
              <a:t>)*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en-US" altLang="zh-CN" b="1" i="1">
                <a:sym typeface="Symbol" panose="05050102010706020507" pitchFamily="18" charset="2"/>
              </a:rPr>
              <a:t>,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en-US" altLang="zh-CN" b="1" i="1">
                <a:sym typeface="Symbol" panose="05050102010706020507" pitchFamily="18" charset="2"/>
              </a:rPr>
              <a:t>w</a:t>
            </a:r>
            <a:r>
              <a:rPr lang="en-US" altLang="zh-CN" b="1">
                <a:sym typeface="Symbol" panose="05050102010706020507" pitchFamily="18" charset="2"/>
              </a:rPr>
              <a:t></a:t>
            </a:r>
            <a:r>
              <a:rPr lang="en-US" altLang="zh-CN" b="1" i="1">
                <a:sym typeface="Symbol" panose="05050102010706020507" pitchFamily="18" charset="2"/>
              </a:rPr>
              <a:t>V</a:t>
            </a:r>
            <a:r>
              <a:rPr lang="en-US" altLang="zh-CN" b="1" i="1" baseline="-25000">
                <a:sym typeface="Symbol" panose="05050102010706020507" pitchFamily="18" charset="2"/>
              </a:rPr>
              <a:t>T</a:t>
            </a:r>
            <a:r>
              <a:rPr lang="en-US" altLang="zh-CN" b="1" i="1">
                <a:sym typeface="Symbol" panose="05050102010706020507" pitchFamily="18" charset="2"/>
              </a:rPr>
              <a:t>*</a:t>
            </a:r>
            <a:r>
              <a:rPr lang="en-US" altLang="zh-CN">
                <a:sym typeface="Symbol" panose="05050102010706020507" pitchFamily="18" charset="2"/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000"/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          </a:t>
            </a:r>
            <a:r>
              <a:rPr lang="zh-CN" altLang="en-US" b="1"/>
              <a:t>若 </a:t>
            </a:r>
            <a:r>
              <a:rPr kumimoji="0" lang="en-US" altLang="zh-CN" b="1" i="1"/>
              <a:t>S’</a:t>
            </a:r>
            <a:r>
              <a:rPr kumimoji="0" lang="en-US" altLang="zh-CN" b="1"/>
              <a:t> </a:t>
            </a:r>
            <a:r>
              <a:rPr kumimoji="0" lang="en-US" altLang="zh-CN">
                <a:sym typeface="Symbol" panose="05050102010706020507" pitchFamily="18" charset="2"/>
              </a:rPr>
              <a:t></a:t>
            </a:r>
            <a:r>
              <a:rPr kumimoji="0" lang="en-US" altLang="zh-CN" b="1"/>
              <a:t>α</a:t>
            </a:r>
            <a:r>
              <a:rPr kumimoji="0" lang="en-US" altLang="zh-CN" b="1" i="1"/>
              <a:t>A</a:t>
            </a:r>
            <a:r>
              <a:rPr lang="en-US" altLang="zh-CN" b="1" i="1">
                <a:sym typeface="Symbol" panose="05050102010706020507" pitchFamily="18" charset="2"/>
              </a:rPr>
              <a:t>w </a:t>
            </a:r>
            <a:r>
              <a:rPr kumimoji="0" lang="zh-CN" altLang="en-US" b="1"/>
              <a:t>且 </a:t>
            </a:r>
            <a:r>
              <a:rPr kumimoji="0" lang="en-US" altLang="zh-CN" b="1" i="1"/>
              <a:t>A</a:t>
            </a:r>
            <a:r>
              <a:rPr kumimoji="0" lang="en-US" altLang="zh-CN" b="1"/>
              <a:t> </a:t>
            </a:r>
            <a:r>
              <a:rPr kumimoji="0" lang="en-US" altLang="zh-CN">
                <a:sym typeface="Symbol" panose="05050102010706020507" pitchFamily="18" charset="2"/>
              </a:rPr>
              <a:t></a:t>
            </a:r>
            <a:r>
              <a:rPr kumimoji="0" lang="en-US" altLang="zh-CN" b="1" i="1"/>
              <a:t>β</a:t>
            </a:r>
            <a:r>
              <a:rPr kumimoji="0" lang="zh-CN" altLang="en-US" b="1"/>
              <a:t>，即 </a:t>
            </a:r>
            <a:r>
              <a:rPr kumimoji="0" lang="en-US" altLang="zh-CN" b="1" i="1"/>
              <a:t>β </a:t>
            </a:r>
            <a:r>
              <a:rPr kumimoji="0" lang="zh-CN" altLang="en-US" b="1"/>
              <a:t>为</a:t>
            </a:r>
            <a:r>
              <a:rPr lang="zh-CN" altLang="en-US" b="1"/>
              <a:t>句柄</a:t>
            </a:r>
            <a:r>
              <a:rPr kumimoji="0" lang="zh-CN" altLang="en-US" b="1"/>
              <a:t>，</a:t>
            </a:r>
          </a:p>
          <a:p>
            <a:pPr>
              <a:buFont typeface="Wingdings" panose="05000000000000000000" pitchFamily="2" charset="2"/>
              <a:buNone/>
            </a:pPr>
            <a:endParaRPr kumimoji="0" lang="zh-CN" altLang="en-US" sz="1000" b="1"/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/>
              <a:t>              </a:t>
            </a:r>
            <a:r>
              <a:rPr kumimoji="0" lang="zh-CN" altLang="en-US" b="1"/>
              <a:t>则 </a:t>
            </a:r>
            <a:r>
              <a:rPr kumimoji="0" lang="en-US" altLang="zh-CN" b="1" i="1">
                <a:solidFill>
                  <a:srgbClr val="800080"/>
                </a:solidFill>
              </a:rPr>
              <a:t>αβ</a:t>
            </a:r>
            <a:r>
              <a:rPr kumimoji="0" lang="en-US" altLang="zh-CN" b="1">
                <a:solidFill>
                  <a:srgbClr val="800080"/>
                </a:solidFill>
              </a:rPr>
              <a:t> </a:t>
            </a:r>
            <a:r>
              <a:rPr kumimoji="0" lang="zh-CN" altLang="en-US" b="1">
                <a:solidFill>
                  <a:srgbClr val="800080"/>
                </a:solidFill>
              </a:rPr>
              <a:t>的任何前缀 </a:t>
            </a:r>
            <a:r>
              <a:rPr kumimoji="0" lang="zh-CN" altLang="en-US" b="1">
                <a:solidFill>
                  <a:srgbClr val="800080"/>
                </a:solidFill>
                <a:sym typeface="Symbol" panose="05050102010706020507" pitchFamily="18" charset="2"/>
              </a:rPr>
              <a:t></a:t>
            </a:r>
            <a:r>
              <a:rPr kumimoji="0" lang="zh-CN" altLang="en-US" b="1">
                <a:sym typeface="Symbol" panose="05050102010706020507" pitchFamily="18" charset="2"/>
              </a:rPr>
              <a:t> </a:t>
            </a:r>
            <a:r>
              <a:rPr kumimoji="0" lang="zh-CN" altLang="en-US" b="1"/>
              <a:t>都是文法 </a:t>
            </a:r>
            <a:r>
              <a:rPr lang="en-US" altLang="zh-CN" b="1" i="1"/>
              <a:t>G </a:t>
            </a:r>
            <a:r>
              <a:rPr kumimoji="0" lang="zh-CN" altLang="en-US" b="1"/>
              <a:t>的活前缀</a:t>
            </a:r>
          </a:p>
          <a:p>
            <a:pPr>
              <a:buFont typeface="Wingdings" panose="05000000000000000000" pitchFamily="2" charset="2"/>
              <a:buNone/>
            </a:pPr>
            <a:endParaRPr kumimoji="0" lang="zh-CN" altLang="en-US" sz="1000" b="1"/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800080"/>
                </a:solidFill>
              </a:rPr>
              <a:t>         注：</a:t>
            </a:r>
            <a:r>
              <a:rPr lang="zh-CN" altLang="en-US" b="1"/>
              <a:t>由于 </a:t>
            </a:r>
            <a:r>
              <a:rPr kumimoji="0" lang="en-US" altLang="zh-CN" b="1" i="1"/>
              <a:t>S’</a:t>
            </a:r>
            <a:r>
              <a:rPr kumimoji="0" lang="en-US" altLang="zh-CN" b="1"/>
              <a:t> </a:t>
            </a:r>
            <a:r>
              <a:rPr kumimoji="0" lang="en-US" altLang="zh-CN">
                <a:sym typeface="Symbol" panose="05050102010706020507" pitchFamily="18" charset="2"/>
              </a:rPr>
              <a:t> </a:t>
            </a:r>
            <a:r>
              <a:rPr kumimoji="0" lang="en-US" altLang="zh-CN" b="1" i="1"/>
              <a:t>S’</a:t>
            </a:r>
            <a:r>
              <a:rPr lang="en-US" altLang="zh-CN" b="1" i="1">
                <a:sym typeface="Symbol" panose="05050102010706020507" pitchFamily="18" charset="2"/>
              </a:rPr>
              <a:t> </a:t>
            </a:r>
            <a:r>
              <a:rPr kumimoji="0" lang="zh-CN" altLang="en-US" b="1"/>
              <a:t>且 </a:t>
            </a:r>
            <a:r>
              <a:rPr kumimoji="0" lang="en-US" altLang="zh-CN" b="1" i="1"/>
              <a:t>S’</a:t>
            </a:r>
            <a:r>
              <a:rPr kumimoji="0" lang="en-US" altLang="zh-CN" b="1"/>
              <a:t> </a:t>
            </a:r>
            <a:r>
              <a:rPr kumimoji="0" lang="en-US" altLang="zh-CN">
                <a:sym typeface="Symbol" panose="05050102010706020507" pitchFamily="18" charset="2"/>
              </a:rPr>
              <a:t> </a:t>
            </a:r>
            <a:r>
              <a:rPr kumimoji="0" lang="en-US" altLang="zh-CN" b="1" i="1"/>
              <a:t>S</a:t>
            </a:r>
            <a:r>
              <a:rPr kumimoji="0" lang="zh-CN" altLang="en-US" b="1"/>
              <a:t>，故 </a:t>
            </a:r>
            <a:r>
              <a:rPr kumimoji="0" lang="en-US" altLang="zh-CN" b="1" i="1">
                <a:solidFill>
                  <a:srgbClr val="800080"/>
                </a:solidFill>
              </a:rPr>
              <a:t>S </a:t>
            </a:r>
            <a:r>
              <a:rPr kumimoji="0" lang="zh-CN" altLang="en-US" b="1">
                <a:solidFill>
                  <a:srgbClr val="800080"/>
                </a:solidFill>
              </a:rPr>
              <a:t>是 </a:t>
            </a:r>
            <a:r>
              <a:rPr lang="en-US" altLang="zh-CN" b="1" i="1">
                <a:solidFill>
                  <a:srgbClr val="800080"/>
                </a:solidFill>
              </a:rPr>
              <a:t>G </a:t>
            </a:r>
            <a:r>
              <a:rPr kumimoji="0" lang="zh-CN" altLang="en-US" b="1">
                <a:solidFill>
                  <a:srgbClr val="800080"/>
                </a:solidFill>
              </a:rPr>
              <a:t>的活前缀</a:t>
            </a:r>
          </a:p>
        </p:txBody>
      </p:sp>
      <p:sp>
        <p:nvSpPr>
          <p:cNvPr id="578568" name="Rectangle 8"/>
          <p:cNvSpPr>
            <a:spLocks noChangeArrowheads="1"/>
          </p:cNvSpPr>
          <p:nvPr/>
        </p:nvSpPr>
        <p:spPr bwMode="auto">
          <a:xfrm>
            <a:off x="3051175" y="3925888"/>
            <a:ext cx="298450" cy="3667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 sz="1800" b="1">
                <a:ea typeface="华文行楷" pitchFamily="2" charset="-122"/>
                <a:sym typeface="Symbol" panose="05050102010706020507" pitchFamily="18" charset="2"/>
              </a:rPr>
              <a:t></a:t>
            </a:r>
          </a:p>
        </p:txBody>
      </p:sp>
      <p:sp>
        <p:nvSpPr>
          <p:cNvPr id="578569" name="Rectangle 9"/>
          <p:cNvSpPr>
            <a:spLocks noChangeArrowheads="1"/>
          </p:cNvSpPr>
          <p:nvPr/>
        </p:nvSpPr>
        <p:spPr bwMode="auto">
          <a:xfrm>
            <a:off x="2987675" y="4244975"/>
            <a:ext cx="433388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 sz="1600" b="1" i="1">
                <a:latin typeface="Book Antiqua" pitchFamily="18" charset="0"/>
                <a:ea typeface="PMingLiU" pitchFamily="18" charset="-120"/>
                <a:sym typeface="Symbol" panose="05050102010706020507" pitchFamily="18" charset="2"/>
              </a:rPr>
              <a:t>r</a:t>
            </a:r>
            <a:r>
              <a:rPr lang="en-US" altLang="zh-CN" sz="1600" b="1" i="1">
                <a:latin typeface="Book Antiqua" pitchFamily="18" charset="0"/>
                <a:ea typeface="华文行楷" pitchFamily="2" charset="-122"/>
                <a:sym typeface="Symbol" panose="05050102010706020507" pitchFamily="18" charset="2"/>
              </a:rPr>
              <a:t>m</a:t>
            </a:r>
          </a:p>
        </p:txBody>
      </p:sp>
      <p:sp>
        <p:nvSpPr>
          <p:cNvPr id="578570" name="Rectangle 10"/>
          <p:cNvSpPr>
            <a:spLocks noChangeArrowheads="1"/>
          </p:cNvSpPr>
          <p:nvPr/>
        </p:nvSpPr>
        <p:spPr bwMode="auto">
          <a:xfrm>
            <a:off x="3556000" y="4933950"/>
            <a:ext cx="298450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 sz="1800" b="1">
                <a:ea typeface="华文行楷" pitchFamily="2" charset="-122"/>
                <a:sym typeface="Symbol" panose="05050102010706020507" pitchFamily="18" charset="2"/>
              </a:rPr>
              <a:t></a:t>
            </a:r>
          </a:p>
        </p:txBody>
      </p:sp>
      <p:sp>
        <p:nvSpPr>
          <p:cNvPr id="578571" name="Rectangle 11"/>
          <p:cNvSpPr>
            <a:spLocks noChangeArrowheads="1"/>
          </p:cNvSpPr>
          <p:nvPr/>
        </p:nvSpPr>
        <p:spPr bwMode="auto">
          <a:xfrm>
            <a:off x="3492500" y="5253038"/>
            <a:ext cx="433388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 sz="1600" b="1" i="1">
                <a:latin typeface="Book Antiqua" pitchFamily="18" charset="0"/>
                <a:ea typeface="PMingLiU" pitchFamily="18" charset="-120"/>
                <a:sym typeface="Symbol" panose="05050102010706020507" pitchFamily="18" charset="2"/>
              </a:rPr>
              <a:t>r</a:t>
            </a:r>
            <a:r>
              <a:rPr lang="en-US" altLang="zh-CN" sz="1600" b="1" i="1">
                <a:latin typeface="Book Antiqua" pitchFamily="18" charset="0"/>
                <a:ea typeface="华文行楷" pitchFamily="2" charset="-122"/>
                <a:sym typeface="Symbol" panose="05050102010706020507" pitchFamily="18" charset="2"/>
              </a:rPr>
              <a:t>m</a:t>
            </a:r>
          </a:p>
        </p:txBody>
      </p:sp>
    </p:spTree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1" name="AutoShape 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772" name="AutoShape 1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773" name="AutoShape 13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774" name="AutoShape 1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775" name="Rectangle 15"/>
          <p:cNvSpPr>
            <a:spLocks noChangeArrowheads="1"/>
          </p:cNvSpPr>
          <p:nvPr/>
        </p:nvSpPr>
        <p:spPr bwMode="auto">
          <a:xfrm>
            <a:off x="-36512" y="188913"/>
            <a:ext cx="32385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0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501776" name="Text Box 16"/>
          <p:cNvSpPr txBox="1">
            <a:spLocks noChangeArrowheads="1"/>
          </p:cNvSpPr>
          <p:nvPr/>
        </p:nvSpPr>
        <p:spPr bwMode="auto">
          <a:xfrm>
            <a:off x="900113" y="1265238"/>
            <a:ext cx="7272337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 </a:t>
            </a:r>
            <a:r>
              <a:rPr lang="zh-CN" altLang="en-US" sz="3200" b="1"/>
              <a:t>活前缀</a:t>
            </a:r>
            <a:r>
              <a:rPr lang="zh-CN" altLang="en-US" sz="3200" b="1">
                <a:solidFill>
                  <a:srgbClr val="800080"/>
                </a:solidFill>
              </a:rPr>
              <a:t>举例</a:t>
            </a:r>
            <a:endParaRPr lang="zh-CN" altLang="en-US" sz="1000" b="1">
              <a:solidFill>
                <a:srgbClr val="800080"/>
              </a:solidFill>
            </a:endParaRPr>
          </a:p>
        </p:txBody>
      </p:sp>
      <p:sp>
        <p:nvSpPr>
          <p:cNvPr id="501777" name="Rectangle 17"/>
          <p:cNvSpPr>
            <a:spLocks noChangeArrowheads="1"/>
          </p:cNvSpPr>
          <p:nvPr/>
        </p:nvSpPr>
        <p:spPr bwMode="auto">
          <a:xfrm>
            <a:off x="6516688" y="1916113"/>
            <a:ext cx="2232025" cy="243522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b="1"/>
              <a:t>文法 </a:t>
            </a:r>
            <a:r>
              <a:rPr lang="en-US" altLang="zh-CN"/>
              <a:t>G</a:t>
            </a:r>
            <a:r>
              <a:rPr lang="zh-CN" altLang="en-US"/>
              <a:t>（</a:t>
            </a:r>
            <a:r>
              <a:rPr lang="en-US" altLang="zh-CN"/>
              <a:t>S</a:t>
            </a:r>
            <a:r>
              <a:rPr lang="zh-CN" altLang="en-US"/>
              <a:t>）</a:t>
            </a:r>
            <a:r>
              <a:rPr lang="en-US" altLang="zh-CN"/>
              <a:t>: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000"/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/>
              <a:t>S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AB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  <a:r>
              <a:rPr lang="en-US" altLang="zh-CN"/>
              <a:t>A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aA</a:t>
            </a:r>
            <a:endParaRPr lang="en-US" altLang="zh-CN"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</a:t>
            </a:r>
            <a:r>
              <a:rPr lang="en-US" altLang="zh-CN"/>
              <a:t>A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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（</a:t>
            </a:r>
            <a:r>
              <a:rPr lang="en-US" altLang="zh-CN"/>
              <a:t>4</a:t>
            </a:r>
            <a:r>
              <a:rPr lang="zh-CN" altLang="en-US"/>
              <a:t>）</a:t>
            </a:r>
            <a:r>
              <a:rPr lang="en-US" altLang="zh-CN"/>
              <a:t>B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b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（</a:t>
            </a:r>
            <a:r>
              <a:rPr lang="en-US" altLang="zh-CN"/>
              <a:t>5</a:t>
            </a:r>
            <a:r>
              <a:rPr lang="zh-CN" altLang="en-US"/>
              <a:t>）</a:t>
            </a:r>
            <a:r>
              <a:rPr lang="en-US" altLang="zh-CN"/>
              <a:t>B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bB</a:t>
            </a:r>
          </a:p>
        </p:txBody>
      </p:sp>
      <p:sp>
        <p:nvSpPr>
          <p:cNvPr id="501778" name="Rectangle 18"/>
          <p:cNvSpPr>
            <a:spLocks noChangeArrowheads="1"/>
          </p:cNvSpPr>
          <p:nvPr/>
        </p:nvSpPr>
        <p:spPr bwMode="auto">
          <a:xfrm>
            <a:off x="1247775" y="1916113"/>
            <a:ext cx="4837113" cy="404812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Symbol" panose="05050102010706020507" pitchFamily="18" charset="2"/>
              <a:buChar char="-"/>
            </a:pPr>
            <a:r>
              <a:rPr lang="en-US" altLang="zh-CN" b="1" dirty="0">
                <a:latin typeface="楷体_GB2312" pitchFamily="49" charset="-122"/>
              </a:rPr>
              <a:t> </a:t>
            </a:r>
            <a:r>
              <a:rPr lang="zh-CN" altLang="en-US" b="1" dirty="0">
                <a:latin typeface="楷体_GB2312" pitchFamily="49" charset="-122"/>
              </a:rPr>
              <a:t>对于右边的文法</a:t>
            </a:r>
            <a:r>
              <a:rPr lang="en-US" altLang="zh-CN" dirty="0"/>
              <a:t>G(S)</a:t>
            </a:r>
            <a:r>
              <a:rPr lang="en-US" altLang="zh-CN" b="1" dirty="0">
                <a:latin typeface="楷体_GB2312" pitchFamily="49" charset="-122"/>
              </a:rPr>
              <a:t>,</a:t>
            </a:r>
          </a:p>
          <a:p>
            <a:pPr>
              <a:buFont typeface="Symbol" panose="05050102010706020507" pitchFamily="18" charset="2"/>
              <a:buNone/>
            </a:pPr>
            <a:endParaRPr lang="en-US" altLang="zh-CN" sz="1000" b="1" dirty="0">
              <a:latin typeface="楷体_GB2312" pitchFamily="49" charset="-122"/>
            </a:endParaRPr>
          </a:p>
          <a:p>
            <a:pPr>
              <a:buFont typeface="Symbol" panose="05050102010706020507" pitchFamily="18" charset="2"/>
              <a:buNone/>
            </a:pPr>
            <a:r>
              <a:rPr lang="en-US" altLang="zh-CN" b="1" dirty="0">
                <a:latin typeface="楷体_GB2312" pitchFamily="49" charset="-122"/>
              </a:rPr>
              <a:t>  </a:t>
            </a:r>
            <a:r>
              <a:rPr lang="zh-CN" altLang="en-US" b="1" dirty="0">
                <a:latin typeface="楷体_GB2312" pitchFamily="49" charset="-122"/>
              </a:rPr>
              <a:t>句子 </a:t>
            </a:r>
            <a:r>
              <a:rPr lang="en-US" altLang="zh-CN" dirty="0" err="1">
                <a:solidFill>
                  <a:srgbClr val="800080"/>
                </a:solidFill>
              </a:rPr>
              <a:t>aaab</a:t>
            </a:r>
            <a:r>
              <a:rPr lang="en-US" altLang="zh-CN" b="1" dirty="0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b="1" dirty="0">
                <a:latin typeface="楷体_GB2312" pitchFamily="49" charset="-122"/>
              </a:rPr>
              <a:t>是一个右句型，其</a:t>
            </a:r>
          </a:p>
          <a:p>
            <a:pPr>
              <a:buFont typeface="Symbol" panose="05050102010706020507" pitchFamily="18" charset="2"/>
              <a:buNone/>
            </a:pPr>
            <a:r>
              <a:rPr lang="zh-CN" altLang="en-US" b="1" dirty="0">
                <a:latin typeface="楷体_GB2312" pitchFamily="49" charset="-122"/>
              </a:rPr>
              <a:t>  唯一的句柄为：</a:t>
            </a:r>
          </a:p>
          <a:p>
            <a:pPr>
              <a:buFont typeface="Symbol" panose="05050102010706020507" pitchFamily="18" charset="2"/>
              <a:buNone/>
            </a:pPr>
            <a:r>
              <a:rPr lang="zh-CN" altLang="en-US" dirty="0">
                <a:solidFill>
                  <a:srgbClr val="800080"/>
                </a:solidFill>
              </a:rPr>
              <a:t>              </a:t>
            </a:r>
            <a:r>
              <a:rPr lang="zh-CN" altLang="en-US" dirty="0">
                <a:solidFill>
                  <a:srgbClr val="800080"/>
                </a:solidFill>
                <a:sym typeface="Symbol" panose="05050102010706020507" pitchFamily="18" charset="2"/>
              </a:rPr>
              <a:t></a:t>
            </a:r>
            <a:r>
              <a:rPr lang="zh-CN" altLang="en-US" dirty="0"/>
              <a:t> ：</a:t>
            </a:r>
            <a:r>
              <a:rPr lang="en-US" altLang="zh-CN" dirty="0" err="1"/>
              <a:t>aaa</a:t>
            </a:r>
            <a:r>
              <a:rPr lang="en-US" altLang="zh-CN" dirty="0" err="1">
                <a:solidFill>
                  <a:srgbClr val="800080"/>
                </a:solidFill>
                <a:sym typeface="Symbol" panose="05050102010706020507" pitchFamily="18" charset="2"/>
              </a:rPr>
              <a:t></a:t>
            </a:r>
            <a:r>
              <a:rPr lang="en-US" altLang="zh-CN" dirty="0" err="1"/>
              <a:t>b</a:t>
            </a:r>
            <a:r>
              <a:rPr lang="zh-CN" altLang="en-US" dirty="0"/>
              <a:t>；</a:t>
            </a:r>
            <a:endParaRPr lang="zh-CN" altLang="en-US" sz="1000" dirty="0">
              <a:solidFill>
                <a:srgbClr val="800080"/>
              </a:solidFill>
            </a:endParaRPr>
          </a:p>
          <a:p>
            <a:pPr>
              <a:buFont typeface="Symbol" panose="05050102010706020507" pitchFamily="18" charset="2"/>
              <a:buNone/>
            </a:pPr>
            <a:r>
              <a:rPr lang="zh-CN" altLang="en-US" dirty="0">
                <a:solidFill>
                  <a:srgbClr val="800080"/>
                </a:solidFill>
              </a:rPr>
              <a:t>    </a:t>
            </a:r>
            <a:r>
              <a:rPr lang="zh-CN" altLang="en-US" b="1" dirty="0"/>
              <a:t>所以</a:t>
            </a:r>
            <a:r>
              <a:rPr lang="zh-CN" altLang="en-US" dirty="0">
                <a:solidFill>
                  <a:srgbClr val="800080"/>
                </a:solidFill>
              </a:rPr>
              <a:t> </a:t>
            </a:r>
            <a:r>
              <a:rPr lang="en-US" altLang="zh-CN" dirty="0" err="1">
                <a:solidFill>
                  <a:srgbClr val="800080"/>
                </a:solidFill>
              </a:rPr>
              <a:t>aaa</a:t>
            </a:r>
            <a:r>
              <a:rPr lang="en-US" altLang="zh-CN" b="1" dirty="0">
                <a:solidFill>
                  <a:srgbClr val="800080"/>
                </a:solidFill>
              </a:rPr>
              <a:t> </a:t>
            </a:r>
            <a:r>
              <a:rPr lang="zh-CN" altLang="en-US" b="1" dirty="0"/>
              <a:t>的任何前缀都是文法</a:t>
            </a:r>
          </a:p>
          <a:p>
            <a:pPr>
              <a:buFont typeface="Symbol" panose="05050102010706020507" pitchFamily="18" charset="2"/>
              <a:buNone/>
            </a:pPr>
            <a:r>
              <a:rPr lang="zh-CN" altLang="en-US" b="1" dirty="0"/>
              <a:t>    的活前缀：</a:t>
            </a:r>
            <a:r>
              <a:rPr lang="zh-CN" altLang="en-US" dirty="0">
                <a:solidFill>
                  <a:srgbClr val="800080"/>
                </a:solidFill>
                <a:sym typeface="Symbol" panose="05050102010706020507" pitchFamily="18" charset="2"/>
              </a:rPr>
              <a:t>， </a:t>
            </a:r>
            <a:r>
              <a:rPr lang="en-US" altLang="zh-CN" dirty="0">
                <a:solidFill>
                  <a:srgbClr val="800080"/>
                </a:solidFill>
              </a:rPr>
              <a:t>a </a:t>
            </a:r>
            <a:r>
              <a:rPr lang="zh-CN" altLang="en-US" dirty="0">
                <a:solidFill>
                  <a:srgbClr val="800080"/>
                </a:solidFill>
                <a:sym typeface="Symbol" panose="05050102010706020507" pitchFamily="18" charset="2"/>
              </a:rPr>
              <a:t>， </a:t>
            </a:r>
            <a:r>
              <a:rPr lang="en-US" altLang="zh-CN" dirty="0" err="1">
                <a:solidFill>
                  <a:srgbClr val="800080"/>
                </a:solidFill>
              </a:rPr>
              <a:t>aa</a:t>
            </a:r>
            <a:r>
              <a:rPr lang="en-US" altLang="zh-CN" dirty="0">
                <a:solidFill>
                  <a:srgbClr val="800080"/>
                </a:solidFill>
              </a:rPr>
              <a:t> </a:t>
            </a:r>
            <a:r>
              <a:rPr lang="zh-CN" altLang="en-US" dirty="0">
                <a:solidFill>
                  <a:srgbClr val="800080"/>
                </a:solidFill>
                <a:sym typeface="Symbol" panose="05050102010706020507" pitchFamily="18" charset="2"/>
              </a:rPr>
              <a:t>， </a:t>
            </a:r>
            <a:r>
              <a:rPr lang="en-US" altLang="zh-CN" dirty="0" err="1">
                <a:solidFill>
                  <a:srgbClr val="800080"/>
                </a:solidFill>
              </a:rPr>
              <a:t>aaa</a:t>
            </a:r>
            <a:endParaRPr lang="en-US" altLang="zh-CN" dirty="0"/>
          </a:p>
          <a:p>
            <a:pPr>
              <a:buFont typeface="Symbol" panose="05050102010706020507" pitchFamily="18" charset="2"/>
              <a:buNone/>
            </a:pPr>
            <a:endParaRPr lang="en-US" altLang="zh-CN" sz="1000" dirty="0">
              <a:solidFill>
                <a:srgbClr val="800080"/>
              </a:solidFill>
            </a:endParaRPr>
          </a:p>
          <a:p>
            <a:pPr>
              <a:buFont typeface="Symbol" panose="05050102010706020507" pitchFamily="18" charset="2"/>
              <a:buNone/>
            </a:pPr>
            <a:r>
              <a:rPr lang="en-US" altLang="zh-CN" dirty="0"/>
              <a:t>    </a:t>
            </a:r>
            <a:r>
              <a:rPr lang="zh-CN" altLang="en-US" b="1" dirty="0"/>
              <a:t>右句型 </a:t>
            </a:r>
            <a:r>
              <a:rPr lang="en-US" altLang="zh-CN" dirty="0" err="1">
                <a:solidFill>
                  <a:srgbClr val="800080"/>
                </a:solidFill>
              </a:rPr>
              <a:t>aaAb</a:t>
            </a:r>
            <a:r>
              <a:rPr lang="en-US" altLang="zh-CN" dirty="0">
                <a:solidFill>
                  <a:srgbClr val="800080"/>
                </a:solidFill>
              </a:rPr>
              <a:t> </a:t>
            </a:r>
            <a:r>
              <a:rPr lang="zh-CN" altLang="en-US" b="1" dirty="0"/>
              <a:t>的唯一的句柄为：</a:t>
            </a: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             </a:t>
            </a:r>
            <a:r>
              <a:rPr lang="en-US" altLang="zh-CN" dirty="0" err="1">
                <a:solidFill>
                  <a:srgbClr val="800080"/>
                </a:solidFill>
              </a:rPr>
              <a:t>aA</a:t>
            </a:r>
            <a:r>
              <a:rPr lang="zh-CN" altLang="en-US" dirty="0"/>
              <a:t>：</a:t>
            </a:r>
            <a:r>
              <a:rPr lang="en-US" altLang="zh-CN" dirty="0" err="1"/>
              <a:t>a</a:t>
            </a:r>
            <a:r>
              <a:rPr lang="en-US" altLang="zh-CN" dirty="0" err="1">
                <a:solidFill>
                  <a:srgbClr val="800080"/>
                </a:solidFill>
              </a:rPr>
              <a:t>aA</a:t>
            </a:r>
            <a:r>
              <a:rPr lang="en-US" altLang="zh-CN" dirty="0" err="1"/>
              <a:t>b</a:t>
            </a:r>
            <a:r>
              <a:rPr lang="zh-CN" altLang="en-US" dirty="0"/>
              <a:t>；</a:t>
            </a:r>
            <a:endParaRPr lang="zh-CN" altLang="en-US" sz="1000" dirty="0">
              <a:solidFill>
                <a:srgbClr val="80008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 dirty="0"/>
              <a:t>    所以</a:t>
            </a:r>
            <a:r>
              <a:rPr lang="zh-CN" altLang="en-US" dirty="0">
                <a:solidFill>
                  <a:srgbClr val="800080"/>
                </a:solidFill>
              </a:rPr>
              <a:t> </a:t>
            </a:r>
            <a:r>
              <a:rPr lang="en-US" altLang="zh-CN" dirty="0" err="1">
                <a:solidFill>
                  <a:srgbClr val="800080"/>
                </a:solidFill>
              </a:rPr>
              <a:t>aaA</a:t>
            </a:r>
            <a:r>
              <a:rPr lang="en-US" altLang="zh-CN" b="1" dirty="0">
                <a:solidFill>
                  <a:srgbClr val="800080"/>
                </a:solidFill>
              </a:rPr>
              <a:t> </a:t>
            </a:r>
            <a:r>
              <a:rPr lang="zh-CN" altLang="en-US" b="1" dirty="0"/>
              <a:t>的任何前缀都是文法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 dirty="0"/>
              <a:t>    的活前缀：</a:t>
            </a:r>
            <a:r>
              <a:rPr lang="zh-CN" altLang="en-US" dirty="0">
                <a:solidFill>
                  <a:srgbClr val="800080"/>
                </a:solidFill>
                <a:sym typeface="Symbol" panose="05050102010706020507" pitchFamily="18" charset="2"/>
              </a:rPr>
              <a:t>， </a:t>
            </a:r>
            <a:r>
              <a:rPr lang="en-US" altLang="zh-CN" dirty="0">
                <a:solidFill>
                  <a:srgbClr val="800080"/>
                </a:solidFill>
              </a:rPr>
              <a:t>a </a:t>
            </a:r>
            <a:r>
              <a:rPr lang="zh-CN" altLang="en-US" dirty="0">
                <a:solidFill>
                  <a:srgbClr val="800080"/>
                </a:solidFill>
                <a:sym typeface="Symbol" panose="05050102010706020507" pitchFamily="18" charset="2"/>
              </a:rPr>
              <a:t>， </a:t>
            </a:r>
            <a:r>
              <a:rPr lang="en-US" altLang="zh-CN" dirty="0" err="1">
                <a:solidFill>
                  <a:srgbClr val="800080"/>
                </a:solidFill>
              </a:rPr>
              <a:t>aa</a:t>
            </a:r>
            <a:r>
              <a:rPr lang="en-US" altLang="zh-CN" dirty="0">
                <a:solidFill>
                  <a:srgbClr val="800080"/>
                </a:solidFill>
              </a:rPr>
              <a:t> </a:t>
            </a:r>
            <a:r>
              <a:rPr lang="zh-CN" altLang="en-US" dirty="0">
                <a:solidFill>
                  <a:srgbClr val="800080"/>
                </a:solidFill>
                <a:sym typeface="Symbol" panose="05050102010706020507" pitchFamily="18" charset="2"/>
              </a:rPr>
              <a:t>， </a:t>
            </a:r>
            <a:r>
              <a:rPr lang="en-US" altLang="zh-CN" dirty="0" err="1">
                <a:solidFill>
                  <a:srgbClr val="800080"/>
                </a:solidFill>
              </a:rPr>
              <a:t>aaA</a:t>
            </a:r>
            <a:endParaRPr lang="en-US" altLang="zh-CN" dirty="0">
              <a:solidFill>
                <a:srgbClr val="800080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6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0437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0438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0439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0440" name="Rectangle 8"/>
          <p:cNvSpPr>
            <a:spLocks noChangeArrowheads="1"/>
          </p:cNvSpPr>
          <p:nvPr/>
        </p:nvSpPr>
        <p:spPr bwMode="auto">
          <a:xfrm>
            <a:off x="37356" y="188913"/>
            <a:ext cx="32385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0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530444" name="Text Box 12"/>
          <p:cNvSpPr txBox="1">
            <a:spLocks noChangeArrowheads="1"/>
          </p:cNvSpPr>
          <p:nvPr/>
        </p:nvSpPr>
        <p:spPr bwMode="auto">
          <a:xfrm>
            <a:off x="755650" y="1357313"/>
            <a:ext cx="8208963" cy="48402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 </a:t>
            </a:r>
            <a:r>
              <a:rPr lang="zh-CN" altLang="en-US" sz="3200" b="1">
                <a:solidFill>
                  <a:srgbClr val="800080"/>
                </a:solidFill>
              </a:rPr>
              <a:t>活前缀与句柄的关系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kumimoji="0" lang="zh-CN" altLang="en-US" sz="1000" b="1"/>
          </a:p>
          <a:p>
            <a:pPr>
              <a:buClrTx/>
              <a:buFont typeface="Wingdings" panose="05000000000000000000" pitchFamily="2" charset="2"/>
              <a:buNone/>
            </a:pPr>
            <a:r>
              <a:rPr kumimoji="0" lang="zh-CN" altLang="en-US" b="1"/>
              <a:t>     一个活前缀是某一</a:t>
            </a:r>
            <a:r>
              <a:rPr kumimoji="0" lang="zh-CN" altLang="en-US" b="1">
                <a:solidFill>
                  <a:srgbClr val="800080"/>
                </a:solidFill>
              </a:rPr>
              <a:t>右句型的前缀</a:t>
            </a:r>
            <a:r>
              <a:rPr kumimoji="0" lang="zh-CN" altLang="en-US" b="1"/>
              <a:t>，它</a:t>
            </a:r>
            <a:r>
              <a:rPr kumimoji="0" lang="zh-CN" altLang="en-US" b="1">
                <a:solidFill>
                  <a:srgbClr val="800080"/>
                </a:solidFill>
              </a:rPr>
              <a:t>不超过</a:t>
            </a:r>
            <a:r>
              <a:rPr kumimoji="0" lang="zh-CN" altLang="en-US" b="1"/>
              <a:t>该右句型的 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kumimoji="0" lang="zh-CN" altLang="en-US" b="1"/>
              <a:t>         某个</a:t>
            </a:r>
            <a:r>
              <a:rPr kumimoji="0" lang="zh-CN" altLang="en-US" b="1">
                <a:solidFill>
                  <a:srgbClr val="800080"/>
                </a:solidFill>
              </a:rPr>
              <a:t>句柄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b="1">
                <a:solidFill>
                  <a:srgbClr val="800080"/>
                </a:solidFill>
              </a:rPr>
              <a:t> 活前缀</a:t>
            </a:r>
            <a:r>
              <a:rPr kumimoji="0" lang="zh-CN" altLang="en-US" b="1">
                <a:solidFill>
                  <a:srgbClr val="800080"/>
                </a:solidFill>
              </a:rPr>
              <a:t>已含有该句柄的全部符号</a:t>
            </a:r>
            <a:r>
              <a:rPr kumimoji="0" lang="zh-CN" altLang="en-US" b="1"/>
              <a:t>，表明该句柄对应的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kumimoji="0" lang="zh-CN" altLang="en-US" b="1"/>
              <a:t>   产生式 </a:t>
            </a:r>
            <a:r>
              <a:rPr kumimoji="0" lang="en-US" altLang="zh-CN"/>
              <a:t>A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kumimoji="0" lang="en-US" altLang="zh-CN" b="1"/>
              <a:t>α</a:t>
            </a:r>
            <a:r>
              <a:rPr kumimoji="0" lang="zh-CN" altLang="en-US" b="1"/>
              <a:t>的右部</a:t>
            </a:r>
            <a:r>
              <a:rPr kumimoji="0" lang="en-US" altLang="zh-CN" b="1"/>
              <a:t>α</a:t>
            </a:r>
            <a:r>
              <a:rPr kumimoji="0" lang="zh-CN" altLang="en-US" b="1"/>
              <a:t>已出现在栈顶</a:t>
            </a:r>
          </a:p>
          <a:p>
            <a:pPr lvl="1">
              <a:buClrTx/>
              <a:buFont typeface="Symbol" panose="05050102010706020507" pitchFamily="18" charset="2"/>
              <a:buNone/>
            </a:pPr>
            <a:endParaRPr kumimoji="0" lang="zh-CN" altLang="en-US" sz="1000" b="1"/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kumimoji="0" lang="zh-CN" altLang="en-US" b="1">
                <a:solidFill>
                  <a:srgbClr val="800080"/>
                </a:solidFill>
              </a:rPr>
              <a:t> 活前缀只含该句柄的一部分符号</a:t>
            </a:r>
            <a:r>
              <a:rPr kumimoji="0" lang="zh-CN" altLang="en-US" b="1"/>
              <a:t>，表明该句柄对应的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kumimoji="0" lang="zh-CN" altLang="en-US" b="1"/>
              <a:t>   产生式 </a:t>
            </a:r>
            <a:r>
              <a:rPr kumimoji="0" lang="en-US" altLang="zh-CN"/>
              <a:t>A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kumimoji="0" lang="en-US" altLang="zh-CN" b="1"/>
              <a:t>α</a:t>
            </a:r>
            <a:r>
              <a:rPr kumimoji="0" lang="en-US" altLang="zh-CN" baseline="-25000"/>
              <a:t>1</a:t>
            </a:r>
            <a:r>
              <a:rPr kumimoji="0" lang="en-US" altLang="zh-CN" b="1"/>
              <a:t>α</a:t>
            </a:r>
            <a:r>
              <a:rPr kumimoji="0" lang="en-US" altLang="zh-CN" baseline="-25000"/>
              <a:t>2 </a:t>
            </a:r>
            <a:r>
              <a:rPr kumimoji="0" lang="zh-CN" altLang="en-US" b="1"/>
              <a:t>的右部子串</a:t>
            </a:r>
            <a:r>
              <a:rPr kumimoji="0" lang="en-US" altLang="zh-CN" b="1"/>
              <a:t>α</a:t>
            </a:r>
            <a:r>
              <a:rPr kumimoji="0" lang="en-US" altLang="zh-CN" baseline="-25000"/>
              <a:t>1 </a:t>
            </a:r>
            <a:r>
              <a:rPr kumimoji="0" lang="zh-CN" altLang="en-US" b="1"/>
              <a:t>已出现在栈顶，期待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kumimoji="0" lang="zh-CN" altLang="en-US" b="1"/>
              <a:t>   从输入串中看到</a:t>
            </a:r>
            <a:r>
              <a:rPr kumimoji="0" lang="en-US" altLang="zh-CN" b="1"/>
              <a:t>α</a:t>
            </a:r>
            <a:r>
              <a:rPr kumimoji="0" lang="en-US" altLang="zh-CN" baseline="-25000"/>
              <a:t>2 </a:t>
            </a:r>
            <a:r>
              <a:rPr kumimoji="0" lang="zh-CN" altLang="en-US" b="1"/>
              <a:t>推导出的符号串</a:t>
            </a:r>
          </a:p>
          <a:p>
            <a:pPr lvl="1">
              <a:buClrTx/>
              <a:buFont typeface="Symbol" panose="05050102010706020507" pitchFamily="18" charset="2"/>
              <a:buNone/>
            </a:pPr>
            <a:endParaRPr kumimoji="0" lang="zh-CN" altLang="en-US" sz="1000" b="1"/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kumimoji="0" lang="zh-CN" altLang="en-US" b="1">
                <a:solidFill>
                  <a:srgbClr val="800080"/>
                </a:solidFill>
              </a:rPr>
              <a:t> 活前缀不含有该句柄的任何符号</a:t>
            </a:r>
            <a:r>
              <a:rPr kumimoji="0" lang="zh-CN" altLang="en-US" b="1"/>
              <a:t>，此时期待从输入串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kumimoji="0" lang="zh-CN" altLang="en-US" b="1"/>
              <a:t>   中看到该句柄对应的产生式 </a:t>
            </a:r>
            <a:r>
              <a:rPr kumimoji="0" lang="en-US" altLang="zh-CN"/>
              <a:t>A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kumimoji="0" lang="en-US" altLang="zh-CN" b="1"/>
              <a:t>α</a:t>
            </a:r>
            <a:r>
              <a:rPr kumimoji="0" lang="zh-CN" altLang="en-US" b="1"/>
              <a:t>的右部所推导出的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kumimoji="0" lang="zh-CN" altLang="en-US" b="1"/>
              <a:t>   符号串</a:t>
            </a:r>
          </a:p>
        </p:txBody>
      </p:sp>
    </p:spTree>
  </p:cSld>
  <p:clrMapOvr>
    <a:masterClrMapping/>
  </p:clrMapOvr>
  <p:transition spd="med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388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8389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8390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8391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8392" name="Rectangle 8"/>
          <p:cNvSpPr>
            <a:spLocks noChangeArrowheads="1"/>
          </p:cNvSpPr>
          <p:nvPr/>
        </p:nvSpPr>
        <p:spPr bwMode="auto">
          <a:xfrm>
            <a:off x="35496" y="188913"/>
            <a:ext cx="32385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0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528393" name="Text Box 9"/>
          <p:cNvSpPr txBox="1">
            <a:spLocks noChangeArrowheads="1"/>
          </p:cNvSpPr>
          <p:nvPr/>
        </p:nvSpPr>
        <p:spPr bwMode="auto">
          <a:xfrm>
            <a:off x="900113" y="1481138"/>
            <a:ext cx="7993062" cy="30765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 </a:t>
            </a:r>
            <a:r>
              <a:rPr lang="zh-CN" altLang="en-US" sz="3200" b="1">
                <a:solidFill>
                  <a:srgbClr val="800080"/>
                </a:solidFill>
              </a:rPr>
              <a:t>核心概念</a:t>
            </a:r>
            <a:endParaRPr lang="zh-CN" altLang="en-US" sz="3200" b="1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>
                <a:solidFill>
                  <a:srgbClr val="800080"/>
                </a:solidFill>
              </a:rPr>
              <a:t>  </a:t>
            </a:r>
            <a:r>
              <a:rPr lang="en-US" altLang="zh-CN" sz="2800">
                <a:solidFill>
                  <a:srgbClr val="800080"/>
                </a:solidFill>
              </a:rPr>
              <a:t>LR</a:t>
            </a:r>
            <a:r>
              <a:rPr lang="zh-CN" altLang="en-US" sz="2800">
                <a:solidFill>
                  <a:srgbClr val="800080"/>
                </a:solidFill>
              </a:rPr>
              <a:t>（</a:t>
            </a:r>
            <a:r>
              <a:rPr lang="en-US" altLang="zh-CN" sz="2800">
                <a:solidFill>
                  <a:srgbClr val="800080"/>
                </a:solidFill>
              </a:rPr>
              <a:t>0</a:t>
            </a:r>
            <a:r>
              <a:rPr lang="zh-CN" altLang="en-US" sz="2800">
                <a:solidFill>
                  <a:srgbClr val="800080"/>
                </a:solidFill>
              </a:rPr>
              <a:t>）</a:t>
            </a:r>
            <a:r>
              <a:rPr lang="en-US" altLang="zh-CN" sz="2800">
                <a:solidFill>
                  <a:srgbClr val="800080"/>
                </a:solidFill>
              </a:rPr>
              <a:t>FSM</a:t>
            </a:r>
            <a:endParaRPr lang="en-US" altLang="zh-CN" sz="2800" b="1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None/>
            </a:pPr>
            <a:endParaRPr lang="en-US" altLang="zh-CN" sz="1000" b="1"/>
          </a:p>
          <a:p>
            <a:pPr lvl="2">
              <a:buFontTx/>
              <a:buChar char="•"/>
            </a:pPr>
            <a:r>
              <a:rPr lang="en-US" altLang="zh-CN"/>
              <a:t>  </a:t>
            </a:r>
            <a:r>
              <a:rPr kumimoji="0" lang="zh-CN" altLang="en-US" b="1"/>
              <a:t>每个上下文无关文法 </a:t>
            </a:r>
            <a:r>
              <a:rPr kumimoji="0" lang="en-US" altLang="zh-CN" i="1"/>
              <a:t>G</a:t>
            </a:r>
            <a:r>
              <a:rPr kumimoji="0" lang="en-US" altLang="zh-CN" b="1"/>
              <a:t> </a:t>
            </a:r>
            <a:r>
              <a:rPr kumimoji="0" lang="zh-CN" altLang="en-US" b="1"/>
              <a:t>都对应一个</a:t>
            </a:r>
            <a:r>
              <a:rPr kumimoji="0" lang="en-US" altLang="zh-CN"/>
              <a:t>LR</a:t>
            </a:r>
            <a:r>
              <a:rPr kumimoji="0" lang="zh-CN" altLang="en-US"/>
              <a:t>（</a:t>
            </a:r>
            <a:r>
              <a:rPr kumimoji="0" lang="en-US" altLang="zh-CN"/>
              <a:t>0</a:t>
            </a:r>
            <a:r>
              <a:rPr kumimoji="0" lang="zh-CN" altLang="en-US"/>
              <a:t>）</a:t>
            </a:r>
            <a:r>
              <a:rPr kumimoji="0" lang="en-US" altLang="zh-CN"/>
              <a:t>FSM</a:t>
            </a:r>
            <a:endParaRPr kumimoji="0" lang="en-US" altLang="zh-CN" b="1"/>
          </a:p>
          <a:p>
            <a:pPr lvl="2">
              <a:buFontTx/>
              <a:buNone/>
            </a:pPr>
            <a:endParaRPr kumimoji="0" lang="en-US" altLang="zh-CN" sz="1000" b="1"/>
          </a:p>
          <a:p>
            <a:pPr lvl="2">
              <a:buFontTx/>
              <a:buChar char="•"/>
            </a:pPr>
            <a:r>
              <a:rPr lang="en-US" altLang="zh-CN"/>
              <a:t> </a:t>
            </a:r>
            <a:r>
              <a:rPr lang="en-US" altLang="zh-CN">
                <a:solidFill>
                  <a:srgbClr val="800080"/>
                </a:solidFill>
              </a:rPr>
              <a:t> </a:t>
            </a:r>
            <a:r>
              <a:rPr kumimoji="0" lang="zh-CN" altLang="en-US" b="1"/>
              <a:t>由 </a:t>
            </a:r>
            <a:r>
              <a:rPr kumimoji="0" lang="en-US" altLang="zh-CN" i="1"/>
              <a:t>G </a:t>
            </a:r>
            <a:r>
              <a:rPr kumimoji="0" lang="zh-CN" altLang="en-US" b="1"/>
              <a:t>的增广文法 </a:t>
            </a:r>
            <a:r>
              <a:rPr kumimoji="0" lang="en-US" altLang="zh-CN" i="1"/>
              <a:t>G’ </a:t>
            </a:r>
            <a:r>
              <a:rPr kumimoji="0" lang="zh-CN" altLang="en-US" b="1"/>
              <a:t>直接构造其 </a:t>
            </a:r>
            <a:r>
              <a:rPr kumimoji="0" lang="en-US" altLang="zh-CN"/>
              <a:t>LR</a:t>
            </a:r>
            <a:r>
              <a:rPr kumimoji="0" lang="zh-CN" altLang="en-US"/>
              <a:t>（</a:t>
            </a:r>
            <a:r>
              <a:rPr kumimoji="0" lang="en-US" altLang="zh-CN"/>
              <a:t>0</a:t>
            </a:r>
            <a:r>
              <a:rPr kumimoji="0" lang="zh-CN" altLang="en-US"/>
              <a:t>）</a:t>
            </a:r>
            <a:r>
              <a:rPr kumimoji="0" lang="en-US" altLang="zh-CN"/>
              <a:t>FSM</a:t>
            </a:r>
            <a:endParaRPr kumimoji="0" lang="en-US" altLang="zh-CN" b="1"/>
          </a:p>
          <a:p>
            <a:pPr lvl="2">
              <a:buFontTx/>
              <a:buNone/>
            </a:pPr>
            <a:endParaRPr kumimoji="0" lang="en-US" altLang="zh-CN" sz="1000" b="1"/>
          </a:p>
          <a:p>
            <a:pPr lvl="2">
              <a:buFontTx/>
              <a:buChar char="•"/>
            </a:pPr>
            <a:r>
              <a:rPr lang="en-US" altLang="zh-CN"/>
              <a:t>  </a:t>
            </a:r>
            <a:r>
              <a:rPr lang="zh-CN" altLang="en-US" b="1"/>
              <a:t>文法</a:t>
            </a:r>
            <a:r>
              <a:rPr lang="zh-CN" altLang="en-US"/>
              <a:t> </a:t>
            </a:r>
            <a:r>
              <a:rPr lang="en-US" altLang="zh-CN" i="1"/>
              <a:t>G</a:t>
            </a:r>
            <a:r>
              <a:rPr lang="en-US" altLang="zh-CN" b="1"/>
              <a:t> = (</a:t>
            </a:r>
            <a:r>
              <a:rPr lang="en-US" altLang="zh-CN" b="1" i="1"/>
              <a:t>V</a:t>
            </a:r>
            <a:r>
              <a:rPr lang="en-US" altLang="zh-CN" b="1" i="1" baseline="-25000"/>
              <a:t>N</a:t>
            </a:r>
            <a:r>
              <a:rPr lang="en-US" altLang="zh-CN" b="1" i="1"/>
              <a:t>,</a:t>
            </a:r>
            <a:r>
              <a:rPr lang="en-US" altLang="zh-CN" b="1"/>
              <a:t> </a:t>
            </a:r>
            <a:r>
              <a:rPr lang="en-US" altLang="zh-CN" b="1" i="1"/>
              <a:t>V</a:t>
            </a:r>
            <a:r>
              <a:rPr lang="en-US" altLang="zh-CN" b="1" i="1" baseline="-25000">
                <a:sym typeface="Symbol" panose="05050102010706020507" pitchFamily="18" charset="2"/>
              </a:rPr>
              <a:t>T</a:t>
            </a:r>
            <a:r>
              <a:rPr lang="en-US" altLang="zh-CN" b="1" i="1"/>
              <a:t>, </a:t>
            </a:r>
            <a:r>
              <a:rPr lang="en-US" altLang="zh-CN" b="1" i="1">
                <a:sym typeface="Symbol" panose="05050102010706020507" pitchFamily="18" charset="2"/>
              </a:rPr>
              <a:t>P</a:t>
            </a:r>
            <a:r>
              <a:rPr lang="en-US" altLang="zh-CN" b="1" i="1"/>
              <a:t> , S </a:t>
            </a:r>
            <a:r>
              <a:rPr lang="en-US" altLang="zh-CN" b="1"/>
              <a:t>)</a:t>
            </a:r>
            <a:r>
              <a:rPr lang="en-US" altLang="zh-CN"/>
              <a:t> </a:t>
            </a:r>
            <a:r>
              <a:rPr lang="zh-CN" altLang="en-US" b="1"/>
              <a:t>的 </a:t>
            </a:r>
            <a:r>
              <a:rPr kumimoji="0" lang="en-US" altLang="zh-CN"/>
              <a:t>LR</a:t>
            </a:r>
            <a:r>
              <a:rPr kumimoji="0" lang="zh-CN" altLang="en-US"/>
              <a:t>（</a:t>
            </a:r>
            <a:r>
              <a:rPr kumimoji="0" lang="en-US" altLang="zh-CN"/>
              <a:t>0</a:t>
            </a:r>
            <a:r>
              <a:rPr kumimoji="0" lang="zh-CN" altLang="en-US"/>
              <a:t>）</a:t>
            </a:r>
            <a:r>
              <a:rPr kumimoji="0" lang="en-US" altLang="zh-CN"/>
              <a:t>FSM </a:t>
            </a:r>
            <a:r>
              <a:rPr lang="zh-CN" altLang="en-US" b="1"/>
              <a:t>可以看</a:t>
            </a:r>
          </a:p>
          <a:p>
            <a:pPr lvl="2">
              <a:buFontTx/>
              <a:buNone/>
            </a:pPr>
            <a:r>
              <a:rPr lang="zh-CN" altLang="en-US" b="1"/>
              <a:t>   作一个字母表为 </a:t>
            </a:r>
            <a:r>
              <a:rPr lang="en-US" altLang="zh-CN" b="1" i="1"/>
              <a:t>V</a:t>
            </a:r>
            <a:r>
              <a:rPr lang="en-US" altLang="zh-CN" b="1" i="1" baseline="-25000"/>
              <a:t>N </a:t>
            </a:r>
            <a:r>
              <a:rPr kumimoji="0" lang="en-US" altLang="zh-CN" b="1">
                <a:sym typeface="Symbol" panose="05050102010706020507" pitchFamily="18" charset="2"/>
              </a:rPr>
              <a:t> </a:t>
            </a:r>
            <a:r>
              <a:rPr lang="en-US" altLang="zh-CN" b="1" i="1"/>
              <a:t>V</a:t>
            </a:r>
            <a:r>
              <a:rPr lang="en-US" altLang="zh-CN" b="1" i="1" baseline="-25000">
                <a:sym typeface="Symbol" panose="05050102010706020507" pitchFamily="18" charset="2"/>
              </a:rPr>
              <a:t>T</a:t>
            </a:r>
            <a:r>
              <a:rPr lang="en-US" altLang="zh-CN" b="1" i="1">
                <a:sym typeface="Symbol" panose="05050102010706020507" pitchFamily="18" charset="2"/>
              </a:rPr>
              <a:t> </a:t>
            </a:r>
            <a:r>
              <a:rPr lang="zh-CN" altLang="en-US" b="1"/>
              <a:t>的 </a:t>
            </a:r>
            <a:r>
              <a:rPr lang="en-US" altLang="zh-CN"/>
              <a:t>DFA</a:t>
            </a:r>
            <a:endParaRPr lang="en-US" altLang="zh-CN" b="1">
              <a:solidFill>
                <a:srgbClr val="800080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2" name="AutoShape 1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053" name="AutoShape 1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054" name="AutoShape 1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055" name="AutoShape 1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056" name="Rectangle 16"/>
          <p:cNvSpPr>
            <a:spLocks noChangeArrowheads="1"/>
          </p:cNvSpPr>
          <p:nvPr/>
        </p:nvSpPr>
        <p:spPr bwMode="auto">
          <a:xfrm>
            <a:off x="35496" y="188913"/>
            <a:ext cx="32385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0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471057" name="Text Box 17"/>
          <p:cNvSpPr txBox="1">
            <a:spLocks noChangeArrowheads="1"/>
          </p:cNvSpPr>
          <p:nvPr/>
        </p:nvSpPr>
        <p:spPr bwMode="auto">
          <a:xfrm>
            <a:off x="611188" y="1416050"/>
            <a:ext cx="8459787" cy="490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>
                <a:solidFill>
                  <a:srgbClr val="800080"/>
                </a:solidFill>
              </a:rPr>
              <a:t>LR</a:t>
            </a:r>
            <a:r>
              <a:rPr lang="zh-CN" altLang="en-US" sz="3200">
                <a:solidFill>
                  <a:srgbClr val="800080"/>
                </a:solidFill>
              </a:rPr>
              <a:t>（</a:t>
            </a:r>
            <a:r>
              <a:rPr lang="en-US" altLang="zh-CN" sz="3200">
                <a:solidFill>
                  <a:srgbClr val="800080"/>
                </a:solidFill>
              </a:rPr>
              <a:t>0</a:t>
            </a:r>
            <a:r>
              <a:rPr lang="zh-CN" altLang="en-US" sz="3200">
                <a:solidFill>
                  <a:srgbClr val="800080"/>
                </a:solidFill>
              </a:rPr>
              <a:t>）</a:t>
            </a:r>
            <a:r>
              <a:rPr lang="en-US" altLang="zh-CN" sz="3200">
                <a:solidFill>
                  <a:srgbClr val="800080"/>
                </a:solidFill>
              </a:rPr>
              <a:t>FSM </a:t>
            </a:r>
            <a:r>
              <a:rPr lang="zh-CN" altLang="en-US" sz="3200" b="1">
                <a:solidFill>
                  <a:srgbClr val="800080"/>
                </a:solidFill>
              </a:rPr>
              <a:t>的构造</a:t>
            </a:r>
            <a:endParaRPr lang="zh-CN" altLang="en-US" sz="3200" b="1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>
                <a:solidFill>
                  <a:srgbClr val="800080"/>
                </a:solidFill>
              </a:rPr>
              <a:t> </a:t>
            </a:r>
            <a:r>
              <a:rPr lang="en-US" altLang="zh-CN" sz="2800">
                <a:solidFill>
                  <a:srgbClr val="800080"/>
                </a:solidFill>
              </a:rPr>
              <a:t>LR</a:t>
            </a:r>
            <a:r>
              <a:rPr lang="zh-CN" altLang="en-US" sz="2800">
                <a:solidFill>
                  <a:srgbClr val="800080"/>
                </a:solidFill>
              </a:rPr>
              <a:t>（</a:t>
            </a:r>
            <a:r>
              <a:rPr lang="en-US" altLang="zh-CN" sz="2800">
                <a:solidFill>
                  <a:srgbClr val="800080"/>
                </a:solidFill>
              </a:rPr>
              <a:t>0</a:t>
            </a:r>
            <a:r>
              <a:rPr lang="zh-CN" altLang="en-US" sz="2800">
                <a:solidFill>
                  <a:srgbClr val="800080"/>
                </a:solidFill>
              </a:rPr>
              <a:t>）</a:t>
            </a:r>
            <a:r>
              <a:rPr lang="en-US" altLang="zh-CN" sz="2800">
                <a:solidFill>
                  <a:srgbClr val="800080"/>
                </a:solidFill>
              </a:rPr>
              <a:t>FSM </a:t>
            </a:r>
            <a:r>
              <a:rPr lang="zh-CN" altLang="en-US" sz="2800" b="1">
                <a:solidFill>
                  <a:srgbClr val="800080"/>
                </a:solidFill>
              </a:rPr>
              <a:t>的状态</a:t>
            </a:r>
            <a:endParaRPr lang="zh-CN" altLang="en-US" sz="2800" b="1"/>
          </a:p>
          <a:p>
            <a:pPr lvl="1">
              <a:buClrTx/>
              <a:buFont typeface="Symbol" panose="05050102010706020507" pitchFamily="18" charset="2"/>
              <a:buNone/>
            </a:pPr>
            <a:endParaRPr lang="zh-CN" altLang="en-US" sz="1000" b="1"/>
          </a:p>
          <a:p>
            <a:pPr lvl="2">
              <a:buFontTx/>
              <a:buChar char="•"/>
            </a:pPr>
            <a:r>
              <a:rPr kumimoji="0" lang="zh-CN" altLang="en-US" i="1"/>
              <a:t>  </a:t>
            </a:r>
            <a:r>
              <a:rPr kumimoji="0" lang="en-US" altLang="zh-CN"/>
              <a:t>LR</a:t>
            </a:r>
            <a:r>
              <a:rPr kumimoji="0" lang="zh-CN" altLang="en-US"/>
              <a:t>（</a:t>
            </a:r>
            <a:r>
              <a:rPr kumimoji="0" lang="en-US" altLang="zh-CN"/>
              <a:t>0</a:t>
            </a:r>
            <a:r>
              <a:rPr kumimoji="0" lang="zh-CN" altLang="en-US"/>
              <a:t>）</a:t>
            </a:r>
            <a:r>
              <a:rPr kumimoji="0" lang="en-US" altLang="zh-CN"/>
              <a:t>FSM </a:t>
            </a:r>
            <a:r>
              <a:rPr kumimoji="0" lang="zh-CN" altLang="en-US" b="1"/>
              <a:t>的状态是一个特殊的 </a:t>
            </a:r>
            <a:r>
              <a:rPr kumimoji="0" lang="en-US" altLang="zh-CN">
                <a:solidFill>
                  <a:srgbClr val="800080"/>
                </a:solidFill>
              </a:rPr>
              <a:t>LR</a:t>
            </a:r>
            <a:r>
              <a:rPr kumimoji="0" lang="zh-CN" altLang="en-US">
                <a:solidFill>
                  <a:srgbClr val="800080"/>
                </a:solidFill>
              </a:rPr>
              <a:t>（</a:t>
            </a:r>
            <a:r>
              <a:rPr kumimoji="0" lang="en-US" altLang="zh-CN">
                <a:solidFill>
                  <a:srgbClr val="800080"/>
                </a:solidFill>
              </a:rPr>
              <a:t>0</a:t>
            </a:r>
            <a:r>
              <a:rPr kumimoji="0" lang="zh-CN" altLang="en-US">
                <a:solidFill>
                  <a:srgbClr val="800080"/>
                </a:solidFill>
              </a:rPr>
              <a:t>）</a:t>
            </a:r>
            <a:r>
              <a:rPr kumimoji="0" lang="zh-CN" altLang="en-US" b="1">
                <a:solidFill>
                  <a:srgbClr val="800080"/>
                </a:solidFill>
              </a:rPr>
              <a:t>项目</a:t>
            </a:r>
          </a:p>
          <a:p>
            <a:pPr lvl="2">
              <a:buFontTx/>
              <a:buNone/>
            </a:pPr>
            <a:r>
              <a:rPr kumimoji="0" lang="zh-CN" altLang="en-US" b="1"/>
              <a:t>  （</a:t>
            </a:r>
            <a:r>
              <a:rPr kumimoji="0" lang="en-US" altLang="zh-CN" i="1"/>
              <a:t>item</a:t>
            </a:r>
            <a:r>
              <a:rPr kumimoji="0" lang="zh-CN" altLang="en-US" b="1"/>
              <a:t>）</a:t>
            </a:r>
            <a:r>
              <a:rPr kumimoji="0" lang="zh-CN" altLang="en-US" b="1">
                <a:solidFill>
                  <a:srgbClr val="800080"/>
                </a:solidFill>
              </a:rPr>
              <a:t>集</a:t>
            </a:r>
          </a:p>
          <a:p>
            <a:pPr lvl="2">
              <a:buFontTx/>
              <a:buNone/>
            </a:pPr>
            <a:endParaRPr kumimoji="0" lang="zh-CN" altLang="en-US" sz="1000" b="1"/>
          </a:p>
          <a:p>
            <a:pPr lvl="2">
              <a:buFontTx/>
              <a:buChar char="•"/>
            </a:pPr>
            <a:r>
              <a:rPr lang="zh-CN" altLang="en-US"/>
              <a:t> </a:t>
            </a:r>
            <a:r>
              <a:rPr lang="zh-CN" altLang="en-US">
                <a:solidFill>
                  <a:srgbClr val="800080"/>
                </a:solidFill>
              </a:rPr>
              <a:t> </a:t>
            </a:r>
            <a:r>
              <a:rPr kumimoji="0" lang="zh-CN" altLang="en-US" b="1"/>
              <a:t>一个</a:t>
            </a:r>
            <a:r>
              <a:rPr kumimoji="0" lang="en-US" altLang="zh-CN">
                <a:solidFill>
                  <a:srgbClr val="800080"/>
                </a:solidFill>
              </a:rPr>
              <a:t>LR</a:t>
            </a:r>
            <a:r>
              <a:rPr kumimoji="0" lang="zh-CN" altLang="en-US">
                <a:solidFill>
                  <a:srgbClr val="800080"/>
                </a:solidFill>
              </a:rPr>
              <a:t>（</a:t>
            </a:r>
            <a:r>
              <a:rPr kumimoji="0" lang="en-US" altLang="zh-CN">
                <a:solidFill>
                  <a:srgbClr val="800080"/>
                </a:solidFill>
              </a:rPr>
              <a:t>0</a:t>
            </a:r>
            <a:r>
              <a:rPr kumimoji="0" lang="zh-CN" altLang="en-US">
                <a:solidFill>
                  <a:srgbClr val="800080"/>
                </a:solidFill>
              </a:rPr>
              <a:t>）</a:t>
            </a:r>
            <a:r>
              <a:rPr kumimoji="0" lang="zh-CN" altLang="en-US" b="1">
                <a:solidFill>
                  <a:srgbClr val="800080"/>
                </a:solidFill>
              </a:rPr>
              <a:t>项目</a:t>
            </a:r>
            <a:r>
              <a:rPr kumimoji="0" lang="zh-CN" altLang="en-US" b="1"/>
              <a:t>是在</a:t>
            </a:r>
            <a:r>
              <a:rPr kumimoji="0" lang="zh-CN" altLang="en-US" b="1">
                <a:solidFill>
                  <a:srgbClr val="800080"/>
                </a:solidFill>
              </a:rPr>
              <a:t>右端</a:t>
            </a:r>
            <a:r>
              <a:rPr kumimoji="0" lang="zh-CN" altLang="en-US" b="1"/>
              <a:t>某一位置</a:t>
            </a:r>
            <a:r>
              <a:rPr kumimoji="0" lang="zh-CN" altLang="en-US" b="1">
                <a:solidFill>
                  <a:srgbClr val="800080"/>
                </a:solidFill>
              </a:rPr>
              <a:t>有圆点的产生式</a:t>
            </a:r>
          </a:p>
          <a:p>
            <a:pPr lvl="2">
              <a:buFontTx/>
              <a:buNone/>
            </a:pPr>
            <a:endParaRPr kumimoji="0" lang="zh-CN" altLang="en-US" sz="1000" b="1"/>
          </a:p>
          <a:p>
            <a:pPr lvl="2">
              <a:buFontTx/>
              <a:buNone/>
            </a:pPr>
            <a:r>
              <a:rPr lang="zh-CN" altLang="en-US" b="1"/>
              <a:t>   如，产生式 </a:t>
            </a:r>
            <a:r>
              <a:rPr kumimoji="0" lang="en-US" altLang="zh-CN" b="1"/>
              <a:t>A</a:t>
            </a:r>
            <a:r>
              <a:rPr kumimoji="0" lang="en-US" altLang="zh-CN" b="1">
                <a:sym typeface="Symbol" panose="05050102010706020507" pitchFamily="18" charset="2"/>
              </a:rPr>
              <a:t></a:t>
            </a:r>
            <a:r>
              <a:rPr kumimoji="0" lang="en-US" altLang="zh-CN" b="1"/>
              <a:t>xyz </a:t>
            </a:r>
            <a:r>
              <a:rPr lang="zh-CN" altLang="en-US" b="1"/>
              <a:t>对应如下 </a:t>
            </a:r>
            <a:r>
              <a:rPr lang="en-US" altLang="zh-CN"/>
              <a:t>4 </a:t>
            </a:r>
            <a:r>
              <a:rPr lang="zh-CN" altLang="en-US" b="1"/>
              <a:t>个 </a:t>
            </a:r>
            <a:r>
              <a:rPr kumimoji="0" lang="en-US" altLang="zh-CN"/>
              <a:t>LR</a:t>
            </a:r>
            <a:r>
              <a:rPr kumimoji="0" lang="zh-CN" altLang="en-US"/>
              <a:t>（</a:t>
            </a:r>
            <a:r>
              <a:rPr kumimoji="0" lang="en-US" altLang="zh-CN"/>
              <a:t>0</a:t>
            </a:r>
            <a:r>
              <a:rPr kumimoji="0" lang="zh-CN" altLang="en-US"/>
              <a:t>）</a:t>
            </a:r>
            <a:r>
              <a:rPr kumimoji="0" lang="zh-CN" altLang="en-US" b="1"/>
              <a:t>项目：</a:t>
            </a:r>
            <a:endParaRPr lang="zh-CN" altLang="en-US" b="1"/>
          </a:p>
          <a:p>
            <a:pPr lvl="2">
              <a:buFont typeface="Wingdings" panose="05000000000000000000" pitchFamily="2" charset="2"/>
              <a:buNone/>
            </a:pPr>
            <a:r>
              <a:rPr kumimoji="0" lang="zh-CN" altLang="en-US" b="1">
                <a:solidFill>
                  <a:schemeClr val="tx1"/>
                </a:solidFill>
              </a:rPr>
              <a:t>                </a:t>
            </a:r>
            <a:r>
              <a:rPr kumimoji="0" lang="en-US" altLang="zh-CN" b="1"/>
              <a:t>A</a:t>
            </a:r>
            <a:r>
              <a:rPr kumimoji="0" lang="en-US" altLang="zh-CN" b="1">
                <a:sym typeface="Symbol" panose="05050102010706020507" pitchFamily="18" charset="2"/>
              </a:rPr>
              <a:t></a:t>
            </a:r>
            <a:r>
              <a:rPr kumimoji="0" lang="en-US" altLang="zh-CN" b="1"/>
              <a:t>.xyz  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0" lang="en-US" altLang="zh-CN" b="1"/>
              <a:t>                           A</a:t>
            </a:r>
            <a:r>
              <a:rPr kumimoji="0" lang="en-US" altLang="zh-CN" b="1">
                <a:sym typeface="Symbol" panose="05050102010706020507" pitchFamily="18" charset="2"/>
              </a:rPr>
              <a:t></a:t>
            </a:r>
            <a:r>
              <a:rPr kumimoji="0" lang="en-US" altLang="zh-CN" b="1"/>
              <a:t>x.yz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0" lang="en-US" altLang="zh-CN" b="1"/>
              <a:t>                           A</a:t>
            </a:r>
            <a:r>
              <a:rPr kumimoji="0" lang="en-US" altLang="zh-CN" b="1">
                <a:sym typeface="Symbol" panose="05050102010706020507" pitchFamily="18" charset="2"/>
              </a:rPr>
              <a:t></a:t>
            </a:r>
            <a:r>
              <a:rPr kumimoji="0" lang="en-US" altLang="zh-CN" b="1"/>
              <a:t>xy.z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0" lang="en-US" altLang="zh-CN" b="1"/>
              <a:t>                           A</a:t>
            </a:r>
            <a:r>
              <a:rPr kumimoji="0" lang="en-US" altLang="zh-CN" b="1">
                <a:sym typeface="Symbol" panose="05050102010706020507" pitchFamily="18" charset="2"/>
              </a:rPr>
              <a:t></a:t>
            </a:r>
            <a:r>
              <a:rPr kumimoji="0" lang="en-US" altLang="zh-CN" b="1"/>
              <a:t>xyz.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0" lang="en-US" altLang="zh-CN" b="1"/>
              <a:t>              </a:t>
            </a:r>
            <a:r>
              <a:rPr kumimoji="0" lang="zh-CN" altLang="en-US" b="1">
                <a:solidFill>
                  <a:srgbClr val="800080"/>
                </a:solidFill>
              </a:rPr>
              <a:t>圆点标志</a:t>
            </a:r>
            <a:r>
              <a:rPr kumimoji="0" lang="zh-CN" altLang="en-US" b="1"/>
              <a:t>着已</a:t>
            </a:r>
            <a:r>
              <a:rPr kumimoji="0" lang="zh-CN" altLang="en-US" b="1">
                <a:solidFill>
                  <a:srgbClr val="800080"/>
                </a:solidFill>
              </a:rPr>
              <a:t>分析</a:t>
            </a:r>
            <a:r>
              <a:rPr kumimoji="0" lang="zh-CN" altLang="en-US" b="1"/>
              <a:t>过的串与该产生式</a:t>
            </a:r>
            <a:r>
              <a:rPr kumimoji="0" lang="zh-CN" altLang="en-US" b="1">
                <a:solidFill>
                  <a:srgbClr val="800080"/>
                </a:solidFill>
              </a:rPr>
              <a:t>匹配的位置</a:t>
            </a:r>
          </a:p>
        </p:txBody>
      </p:sp>
    </p:spTree>
  </p:cSld>
  <p:clrMapOvr>
    <a:masterClrMapping/>
  </p:clrMapOvr>
  <p:transition spd="med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62" name="AutoShape 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1463" name="AutoShape 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1464" name="AutoShape 8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1465" name="AutoShape 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1466" name="Rectangle 10"/>
          <p:cNvSpPr>
            <a:spLocks noChangeArrowheads="1"/>
          </p:cNvSpPr>
          <p:nvPr/>
        </p:nvSpPr>
        <p:spPr bwMode="auto">
          <a:xfrm>
            <a:off x="35496" y="188913"/>
            <a:ext cx="32385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0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531467" name="Text Box 11"/>
          <p:cNvSpPr txBox="1">
            <a:spLocks noChangeArrowheads="1"/>
          </p:cNvSpPr>
          <p:nvPr/>
        </p:nvSpPr>
        <p:spPr bwMode="auto">
          <a:xfrm>
            <a:off x="611188" y="1557338"/>
            <a:ext cx="8243887" cy="43116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>
                <a:solidFill>
                  <a:srgbClr val="800080"/>
                </a:solidFill>
              </a:rPr>
              <a:t>LR</a:t>
            </a:r>
            <a:r>
              <a:rPr lang="zh-CN" altLang="en-US" sz="3200">
                <a:solidFill>
                  <a:srgbClr val="800080"/>
                </a:solidFill>
              </a:rPr>
              <a:t>（</a:t>
            </a:r>
            <a:r>
              <a:rPr lang="en-US" altLang="zh-CN" sz="3200">
                <a:solidFill>
                  <a:srgbClr val="800080"/>
                </a:solidFill>
              </a:rPr>
              <a:t>0</a:t>
            </a:r>
            <a:r>
              <a:rPr lang="zh-CN" altLang="en-US" sz="3200">
                <a:solidFill>
                  <a:srgbClr val="800080"/>
                </a:solidFill>
              </a:rPr>
              <a:t>）</a:t>
            </a:r>
            <a:r>
              <a:rPr lang="en-US" altLang="zh-CN" sz="3200">
                <a:solidFill>
                  <a:srgbClr val="800080"/>
                </a:solidFill>
              </a:rPr>
              <a:t>FSM </a:t>
            </a:r>
            <a:r>
              <a:rPr lang="zh-CN" altLang="en-US" sz="3200" b="1">
                <a:solidFill>
                  <a:srgbClr val="800080"/>
                </a:solidFill>
              </a:rPr>
              <a:t>的构造</a:t>
            </a:r>
            <a:endParaRPr lang="zh-CN" altLang="en-US" sz="3200" b="1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>
                <a:solidFill>
                  <a:srgbClr val="800080"/>
                </a:solidFill>
              </a:rPr>
              <a:t>  </a:t>
            </a:r>
            <a:r>
              <a:rPr lang="en-US" altLang="zh-CN" sz="2800">
                <a:solidFill>
                  <a:srgbClr val="800080"/>
                </a:solidFill>
              </a:rPr>
              <a:t>LR</a:t>
            </a:r>
            <a:r>
              <a:rPr lang="zh-CN" altLang="en-US" sz="2800">
                <a:solidFill>
                  <a:srgbClr val="800080"/>
                </a:solidFill>
              </a:rPr>
              <a:t>（</a:t>
            </a:r>
            <a:r>
              <a:rPr lang="en-US" altLang="zh-CN" sz="2800">
                <a:solidFill>
                  <a:srgbClr val="800080"/>
                </a:solidFill>
              </a:rPr>
              <a:t>0</a:t>
            </a:r>
            <a:r>
              <a:rPr lang="zh-CN" altLang="en-US" sz="2800">
                <a:solidFill>
                  <a:srgbClr val="800080"/>
                </a:solidFill>
              </a:rPr>
              <a:t>）</a:t>
            </a:r>
            <a:r>
              <a:rPr lang="zh-CN" altLang="en-US" sz="2800" b="1">
                <a:solidFill>
                  <a:srgbClr val="800080"/>
                </a:solidFill>
              </a:rPr>
              <a:t>项目解析</a:t>
            </a:r>
          </a:p>
          <a:p>
            <a:pPr lvl="1">
              <a:buClrTx/>
              <a:buFont typeface="Symbol" panose="05050102010706020507" pitchFamily="18" charset="2"/>
              <a:buNone/>
            </a:pPr>
            <a:endParaRPr lang="zh-CN" altLang="en-US" sz="1000" b="1"/>
          </a:p>
          <a:p>
            <a:pPr lvl="1">
              <a:buClrTx/>
              <a:buFont typeface="Symbol" panose="05050102010706020507" pitchFamily="18" charset="2"/>
              <a:buNone/>
            </a:pPr>
            <a:r>
              <a:rPr kumimoji="0" lang="zh-CN" altLang="en-US" b="1"/>
              <a:t>    设 </a:t>
            </a:r>
            <a:r>
              <a:rPr kumimoji="0" lang="en-US" altLang="zh-CN" i="1"/>
              <a:t>G’ </a:t>
            </a:r>
            <a:r>
              <a:rPr kumimoji="0" lang="en-US" altLang="zh-CN"/>
              <a:t>[</a:t>
            </a:r>
            <a:r>
              <a:rPr kumimoji="0" lang="en-US" altLang="zh-CN" i="1"/>
              <a:t>S’</a:t>
            </a:r>
            <a:r>
              <a:rPr kumimoji="0" lang="en-US" altLang="zh-CN"/>
              <a:t>] </a:t>
            </a:r>
            <a:r>
              <a:rPr kumimoji="0" lang="zh-CN" altLang="en-US" b="1"/>
              <a:t>是文法 </a:t>
            </a:r>
            <a:r>
              <a:rPr lang="en-US" altLang="zh-CN" i="1"/>
              <a:t>G</a:t>
            </a:r>
            <a:r>
              <a:rPr lang="en-US" altLang="zh-CN" b="1"/>
              <a:t> = (</a:t>
            </a:r>
            <a:r>
              <a:rPr lang="en-US" altLang="zh-CN" b="1" i="1"/>
              <a:t>V</a:t>
            </a:r>
            <a:r>
              <a:rPr lang="en-US" altLang="zh-CN" b="1" i="1" baseline="-25000"/>
              <a:t>N</a:t>
            </a:r>
            <a:r>
              <a:rPr lang="en-US" altLang="zh-CN" b="1" i="1"/>
              <a:t>,</a:t>
            </a:r>
            <a:r>
              <a:rPr lang="en-US" altLang="zh-CN" b="1"/>
              <a:t> </a:t>
            </a:r>
            <a:r>
              <a:rPr lang="en-US" altLang="zh-CN" b="1" i="1"/>
              <a:t>V</a:t>
            </a:r>
            <a:r>
              <a:rPr lang="en-US" altLang="zh-CN" b="1" i="1" baseline="-25000">
                <a:sym typeface="Symbol" panose="05050102010706020507" pitchFamily="18" charset="2"/>
              </a:rPr>
              <a:t>T</a:t>
            </a:r>
            <a:r>
              <a:rPr lang="en-US" altLang="zh-CN" b="1" i="1"/>
              <a:t>, </a:t>
            </a:r>
            <a:r>
              <a:rPr lang="en-US" altLang="zh-CN" b="1" i="1">
                <a:sym typeface="Symbol" panose="05050102010706020507" pitchFamily="18" charset="2"/>
              </a:rPr>
              <a:t>P</a:t>
            </a:r>
            <a:r>
              <a:rPr lang="en-US" altLang="zh-CN" b="1" i="1"/>
              <a:t> , S </a:t>
            </a:r>
            <a:r>
              <a:rPr lang="en-US" altLang="zh-CN" b="1"/>
              <a:t>)</a:t>
            </a:r>
            <a:r>
              <a:rPr lang="zh-CN" altLang="en-US" b="1"/>
              <a:t>的增广文法</a:t>
            </a:r>
          </a:p>
          <a:p>
            <a:pPr lvl="1">
              <a:buClrTx/>
              <a:buFont typeface="Symbol" panose="05050102010706020507" pitchFamily="18" charset="2"/>
              <a:buNone/>
            </a:pPr>
            <a:endParaRPr lang="zh-CN" altLang="en-US" sz="1000" b="1"/>
          </a:p>
          <a:p>
            <a:pPr lvl="1">
              <a:buClrTx/>
              <a:buFont typeface="Symbol" panose="05050102010706020507" pitchFamily="18" charset="2"/>
              <a:buNone/>
            </a:pPr>
            <a:r>
              <a:rPr lang="zh-CN" altLang="en-US" b="1"/>
              <a:t>    根据圆点所在的位置和圆点后是终结符还是非终结符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lang="zh-CN" altLang="en-US" b="1"/>
              <a:t>    或为空，把项目分为以下几种</a:t>
            </a:r>
            <a:r>
              <a:rPr kumimoji="0" lang="zh-CN" altLang="en-US" b="1"/>
              <a:t>：</a:t>
            </a:r>
            <a:endParaRPr kumimoji="0" lang="zh-CN" altLang="en-US" sz="1000" b="1"/>
          </a:p>
          <a:p>
            <a:pPr eaLnBrk="0" hangingPunct="0">
              <a:lnSpc>
                <a:spcPct val="70000"/>
              </a:lnSpc>
              <a:spcBef>
                <a:spcPct val="50000"/>
              </a:spcBef>
              <a:buSzPct val="75000"/>
              <a:buFontTx/>
              <a:buNone/>
            </a:pPr>
            <a:r>
              <a:rPr lang="zh-CN" altLang="en-US" b="1">
                <a:solidFill>
                  <a:schemeClr val="tx1"/>
                </a:solidFill>
              </a:rPr>
              <a:t>         </a:t>
            </a:r>
            <a:r>
              <a:rPr lang="zh-CN" altLang="en-US" b="1">
                <a:solidFill>
                  <a:srgbClr val="800080"/>
                </a:solidFill>
              </a:rPr>
              <a:t>移进项目</a:t>
            </a:r>
            <a:r>
              <a:rPr lang="en-US" altLang="zh-CN" b="1"/>
              <a:t>: </a:t>
            </a:r>
            <a:r>
              <a:rPr lang="zh-CN" altLang="en-US" b="1"/>
              <a:t>形如 </a:t>
            </a:r>
            <a:r>
              <a:rPr lang="en-US" altLang="zh-CN" b="1">
                <a:sym typeface="Symbol" panose="05050102010706020507" pitchFamily="18" charset="2"/>
              </a:rPr>
              <a:t>A </a:t>
            </a:r>
            <a:r>
              <a:rPr kumimoji="0"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</a:t>
            </a:r>
            <a:r>
              <a:rPr lang="en-US" altLang="zh-CN" b="1">
                <a:sym typeface="Symbol" panose="05050102010706020507" pitchFamily="18" charset="2"/>
              </a:rPr>
              <a:t> </a:t>
            </a:r>
            <a:r>
              <a:rPr lang="en-US" altLang="zh-CN" b="1"/>
              <a:t>.</a:t>
            </a:r>
            <a:r>
              <a:rPr lang="en-US" altLang="zh-CN" b="1">
                <a:sym typeface="Symbol" panose="05050102010706020507" pitchFamily="18" charset="2"/>
              </a:rPr>
              <a:t>a,  </a:t>
            </a:r>
            <a:r>
              <a:rPr lang="zh-CN" altLang="en-US" b="1">
                <a:sym typeface="Symbol" panose="05050102010706020507" pitchFamily="18" charset="2"/>
              </a:rPr>
              <a:t>其中</a:t>
            </a:r>
            <a:r>
              <a:rPr lang="en-US" altLang="zh-CN" b="1">
                <a:sym typeface="Symbol" panose="05050102010706020507" pitchFamily="18" charset="2"/>
              </a:rPr>
              <a:t>a</a:t>
            </a:r>
            <a:r>
              <a:rPr lang="zh-CN" altLang="zh-CN" b="1">
                <a:sym typeface="Symbol" panose="05050102010706020507" pitchFamily="18" charset="2"/>
              </a:rPr>
              <a:t></a:t>
            </a:r>
            <a:r>
              <a:rPr lang="en-US" altLang="zh-CN" b="1" i="1"/>
              <a:t>V</a:t>
            </a:r>
            <a:r>
              <a:rPr lang="en-US" altLang="zh-CN" b="1" i="1" baseline="-25000">
                <a:sym typeface="Symbol" panose="05050102010706020507" pitchFamily="18" charset="2"/>
              </a:rPr>
              <a:t>T </a:t>
            </a:r>
            <a:r>
              <a:rPr lang="en-US" altLang="zh-CN" b="1"/>
              <a:t>, </a:t>
            </a:r>
            <a:r>
              <a:rPr lang="en-US" altLang="zh-CN" b="1">
                <a:sym typeface="Symbol" panose="05050102010706020507" pitchFamily="18" charset="2"/>
              </a:rPr>
              <a:t> </a:t>
            </a:r>
            <a:r>
              <a:rPr lang="en-US" altLang="zh-CN" b="1"/>
              <a:t>,</a:t>
            </a:r>
            <a:r>
              <a:rPr lang="en-US" altLang="zh-CN" b="1">
                <a:sym typeface="Symbol" panose="05050102010706020507" pitchFamily="18" charset="2"/>
              </a:rPr>
              <a:t></a:t>
            </a:r>
            <a:r>
              <a:rPr lang="zh-CN" altLang="zh-CN" b="1">
                <a:sym typeface="Symbol" panose="05050102010706020507" pitchFamily="18" charset="2"/>
              </a:rPr>
              <a:t></a:t>
            </a:r>
            <a:r>
              <a:rPr lang="en-US" altLang="zh-CN" b="1">
                <a:sym typeface="Symbol" panose="05050102010706020507" pitchFamily="18" charset="2"/>
              </a:rPr>
              <a:t>(</a:t>
            </a:r>
            <a:r>
              <a:rPr lang="en-US" altLang="zh-CN" b="1" i="1"/>
              <a:t>V</a:t>
            </a:r>
            <a:r>
              <a:rPr lang="en-US" altLang="zh-CN" b="1" i="1" baseline="-25000"/>
              <a:t>N</a:t>
            </a:r>
            <a:r>
              <a:rPr kumimoji="0" lang="en-US" altLang="zh-CN" b="1">
                <a:sym typeface="Symbol" panose="05050102010706020507" pitchFamily="18" charset="2"/>
              </a:rPr>
              <a:t></a:t>
            </a:r>
            <a:r>
              <a:rPr lang="en-US" altLang="zh-CN" b="1" i="1"/>
              <a:t>V</a:t>
            </a:r>
            <a:r>
              <a:rPr lang="en-US" altLang="zh-CN" b="1" i="1" baseline="-25000">
                <a:sym typeface="Symbol" panose="05050102010706020507" pitchFamily="18" charset="2"/>
              </a:rPr>
              <a:t>T</a:t>
            </a:r>
            <a:r>
              <a:rPr lang="en-US" altLang="zh-CN" b="1">
                <a:sym typeface="Symbol" panose="05050102010706020507" pitchFamily="18" charset="2"/>
              </a:rPr>
              <a:t>)*</a:t>
            </a:r>
          </a:p>
          <a:p>
            <a:pPr eaLnBrk="0" hangingPunct="0">
              <a:lnSpc>
                <a:spcPct val="70000"/>
              </a:lnSpc>
              <a:spcBef>
                <a:spcPct val="50000"/>
              </a:spcBef>
              <a:buSzPct val="75000"/>
              <a:buFontTx/>
              <a:buNone/>
            </a:pPr>
            <a:r>
              <a:rPr lang="en-US" altLang="zh-CN" b="1"/>
              <a:t>         </a:t>
            </a:r>
            <a:r>
              <a:rPr lang="zh-CN" altLang="en-US" b="1">
                <a:solidFill>
                  <a:srgbClr val="800080"/>
                </a:solidFill>
              </a:rPr>
              <a:t>待约项目</a:t>
            </a:r>
            <a:r>
              <a:rPr lang="en-US" altLang="zh-CN" b="1"/>
              <a:t>: </a:t>
            </a:r>
            <a:r>
              <a:rPr lang="zh-CN" altLang="en-US" b="1"/>
              <a:t>形如 </a:t>
            </a:r>
            <a:r>
              <a:rPr lang="en-US" altLang="zh-CN" b="1">
                <a:sym typeface="Symbol" panose="05050102010706020507" pitchFamily="18" charset="2"/>
              </a:rPr>
              <a:t>A </a:t>
            </a:r>
            <a:r>
              <a:rPr kumimoji="0"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</a:t>
            </a:r>
            <a:r>
              <a:rPr lang="en-US" altLang="zh-CN" b="1">
                <a:sym typeface="Symbol" panose="05050102010706020507" pitchFamily="18" charset="2"/>
              </a:rPr>
              <a:t> </a:t>
            </a:r>
            <a:r>
              <a:rPr lang="en-US" altLang="zh-CN" b="1"/>
              <a:t>.</a:t>
            </a:r>
            <a:r>
              <a:rPr lang="en-US" altLang="zh-CN" b="1">
                <a:sym typeface="Symbol" panose="05050102010706020507" pitchFamily="18" charset="2"/>
              </a:rPr>
              <a:t>B</a:t>
            </a:r>
          </a:p>
          <a:p>
            <a:pPr eaLnBrk="0" hangingPunct="0">
              <a:lnSpc>
                <a:spcPct val="70000"/>
              </a:lnSpc>
              <a:spcBef>
                <a:spcPct val="50000"/>
              </a:spcBef>
              <a:buSzPct val="75000"/>
              <a:buFontTx/>
              <a:buNone/>
            </a:pPr>
            <a:r>
              <a:rPr lang="en-US" altLang="zh-CN" b="1"/>
              <a:t>         </a:t>
            </a:r>
            <a:r>
              <a:rPr lang="zh-CN" altLang="en-US" b="1">
                <a:solidFill>
                  <a:srgbClr val="800080"/>
                </a:solidFill>
              </a:rPr>
              <a:t>归约项目</a:t>
            </a:r>
            <a:r>
              <a:rPr lang="en-US" altLang="zh-CN" b="1"/>
              <a:t>: </a:t>
            </a:r>
            <a:r>
              <a:rPr lang="zh-CN" altLang="en-US" b="1"/>
              <a:t>形如 </a:t>
            </a:r>
            <a:r>
              <a:rPr lang="en-US" altLang="zh-CN" b="1">
                <a:sym typeface="Symbol" panose="05050102010706020507" pitchFamily="18" charset="2"/>
              </a:rPr>
              <a:t>A </a:t>
            </a:r>
            <a:r>
              <a:rPr kumimoji="0"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</a:t>
            </a:r>
            <a:r>
              <a:rPr lang="en-US" altLang="zh-CN" b="1">
                <a:sym typeface="Symbol" panose="05050102010706020507" pitchFamily="18" charset="2"/>
              </a:rPr>
              <a:t>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en-US" altLang="zh-CN" b="1"/>
              <a:t>.</a:t>
            </a:r>
          </a:p>
          <a:p>
            <a:pPr eaLnBrk="0" hangingPunct="0">
              <a:lnSpc>
                <a:spcPct val="70000"/>
              </a:lnSpc>
              <a:spcBef>
                <a:spcPct val="50000"/>
              </a:spcBef>
              <a:buSzPct val="75000"/>
              <a:buFontTx/>
              <a:buNone/>
            </a:pPr>
            <a:r>
              <a:rPr lang="en-US" altLang="zh-CN" b="1"/>
              <a:t>         </a:t>
            </a:r>
            <a:r>
              <a:rPr lang="zh-CN" altLang="en-US" b="1">
                <a:solidFill>
                  <a:srgbClr val="800080"/>
                </a:solidFill>
              </a:rPr>
              <a:t>接受项目</a:t>
            </a:r>
            <a:r>
              <a:rPr lang="en-US" altLang="zh-CN" b="1"/>
              <a:t>: </a:t>
            </a:r>
            <a:r>
              <a:rPr lang="zh-CN" altLang="en-US" b="1"/>
              <a:t>形如</a:t>
            </a:r>
            <a:r>
              <a:rPr lang="zh-CN" altLang="en-US" b="1">
                <a:sym typeface="Symbol" panose="05050102010706020507" pitchFamily="18" charset="2"/>
              </a:rPr>
              <a:t> </a:t>
            </a:r>
            <a:r>
              <a:rPr lang="en-US" altLang="zh-CN" b="1">
                <a:sym typeface="Symbol" panose="05050102010706020507" pitchFamily="18" charset="2"/>
              </a:rPr>
              <a:t>S</a:t>
            </a:r>
            <a:r>
              <a:rPr lang="en-US" altLang="zh-CN" b="1" i="1">
                <a:sym typeface="Symbol" panose="05050102010706020507" pitchFamily="18" charset="2"/>
              </a:rPr>
              <a:t>’</a:t>
            </a:r>
            <a:r>
              <a:rPr kumimoji="0"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</a:t>
            </a:r>
            <a:r>
              <a:rPr lang="en-US" altLang="zh-CN" b="1">
                <a:sym typeface="Symbol" panose="05050102010706020507" pitchFamily="18" charset="2"/>
              </a:rPr>
              <a:t>S .</a:t>
            </a:r>
          </a:p>
        </p:txBody>
      </p:sp>
    </p:spTree>
  </p:cSld>
  <p:clrMapOvr>
    <a:masterClrMapping/>
  </p:clrMapOvr>
  <p:transition spd="med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77" name="AutoShape 1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2078" name="AutoShape 1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2079" name="AutoShape 1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2080" name="AutoShape 1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2081" name="Rectangle 17"/>
          <p:cNvSpPr>
            <a:spLocks noChangeArrowheads="1"/>
          </p:cNvSpPr>
          <p:nvPr/>
        </p:nvSpPr>
        <p:spPr bwMode="auto">
          <a:xfrm>
            <a:off x="35496" y="188913"/>
            <a:ext cx="32385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0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472082" name="Text Box 18"/>
          <p:cNvSpPr txBox="1">
            <a:spLocks noChangeArrowheads="1"/>
          </p:cNvSpPr>
          <p:nvPr/>
        </p:nvSpPr>
        <p:spPr bwMode="auto">
          <a:xfrm>
            <a:off x="611188" y="1416050"/>
            <a:ext cx="8424862" cy="49657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>
                <a:solidFill>
                  <a:srgbClr val="800080"/>
                </a:solidFill>
              </a:rPr>
              <a:t>LR</a:t>
            </a:r>
            <a:r>
              <a:rPr lang="zh-CN" altLang="en-US" sz="3200">
                <a:solidFill>
                  <a:srgbClr val="800080"/>
                </a:solidFill>
              </a:rPr>
              <a:t>（</a:t>
            </a:r>
            <a:r>
              <a:rPr lang="en-US" altLang="zh-CN" sz="3200">
                <a:solidFill>
                  <a:srgbClr val="800080"/>
                </a:solidFill>
              </a:rPr>
              <a:t>0</a:t>
            </a:r>
            <a:r>
              <a:rPr lang="zh-CN" altLang="en-US" sz="3200">
                <a:solidFill>
                  <a:srgbClr val="800080"/>
                </a:solidFill>
              </a:rPr>
              <a:t>）</a:t>
            </a:r>
            <a:r>
              <a:rPr lang="en-US" altLang="zh-CN" sz="3200">
                <a:solidFill>
                  <a:srgbClr val="800080"/>
                </a:solidFill>
              </a:rPr>
              <a:t>FSM </a:t>
            </a:r>
            <a:r>
              <a:rPr lang="zh-CN" altLang="en-US" sz="3200" b="1">
                <a:solidFill>
                  <a:srgbClr val="800080"/>
                </a:solidFill>
              </a:rPr>
              <a:t>的构造</a:t>
            </a:r>
            <a:endParaRPr lang="zh-CN" altLang="en-US" sz="3200" b="1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>
                <a:solidFill>
                  <a:srgbClr val="800080"/>
                </a:solidFill>
              </a:rPr>
              <a:t> </a:t>
            </a:r>
            <a:r>
              <a:rPr lang="en-US" altLang="zh-CN" sz="2800">
                <a:solidFill>
                  <a:srgbClr val="800080"/>
                </a:solidFill>
              </a:rPr>
              <a:t>LR</a:t>
            </a:r>
            <a:r>
              <a:rPr lang="zh-CN" altLang="en-US" sz="2800">
                <a:solidFill>
                  <a:srgbClr val="800080"/>
                </a:solidFill>
              </a:rPr>
              <a:t>（</a:t>
            </a:r>
            <a:r>
              <a:rPr lang="en-US" altLang="zh-CN" sz="2800">
                <a:solidFill>
                  <a:srgbClr val="800080"/>
                </a:solidFill>
              </a:rPr>
              <a:t>0</a:t>
            </a:r>
            <a:r>
              <a:rPr lang="zh-CN" altLang="en-US" sz="2800">
                <a:solidFill>
                  <a:srgbClr val="800080"/>
                </a:solidFill>
              </a:rPr>
              <a:t>）</a:t>
            </a:r>
            <a:r>
              <a:rPr lang="en-US" altLang="zh-CN" sz="2800">
                <a:solidFill>
                  <a:srgbClr val="800080"/>
                </a:solidFill>
              </a:rPr>
              <a:t>FSM </a:t>
            </a:r>
            <a:r>
              <a:rPr lang="zh-CN" altLang="en-US" sz="2800" b="1">
                <a:solidFill>
                  <a:srgbClr val="800080"/>
                </a:solidFill>
              </a:rPr>
              <a:t>的状态</a:t>
            </a:r>
            <a:endParaRPr lang="zh-CN" altLang="en-US" sz="2800" b="1"/>
          </a:p>
          <a:p>
            <a:pPr lvl="1">
              <a:buClrTx/>
              <a:buFont typeface="Symbol" panose="05050102010706020507" pitchFamily="18" charset="2"/>
              <a:buNone/>
            </a:pPr>
            <a:endParaRPr lang="zh-CN" altLang="en-US" sz="1000" b="1"/>
          </a:p>
          <a:p>
            <a:pPr lvl="2">
              <a:buFontTx/>
              <a:buChar char="•"/>
            </a:pPr>
            <a:r>
              <a:rPr kumimoji="0" lang="zh-CN" altLang="en-US" i="1"/>
              <a:t>  </a:t>
            </a:r>
            <a:r>
              <a:rPr kumimoji="0" lang="en-US" altLang="zh-CN"/>
              <a:t>LR</a:t>
            </a:r>
            <a:r>
              <a:rPr kumimoji="0" lang="zh-CN" altLang="en-US"/>
              <a:t>（</a:t>
            </a:r>
            <a:r>
              <a:rPr kumimoji="0" lang="en-US" altLang="zh-CN"/>
              <a:t>0</a:t>
            </a:r>
            <a:r>
              <a:rPr kumimoji="0" lang="zh-CN" altLang="en-US"/>
              <a:t>）</a:t>
            </a:r>
            <a:r>
              <a:rPr kumimoji="0" lang="en-US" altLang="zh-CN"/>
              <a:t>FSM</a:t>
            </a:r>
            <a:r>
              <a:rPr kumimoji="0" lang="en-US" altLang="zh-CN" b="1"/>
              <a:t> </a:t>
            </a:r>
            <a:r>
              <a:rPr kumimoji="0" lang="zh-CN" altLang="en-US" b="1"/>
              <a:t>的状态是一个 </a:t>
            </a:r>
            <a:r>
              <a:rPr kumimoji="0" lang="en-US" altLang="zh-CN">
                <a:solidFill>
                  <a:srgbClr val="800080"/>
                </a:solidFill>
              </a:rPr>
              <a:t>LR</a:t>
            </a:r>
            <a:r>
              <a:rPr kumimoji="0" lang="zh-CN" altLang="en-US">
                <a:solidFill>
                  <a:srgbClr val="800080"/>
                </a:solidFill>
              </a:rPr>
              <a:t>（</a:t>
            </a:r>
            <a:r>
              <a:rPr kumimoji="0" lang="en-US" altLang="zh-CN">
                <a:solidFill>
                  <a:srgbClr val="800080"/>
                </a:solidFill>
              </a:rPr>
              <a:t>0</a:t>
            </a:r>
            <a:r>
              <a:rPr kumimoji="0" lang="zh-CN" altLang="en-US">
                <a:solidFill>
                  <a:srgbClr val="800080"/>
                </a:solidFill>
              </a:rPr>
              <a:t>）</a:t>
            </a:r>
            <a:r>
              <a:rPr kumimoji="0" lang="zh-CN" altLang="en-US" b="1">
                <a:solidFill>
                  <a:srgbClr val="800080"/>
                </a:solidFill>
              </a:rPr>
              <a:t>项目集的闭包</a:t>
            </a:r>
          </a:p>
          <a:p>
            <a:pPr lvl="2">
              <a:buFontTx/>
              <a:buNone/>
            </a:pPr>
            <a:r>
              <a:rPr kumimoji="0" lang="zh-CN" altLang="en-US" b="1"/>
              <a:t>  （</a:t>
            </a:r>
            <a:r>
              <a:rPr kumimoji="0" lang="en-US" altLang="en-US" i="1"/>
              <a:t>closure</a:t>
            </a:r>
            <a:r>
              <a:rPr kumimoji="0" lang="zh-CN" altLang="en-US" b="1"/>
              <a:t>）</a:t>
            </a:r>
            <a:endParaRPr kumimoji="0" lang="zh-CN" altLang="en-US" b="1">
              <a:solidFill>
                <a:srgbClr val="800080"/>
              </a:solidFill>
            </a:endParaRPr>
          </a:p>
          <a:p>
            <a:pPr lvl="2">
              <a:buFontTx/>
              <a:buNone/>
            </a:pPr>
            <a:endParaRPr kumimoji="0" lang="zh-CN" altLang="en-US" sz="1000" b="1"/>
          </a:p>
          <a:p>
            <a:pPr lvl="2">
              <a:buFontTx/>
              <a:buChar char="•"/>
            </a:pPr>
            <a:r>
              <a:rPr kumimoji="0" lang="zh-CN" altLang="en-US" b="1"/>
              <a:t>  </a:t>
            </a:r>
            <a:r>
              <a:rPr kumimoji="0" lang="zh-CN" altLang="en-US" b="1">
                <a:solidFill>
                  <a:srgbClr val="800080"/>
                </a:solidFill>
              </a:rPr>
              <a:t>计算</a:t>
            </a:r>
            <a:r>
              <a:rPr kumimoji="0" lang="en-US" altLang="zh-CN"/>
              <a:t>LR</a:t>
            </a:r>
            <a:r>
              <a:rPr kumimoji="0" lang="zh-CN" altLang="en-US"/>
              <a:t>（</a:t>
            </a:r>
            <a:r>
              <a:rPr kumimoji="0" lang="en-US" altLang="zh-CN"/>
              <a:t>0</a:t>
            </a:r>
            <a:r>
              <a:rPr kumimoji="0" lang="zh-CN" altLang="en-US"/>
              <a:t>）</a:t>
            </a:r>
            <a:r>
              <a:rPr kumimoji="0" lang="zh-CN" altLang="en-US" b="1"/>
              <a:t>项目集 </a:t>
            </a:r>
            <a:r>
              <a:rPr kumimoji="0" lang="en-US" altLang="zh-CN" b="1"/>
              <a:t>I</a:t>
            </a:r>
            <a:r>
              <a:rPr kumimoji="0" lang="en-US" altLang="zh-CN" b="1">
                <a:latin typeface="Times New Roman" panose="02020603050405020304" pitchFamily="18" charset="0"/>
              </a:rPr>
              <a:t> </a:t>
            </a:r>
            <a:r>
              <a:rPr kumimoji="0" lang="zh-CN" altLang="en-US" b="1"/>
              <a:t>的闭包 </a:t>
            </a:r>
            <a:r>
              <a:rPr kumimoji="0" lang="en-US" altLang="zh-CN">
                <a:solidFill>
                  <a:srgbClr val="800080"/>
                </a:solidFill>
              </a:rPr>
              <a:t>CLOSURE</a:t>
            </a:r>
            <a:r>
              <a:rPr kumimoji="0" lang="en-US" altLang="zh-CN" b="1">
                <a:solidFill>
                  <a:srgbClr val="800080"/>
                </a:solidFill>
                <a:latin typeface="楷体_GB2312" pitchFamily="49" charset="-122"/>
              </a:rPr>
              <a:t>(</a:t>
            </a:r>
            <a:r>
              <a:rPr kumimoji="0" lang="en-US" altLang="zh-CN" b="1">
                <a:solidFill>
                  <a:srgbClr val="800080"/>
                </a:solidFill>
              </a:rPr>
              <a:t>I</a:t>
            </a:r>
            <a:r>
              <a:rPr kumimoji="0" lang="en-US" altLang="zh-CN" b="1">
                <a:solidFill>
                  <a:srgbClr val="800080"/>
                </a:solidFill>
                <a:latin typeface="楷体_GB2312" pitchFamily="49" charset="-122"/>
              </a:rPr>
              <a:t>)</a:t>
            </a:r>
            <a:r>
              <a:rPr kumimoji="0" lang="zh-CN" altLang="en-US" b="1"/>
              <a:t>的算法：</a:t>
            </a:r>
          </a:p>
          <a:p>
            <a:pPr lvl="2">
              <a:buFontTx/>
              <a:buNone/>
            </a:pPr>
            <a:endParaRPr kumimoji="0" lang="zh-CN" altLang="en-US" sz="1000" b="1"/>
          </a:p>
          <a:p>
            <a:pPr lvl="2">
              <a:buFont typeface="Wingdings" panose="05000000000000000000" pitchFamily="2" charset="2"/>
              <a:buNone/>
            </a:pPr>
            <a:r>
              <a:rPr kumimoji="0" lang="zh-CN" altLang="en-US" b="1">
                <a:solidFill>
                  <a:schemeClr val="tx1"/>
                </a:solidFill>
              </a:rPr>
              <a:t>   </a:t>
            </a:r>
            <a:r>
              <a:rPr kumimoji="0" lang="en-US" altLang="zh-CN" sz="2000"/>
              <a:t>function  CLOSURE</a:t>
            </a:r>
            <a:r>
              <a:rPr kumimoji="0" lang="en-US" altLang="zh-CN" sz="2000" b="1">
                <a:latin typeface="楷体_GB2312" pitchFamily="49" charset="-122"/>
              </a:rPr>
              <a:t>(</a:t>
            </a:r>
            <a:r>
              <a:rPr kumimoji="0" lang="en-US" altLang="zh-CN" sz="2000" b="1"/>
              <a:t>I</a:t>
            </a:r>
            <a:r>
              <a:rPr kumimoji="0" lang="zh-CN" altLang="en-US" sz="2000" b="1"/>
              <a:t>）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0" lang="zh-CN" altLang="en-US" sz="2000"/>
              <a:t>                 </a:t>
            </a:r>
            <a:r>
              <a:rPr kumimoji="0" lang="en-US" altLang="zh-CN" sz="2000"/>
              <a:t>{</a:t>
            </a:r>
            <a:r>
              <a:rPr kumimoji="0" lang="en-US" altLang="zh-CN" sz="2000" b="1"/>
              <a:t>   J := I;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0" lang="en-US" altLang="zh-CN" sz="2000" b="1"/>
              <a:t>                      </a:t>
            </a:r>
            <a:r>
              <a:rPr kumimoji="0" lang="en-US" altLang="zh-CN" sz="2000"/>
              <a:t>repeat  for</a:t>
            </a:r>
            <a:r>
              <a:rPr kumimoji="0" lang="en-US" altLang="zh-CN" sz="2000" b="1"/>
              <a:t>  J </a:t>
            </a:r>
            <a:r>
              <a:rPr kumimoji="0" lang="zh-CN" altLang="en-US" sz="2000" b="1"/>
              <a:t>中的每个项目</a:t>
            </a:r>
            <a:r>
              <a:rPr kumimoji="0" lang="en-US" altLang="zh-CN" sz="2000" b="1"/>
              <a:t>A </a:t>
            </a:r>
            <a:r>
              <a:rPr kumimoji="0" lang="en-US" altLang="zh-CN" sz="2000" b="1">
                <a:sym typeface="Symbol" panose="05050102010706020507" pitchFamily="18" charset="2"/>
              </a:rPr>
              <a:t> </a:t>
            </a:r>
            <a:r>
              <a:rPr kumimoji="0" lang="en-US" altLang="zh-CN" sz="2000" b="1"/>
              <a:t>.B</a:t>
            </a:r>
            <a:r>
              <a:rPr kumimoji="0" lang="en-US" altLang="zh-CN" sz="2000" b="1">
                <a:sym typeface="Symbol" panose="05050102010706020507" pitchFamily="18" charset="2"/>
              </a:rPr>
              <a:t></a:t>
            </a:r>
            <a:r>
              <a:rPr kumimoji="0" lang="en-US" altLang="zh-CN" sz="2000" b="1"/>
              <a:t>  </a:t>
            </a:r>
            <a:r>
              <a:rPr kumimoji="0" lang="zh-CN" altLang="en-US" sz="2000" b="1"/>
              <a:t>和 产生式 </a:t>
            </a:r>
            <a:r>
              <a:rPr kumimoji="0" lang="en-US" altLang="zh-CN" sz="2000" b="1"/>
              <a:t>B</a:t>
            </a:r>
            <a:r>
              <a:rPr kumimoji="0" lang="en-US" altLang="zh-CN" sz="2000" b="1">
                <a:sym typeface="Symbol" panose="05050102010706020507" pitchFamily="18" charset="2"/>
              </a:rPr>
              <a:t></a:t>
            </a:r>
            <a:r>
              <a:rPr kumimoji="0" lang="en-US" altLang="zh-CN" sz="2000" b="1"/>
              <a:t> </a:t>
            </a:r>
            <a:r>
              <a:rPr kumimoji="0" lang="en-US" altLang="zh-CN" sz="2000" b="1">
                <a:sym typeface="Symbol" panose="05050102010706020507" pitchFamily="18" charset="2"/>
              </a:rPr>
              <a:t></a:t>
            </a:r>
            <a:r>
              <a:rPr kumimoji="0" lang="en-US" altLang="zh-CN" sz="2000" b="1"/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0" lang="en-US" altLang="zh-CN" sz="2000" b="1"/>
              <a:t>                                  </a:t>
            </a:r>
            <a:r>
              <a:rPr kumimoji="0" lang="en-US" altLang="zh-CN"/>
              <a:t>do </a:t>
            </a:r>
            <a:r>
              <a:rPr kumimoji="0" lang="zh-CN" altLang="en-US" sz="2000" b="1"/>
              <a:t>若 </a:t>
            </a:r>
            <a:r>
              <a:rPr kumimoji="0" lang="en-US" altLang="zh-CN" sz="2000" b="1"/>
              <a:t>B</a:t>
            </a:r>
            <a:r>
              <a:rPr kumimoji="0" lang="en-US" altLang="zh-CN" sz="2000" b="1">
                <a:sym typeface="Symbol" panose="05050102010706020507" pitchFamily="18" charset="2"/>
              </a:rPr>
              <a:t> </a:t>
            </a:r>
            <a:r>
              <a:rPr kumimoji="0" lang="en-US" altLang="zh-CN" sz="2000" b="1"/>
              <a:t>.</a:t>
            </a:r>
            <a:r>
              <a:rPr kumimoji="0" lang="en-US" altLang="zh-CN" sz="2000" b="1">
                <a:sym typeface="Symbol" panose="05050102010706020507" pitchFamily="18" charset="2"/>
              </a:rPr>
              <a:t></a:t>
            </a:r>
            <a:r>
              <a:rPr kumimoji="0" lang="en-US" altLang="zh-CN" sz="2000" b="1"/>
              <a:t> </a:t>
            </a:r>
            <a:r>
              <a:rPr kumimoji="0" lang="zh-CN" altLang="en-US" sz="2000" b="1"/>
              <a:t>不在 </a:t>
            </a:r>
            <a:r>
              <a:rPr kumimoji="0" lang="en-US" altLang="zh-CN" sz="2000" b="1"/>
              <a:t>J </a:t>
            </a:r>
            <a:r>
              <a:rPr kumimoji="0" lang="zh-CN" altLang="en-US" sz="2000" b="1"/>
              <a:t>中，则加</a:t>
            </a:r>
            <a:r>
              <a:rPr kumimoji="0" lang="zh-CN" altLang="en-US" b="1"/>
              <a:t> </a:t>
            </a:r>
            <a:r>
              <a:rPr kumimoji="0" lang="en-US" altLang="zh-CN" sz="2000" b="1"/>
              <a:t>B</a:t>
            </a:r>
            <a:r>
              <a:rPr kumimoji="0" lang="en-US" altLang="zh-CN" sz="2000" b="1">
                <a:sym typeface="Symbol" panose="05050102010706020507" pitchFamily="18" charset="2"/>
              </a:rPr>
              <a:t></a:t>
            </a:r>
            <a:r>
              <a:rPr kumimoji="0" lang="en-US" altLang="zh-CN" sz="2000" b="1"/>
              <a:t> .</a:t>
            </a:r>
            <a:r>
              <a:rPr kumimoji="0" lang="en-US" altLang="zh-CN" sz="2000" b="1">
                <a:sym typeface="Symbol" panose="05050102010706020507" pitchFamily="18" charset="2"/>
              </a:rPr>
              <a:t></a:t>
            </a:r>
            <a:r>
              <a:rPr kumimoji="0" lang="en-US" altLang="zh-CN" sz="2000" b="1"/>
              <a:t>  </a:t>
            </a:r>
            <a:r>
              <a:rPr kumimoji="0" lang="zh-CN" altLang="en-US" sz="2000" b="1"/>
              <a:t>到 </a:t>
            </a:r>
            <a:r>
              <a:rPr kumimoji="0" lang="en-US" altLang="zh-CN" sz="2000" b="1"/>
              <a:t>J </a:t>
            </a:r>
            <a:r>
              <a:rPr kumimoji="0" lang="zh-CN" altLang="en-US" sz="2000" b="1"/>
              <a:t>中  </a:t>
            </a:r>
            <a:r>
              <a:rPr kumimoji="0" lang="zh-CN" altLang="zh-CN" sz="2000" b="1"/>
              <a:t>  </a:t>
            </a:r>
            <a:endParaRPr kumimoji="0" lang="zh-CN" altLang="en-US" sz="2000" b="1"/>
          </a:p>
          <a:p>
            <a:pPr>
              <a:buFont typeface="Wingdings" panose="05000000000000000000" pitchFamily="2" charset="2"/>
              <a:buNone/>
            </a:pPr>
            <a:r>
              <a:rPr kumimoji="0" lang="zh-CN" altLang="en-US" sz="2000" b="1"/>
              <a:t>                      </a:t>
            </a:r>
            <a:r>
              <a:rPr kumimoji="0" lang="en-US" altLang="zh-CN" sz="2000"/>
              <a:t>until</a:t>
            </a:r>
            <a:r>
              <a:rPr kumimoji="0" lang="en-US" altLang="zh-CN" sz="2000" b="1"/>
              <a:t>   </a:t>
            </a:r>
            <a:r>
              <a:rPr kumimoji="0" lang="zh-CN" altLang="en-US" sz="2000" b="1"/>
              <a:t>上一次循环不再有新项目加到</a:t>
            </a:r>
            <a:r>
              <a:rPr kumimoji="0" lang="en-US" altLang="zh-CN" sz="2000" b="1"/>
              <a:t>J</a:t>
            </a:r>
            <a:r>
              <a:rPr kumimoji="0" lang="zh-CN" altLang="en-US" sz="2000" b="1"/>
              <a:t>中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0" lang="zh-CN" altLang="en-US" sz="2000" b="1"/>
              <a:t>                      </a:t>
            </a:r>
            <a:r>
              <a:rPr kumimoji="0" lang="en-US" altLang="zh-CN" sz="2000"/>
              <a:t>return</a:t>
            </a:r>
            <a:r>
              <a:rPr kumimoji="0" lang="en-US" altLang="zh-CN" sz="2000" b="1"/>
              <a:t>  J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0" lang="en-US" altLang="zh-CN" sz="2000" b="1"/>
              <a:t>                </a:t>
            </a:r>
            <a:r>
              <a:rPr kumimoji="0" lang="en-US" altLang="zh-CN" sz="2000"/>
              <a:t>};</a:t>
            </a:r>
          </a:p>
        </p:txBody>
      </p:sp>
    </p:spTree>
  </p:cSld>
  <p:clrMapOvr>
    <a:masterClrMapping/>
  </p:clrMapOvr>
  <p:transition spd="med"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101" name="AutoShape 1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3102" name="AutoShape 1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3103" name="AutoShape 1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3104" name="AutoShape 1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3105" name="Rectangle 17"/>
          <p:cNvSpPr>
            <a:spLocks noChangeArrowheads="1"/>
          </p:cNvSpPr>
          <p:nvPr/>
        </p:nvSpPr>
        <p:spPr bwMode="auto">
          <a:xfrm>
            <a:off x="37356" y="188913"/>
            <a:ext cx="32385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>
                <a:solidFill>
                  <a:srgbClr val="800080"/>
                </a:solidFill>
                <a:ea typeface="华文行楷" pitchFamily="2" charset="-122"/>
              </a:rPr>
              <a:t>0</a:t>
            </a: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473106" name="Text Box 18"/>
          <p:cNvSpPr txBox="1">
            <a:spLocks noChangeArrowheads="1"/>
          </p:cNvSpPr>
          <p:nvPr/>
        </p:nvSpPr>
        <p:spPr bwMode="auto">
          <a:xfrm>
            <a:off x="539750" y="1125538"/>
            <a:ext cx="8424863" cy="21939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>
                <a:solidFill>
                  <a:srgbClr val="800080"/>
                </a:solidFill>
              </a:rPr>
              <a:t>LR</a:t>
            </a:r>
            <a:r>
              <a:rPr lang="zh-CN" altLang="en-US" sz="3200">
                <a:solidFill>
                  <a:srgbClr val="800080"/>
                </a:solidFill>
              </a:rPr>
              <a:t>（</a:t>
            </a:r>
            <a:r>
              <a:rPr lang="en-US" altLang="zh-CN" sz="3200">
                <a:solidFill>
                  <a:srgbClr val="800080"/>
                </a:solidFill>
              </a:rPr>
              <a:t>0</a:t>
            </a:r>
            <a:r>
              <a:rPr lang="zh-CN" altLang="en-US" sz="3200">
                <a:solidFill>
                  <a:srgbClr val="800080"/>
                </a:solidFill>
              </a:rPr>
              <a:t>）</a:t>
            </a:r>
            <a:r>
              <a:rPr lang="en-US" altLang="zh-CN" sz="3200">
                <a:solidFill>
                  <a:srgbClr val="800080"/>
                </a:solidFill>
              </a:rPr>
              <a:t>FSM</a:t>
            </a: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zh-CN" altLang="en-US" sz="3200" b="1">
                <a:solidFill>
                  <a:srgbClr val="800080"/>
                </a:solidFill>
              </a:rPr>
              <a:t>的构造</a:t>
            </a:r>
            <a:endParaRPr lang="zh-CN" altLang="en-US" sz="3200" b="1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>
                <a:solidFill>
                  <a:srgbClr val="800080"/>
                </a:solidFill>
              </a:rPr>
              <a:t> </a:t>
            </a:r>
            <a:r>
              <a:rPr lang="en-US" altLang="zh-CN" sz="2800">
                <a:solidFill>
                  <a:srgbClr val="800080"/>
                </a:solidFill>
              </a:rPr>
              <a:t>LR</a:t>
            </a:r>
            <a:r>
              <a:rPr lang="zh-CN" altLang="en-US" sz="2800">
                <a:solidFill>
                  <a:srgbClr val="800080"/>
                </a:solidFill>
              </a:rPr>
              <a:t>（</a:t>
            </a:r>
            <a:r>
              <a:rPr lang="en-US" altLang="zh-CN" sz="2800">
                <a:solidFill>
                  <a:srgbClr val="800080"/>
                </a:solidFill>
              </a:rPr>
              <a:t>0</a:t>
            </a:r>
            <a:r>
              <a:rPr lang="zh-CN" altLang="en-US" sz="2800">
                <a:solidFill>
                  <a:srgbClr val="800080"/>
                </a:solidFill>
              </a:rPr>
              <a:t>）</a:t>
            </a:r>
            <a:r>
              <a:rPr lang="en-US" altLang="zh-CN" sz="2800">
                <a:solidFill>
                  <a:srgbClr val="800080"/>
                </a:solidFill>
              </a:rPr>
              <a:t>FSM</a:t>
            </a:r>
            <a:r>
              <a:rPr lang="en-US" altLang="zh-CN" sz="2800" b="1">
                <a:solidFill>
                  <a:srgbClr val="800080"/>
                </a:solidFill>
              </a:rPr>
              <a:t> </a:t>
            </a:r>
            <a:r>
              <a:rPr lang="zh-CN" altLang="en-US" sz="2800" b="1">
                <a:solidFill>
                  <a:srgbClr val="800080"/>
                </a:solidFill>
              </a:rPr>
              <a:t>的初态</a:t>
            </a:r>
          </a:p>
          <a:p>
            <a:pPr lvl="1">
              <a:buClrTx/>
              <a:buFont typeface="Symbol" panose="05050102010706020507" pitchFamily="18" charset="2"/>
              <a:buNone/>
            </a:pPr>
            <a:endParaRPr lang="zh-CN" altLang="en-US" sz="1000" b="1"/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b="1"/>
              <a:t>   设文法 </a:t>
            </a:r>
            <a:r>
              <a:rPr lang="en-US" altLang="zh-CN" i="1"/>
              <a:t>G</a:t>
            </a:r>
            <a:r>
              <a:rPr lang="en-US" altLang="zh-CN"/>
              <a:t>[</a:t>
            </a:r>
            <a:r>
              <a:rPr lang="en-US" altLang="zh-CN" i="1"/>
              <a:t>S</a:t>
            </a:r>
            <a:r>
              <a:rPr lang="en-US" altLang="zh-CN"/>
              <a:t>]</a:t>
            </a:r>
            <a:r>
              <a:rPr lang="en-US" altLang="zh-CN" b="1"/>
              <a:t> </a:t>
            </a:r>
            <a:r>
              <a:rPr lang="zh-CN" altLang="en-US" b="1"/>
              <a:t>的增广文法为</a:t>
            </a:r>
            <a:r>
              <a:rPr kumimoji="0" lang="zh-CN" altLang="en-US" b="1">
                <a:solidFill>
                  <a:srgbClr val="800080"/>
                </a:solidFill>
              </a:rPr>
              <a:t> </a:t>
            </a:r>
            <a:r>
              <a:rPr lang="en-US" altLang="zh-CN" i="1"/>
              <a:t>G’</a:t>
            </a:r>
            <a:r>
              <a:rPr lang="en-US" altLang="zh-CN" b="1"/>
              <a:t> </a:t>
            </a:r>
            <a:r>
              <a:rPr lang="en-US" altLang="zh-CN"/>
              <a:t>[</a:t>
            </a:r>
            <a:r>
              <a:rPr lang="en-US" altLang="zh-CN" i="1"/>
              <a:t>S’</a:t>
            </a:r>
            <a:r>
              <a:rPr lang="en-US" altLang="zh-CN"/>
              <a:t>], </a:t>
            </a:r>
            <a:r>
              <a:rPr lang="zh-CN" altLang="en-US" b="1"/>
              <a:t>则 </a:t>
            </a:r>
            <a:r>
              <a:rPr lang="en-US" altLang="zh-CN" i="1"/>
              <a:t>G’ </a:t>
            </a:r>
            <a:r>
              <a:rPr lang="zh-CN" altLang="en-US" b="1"/>
              <a:t>的</a:t>
            </a:r>
            <a:r>
              <a:rPr lang="en-US" altLang="zh-CN"/>
              <a:t>LR</a:t>
            </a:r>
            <a:r>
              <a:rPr lang="zh-CN" altLang="en-US"/>
              <a:t>（</a:t>
            </a:r>
            <a:r>
              <a:rPr lang="en-US" altLang="zh-CN"/>
              <a:t>0</a:t>
            </a:r>
            <a:r>
              <a:rPr lang="zh-CN" altLang="en-US"/>
              <a:t>）</a:t>
            </a:r>
            <a:r>
              <a:rPr lang="en-US" altLang="zh-CN"/>
              <a:t>FSM</a:t>
            </a:r>
            <a:r>
              <a:rPr lang="en-US" altLang="zh-CN" b="1"/>
              <a:t>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b="1"/>
              <a:t>   </a:t>
            </a:r>
            <a:r>
              <a:rPr lang="zh-CN" altLang="en-US" b="1"/>
              <a:t>的初态     </a:t>
            </a:r>
            <a:r>
              <a:rPr lang="en-US" altLang="zh-CN" b="1">
                <a:solidFill>
                  <a:srgbClr val="800080"/>
                </a:solidFill>
              </a:rPr>
              <a:t>I</a:t>
            </a:r>
            <a:r>
              <a:rPr lang="en-US" altLang="zh-CN" b="1" baseline="-25000">
                <a:solidFill>
                  <a:srgbClr val="800080"/>
                </a:solidFill>
              </a:rPr>
              <a:t>0 </a:t>
            </a:r>
            <a:r>
              <a:rPr lang="en-US" altLang="zh-CN" b="1">
                <a:solidFill>
                  <a:srgbClr val="800080"/>
                </a:solidFill>
              </a:rPr>
              <a:t>= </a:t>
            </a:r>
            <a:r>
              <a:rPr kumimoji="0" lang="en-US" altLang="zh-CN">
                <a:solidFill>
                  <a:srgbClr val="800080"/>
                </a:solidFill>
              </a:rPr>
              <a:t>CLOSURE</a:t>
            </a:r>
            <a:r>
              <a:rPr kumimoji="0" lang="en-US" altLang="zh-CN" b="1">
                <a:solidFill>
                  <a:srgbClr val="800080"/>
                </a:solidFill>
              </a:rPr>
              <a:t>({S’</a:t>
            </a:r>
            <a:r>
              <a:rPr kumimoji="0" lang="en-US" altLang="zh-CN" b="1">
                <a:solidFill>
                  <a:srgbClr val="800080"/>
                </a:solidFill>
                <a:sym typeface="Symbol" panose="05050102010706020507" pitchFamily="18" charset="2"/>
              </a:rPr>
              <a:t>.</a:t>
            </a:r>
            <a:r>
              <a:rPr kumimoji="0" lang="en-US" altLang="zh-CN" b="1">
                <a:solidFill>
                  <a:srgbClr val="800080"/>
                </a:solidFill>
              </a:rPr>
              <a:t>S})</a:t>
            </a:r>
          </a:p>
          <a:p>
            <a:pPr lvl="1">
              <a:buFont typeface="Wingdings" panose="05000000000000000000" pitchFamily="2" charset="2"/>
              <a:buNone/>
            </a:pPr>
            <a:endParaRPr kumimoji="0" lang="en-US" altLang="zh-CN" sz="1000" b="1">
              <a:solidFill>
                <a:srgbClr val="800080"/>
              </a:solidFill>
            </a:endParaRPr>
          </a:p>
        </p:txBody>
      </p:sp>
      <p:sp>
        <p:nvSpPr>
          <p:cNvPr id="473107" name="Text Box 19"/>
          <p:cNvSpPr txBox="1">
            <a:spLocks noChangeArrowheads="1"/>
          </p:cNvSpPr>
          <p:nvPr/>
        </p:nvSpPr>
        <p:spPr bwMode="auto">
          <a:xfrm>
            <a:off x="6588125" y="3981450"/>
            <a:ext cx="2305050" cy="20399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kumimoji="0"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0"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]: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kumimoji="0" lang="en-US" altLang="zh-CN" sz="80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 (1) 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E+T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 (2) 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 T</a:t>
            </a:r>
            <a:r>
              <a:rPr lang="en-US" altLang="zh-CN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 (3) 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en-US" altLang="zh-CN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( E 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 (4) 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</a:p>
        </p:txBody>
      </p:sp>
      <p:sp>
        <p:nvSpPr>
          <p:cNvPr id="473108" name="Text Box 20"/>
          <p:cNvSpPr txBox="1">
            <a:spLocks noChangeArrowheads="1"/>
          </p:cNvSpPr>
          <p:nvPr/>
        </p:nvSpPr>
        <p:spPr bwMode="auto">
          <a:xfrm>
            <a:off x="250825" y="3387725"/>
            <a:ext cx="6192838" cy="3289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lvl="1"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800080"/>
                </a:solidFill>
              </a:rPr>
              <a:t>例 </a:t>
            </a:r>
            <a:r>
              <a:rPr lang="zh-CN" altLang="en-US" b="1"/>
              <a:t>右边文法</a:t>
            </a:r>
            <a:r>
              <a:rPr kumimoji="0" lang="en-US" altLang="zh-CN" i="1">
                <a:sym typeface="Symbol" panose="05050102010706020507" pitchFamily="18" charset="2"/>
              </a:rPr>
              <a:t>G</a:t>
            </a:r>
            <a:r>
              <a:rPr kumimoji="0" lang="en-US" altLang="zh-CN">
                <a:sym typeface="Symbol" panose="05050102010706020507" pitchFamily="18" charset="2"/>
              </a:rPr>
              <a:t>[</a:t>
            </a:r>
            <a:r>
              <a:rPr kumimoji="0" lang="en-US" altLang="zh-CN" i="1">
                <a:sym typeface="Symbol" panose="05050102010706020507" pitchFamily="18" charset="2"/>
              </a:rPr>
              <a:t>E</a:t>
            </a:r>
            <a:r>
              <a:rPr kumimoji="0" lang="en-US" altLang="zh-CN">
                <a:sym typeface="Symbol" panose="05050102010706020507" pitchFamily="18" charset="2"/>
              </a:rPr>
              <a:t>]</a:t>
            </a:r>
            <a:r>
              <a:rPr kumimoji="0" lang="zh-CN" altLang="en-US" b="1">
                <a:sym typeface="Symbol" panose="05050102010706020507" pitchFamily="18" charset="2"/>
              </a:rPr>
              <a:t>的</a:t>
            </a:r>
            <a:r>
              <a:rPr lang="zh-CN" altLang="en-US" b="1"/>
              <a:t>增广文法为 </a:t>
            </a:r>
            <a:r>
              <a:rPr lang="en-US" altLang="zh-CN" i="1"/>
              <a:t>G’</a:t>
            </a:r>
            <a:r>
              <a:rPr lang="en-US" altLang="zh-CN" b="1"/>
              <a:t> </a:t>
            </a:r>
            <a:r>
              <a:rPr lang="en-US" altLang="zh-CN"/>
              <a:t>[</a:t>
            </a:r>
            <a:r>
              <a:rPr lang="en-US" altLang="zh-CN" i="1"/>
              <a:t>E’</a:t>
            </a:r>
            <a:r>
              <a:rPr lang="en-US" altLang="zh-CN"/>
              <a:t>]</a:t>
            </a:r>
            <a:r>
              <a:rPr kumimoji="0" lang="en-US" altLang="zh-CN">
                <a:sym typeface="Symbol" panose="05050102010706020507" pitchFamily="18" charset="2"/>
              </a:rPr>
              <a:t> </a:t>
            </a:r>
            <a:r>
              <a:rPr kumimoji="0" lang="zh-CN" altLang="en-US">
                <a:sym typeface="Symbol" panose="05050102010706020507" pitchFamily="18" charset="2"/>
              </a:rPr>
              <a:t>，</a:t>
            </a:r>
          </a:p>
          <a:p>
            <a:pPr lvl="1">
              <a:buFont typeface="Wingdings" panose="05000000000000000000" pitchFamily="2" charset="2"/>
              <a:buNone/>
            </a:pPr>
            <a:r>
              <a:rPr kumimoji="0" lang="zh-CN" altLang="en-US">
                <a:sym typeface="Symbol" panose="05050102010706020507" pitchFamily="18" charset="2"/>
              </a:rPr>
              <a:t>     </a:t>
            </a:r>
            <a:r>
              <a:rPr kumimoji="0" lang="zh-CN" altLang="en-US" b="1">
                <a:sym typeface="Symbol" panose="05050102010706020507" pitchFamily="18" charset="2"/>
              </a:rPr>
              <a:t>其 </a:t>
            </a:r>
            <a:r>
              <a:rPr lang="en-US" altLang="zh-CN"/>
              <a:t>LR</a:t>
            </a:r>
            <a:r>
              <a:rPr lang="zh-CN" altLang="en-US"/>
              <a:t>（</a:t>
            </a:r>
            <a:r>
              <a:rPr lang="en-US" altLang="zh-CN"/>
              <a:t>0</a:t>
            </a:r>
            <a:r>
              <a:rPr lang="zh-CN" altLang="en-US"/>
              <a:t>）</a:t>
            </a:r>
            <a:r>
              <a:rPr lang="en-US" altLang="zh-CN"/>
              <a:t>FSM</a:t>
            </a:r>
            <a:r>
              <a:rPr kumimoji="0" lang="en-US" altLang="zh-CN" b="1"/>
              <a:t> </a:t>
            </a:r>
            <a:r>
              <a:rPr lang="zh-CN" altLang="en-US" b="1"/>
              <a:t>的初态</a:t>
            </a:r>
          </a:p>
          <a:p>
            <a:pPr lvl="1">
              <a:buFont typeface="Wingdings" panose="05000000000000000000" pitchFamily="2" charset="2"/>
              <a:buNone/>
            </a:pPr>
            <a:endParaRPr lang="zh-CN" altLang="en-US" sz="1000" b="1"/>
          </a:p>
          <a:p>
            <a:pPr lvl="1">
              <a:buFont typeface="Wingdings" panose="05000000000000000000" pitchFamily="2" charset="2"/>
              <a:buNone/>
            </a:pPr>
            <a:r>
              <a:rPr kumimoji="0" lang="zh-CN" altLang="en-US" sz="2800" b="1">
                <a:solidFill>
                  <a:srgbClr val="800080"/>
                </a:solidFill>
              </a:rPr>
              <a:t>     </a:t>
            </a:r>
            <a:r>
              <a:rPr lang="en-US" altLang="zh-CN" b="1"/>
              <a:t>I</a:t>
            </a:r>
            <a:r>
              <a:rPr lang="en-US" altLang="zh-CN" b="1" baseline="-25000"/>
              <a:t>0</a:t>
            </a:r>
            <a:r>
              <a:rPr lang="en-US" altLang="zh-CN"/>
              <a:t> =</a:t>
            </a:r>
            <a:r>
              <a:rPr lang="en-US" altLang="zh-CN">
                <a:solidFill>
                  <a:srgbClr val="800080"/>
                </a:solidFill>
              </a:rPr>
              <a:t> </a:t>
            </a:r>
            <a:r>
              <a:rPr lang="en-US" altLang="zh-CN"/>
              <a:t>{ </a:t>
            </a:r>
            <a:r>
              <a:rPr kumimoji="0" lang="en-US" altLang="zh-CN" i="1"/>
              <a:t>E’ </a:t>
            </a:r>
            <a:r>
              <a:rPr kumimoji="0" lang="en-US" altLang="zh-CN">
                <a:sym typeface="Symbol" panose="05050102010706020507" pitchFamily="18" charset="2"/>
              </a:rPr>
              <a:t> </a:t>
            </a:r>
            <a:r>
              <a:rPr kumimoji="0" lang="en-US" altLang="zh-CN" b="1">
                <a:sym typeface="Symbol" panose="05050102010706020507" pitchFamily="18" charset="2"/>
              </a:rPr>
              <a:t>.</a:t>
            </a:r>
            <a:r>
              <a:rPr kumimoji="0" lang="en-US" altLang="zh-CN" i="1"/>
              <a:t>E</a:t>
            </a:r>
            <a:r>
              <a:rPr kumimoji="0" lang="zh-CN" altLang="en-US" i="1"/>
              <a:t>，</a:t>
            </a:r>
          </a:p>
          <a:p>
            <a:pPr lvl="1">
              <a:buFont typeface="Wingdings" panose="05000000000000000000" pitchFamily="2" charset="2"/>
              <a:buNone/>
            </a:pPr>
            <a:r>
              <a:rPr kumimoji="0" lang="zh-CN" altLang="en-US" i="1"/>
              <a:t>               </a:t>
            </a:r>
            <a:r>
              <a:rPr kumimoji="0" lang="en-US" altLang="zh-CN" i="1"/>
              <a:t>E </a:t>
            </a:r>
            <a:r>
              <a:rPr kumimoji="0" lang="en-US" altLang="zh-CN">
                <a:sym typeface="Symbol" panose="05050102010706020507" pitchFamily="18" charset="2"/>
              </a:rPr>
              <a:t> </a:t>
            </a:r>
            <a:r>
              <a:rPr kumimoji="0" lang="en-US" altLang="zh-CN" b="1">
                <a:sym typeface="Symbol" panose="05050102010706020507" pitchFamily="18" charset="2"/>
              </a:rPr>
              <a:t>.</a:t>
            </a:r>
            <a:r>
              <a:rPr lang="en-US" altLang="zh-CN" i="1">
                <a:sym typeface="Symbol" panose="05050102010706020507" pitchFamily="18" charset="2"/>
              </a:rPr>
              <a:t>E+T</a:t>
            </a:r>
            <a:r>
              <a:rPr lang="zh-CN" altLang="en-US">
                <a:sym typeface="Symbol" panose="05050102010706020507" pitchFamily="18" charset="2"/>
              </a:rPr>
              <a:t>，</a:t>
            </a:r>
          </a:p>
          <a:p>
            <a:pPr lvl="1">
              <a:buFont typeface="Wingdings" panose="05000000000000000000" pitchFamily="2" charset="2"/>
              <a:buNone/>
            </a:pPr>
            <a:r>
              <a:rPr kumimoji="0" lang="zh-CN" altLang="en-US" i="1"/>
              <a:t>               </a:t>
            </a:r>
            <a:r>
              <a:rPr kumimoji="0" lang="en-US" altLang="zh-CN" i="1"/>
              <a:t>E </a:t>
            </a:r>
            <a:r>
              <a:rPr kumimoji="0" lang="en-US" altLang="zh-CN">
                <a:sym typeface="Symbol" panose="05050102010706020507" pitchFamily="18" charset="2"/>
              </a:rPr>
              <a:t> </a:t>
            </a:r>
            <a:r>
              <a:rPr kumimoji="0" lang="en-US" altLang="zh-CN" b="1">
                <a:sym typeface="Symbol" panose="05050102010706020507" pitchFamily="18" charset="2"/>
              </a:rPr>
              <a:t>.</a:t>
            </a:r>
            <a:r>
              <a:rPr lang="en-US" altLang="zh-CN" i="1">
                <a:sym typeface="Symbol" panose="05050102010706020507" pitchFamily="18" charset="2"/>
              </a:rPr>
              <a:t>T</a:t>
            </a:r>
            <a:r>
              <a:rPr lang="zh-CN" altLang="en-US">
                <a:sym typeface="Symbol" panose="05050102010706020507" pitchFamily="18" charset="2"/>
              </a:rPr>
              <a:t>，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i="1">
                <a:sym typeface="Symbol" panose="05050102010706020507" pitchFamily="18" charset="2"/>
              </a:rPr>
              <a:t>               </a:t>
            </a:r>
            <a:r>
              <a:rPr lang="en-US" altLang="zh-CN" i="1">
                <a:sym typeface="Symbol" panose="05050102010706020507" pitchFamily="18" charset="2"/>
              </a:rPr>
              <a:t>T </a:t>
            </a:r>
            <a:r>
              <a:rPr lang="en-US" altLang="zh-CN">
                <a:sym typeface="Symbol" panose="05050102010706020507" pitchFamily="18" charset="2"/>
              </a:rPr>
              <a:t> </a:t>
            </a:r>
            <a:r>
              <a:rPr kumimoji="0" lang="en-US" altLang="zh-CN" b="1">
                <a:sym typeface="Symbol" panose="05050102010706020507" pitchFamily="18" charset="2"/>
              </a:rPr>
              <a:t>.</a:t>
            </a:r>
            <a:r>
              <a:rPr lang="en-US" altLang="zh-CN" i="1">
                <a:sym typeface="Symbol" panose="05050102010706020507" pitchFamily="18" charset="2"/>
              </a:rPr>
              <a:t>( E ),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               </a:t>
            </a:r>
            <a:r>
              <a:rPr lang="en-US" altLang="zh-CN" i="1">
                <a:sym typeface="Symbol" panose="05050102010706020507" pitchFamily="18" charset="2"/>
              </a:rPr>
              <a:t>T </a:t>
            </a:r>
            <a:r>
              <a:rPr lang="en-US" altLang="zh-CN">
                <a:sym typeface="Symbol" panose="05050102010706020507" pitchFamily="18" charset="2"/>
              </a:rPr>
              <a:t> </a:t>
            </a:r>
            <a:r>
              <a:rPr kumimoji="0" lang="en-US" altLang="zh-CN" b="1">
                <a:sym typeface="Symbol" panose="05050102010706020507" pitchFamily="18" charset="2"/>
              </a:rPr>
              <a:t>. </a:t>
            </a:r>
            <a:r>
              <a:rPr lang="en-US" altLang="zh-CN" i="1">
                <a:sym typeface="Symbol" panose="05050102010706020507" pitchFamily="18" charset="2"/>
              </a:rPr>
              <a:t>d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i="1">
                <a:sym typeface="Symbol" panose="05050102010706020507" pitchFamily="18" charset="2"/>
              </a:rPr>
              <a:t>            </a:t>
            </a:r>
            <a:r>
              <a:rPr lang="en-US" altLang="zh-CN">
                <a:sym typeface="Symbol" panose="05050102010706020507" pitchFamily="18" charset="2"/>
              </a:rPr>
              <a:t>}</a:t>
            </a:r>
            <a:r>
              <a:rPr lang="en-US" altLang="zh-CN" i="1">
                <a:sym typeface="Symbol" panose="05050102010706020507" pitchFamily="18" charset="2"/>
              </a:rPr>
              <a:t> 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73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473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3107" grpId="0"/>
      <p:bldP spid="47310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58" name="AutoShape 2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5159" name="AutoShape 2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5160" name="AutoShape 2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5161" name="AutoShape 2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5162" name="Rectangle 26"/>
          <p:cNvSpPr>
            <a:spLocks noChangeArrowheads="1"/>
          </p:cNvSpPr>
          <p:nvPr/>
        </p:nvSpPr>
        <p:spPr bwMode="auto">
          <a:xfrm>
            <a:off x="35496" y="188913"/>
            <a:ext cx="32385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0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475163" name="Text Box 27"/>
          <p:cNvSpPr txBox="1">
            <a:spLocks noChangeArrowheads="1"/>
          </p:cNvSpPr>
          <p:nvPr/>
        </p:nvSpPr>
        <p:spPr bwMode="auto">
          <a:xfrm>
            <a:off x="611188" y="1592263"/>
            <a:ext cx="8424862" cy="3565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>
                <a:solidFill>
                  <a:srgbClr val="800080"/>
                </a:solidFill>
              </a:rPr>
              <a:t>LR</a:t>
            </a:r>
            <a:r>
              <a:rPr lang="zh-CN" altLang="en-US" sz="3200">
                <a:solidFill>
                  <a:srgbClr val="800080"/>
                </a:solidFill>
              </a:rPr>
              <a:t>（</a:t>
            </a:r>
            <a:r>
              <a:rPr lang="en-US" altLang="zh-CN" sz="3200">
                <a:solidFill>
                  <a:srgbClr val="800080"/>
                </a:solidFill>
              </a:rPr>
              <a:t>0</a:t>
            </a:r>
            <a:r>
              <a:rPr lang="zh-CN" altLang="en-US" sz="3200">
                <a:solidFill>
                  <a:srgbClr val="800080"/>
                </a:solidFill>
              </a:rPr>
              <a:t>）</a:t>
            </a:r>
            <a:r>
              <a:rPr lang="en-US" altLang="zh-CN" sz="3200">
                <a:solidFill>
                  <a:srgbClr val="800080"/>
                </a:solidFill>
              </a:rPr>
              <a:t>FSM</a:t>
            </a: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zh-CN" altLang="en-US" sz="3200" b="1">
                <a:solidFill>
                  <a:srgbClr val="800080"/>
                </a:solidFill>
              </a:rPr>
              <a:t>的构造</a:t>
            </a:r>
            <a:endParaRPr lang="zh-CN" altLang="en-US" sz="3200" b="1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>
                <a:solidFill>
                  <a:srgbClr val="800080"/>
                </a:solidFill>
              </a:rPr>
              <a:t> </a:t>
            </a:r>
            <a:r>
              <a:rPr lang="en-US" altLang="zh-CN" sz="2800">
                <a:solidFill>
                  <a:srgbClr val="800080"/>
                </a:solidFill>
              </a:rPr>
              <a:t>LR</a:t>
            </a:r>
            <a:r>
              <a:rPr lang="zh-CN" altLang="en-US" sz="2800">
                <a:solidFill>
                  <a:srgbClr val="800080"/>
                </a:solidFill>
              </a:rPr>
              <a:t>（</a:t>
            </a:r>
            <a:r>
              <a:rPr lang="en-US" altLang="zh-CN" sz="2800">
                <a:solidFill>
                  <a:srgbClr val="800080"/>
                </a:solidFill>
              </a:rPr>
              <a:t>0</a:t>
            </a:r>
            <a:r>
              <a:rPr lang="zh-CN" altLang="en-US" sz="2800">
                <a:solidFill>
                  <a:srgbClr val="800080"/>
                </a:solidFill>
              </a:rPr>
              <a:t>）</a:t>
            </a:r>
            <a:r>
              <a:rPr lang="en-US" altLang="zh-CN" sz="2800">
                <a:solidFill>
                  <a:srgbClr val="800080"/>
                </a:solidFill>
              </a:rPr>
              <a:t>FSM</a:t>
            </a:r>
            <a:r>
              <a:rPr lang="en-US" altLang="zh-CN" sz="2800" b="1">
                <a:solidFill>
                  <a:srgbClr val="800080"/>
                </a:solidFill>
              </a:rPr>
              <a:t> </a:t>
            </a:r>
            <a:r>
              <a:rPr lang="zh-CN" altLang="en-US" sz="2800" b="1">
                <a:solidFill>
                  <a:srgbClr val="800080"/>
                </a:solidFill>
              </a:rPr>
              <a:t>的状态转移函数</a:t>
            </a:r>
          </a:p>
          <a:p>
            <a:pPr lvl="1">
              <a:buClrTx/>
              <a:buFont typeface="Symbol" panose="05050102010706020507" pitchFamily="18" charset="2"/>
              <a:buNone/>
            </a:pPr>
            <a:endParaRPr lang="zh-CN" altLang="en-US" sz="1000" b="1"/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b="1"/>
              <a:t>                 </a:t>
            </a:r>
            <a:r>
              <a:rPr kumimoji="0" lang="en-US" altLang="zh-CN" b="1">
                <a:solidFill>
                  <a:srgbClr val="800080"/>
                </a:solidFill>
              </a:rPr>
              <a:t>GO (I,X) = CLOSURE(J)</a:t>
            </a:r>
          </a:p>
          <a:p>
            <a:pPr lvl="1">
              <a:buFont typeface="Wingdings" panose="05000000000000000000" pitchFamily="2" charset="2"/>
              <a:buNone/>
            </a:pPr>
            <a:endParaRPr kumimoji="0" lang="en-US" altLang="zh-CN" sz="1000" b="1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kumimoji="0" lang="en-US" altLang="zh-CN" b="1">
                <a:solidFill>
                  <a:schemeClr val="tx1"/>
                </a:solidFill>
              </a:rPr>
              <a:t>         </a:t>
            </a:r>
            <a:r>
              <a:rPr kumimoji="0" lang="zh-CN" altLang="en-US" b="1"/>
              <a:t>其中，</a:t>
            </a:r>
            <a:r>
              <a:rPr kumimoji="0" lang="en-US" altLang="zh-CN" b="1"/>
              <a:t>I</a:t>
            </a:r>
            <a:r>
              <a:rPr kumimoji="0" lang="zh-CN" altLang="en-US" b="1"/>
              <a:t>为</a:t>
            </a:r>
            <a:r>
              <a:rPr lang="en-US" altLang="zh-CN"/>
              <a:t>LR</a:t>
            </a:r>
            <a:r>
              <a:rPr lang="zh-CN" altLang="en-US"/>
              <a:t>（</a:t>
            </a:r>
            <a:r>
              <a:rPr lang="en-US" altLang="zh-CN"/>
              <a:t>0</a:t>
            </a:r>
            <a:r>
              <a:rPr lang="zh-CN" altLang="en-US"/>
              <a:t>）</a:t>
            </a:r>
            <a:r>
              <a:rPr lang="en-US" altLang="zh-CN"/>
              <a:t>FSM</a:t>
            </a:r>
            <a:r>
              <a:rPr lang="en-US" altLang="zh-CN" b="1"/>
              <a:t> </a:t>
            </a:r>
            <a:r>
              <a:rPr lang="zh-CN" altLang="en-US" b="1"/>
              <a:t>的状态（闭包的</a:t>
            </a:r>
            <a:r>
              <a:rPr kumimoji="0" lang="zh-CN" altLang="en-US" b="1"/>
              <a:t>项目集），</a:t>
            </a:r>
            <a:r>
              <a:rPr kumimoji="0" lang="en-US" altLang="zh-CN" b="1"/>
              <a:t>X </a:t>
            </a:r>
            <a:r>
              <a:rPr kumimoji="0" lang="zh-CN" altLang="en-US" b="1"/>
              <a:t>为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0" lang="zh-CN" altLang="en-US" b="1"/>
              <a:t>         文法符号，</a:t>
            </a:r>
            <a:r>
              <a:rPr kumimoji="0" lang="en-US" altLang="zh-CN" b="1"/>
              <a:t>J={ A</a:t>
            </a:r>
            <a:r>
              <a:rPr kumimoji="0" lang="en-US" altLang="zh-CN" b="1">
                <a:sym typeface="Symbol" panose="05050102010706020507" pitchFamily="18" charset="2"/>
              </a:rPr>
              <a:t></a:t>
            </a:r>
            <a:r>
              <a:rPr kumimoji="0" lang="en-US" altLang="zh-CN" b="1"/>
              <a:t>X.</a:t>
            </a:r>
            <a:r>
              <a:rPr kumimoji="0" lang="en-US" altLang="zh-CN" b="1">
                <a:sym typeface="Symbol" panose="05050102010706020507" pitchFamily="18" charset="2"/>
              </a:rPr>
              <a:t></a:t>
            </a:r>
            <a:r>
              <a:rPr kumimoji="0" lang="en-US" altLang="zh-CN" b="1"/>
              <a:t> </a:t>
            </a:r>
            <a:r>
              <a:rPr lang="en-US" altLang="zh-CN"/>
              <a:t>|</a:t>
            </a:r>
            <a:r>
              <a:rPr kumimoji="0" lang="en-US" altLang="zh-CN"/>
              <a:t> </a:t>
            </a:r>
            <a:r>
              <a:rPr kumimoji="0" lang="en-US" altLang="zh-CN" b="1"/>
              <a:t>A</a:t>
            </a:r>
            <a:r>
              <a:rPr kumimoji="0" lang="en-US" altLang="zh-CN" b="1">
                <a:sym typeface="Symbol" panose="05050102010706020507" pitchFamily="18" charset="2"/>
              </a:rPr>
              <a:t></a:t>
            </a:r>
            <a:r>
              <a:rPr kumimoji="0" lang="en-US" altLang="zh-CN" b="1"/>
              <a:t>.X</a:t>
            </a:r>
            <a:r>
              <a:rPr kumimoji="0" lang="en-US" altLang="zh-CN" b="1">
                <a:sym typeface="Symbol" panose="05050102010706020507" pitchFamily="18" charset="2"/>
              </a:rPr>
              <a:t></a:t>
            </a:r>
            <a:r>
              <a:rPr kumimoji="0" lang="en-US" altLang="zh-CN" b="1"/>
              <a:t> </a:t>
            </a:r>
            <a:r>
              <a:rPr kumimoji="0" lang="en-US" altLang="zh-CN" b="1">
                <a:sym typeface="Symbol" panose="05050102010706020507" pitchFamily="18" charset="2"/>
              </a:rPr>
              <a:t>I</a:t>
            </a:r>
            <a:r>
              <a:rPr kumimoji="0" lang="en-US" altLang="zh-CN" b="1"/>
              <a:t>}</a:t>
            </a:r>
          </a:p>
          <a:p>
            <a:pPr lvl="1">
              <a:buFont typeface="Wingdings" panose="05000000000000000000" pitchFamily="2" charset="2"/>
              <a:buNone/>
            </a:pPr>
            <a:endParaRPr kumimoji="0" lang="en-US" altLang="zh-CN" sz="1000" b="1"/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en-US" altLang="zh-CN" sz="2800">
                <a:solidFill>
                  <a:srgbClr val="800080"/>
                </a:solidFill>
              </a:rPr>
              <a:t> </a:t>
            </a:r>
            <a:r>
              <a:rPr lang="zh-CN" altLang="en-US" sz="2800" b="1"/>
              <a:t>从 </a:t>
            </a:r>
            <a:r>
              <a:rPr lang="en-US" altLang="zh-CN" sz="2800"/>
              <a:t>LR</a:t>
            </a:r>
            <a:r>
              <a:rPr lang="zh-CN" altLang="en-US" sz="2800"/>
              <a:t>（</a:t>
            </a:r>
            <a:r>
              <a:rPr lang="en-US" altLang="zh-CN" sz="2800"/>
              <a:t>0</a:t>
            </a:r>
            <a:r>
              <a:rPr lang="zh-CN" altLang="en-US" sz="2800"/>
              <a:t>）</a:t>
            </a:r>
            <a:r>
              <a:rPr lang="en-US" altLang="zh-CN" sz="2800"/>
              <a:t>FSM</a:t>
            </a:r>
            <a:r>
              <a:rPr lang="en-US" altLang="zh-CN" sz="2800" b="1"/>
              <a:t> </a:t>
            </a:r>
            <a:r>
              <a:rPr lang="zh-CN" altLang="en-US" sz="2800" b="1"/>
              <a:t>的初态出发，应用上述转移函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lang="zh-CN" altLang="en-US" sz="2800" b="1"/>
              <a:t>   数，可逐步构造出完整的 </a:t>
            </a:r>
            <a:r>
              <a:rPr lang="en-US" altLang="zh-CN" sz="2800"/>
              <a:t>LR</a:t>
            </a:r>
            <a:r>
              <a:rPr lang="zh-CN" altLang="en-US" sz="2800"/>
              <a:t>（</a:t>
            </a:r>
            <a:r>
              <a:rPr lang="en-US" altLang="zh-CN" sz="2800"/>
              <a:t>0</a:t>
            </a:r>
            <a:r>
              <a:rPr lang="zh-CN" altLang="en-US" sz="2800"/>
              <a:t>）</a:t>
            </a:r>
            <a:r>
              <a:rPr lang="en-US" altLang="zh-CN" sz="2800"/>
              <a:t>FSM</a:t>
            </a:r>
            <a:r>
              <a:rPr lang="en-US" altLang="zh-CN" sz="2800" b="1"/>
              <a:t> </a:t>
            </a:r>
            <a:endParaRPr kumimoji="0" lang="en-US" altLang="zh-CN" b="1">
              <a:solidFill>
                <a:srgbClr val="800080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3" name="Text Box 5"/>
          <p:cNvSpPr txBox="1">
            <a:spLocks noChangeArrowheads="1"/>
          </p:cNvSpPr>
          <p:nvPr/>
        </p:nvSpPr>
        <p:spPr bwMode="auto">
          <a:xfrm>
            <a:off x="611188" y="1412875"/>
            <a:ext cx="8424862" cy="45704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>
                <a:solidFill>
                  <a:srgbClr val="800080"/>
                </a:solidFill>
              </a:rPr>
              <a:t>LR</a:t>
            </a:r>
            <a:r>
              <a:rPr lang="zh-CN" altLang="en-US" sz="3200">
                <a:solidFill>
                  <a:srgbClr val="800080"/>
                </a:solidFill>
              </a:rPr>
              <a:t>（</a:t>
            </a:r>
            <a:r>
              <a:rPr lang="en-US" altLang="zh-CN" sz="3200">
                <a:solidFill>
                  <a:srgbClr val="800080"/>
                </a:solidFill>
              </a:rPr>
              <a:t>0</a:t>
            </a:r>
            <a:r>
              <a:rPr lang="zh-CN" altLang="en-US" sz="3200">
                <a:solidFill>
                  <a:srgbClr val="800080"/>
                </a:solidFill>
              </a:rPr>
              <a:t>）</a:t>
            </a:r>
            <a:r>
              <a:rPr lang="en-US" altLang="zh-CN" sz="3200">
                <a:solidFill>
                  <a:srgbClr val="800080"/>
                </a:solidFill>
              </a:rPr>
              <a:t>FSM</a:t>
            </a: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zh-CN" altLang="en-US" sz="3200" b="1">
                <a:solidFill>
                  <a:srgbClr val="800080"/>
                </a:solidFill>
              </a:rPr>
              <a:t>的构造</a:t>
            </a:r>
            <a:endParaRPr lang="zh-CN" altLang="en-US" sz="3200" b="1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>
                <a:solidFill>
                  <a:srgbClr val="800080"/>
                </a:solidFill>
              </a:rPr>
              <a:t> </a:t>
            </a:r>
            <a:r>
              <a:rPr lang="zh-CN" altLang="en-US" sz="2800" b="1">
                <a:solidFill>
                  <a:srgbClr val="800080"/>
                </a:solidFill>
              </a:rPr>
              <a:t>计算</a:t>
            </a:r>
            <a:r>
              <a:rPr lang="zh-CN" altLang="en-US" sz="2800">
                <a:solidFill>
                  <a:srgbClr val="800080"/>
                </a:solidFill>
              </a:rPr>
              <a:t> </a:t>
            </a:r>
            <a:r>
              <a:rPr lang="en-US" altLang="zh-CN" sz="2800">
                <a:solidFill>
                  <a:srgbClr val="800080"/>
                </a:solidFill>
              </a:rPr>
              <a:t>LR</a:t>
            </a:r>
            <a:r>
              <a:rPr lang="zh-CN" altLang="en-US" sz="2800">
                <a:solidFill>
                  <a:srgbClr val="800080"/>
                </a:solidFill>
              </a:rPr>
              <a:t>（</a:t>
            </a:r>
            <a:r>
              <a:rPr lang="en-US" altLang="zh-CN" sz="2800">
                <a:solidFill>
                  <a:srgbClr val="800080"/>
                </a:solidFill>
              </a:rPr>
              <a:t>0</a:t>
            </a:r>
            <a:r>
              <a:rPr lang="zh-CN" altLang="en-US" sz="2800">
                <a:solidFill>
                  <a:srgbClr val="800080"/>
                </a:solidFill>
              </a:rPr>
              <a:t>）</a:t>
            </a:r>
            <a:r>
              <a:rPr lang="en-US" altLang="zh-CN" sz="2800">
                <a:solidFill>
                  <a:srgbClr val="800080"/>
                </a:solidFill>
              </a:rPr>
              <a:t>FSM</a:t>
            </a:r>
            <a:r>
              <a:rPr lang="en-US" altLang="zh-CN" sz="2800" b="1">
                <a:solidFill>
                  <a:srgbClr val="800080"/>
                </a:solidFill>
              </a:rPr>
              <a:t> </a:t>
            </a:r>
            <a:r>
              <a:rPr lang="zh-CN" altLang="en-US" sz="2800" b="1">
                <a:solidFill>
                  <a:srgbClr val="800080"/>
                </a:solidFill>
              </a:rPr>
              <a:t>的所有状态的集合</a:t>
            </a:r>
          </a:p>
          <a:p>
            <a:pPr lvl="1">
              <a:buClrTx/>
              <a:buFont typeface="Symbol" panose="05050102010706020507" pitchFamily="18" charset="2"/>
              <a:buNone/>
            </a:pPr>
            <a:endParaRPr kumimoji="0" lang="zh-CN" altLang="en-US" sz="1000" b="1"/>
          </a:p>
          <a:p>
            <a:pPr lvl="1">
              <a:buClrTx/>
              <a:buFont typeface="Symbol" panose="05050102010706020507" pitchFamily="18" charset="2"/>
              <a:buNone/>
            </a:pPr>
            <a:r>
              <a:rPr lang="zh-CN" altLang="en-US" sz="2800" b="1"/>
              <a:t>   </a:t>
            </a:r>
            <a:r>
              <a:rPr lang="zh-CN" altLang="en-US" b="1"/>
              <a:t>设文法 </a:t>
            </a:r>
            <a:r>
              <a:rPr lang="en-US" altLang="zh-CN" i="1"/>
              <a:t>G</a:t>
            </a:r>
            <a:r>
              <a:rPr lang="en-US" altLang="zh-CN"/>
              <a:t>[</a:t>
            </a:r>
            <a:r>
              <a:rPr lang="en-US" altLang="zh-CN" i="1"/>
              <a:t>S</a:t>
            </a:r>
            <a:r>
              <a:rPr lang="en-US" altLang="zh-CN"/>
              <a:t>]</a:t>
            </a:r>
            <a:r>
              <a:rPr lang="en-US" altLang="zh-CN" b="1"/>
              <a:t> </a:t>
            </a:r>
            <a:r>
              <a:rPr lang="zh-CN" altLang="en-US" b="1"/>
              <a:t>的增广文法为</a:t>
            </a:r>
            <a:r>
              <a:rPr kumimoji="0" lang="zh-CN" altLang="en-US" b="1"/>
              <a:t> </a:t>
            </a:r>
            <a:r>
              <a:rPr lang="en-US" altLang="zh-CN" i="1"/>
              <a:t>G’</a:t>
            </a:r>
            <a:r>
              <a:rPr lang="en-US" altLang="zh-CN" b="1"/>
              <a:t> </a:t>
            </a:r>
            <a:r>
              <a:rPr lang="en-US" altLang="zh-CN"/>
              <a:t>[</a:t>
            </a:r>
            <a:r>
              <a:rPr lang="en-US" altLang="zh-CN" i="1"/>
              <a:t>S’</a:t>
            </a:r>
            <a:r>
              <a:rPr lang="en-US" altLang="zh-CN"/>
              <a:t>], </a:t>
            </a:r>
            <a:r>
              <a:rPr lang="zh-CN" altLang="en-US" b="1"/>
              <a:t>则 </a:t>
            </a:r>
            <a:r>
              <a:rPr lang="en-US" altLang="zh-CN" b="1"/>
              <a:t>LR</a:t>
            </a:r>
            <a:r>
              <a:rPr lang="zh-CN" altLang="en-US" b="1"/>
              <a:t>（</a:t>
            </a:r>
            <a:r>
              <a:rPr lang="en-US" altLang="zh-CN" b="1"/>
              <a:t>0</a:t>
            </a:r>
            <a:r>
              <a:rPr lang="zh-CN" altLang="en-US" b="1"/>
              <a:t>）</a:t>
            </a:r>
            <a:r>
              <a:rPr lang="en-US" altLang="zh-CN" b="1"/>
              <a:t>FSM </a:t>
            </a:r>
            <a:r>
              <a:rPr lang="zh-CN" altLang="en-US" b="1"/>
              <a:t>的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lang="zh-CN" altLang="en-US" b="1"/>
              <a:t>    所有状态的集合 </a:t>
            </a:r>
            <a:r>
              <a:rPr lang="en-US" altLang="zh-CN" b="1"/>
              <a:t>C </a:t>
            </a:r>
            <a:r>
              <a:rPr lang="zh-CN" altLang="en-US" b="1"/>
              <a:t>可由如下算法计算：</a:t>
            </a:r>
          </a:p>
          <a:p>
            <a:pPr lvl="1">
              <a:buClrTx/>
              <a:buFont typeface="Symbol" panose="05050102010706020507" pitchFamily="18" charset="2"/>
              <a:buNone/>
            </a:pPr>
            <a:endParaRPr lang="zh-CN" altLang="en-US" sz="1000" b="1"/>
          </a:p>
          <a:p>
            <a:pPr lvl="1">
              <a:buClrTx/>
              <a:buFont typeface="Symbol" panose="05050102010706020507" pitchFamily="18" charset="2"/>
              <a:buNone/>
            </a:pPr>
            <a:r>
              <a:rPr lang="zh-CN" altLang="en-US" sz="2800" b="1"/>
              <a:t>           </a:t>
            </a:r>
            <a:r>
              <a:rPr lang="en-US" altLang="zh-CN"/>
              <a:t>C:= { CLOSURE ({S’</a:t>
            </a:r>
            <a:r>
              <a:rPr lang="en-US" altLang="zh-CN">
                <a:sym typeface="Symbol" panose="05050102010706020507" pitchFamily="18" charset="2"/>
              </a:rPr>
              <a:t>.</a:t>
            </a:r>
            <a:r>
              <a:rPr lang="en-US" altLang="zh-CN"/>
              <a:t>S})}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lang="en-US" altLang="zh-CN" sz="2800"/>
              <a:t>           </a:t>
            </a:r>
            <a:r>
              <a:rPr lang="en-US" altLang="zh-CN"/>
              <a:t>Repeat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/>
              <a:t>                       For C </a:t>
            </a:r>
            <a:r>
              <a:rPr lang="zh-CN" altLang="en-US" b="1"/>
              <a:t>中每一项目集 </a:t>
            </a:r>
            <a:r>
              <a:rPr lang="en-US" altLang="zh-CN" b="1"/>
              <a:t>I </a:t>
            </a:r>
            <a:r>
              <a:rPr lang="zh-CN" altLang="en-US" b="1"/>
              <a:t>和每一文法符号</a:t>
            </a:r>
            <a:r>
              <a:rPr lang="en-US" altLang="zh-CN" b="1"/>
              <a:t>X</a:t>
            </a:r>
            <a:r>
              <a:rPr lang="en-US" altLang="zh-CN"/>
              <a:t>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/>
              <a:t>                       Do  if   </a:t>
            </a:r>
            <a:r>
              <a:rPr lang="en-US" altLang="zh-CN" b="1"/>
              <a:t>GO(I,X) </a:t>
            </a:r>
            <a:r>
              <a:rPr lang="zh-CN" altLang="en-US" b="1"/>
              <a:t>非空且不属于</a:t>
            </a:r>
            <a:r>
              <a:rPr lang="en-US" altLang="zh-CN" b="1"/>
              <a:t>C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/>
              <a:t>                             Then   </a:t>
            </a:r>
            <a:r>
              <a:rPr lang="zh-CN" altLang="en-US" b="1"/>
              <a:t>把 </a:t>
            </a:r>
            <a:r>
              <a:rPr lang="en-US" altLang="zh-CN" b="1"/>
              <a:t>GO(I,X) </a:t>
            </a:r>
            <a:r>
              <a:rPr lang="zh-CN" altLang="en-US" b="1"/>
              <a:t>放入</a:t>
            </a:r>
            <a:r>
              <a:rPr lang="en-US" altLang="zh-CN" b="1"/>
              <a:t>C</a:t>
            </a:r>
            <a:r>
              <a:rPr lang="zh-CN" altLang="en-US" b="1"/>
              <a:t>中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                  </a:t>
            </a:r>
            <a:r>
              <a:rPr lang="en-US" altLang="zh-CN"/>
              <a:t>Until  </a:t>
            </a:r>
            <a:r>
              <a:rPr lang="en-US" altLang="zh-CN" b="1"/>
              <a:t>C </a:t>
            </a:r>
            <a:r>
              <a:rPr lang="zh-CN" altLang="en-US" b="1"/>
              <a:t>不再增大</a:t>
            </a:r>
          </a:p>
        </p:txBody>
      </p:sp>
      <p:sp>
        <p:nvSpPr>
          <p:cNvPr id="529414" name="AutoShape 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9415" name="AutoShape 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9416" name="AutoShape 8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9417" name="AutoShape 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9418" name="Rectangle 10"/>
          <p:cNvSpPr>
            <a:spLocks noChangeArrowheads="1"/>
          </p:cNvSpPr>
          <p:nvPr/>
        </p:nvSpPr>
        <p:spPr bwMode="auto">
          <a:xfrm>
            <a:off x="35496" y="188913"/>
            <a:ext cx="32385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0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</p:spTree>
  </p:cSld>
  <p:clrMapOvr>
    <a:masterClrMapping/>
  </p:clrMapOvr>
  <p:transition spd="med"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74" name="AutoShape 1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6175" name="AutoShape 1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6176" name="AutoShape 1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6177" name="AutoShape 1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6178" name="Rectangle 18"/>
          <p:cNvSpPr>
            <a:spLocks noChangeArrowheads="1"/>
          </p:cNvSpPr>
          <p:nvPr/>
        </p:nvSpPr>
        <p:spPr bwMode="auto">
          <a:xfrm>
            <a:off x="35496" y="188913"/>
            <a:ext cx="32385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0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476179" name="Text Box 19"/>
          <p:cNvSpPr txBox="1">
            <a:spLocks noChangeArrowheads="1"/>
          </p:cNvSpPr>
          <p:nvPr/>
        </p:nvSpPr>
        <p:spPr bwMode="auto">
          <a:xfrm>
            <a:off x="395288" y="1125538"/>
            <a:ext cx="6551612" cy="106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/>
              <a:t>LR</a:t>
            </a:r>
            <a:r>
              <a:rPr lang="zh-CN" altLang="en-US" sz="3200"/>
              <a:t>（</a:t>
            </a:r>
            <a:r>
              <a:rPr lang="en-US" altLang="zh-CN" sz="3200"/>
              <a:t>0</a:t>
            </a:r>
            <a:r>
              <a:rPr lang="zh-CN" altLang="en-US" sz="3200"/>
              <a:t>）</a:t>
            </a:r>
            <a:r>
              <a:rPr lang="en-US" altLang="zh-CN" sz="3200"/>
              <a:t>FSM</a:t>
            </a:r>
            <a:r>
              <a:rPr lang="en-US" altLang="zh-CN" sz="3200" b="1"/>
              <a:t> </a:t>
            </a:r>
            <a:r>
              <a:rPr lang="zh-CN" altLang="en-US" sz="3200" b="1"/>
              <a:t>的构造</a:t>
            </a:r>
            <a:r>
              <a:rPr lang="zh-CN" altLang="en-US" sz="3200" b="1">
                <a:solidFill>
                  <a:srgbClr val="800080"/>
                </a:solidFill>
              </a:rPr>
              <a:t>举例</a:t>
            </a: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32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kumimoji="0" lang="en-US" altLang="zh-CN" i="1">
                <a:solidFill>
                  <a:srgbClr val="800080"/>
                </a:solidFill>
                <a:sym typeface="Symbol" panose="05050102010706020507" pitchFamily="18" charset="2"/>
              </a:rPr>
              <a:t>G</a:t>
            </a:r>
            <a:r>
              <a:rPr kumimoji="0" lang="en-US" altLang="zh-CN">
                <a:solidFill>
                  <a:srgbClr val="800080"/>
                </a:solidFill>
                <a:sym typeface="Symbol" panose="05050102010706020507" pitchFamily="18" charset="2"/>
              </a:rPr>
              <a:t>[</a:t>
            </a:r>
            <a:r>
              <a:rPr kumimoji="0" lang="en-US" altLang="zh-CN" i="1">
                <a:solidFill>
                  <a:srgbClr val="800080"/>
                </a:solidFill>
                <a:sym typeface="Symbol" panose="05050102010706020507" pitchFamily="18" charset="2"/>
              </a:rPr>
              <a:t>E</a:t>
            </a:r>
            <a:r>
              <a:rPr kumimoji="0" lang="en-US" altLang="zh-CN">
                <a:solidFill>
                  <a:srgbClr val="800080"/>
                </a:solidFill>
                <a:sym typeface="Symbol" panose="05050102010706020507" pitchFamily="18" charset="2"/>
              </a:rPr>
              <a:t>]</a:t>
            </a:r>
            <a:r>
              <a:rPr kumimoji="0" lang="zh-CN" altLang="en-US" b="1">
                <a:sym typeface="Symbol" panose="05050102010706020507" pitchFamily="18" charset="2"/>
              </a:rPr>
              <a:t>的</a:t>
            </a:r>
            <a:r>
              <a:rPr lang="zh-CN" altLang="en-US" b="1"/>
              <a:t>增广文法</a:t>
            </a:r>
            <a:r>
              <a:rPr lang="en-US" altLang="zh-CN" i="1"/>
              <a:t>G’</a:t>
            </a:r>
            <a:r>
              <a:rPr lang="en-US" altLang="zh-CN" b="1"/>
              <a:t> </a:t>
            </a:r>
            <a:r>
              <a:rPr lang="en-US" altLang="zh-CN"/>
              <a:t>[</a:t>
            </a:r>
            <a:r>
              <a:rPr lang="en-US" altLang="zh-CN" i="1"/>
              <a:t>E’</a:t>
            </a:r>
            <a:r>
              <a:rPr lang="en-US" altLang="zh-CN"/>
              <a:t>]</a:t>
            </a:r>
            <a:r>
              <a:rPr kumimoji="0" lang="en-US" altLang="zh-CN">
                <a:sym typeface="Symbol" panose="05050102010706020507" pitchFamily="18" charset="2"/>
              </a:rPr>
              <a:t> </a:t>
            </a:r>
            <a:r>
              <a:rPr kumimoji="0" lang="zh-CN" altLang="en-US" b="1">
                <a:sym typeface="Symbol" panose="05050102010706020507" pitchFamily="18" charset="2"/>
              </a:rPr>
              <a:t>的</a:t>
            </a:r>
            <a:r>
              <a:rPr kumimoji="0" lang="zh-CN" altLang="en-US" b="1">
                <a:solidFill>
                  <a:srgbClr val="800080"/>
                </a:solidFill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rgbClr val="800080"/>
                </a:solidFill>
              </a:rPr>
              <a:t>LR</a:t>
            </a:r>
            <a:r>
              <a:rPr lang="zh-CN" altLang="en-US">
                <a:solidFill>
                  <a:srgbClr val="800080"/>
                </a:solidFill>
              </a:rPr>
              <a:t>（</a:t>
            </a:r>
            <a:r>
              <a:rPr lang="en-US" altLang="zh-CN">
                <a:solidFill>
                  <a:srgbClr val="800080"/>
                </a:solidFill>
              </a:rPr>
              <a:t>0</a:t>
            </a:r>
            <a:r>
              <a:rPr lang="zh-CN" altLang="en-US">
                <a:solidFill>
                  <a:srgbClr val="800080"/>
                </a:solidFill>
              </a:rPr>
              <a:t>）</a:t>
            </a:r>
            <a:r>
              <a:rPr lang="en-US" altLang="zh-CN">
                <a:solidFill>
                  <a:srgbClr val="800080"/>
                </a:solidFill>
              </a:rPr>
              <a:t>FSM</a:t>
            </a:r>
            <a:endParaRPr lang="en-US" altLang="zh-CN" b="1">
              <a:solidFill>
                <a:srgbClr val="800080"/>
              </a:solidFill>
            </a:endParaRPr>
          </a:p>
        </p:txBody>
      </p:sp>
      <p:sp>
        <p:nvSpPr>
          <p:cNvPr id="476180" name="Text Box 20"/>
          <p:cNvSpPr txBox="1">
            <a:spLocks noChangeArrowheads="1"/>
          </p:cNvSpPr>
          <p:nvPr/>
        </p:nvSpPr>
        <p:spPr bwMode="auto">
          <a:xfrm>
            <a:off x="6877050" y="1125538"/>
            <a:ext cx="2016125" cy="20399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en-US" altLang="zh-CN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kumimoji="0" lang="en-US" altLang="zh-CN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0" lang="en-US" altLang="zh-CN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]: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kumimoji="0" lang="en-US" altLang="zh-CN" sz="800">
              <a:solidFill>
                <a:srgbClr val="80008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(1) </a:t>
            </a:r>
            <a:r>
              <a:rPr lang="en-US" altLang="zh-CN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E+T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(2) </a:t>
            </a:r>
            <a:r>
              <a:rPr lang="en-US" altLang="zh-CN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T</a:t>
            </a:r>
            <a:r>
              <a:rPr lang="en-US" altLang="zh-CN" i="1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(3) </a:t>
            </a:r>
            <a:r>
              <a:rPr lang="en-US" altLang="zh-CN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en-US" altLang="zh-CN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( E 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(4) </a:t>
            </a:r>
            <a:r>
              <a:rPr lang="en-US" altLang="zh-CN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en-US" altLang="zh-CN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</a:p>
        </p:txBody>
      </p:sp>
      <p:sp>
        <p:nvSpPr>
          <p:cNvPr id="476181" name="Text Box 21"/>
          <p:cNvSpPr txBox="1">
            <a:spLocks noChangeArrowheads="1"/>
          </p:cNvSpPr>
          <p:nvPr/>
        </p:nvSpPr>
        <p:spPr bwMode="auto">
          <a:xfrm>
            <a:off x="900113" y="2276475"/>
            <a:ext cx="1655762" cy="168592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0" lang="en-US" altLang="zh-CN" sz="20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000" b="1" i="1">
                <a:cs typeface="Times New Roman" panose="02020603050405020304" pitchFamily="18" charset="0"/>
                <a:sym typeface="Symbol" panose="05050102010706020507" pitchFamily="18" charset="2"/>
              </a:rPr>
              <a:t>E’ </a:t>
            </a:r>
            <a:r>
              <a:rPr lang="en-US" altLang="zh-CN" sz="20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000" b="1" i="1">
                <a:cs typeface="Times New Roman" panose="02020603050405020304" pitchFamily="18" charset="0"/>
                <a:sym typeface="Symbol" panose="05050102010706020507" pitchFamily="18" charset="2"/>
              </a:rPr>
              <a:t>.E</a:t>
            </a:r>
            <a:endParaRPr kumimoji="0" lang="en-US" altLang="zh-CN" sz="2000" b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2000" b="1" i="1">
                <a:cs typeface="Times New Roman" panose="02020603050405020304" pitchFamily="18" charset="0"/>
                <a:sym typeface="Symbol" panose="05050102010706020507" pitchFamily="18" charset="2"/>
              </a:rPr>
              <a:t>     E </a:t>
            </a:r>
            <a:r>
              <a:rPr lang="en-US" altLang="zh-CN" sz="20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000" b="1" i="1">
                <a:sym typeface="Symbol" panose="05050102010706020507" pitchFamily="18" charset="2"/>
              </a:rPr>
              <a:t>.</a:t>
            </a:r>
            <a:r>
              <a:rPr lang="en-US" altLang="zh-CN" sz="2000" b="1" i="1">
                <a:ea typeface="华文行楷" pitchFamily="2" charset="-122"/>
                <a:sym typeface="Symbol" panose="05050102010706020507" pitchFamily="18" charset="2"/>
              </a:rPr>
              <a:t>E+T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2000" b="1">
                <a:sym typeface="Symbol" panose="05050102010706020507" pitchFamily="18" charset="2"/>
              </a:rPr>
              <a:t>     </a:t>
            </a:r>
            <a:r>
              <a:rPr lang="en-US" altLang="zh-CN" sz="2000" b="1" i="1">
                <a:sym typeface="Symbol" panose="05050102010706020507" pitchFamily="18" charset="2"/>
              </a:rPr>
              <a:t>E </a:t>
            </a:r>
            <a:r>
              <a:rPr lang="en-US" altLang="zh-CN" sz="2000" b="1">
                <a:sym typeface="Symbol" panose="05050102010706020507" pitchFamily="18" charset="2"/>
              </a:rPr>
              <a:t></a:t>
            </a:r>
            <a:r>
              <a:rPr lang="en-US" altLang="zh-CN" sz="2000" b="1" i="1">
                <a:sym typeface="Symbol" panose="05050102010706020507" pitchFamily="18" charset="2"/>
              </a:rPr>
              <a:t> .T</a:t>
            </a:r>
            <a:r>
              <a:rPr lang="en-US" altLang="zh-CN" sz="2000" b="1" i="1">
                <a:ea typeface="华文行楷" pitchFamily="2" charset="-122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2000" b="1">
                <a:sym typeface="Symbol" panose="05050102010706020507" pitchFamily="18" charset="2"/>
              </a:rPr>
              <a:t>     </a:t>
            </a:r>
            <a:r>
              <a:rPr lang="en-US" altLang="zh-CN" sz="2000" b="1" i="1">
                <a:sym typeface="Symbol" panose="05050102010706020507" pitchFamily="18" charset="2"/>
              </a:rPr>
              <a:t>T </a:t>
            </a:r>
            <a:r>
              <a:rPr lang="en-US" altLang="zh-CN" sz="2000" b="1">
                <a:ea typeface="华文行楷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000" b="1" i="1">
                <a:ea typeface="华文行楷" pitchFamily="2" charset="-122"/>
                <a:sym typeface="Symbol" panose="05050102010706020507" pitchFamily="18" charset="2"/>
              </a:rPr>
              <a:t> .(E)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2000" b="1">
                <a:sym typeface="Symbol" panose="05050102010706020507" pitchFamily="18" charset="2"/>
              </a:rPr>
              <a:t>     </a:t>
            </a:r>
            <a:r>
              <a:rPr lang="en-US" altLang="zh-CN" sz="2000" b="1" i="1">
                <a:sym typeface="Symbol" panose="05050102010706020507" pitchFamily="18" charset="2"/>
              </a:rPr>
              <a:t>T </a:t>
            </a:r>
            <a:r>
              <a:rPr lang="en-US" altLang="zh-CN" sz="2000" b="1">
                <a:sym typeface="Symbol" panose="05050102010706020507" pitchFamily="18" charset="2"/>
              </a:rPr>
              <a:t> .</a:t>
            </a:r>
            <a:r>
              <a:rPr lang="en-US" altLang="zh-CN" sz="2000" b="1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476183" name="Text Box 23"/>
          <p:cNvSpPr txBox="1">
            <a:spLocks noChangeArrowheads="1"/>
          </p:cNvSpPr>
          <p:nvPr/>
        </p:nvSpPr>
        <p:spPr bwMode="auto">
          <a:xfrm>
            <a:off x="900113" y="4724400"/>
            <a:ext cx="1655762" cy="168592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kumimoji="0" lang="en-US" altLang="zh-CN" sz="20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000" b="1" i="1">
                <a:cs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en-US" altLang="zh-CN" sz="20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="1" i="1">
                <a:cs typeface="Times New Roman" panose="02020603050405020304" pitchFamily="18" charset="0"/>
                <a:sym typeface="Symbol" panose="05050102010706020507" pitchFamily="18" charset="2"/>
              </a:rPr>
              <a:t> (.E)</a:t>
            </a:r>
            <a:endParaRPr kumimoji="0" lang="en-US" altLang="zh-CN" sz="2000" b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2000" b="1" i="1">
                <a:cs typeface="Times New Roman" panose="02020603050405020304" pitchFamily="18" charset="0"/>
                <a:sym typeface="Symbol" panose="05050102010706020507" pitchFamily="18" charset="2"/>
              </a:rPr>
              <a:t>     E </a:t>
            </a:r>
            <a:r>
              <a:rPr lang="en-US" altLang="zh-CN" sz="20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000" b="1" i="1">
                <a:sym typeface="Symbol" panose="05050102010706020507" pitchFamily="18" charset="2"/>
              </a:rPr>
              <a:t>.</a:t>
            </a:r>
            <a:r>
              <a:rPr lang="en-US" altLang="zh-CN" sz="2000" b="1" i="1">
                <a:ea typeface="华文行楷" pitchFamily="2" charset="-122"/>
                <a:sym typeface="Symbol" panose="05050102010706020507" pitchFamily="18" charset="2"/>
              </a:rPr>
              <a:t>E+T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2000" b="1">
                <a:sym typeface="Symbol" panose="05050102010706020507" pitchFamily="18" charset="2"/>
              </a:rPr>
              <a:t>     </a:t>
            </a:r>
            <a:r>
              <a:rPr lang="en-US" altLang="zh-CN" sz="2000" b="1" i="1">
                <a:sym typeface="Symbol" panose="05050102010706020507" pitchFamily="18" charset="2"/>
              </a:rPr>
              <a:t>E </a:t>
            </a:r>
            <a:r>
              <a:rPr lang="en-US" altLang="zh-CN" sz="2000" b="1">
                <a:sym typeface="Symbol" panose="05050102010706020507" pitchFamily="18" charset="2"/>
              </a:rPr>
              <a:t></a:t>
            </a:r>
            <a:r>
              <a:rPr lang="en-US" altLang="zh-CN" sz="2000" b="1" i="1">
                <a:sym typeface="Symbol" panose="05050102010706020507" pitchFamily="18" charset="2"/>
              </a:rPr>
              <a:t> .T</a:t>
            </a:r>
            <a:r>
              <a:rPr lang="en-US" altLang="zh-CN" sz="2000" b="1" i="1">
                <a:ea typeface="华文行楷" pitchFamily="2" charset="-122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2000" b="1">
                <a:sym typeface="Symbol" panose="05050102010706020507" pitchFamily="18" charset="2"/>
              </a:rPr>
              <a:t>     </a:t>
            </a:r>
            <a:r>
              <a:rPr lang="en-US" altLang="zh-CN" sz="2000" b="1" i="1">
                <a:sym typeface="Symbol" panose="05050102010706020507" pitchFamily="18" charset="2"/>
              </a:rPr>
              <a:t>T </a:t>
            </a:r>
            <a:r>
              <a:rPr lang="en-US" altLang="zh-CN" sz="2000" b="1">
                <a:ea typeface="华文行楷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000" b="1" i="1">
                <a:ea typeface="华文行楷" pitchFamily="2" charset="-122"/>
                <a:sym typeface="Symbol" panose="05050102010706020507" pitchFamily="18" charset="2"/>
              </a:rPr>
              <a:t> .( E 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2000" b="1">
                <a:sym typeface="Symbol" panose="05050102010706020507" pitchFamily="18" charset="2"/>
              </a:rPr>
              <a:t>     </a:t>
            </a:r>
            <a:r>
              <a:rPr lang="en-US" altLang="zh-CN" sz="2000" b="1" i="1">
                <a:sym typeface="Symbol" panose="05050102010706020507" pitchFamily="18" charset="2"/>
              </a:rPr>
              <a:t>T </a:t>
            </a:r>
            <a:r>
              <a:rPr lang="en-US" altLang="zh-CN" sz="2000" b="1">
                <a:sym typeface="Symbol" panose="05050102010706020507" pitchFamily="18" charset="2"/>
              </a:rPr>
              <a:t> .</a:t>
            </a:r>
            <a:r>
              <a:rPr lang="en-US" altLang="zh-CN" sz="2000" b="1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476184" name="Text Box 24"/>
          <p:cNvSpPr txBox="1">
            <a:spLocks noChangeArrowheads="1"/>
          </p:cNvSpPr>
          <p:nvPr/>
        </p:nvSpPr>
        <p:spPr bwMode="auto">
          <a:xfrm>
            <a:off x="3132138" y="2349500"/>
            <a:ext cx="1655762" cy="77152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0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000" b="1" i="1">
                <a:cs typeface="Times New Roman" panose="02020603050405020304" pitchFamily="18" charset="0"/>
                <a:sym typeface="Symbol" panose="05050102010706020507" pitchFamily="18" charset="2"/>
              </a:rPr>
              <a:t>E’ </a:t>
            </a:r>
            <a:r>
              <a:rPr lang="en-US" altLang="zh-CN" sz="20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000" b="1" i="1">
                <a:cs typeface="Times New Roman" panose="02020603050405020304" pitchFamily="18" charset="0"/>
                <a:sym typeface="Symbol" panose="05050102010706020507" pitchFamily="18" charset="2"/>
              </a:rPr>
              <a:t>E.</a:t>
            </a:r>
            <a:endParaRPr kumimoji="0" lang="en-US" altLang="zh-CN" sz="2000" b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2000" b="1" i="1">
                <a:cs typeface="Times New Roman" panose="02020603050405020304" pitchFamily="18" charset="0"/>
                <a:sym typeface="Symbol" panose="05050102010706020507" pitchFamily="18" charset="2"/>
              </a:rPr>
              <a:t>     E </a:t>
            </a:r>
            <a:r>
              <a:rPr lang="en-US" altLang="zh-CN" sz="20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0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E.+T </a:t>
            </a:r>
            <a:endParaRPr lang="en-US" altLang="zh-CN" sz="2000" b="1" i="1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76185" name="Text Box 25"/>
          <p:cNvSpPr txBox="1">
            <a:spLocks noChangeArrowheads="1"/>
          </p:cNvSpPr>
          <p:nvPr/>
        </p:nvSpPr>
        <p:spPr bwMode="auto">
          <a:xfrm>
            <a:off x="3132138" y="3322638"/>
            <a:ext cx="1655762" cy="46672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zh-CN" sz="20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0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20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000" b="1" i="1">
                <a:cs typeface="Times New Roman" panose="02020603050405020304" pitchFamily="18" charset="0"/>
                <a:sym typeface="Symbol" panose="05050102010706020507" pitchFamily="18" charset="2"/>
              </a:rPr>
              <a:t>T.</a:t>
            </a:r>
            <a:endParaRPr kumimoji="0" lang="en-US" altLang="zh-CN" sz="2000" b="1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76186" name="Text Box 26"/>
          <p:cNvSpPr txBox="1">
            <a:spLocks noChangeArrowheads="1"/>
          </p:cNvSpPr>
          <p:nvPr/>
        </p:nvSpPr>
        <p:spPr bwMode="auto">
          <a:xfrm>
            <a:off x="3132138" y="4005263"/>
            <a:ext cx="1655762" cy="46672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kumimoji="0" lang="en-US" altLang="zh-CN" sz="20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000" b="1" i="1">
                <a:cs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en-US" altLang="zh-CN" sz="20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000" b="1" i="1">
                <a:cs typeface="Times New Roman" panose="02020603050405020304" pitchFamily="18" charset="0"/>
                <a:sym typeface="Symbol" panose="05050102010706020507" pitchFamily="18" charset="2"/>
              </a:rPr>
              <a:t>d.</a:t>
            </a:r>
            <a:endParaRPr kumimoji="0" lang="en-US" altLang="zh-CN" sz="2000" b="1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76187" name="Text Box 27"/>
          <p:cNvSpPr txBox="1">
            <a:spLocks noChangeArrowheads="1"/>
          </p:cNvSpPr>
          <p:nvPr/>
        </p:nvSpPr>
        <p:spPr bwMode="auto">
          <a:xfrm>
            <a:off x="3132138" y="4724400"/>
            <a:ext cx="1655762" cy="77152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kumimoji="0" lang="en-US" altLang="zh-CN" sz="20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000" b="1" i="1">
                <a:cs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en-US" altLang="zh-CN" sz="20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="1" i="1">
                <a:cs typeface="Times New Roman" panose="02020603050405020304" pitchFamily="18" charset="0"/>
                <a:sym typeface="Symbol" panose="05050102010706020507" pitchFamily="18" charset="2"/>
              </a:rPr>
              <a:t> (E.)</a:t>
            </a:r>
            <a:endParaRPr kumimoji="0" lang="en-US" altLang="zh-CN" sz="2000" b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2000" b="1" i="1">
                <a:cs typeface="Times New Roman" panose="02020603050405020304" pitchFamily="18" charset="0"/>
                <a:sym typeface="Symbol" panose="05050102010706020507" pitchFamily="18" charset="2"/>
              </a:rPr>
              <a:t>     E </a:t>
            </a:r>
            <a:r>
              <a:rPr lang="en-US" altLang="zh-CN" sz="20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0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E.+T </a:t>
            </a:r>
          </a:p>
        </p:txBody>
      </p:sp>
      <p:sp>
        <p:nvSpPr>
          <p:cNvPr id="476188" name="Text Box 28"/>
          <p:cNvSpPr txBox="1">
            <a:spLocks noChangeArrowheads="1"/>
          </p:cNvSpPr>
          <p:nvPr/>
        </p:nvSpPr>
        <p:spPr bwMode="auto">
          <a:xfrm>
            <a:off x="3059113" y="5564188"/>
            <a:ext cx="503237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endParaRPr kumimoji="0" lang="en-US" altLang="zh-CN" sz="2000" b="1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76189" name="Text Box 29"/>
          <p:cNvSpPr txBox="1">
            <a:spLocks noChangeArrowheads="1"/>
          </p:cNvSpPr>
          <p:nvPr/>
        </p:nvSpPr>
        <p:spPr bwMode="auto">
          <a:xfrm>
            <a:off x="3059113" y="5949950"/>
            <a:ext cx="503237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endParaRPr kumimoji="0" lang="en-US" altLang="zh-CN" sz="2000" b="1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76190" name="Text Box 30"/>
          <p:cNvSpPr txBox="1">
            <a:spLocks noChangeArrowheads="1"/>
          </p:cNvSpPr>
          <p:nvPr/>
        </p:nvSpPr>
        <p:spPr bwMode="auto">
          <a:xfrm>
            <a:off x="5364163" y="3357563"/>
            <a:ext cx="1657350" cy="107632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6</a:t>
            </a:r>
            <a:r>
              <a:rPr kumimoji="0" lang="en-US" altLang="zh-CN" sz="2000" b="1"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  <a:r>
              <a:rPr lang="en-US" altLang="zh-CN" sz="2000" b="1" i="1">
                <a:cs typeface="Times New Roman" panose="02020603050405020304" pitchFamily="18" charset="0"/>
                <a:sym typeface="Symbol" panose="05050102010706020507" pitchFamily="18" charset="2"/>
              </a:rPr>
              <a:t> E </a:t>
            </a:r>
            <a:r>
              <a:rPr lang="en-US" altLang="zh-CN" sz="20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0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E+.T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2000" b="1" i="1">
                <a:cs typeface="Times New Roman" panose="02020603050405020304" pitchFamily="18" charset="0"/>
                <a:sym typeface="Symbol" panose="05050102010706020507" pitchFamily="18" charset="2"/>
              </a:rPr>
              <a:t>     T </a:t>
            </a:r>
            <a:r>
              <a:rPr lang="en-US" altLang="zh-CN" sz="20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.( E 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2000" b="1"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altLang="zh-CN" sz="2000" b="1" i="1">
                <a:cs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en-US" altLang="zh-CN" sz="2000" b="1">
                <a:cs typeface="Times New Roman" panose="02020603050405020304" pitchFamily="18" charset="0"/>
                <a:sym typeface="Symbol" panose="05050102010706020507" pitchFamily="18" charset="2"/>
              </a:rPr>
              <a:t> .</a:t>
            </a:r>
            <a:r>
              <a:rPr lang="en-US" altLang="zh-CN" sz="2000" b="1" i="1"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</a:p>
        </p:txBody>
      </p:sp>
      <p:sp>
        <p:nvSpPr>
          <p:cNvPr id="476191" name="Text Box 31"/>
          <p:cNvSpPr txBox="1">
            <a:spLocks noChangeArrowheads="1"/>
          </p:cNvSpPr>
          <p:nvPr/>
        </p:nvSpPr>
        <p:spPr bwMode="auto">
          <a:xfrm>
            <a:off x="5364163" y="5013325"/>
            <a:ext cx="1441450" cy="46672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7</a:t>
            </a:r>
            <a:r>
              <a:rPr kumimoji="0" lang="en-US" altLang="zh-CN" sz="20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000" b="1" i="1">
                <a:cs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en-US" altLang="zh-CN" sz="20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="1" i="1">
                <a:cs typeface="Times New Roman" panose="02020603050405020304" pitchFamily="18" charset="0"/>
                <a:sym typeface="Symbol" panose="05050102010706020507" pitchFamily="18" charset="2"/>
              </a:rPr>
              <a:t> (E).</a:t>
            </a:r>
            <a:endParaRPr lang="en-US" altLang="zh-CN" sz="2000" b="1" i="1">
              <a:ea typeface="华文行楷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76192" name="Text Box 32"/>
          <p:cNvSpPr txBox="1">
            <a:spLocks noChangeArrowheads="1"/>
          </p:cNvSpPr>
          <p:nvPr/>
        </p:nvSpPr>
        <p:spPr bwMode="auto">
          <a:xfrm>
            <a:off x="5292725" y="5589588"/>
            <a:ext cx="50323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6</a:t>
            </a:r>
            <a:endParaRPr kumimoji="0" lang="en-US" altLang="zh-CN" sz="2000" b="1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76193" name="Text Box 33"/>
          <p:cNvSpPr txBox="1">
            <a:spLocks noChangeArrowheads="1"/>
          </p:cNvSpPr>
          <p:nvPr/>
        </p:nvSpPr>
        <p:spPr bwMode="auto">
          <a:xfrm>
            <a:off x="7596188" y="3644900"/>
            <a:ext cx="1296987" cy="77152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8</a:t>
            </a:r>
            <a:r>
              <a:rPr kumimoji="0" lang="en-US" altLang="zh-CN" sz="2000" b="1"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  <a:r>
              <a:rPr lang="en-US" altLang="zh-CN" sz="2000" b="1" i="1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20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20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0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E+T. </a:t>
            </a:r>
            <a:endParaRPr lang="en-US" altLang="zh-CN" sz="2000" b="1" i="1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76194" name="Text Box 34"/>
          <p:cNvSpPr txBox="1">
            <a:spLocks noChangeArrowheads="1"/>
          </p:cNvSpPr>
          <p:nvPr/>
        </p:nvSpPr>
        <p:spPr bwMode="auto">
          <a:xfrm>
            <a:off x="7597775" y="4700588"/>
            <a:ext cx="50323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endParaRPr kumimoji="0" lang="en-US" altLang="zh-CN" sz="2000" b="1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76195" name="Text Box 35"/>
          <p:cNvSpPr txBox="1">
            <a:spLocks noChangeArrowheads="1"/>
          </p:cNvSpPr>
          <p:nvPr/>
        </p:nvSpPr>
        <p:spPr bwMode="auto">
          <a:xfrm>
            <a:off x="7380288" y="5419725"/>
            <a:ext cx="503237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endParaRPr kumimoji="0" lang="en-US" altLang="zh-CN" sz="2000" b="1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76197" name="Line 37"/>
          <p:cNvSpPr>
            <a:spLocks noChangeShapeType="1"/>
          </p:cNvSpPr>
          <p:nvPr/>
        </p:nvSpPr>
        <p:spPr bwMode="auto">
          <a:xfrm>
            <a:off x="1692275" y="4005263"/>
            <a:ext cx="0" cy="719137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76198" name="Rectangle 38"/>
          <p:cNvSpPr>
            <a:spLocks noChangeArrowheads="1"/>
          </p:cNvSpPr>
          <p:nvPr/>
        </p:nvSpPr>
        <p:spPr bwMode="auto">
          <a:xfrm>
            <a:off x="1423988" y="4111625"/>
            <a:ext cx="26828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b="1" i="1">
                <a:sym typeface="Symbol" panose="05050102010706020507" pitchFamily="18" charset="2"/>
              </a:rPr>
              <a:t>(</a:t>
            </a:r>
          </a:p>
        </p:txBody>
      </p:sp>
      <p:sp>
        <p:nvSpPr>
          <p:cNvPr id="476199" name="Rectangle 39"/>
          <p:cNvSpPr>
            <a:spLocks noChangeArrowheads="1"/>
          </p:cNvSpPr>
          <p:nvPr/>
        </p:nvSpPr>
        <p:spPr bwMode="auto">
          <a:xfrm>
            <a:off x="2627313" y="2384425"/>
            <a:ext cx="354012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b="1" i="1">
                <a:sym typeface="Symbol" panose="05050102010706020507" pitchFamily="18" charset="2"/>
              </a:rPr>
              <a:t>E</a:t>
            </a:r>
          </a:p>
        </p:txBody>
      </p:sp>
      <p:sp>
        <p:nvSpPr>
          <p:cNvPr id="476200" name="Rectangle 40"/>
          <p:cNvSpPr>
            <a:spLocks noChangeArrowheads="1"/>
          </p:cNvSpPr>
          <p:nvPr/>
        </p:nvSpPr>
        <p:spPr bwMode="auto">
          <a:xfrm>
            <a:off x="2627313" y="3141663"/>
            <a:ext cx="339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b="1" i="1">
                <a:sym typeface="Symbol" panose="05050102010706020507" pitchFamily="18" charset="2"/>
              </a:rPr>
              <a:t>T</a:t>
            </a:r>
          </a:p>
        </p:txBody>
      </p:sp>
      <p:sp>
        <p:nvSpPr>
          <p:cNvPr id="476201" name="Rectangle 41"/>
          <p:cNvSpPr>
            <a:spLocks noChangeArrowheads="1"/>
          </p:cNvSpPr>
          <p:nvPr/>
        </p:nvSpPr>
        <p:spPr bwMode="auto">
          <a:xfrm>
            <a:off x="2733675" y="3789363"/>
            <a:ext cx="339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b="1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476202" name="Line 42"/>
          <p:cNvSpPr>
            <a:spLocks noChangeShapeType="1"/>
          </p:cNvSpPr>
          <p:nvPr/>
        </p:nvSpPr>
        <p:spPr bwMode="auto">
          <a:xfrm>
            <a:off x="2555875" y="2708275"/>
            <a:ext cx="576263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76203" name="Line 43"/>
          <p:cNvSpPr>
            <a:spLocks noChangeShapeType="1"/>
          </p:cNvSpPr>
          <p:nvPr/>
        </p:nvSpPr>
        <p:spPr bwMode="auto">
          <a:xfrm>
            <a:off x="2555875" y="3500438"/>
            <a:ext cx="576263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76204" name="Line 44"/>
          <p:cNvSpPr>
            <a:spLocks noChangeShapeType="1"/>
          </p:cNvSpPr>
          <p:nvPr/>
        </p:nvSpPr>
        <p:spPr bwMode="auto">
          <a:xfrm>
            <a:off x="2555875" y="3933825"/>
            <a:ext cx="576263" cy="358775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76205" name="Rectangle 45"/>
          <p:cNvSpPr>
            <a:spLocks noChangeArrowheads="1"/>
          </p:cNvSpPr>
          <p:nvPr/>
        </p:nvSpPr>
        <p:spPr bwMode="auto">
          <a:xfrm>
            <a:off x="2627313" y="4760913"/>
            <a:ext cx="354012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b="1" i="1">
                <a:sym typeface="Symbol" panose="05050102010706020507" pitchFamily="18" charset="2"/>
              </a:rPr>
              <a:t>E</a:t>
            </a:r>
          </a:p>
        </p:txBody>
      </p:sp>
      <p:sp>
        <p:nvSpPr>
          <p:cNvPr id="476206" name="Line 46"/>
          <p:cNvSpPr>
            <a:spLocks noChangeShapeType="1"/>
          </p:cNvSpPr>
          <p:nvPr/>
        </p:nvSpPr>
        <p:spPr bwMode="auto">
          <a:xfrm>
            <a:off x="2555875" y="5084763"/>
            <a:ext cx="576263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76207" name="Rectangle 47"/>
          <p:cNvSpPr>
            <a:spLocks noChangeArrowheads="1"/>
          </p:cNvSpPr>
          <p:nvPr/>
        </p:nvSpPr>
        <p:spPr bwMode="auto">
          <a:xfrm>
            <a:off x="2627313" y="5445125"/>
            <a:ext cx="339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b="1" i="1">
                <a:sym typeface="Symbol" panose="05050102010706020507" pitchFamily="18" charset="2"/>
              </a:rPr>
              <a:t>T</a:t>
            </a:r>
          </a:p>
        </p:txBody>
      </p:sp>
      <p:sp>
        <p:nvSpPr>
          <p:cNvPr id="476208" name="Line 48"/>
          <p:cNvSpPr>
            <a:spLocks noChangeShapeType="1"/>
          </p:cNvSpPr>
          <p:nvPr/>
        </p:nvSpPr>
        <p:spPr bwMode="auto">
          <a:xfrm>
            <a:off x="2555875" y="5803900"/>
            <a:ext cx="576263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76209" name="Rectangle 49"/>
          <p:cNvSpPr>
            <a:spLocks noChangeArrowheads="1"/>
          </p:cNvSpPr>
          <p:nvPr/>
        </p:nvSpPr>
        <p:spPr bwMode="auto">
          <a:xfrm>
            <a:off x="2627313" y="5876925"/>
            <a:ext cx="339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b="1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476210" name="Line 50"/>
          <p:cNvSpPr>
            <a:spLocks noChangeShapeType="1"/>
          </p:cNvSpPr>
          <p:nvPr/>
        </p:nvSpPr>
        <p:spPr bwMode="auto">
          <a:xfrm>
            <a:off x="2555875" y="6235700"/>
            <a:ext cx="576263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76212" name="Arc 52"/>
          <p:cNvSpPr/>
          <p:nvPr/>
        </p:nvSpPr>
        <p:spPr bwMode="auto">
          <a:xfrm flipH="1">
            <a:off x="611188" y="6092825"/>
            <a:ext cx="288925" cy="2889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000080"/>
            </a:solidFill>
            <a:rou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76213" name="Arc 53"/>
          <p:cNvSpPr/>
          <p:nvPr/>
        </p:nvSpPr>
        <p:spPr bwMode="auto">
          <a:xfrm rot="16200000" flipH="1">
            <a:off x="611188" y="6381750"/>
            <a:ext cx="288925" cy="2889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000080"/>
            </a:solidFill>
            <a:rou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76214" name="Arc 54"/>
          <p:cNvSpPr/>
          <p:nvPr/>
        </p:nvSpPr>
        <p:spPr bwMode="auto">
          <a:xfrm rot="10800000" flipH="1">
            <a:off x="898525" y="6381750"/>
            <a:ext cx="288925" cy="2889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76215" name="Rectangle 55"/>
          <p:cNvSpPr>
            <a:spLocks noChangeArrowheads="1"/>
          </p:cNvSpPr>
          <p:nvPr/>
        </p:nvSpPr>
        <p:spPr bwMode="auto">
          <a:xfrm>
            <a:off x="539750" y="5734050"/>
            <a:ext cx="26828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b="1" i="1">
                <a:sym typeface="Symbol" panose="05050102010706020507" pitchFamily="18" charset="2"/>
              </a:rPr>
              <a:t>(</a:t>
            </a:r>
          </a:p>
        </p:txBody>
      </p:sp>
      <p:sp>
        <p:nvSpPr>
          <p:cNvPr id="476216" name="Rectangle 56"/>
          <p:cNvSpPr>
            <a:spLocks noChangeArrowheads="1"/>
          </p:cNvSpPr>
          <p:nvPr/>
        </p:nvSpPr>
        <p:spPr bwMode="auto">
          <a:xfrm>
            <a:off x="4965700" y="2924175"/>
            <a:ext cx="33178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b="1" i="1">
                <a:sym typeface="Symbol" panose="05050102010706020507" pitchFamily="18" charset="2"/>
              </a:rPr>
              <a:t>+</a:t>
            </a:r>
          </a:p>
        </p:txBody>
      </p:sp>
      <p:sp>
        <p:nvSpPr>
          <p:cNvPr id="476217" name="Line 57"/>
          <p:cNvSpPr>
            <a:spLocks noChangeShapeType="1"/>
          </p:cNvSpPr>
          <p:nvPr/>
        </p:nvSpPr>
        <p:spPr bwMode="auto">
          <a:xfrm>
            <a:off x="4787900" y="3068638"/>
            <a:ext cx="576263" cy="358775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76218" name="Rectangle 58"/>
          <p:cNvSpPr>
            <a:spLocks noChangeArrowheads="1"/>
          </p:cNvSpPr>
          <p:nvPr/>
        </p:nvSpPr>
        <p:spPr bwMode="auto">
          <a:xfrm>
            <a:off x="4932363" y="4832350"/>
            <a:ext cx="26828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b="1" i="1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476219" name="Line 59"/>
          <p:cNvSpPr>
            <a:spLocks noChangeShapeType="1"/>
          </p:cNvSpPr>
          <p:nvPr/>
        </p:nvSpPr>
        <p:spPr bwMode="auto">
          <a:xfrm>
            <a:off x="4787900" y="5227638"/>
            <a:ext cx="576263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76220" name="Rectangle 60"/>
          <p:cNvSpPr>
            <a:spLocks noChangeArrowheads="1"/>
          </p:cNvSpPr>
          <p:nvPr/>
        </p:nvSpPr>
        <p:spPr bwMode="auto">
          <a:xfrm>
            <a:off x="4965700" y="5300663"/>
            <a:ext cx="33178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b="1" i="1">
                <a:sym typeface="Symbol" panose="05050102010706020507" pitchFamily="18" charset="2"/>
              </a:rPr>
              <a:t>+</a:t>
            </a:r>
          </a:p>
        </p:txBody>
      </p:sp>
      <p:sp>
        <p:nvSpPr>
          <p:cNvPr id="476221" name="Line 61"/>
          <p:cNvSpPr>
            <a:spLocks noChangeShapeType="1"/>
          </p:cNvSpPr>
          <p:nvPr/>
        </p:nvSpPr>
        <p:spPr bwMode="auto">
          <a:xfrm>
            <a:off x="4787900" y="5445125"/>
            <a:ext cx="576263" cy="358775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76222" name="Rectangle 62"/>
          <p:cNvSpPr>
            <a:spLocks noChangeArrowheads="1"/>
          </p:cNvSpPr>
          <p:nvPr/>
        </p:nvSpPr>
        <p:spPr bwMode="auto">
          <a:xfrm>
            <a:off x="7091363" y="3608388"/>
            <a:ext cx="339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b="1" i="1">
                <a:sym typeface="Symbol" panose="05050102010706020507" pitchFamily="18" charset="2"/>
              </a:rPr>
              <a:t>T</a:t>
            </a:r>
          </a:p>
        </p:txBody>
      </p:sp>
      <p:sp>
        <p:nvSpPr>
          <p:cNvPr id="476223" name="Line 63"/>
          <p:cNvSpPr>
            <a:spLocks noChangeShapeType="1"/>
          </p:cNvSpPr>
          <p:nvPr/>
        </p:nvSpPr>
        <p:spPr bwMode="auto">
          <a:xfrm>
            <a:off x="7019925" y="3967163"/>
            <a:ext cx="576263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76224" name="Rectangle 64"/>
          <p:cNvSpPr>
            <a:spLocks noChangeArrowheads="1"/>
          </p:cNvSpPr>
          <p:nvPr/>
        </p:nvSpPr>
        <p:spPr bwMode="auto">
          <a:xfrm>
            <a:off x="6948488" y="4724400"/>
            <a:ext cx="339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b="1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476225" name="Line 65"/>
          <p:cNvSpPr>
            <a:spLocks noChangeShapeType="1"/>
          </p:cNvSpPr>
          <p:nvPr/>
        </p:nvSpPr>
        <p:spPr bwMode="auto">
          <a:xfrm>
            <a:off x="6588125" y="4437063"/>
            <a:ext cx="863600" cy="1152525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76226" name="Line 66"/>
          <p:cNvSpPr>
            <a:spLocks noChangeShapeType="1"/>
          </p:cNvSpPr>
          <p:nvPr/>
        </p:nvSpPr>
        <p:spPr bwMode="auto">
          <a:xfrm>
            <a:off x="7019925" y="4292600"/>
            <a:ext cx="647700" cy="649288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76227" name="Rectangle 67"/>
          <p:cNvSpPr>
            <a:spLocks noChangeArrowheads="1"/>
          </p:cNvSpPr>
          <p:nvPr/>
        </p:nvSpPr>
        <p:spPr bwMode="auto">
          <a:xfrm>
            <a:off x="7092950" y="4076700"/>
            <a:ext cx="26828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b="1" i="1">
                <a:sym typeface="Symbol" panose="05050102010706020507" pitchFamily="18" charset="2"/>
              </a:rPr>
              <a:t>(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76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76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76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76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76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76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76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76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76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76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76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476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476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476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476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76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76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476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476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476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476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476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476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476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476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476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476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476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476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476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476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476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476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476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476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476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476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476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476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476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476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476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500"/>
                                        <p:tgtEl>
                                          <p:spTgt spid="476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4" dur="500"/>
                                        <p:tgtEl>
                                          <p:spTgt spid="476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476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6181" grpId="0" animBg="1"/>
      <p:bldP spid="476183" grpId="0" animBg="1"/>
      <p:bldP spid="476184" grpId="0" animBg="1"/>
      <p:bldP spid="476185" grpId="0" animBg="1"/>
      <p:bldP spid="476186" grpId="0" animBg="1"/>
      <p:bldP spid="476187" grpId="0" animBg="1"/>
      <p:bldP spid="476188" grpId="0"/>
      <p:bldP spid="476189" grpId="0"/>
      <p:bldP spid="476190" grpId="0" animBg="1"/>
      <p:bldP spid="476191" grpId="0" animBg="1"/>
      <p:bldP spid="476192" grpId="0"/>
      <p:bldP spid="476193" grpId="0" animBg="1"/>
      <p:bldP spid="476194" grpId="0"/>
      <p:bldP spid="476195" grpId="0"/>
      <p:bldP spid="476197" grpId="0" animBg="1"/>
      <p:bldP spid="476198" grpId="0"/>
      <p:bldP spid="476199" grpId="0"/>
      <p:bldP spid="476200" grpId="0"/>
      <p:bldP spid="476201" grpId="0"/>
      <p:bldP spid="476202" grpId="0" animBg="1"/>
      <p:bldP spid="476203" grpId="0" animBg="1"/>
      <p:bldP spid="476204" grpId="0" animBg="1"/>
      <p:bldP spid="476205" grpId="0"/>
      <p:bldP spid="476206" grpId="0" animBg="1"/>
      <p:bldP spid="476207" grpId="0"/>
      <p:bldP spid="476208" grpId="0" animBg="1"/>
      <p:bldP spid="476209" grpId="0"/>
      <p:bldP spid="476210" grpId="0" animBg="1"/>
      <p:bldP spid="476212" grpId="0" animBg="1"/>
      <p:bldP spid="476213" grpId="0" animBg="1"/>
      <p:bldP spid="476214" grpId="0" animBg="1"/>
      <p:bldP spid="476215" grpId="0"/>
      <p:bldP spid="476216" grpId="0"/>
      <p:bldP spid="476217" grpId="0" animBg="1"/>
      <p:bldP spid="476218" grpId="0"/>
      <p:bldP spid="476219" grpId="0" animBg="1"/>
      <p:bldP spid="476219" grpId="1" animBg="1"/>
      <p:bldP spid="476220" grpId="0"/>
      <p:bldP spid="476221" grpId="0" animBg="1"/>
      <p:bldP spid="476222" grpId="0"/>
      <p:bldP spid="476223" grpId="0" animBg="1"/>
      <p:bldP spid="476224" grpId="0"/>
      <p:bldP spid="476225" grpId="0" animBg="1"/>
      <p:bldP spid="476226" grpId="0" animBg="1"/>
      <p:bldP spid="47622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610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0611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0612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0613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0614" name="Rectangle 6"/>
          <p:cNvSpPr>
            <a:spLocks noChangeArrowheads="1"/>
          </p:cNvSpPr>
          <p:nvPr/>
        </p:nvSpPr>
        <p:spPr bwMode="auto">
          <a:xfrm>
            <a:off x="35496" y="188913"/>
            <a:ext cx="32385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0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580618" name="Text Box 10"/>
          <p:cNvSpPr txBox="1">
            <a:spLocks noChangeArrowheads="1"/>
          </p:cNvSpPr>
          <p:nvPr/>
        </p:nvSpPr>
        <p:spPr bwMode="auto">
          <a:xfrm>
            <a:off x="900113" y="1481138"/>
            <a:ext cx="7993062" cy="39998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 dirty="0">
                <a:solidFill>
                  <a:srgbClr val="800080"/>
                </a:solidFill>
              </a:rPr>
              <a:t>  </a:t>
            </a:r>
            <a:r>
              <a:rPr lang="en-US" altLang="zh-CN" sz="3200" dirty="0">
                <a:solidFill>
                  <a:srgbClr val="800080"/>
                </a:solidFill>
              </a:rPr>
              <a:t>LR</a:t>
            </a:r>
            <a:r>
              <a:rPr lang="zh-CN" altLang="en-US" sz="3200" dirty="0">
                <a:solidFill>
                  <a:srgbClr val="800080"/>
                </a:solidFill>
              </a:rPr>
              <a:t>（</a:t>
            </a:r>
            <a:r>
              <a:rPr lang="en-US" altLang="zh-CN" sz="3200" dirty="0">
                <a:solidFill>
                  <a:srgbClr val="800080"/>
                </a:solidFill>
              </a:rPr>
              <a:t>0</a:t>
            </a:r>
            <a:r>
              <a:rPr lang="zh-CN" altLang="en-US" sz="3200" dirty="0">
                <a:solidFill>
                  <a:srgbClr val="800080"/>
                </a:solidFill>
              </a:rPr>
              <a:t>）</a:t>
            </a:r>
            <a:r>
              <a:rPr lang="en-US" altLang="zh-CN" sz="3200" dirty="0">
                <a:solidFill>
                  <a:srgbClr val="800080"/>
                </a:solidFill>
              </a:rPr>
              <a:t>FSM</a:t>
            </a:r>
            <a:r>
              <a:rPr lang="en-US" altLang="zh-CN" sz="3200" b="1" dirty="0">
                <a:solidFill>
                  <a:srgbClr val="800080"/>
                </a:solidFill>
              </a:rPr>
              <a:t> </a:t>
            </a:r>
            <a:r>
              <a:rPr lang="zh-CN" altLang="en-US" sz="3200" b="1" dirty="0">
                <a:solidFill>
                  <a:srgbClr val="800080"/>
                </a:solidFill>
              </a:rPr>
              <a:t>的语言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 dirty="0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 b="1" dirty="0">
                <a:solidFill>
                  <a:srgbClr val="800080"/>
                </a:solidFill>
              </a:rPr>
              <a:t>  结论</a:t>
            </a:r>
          </a:p>
          <a:p>
            <a:pPr lvl="1">
              <a:buClrTx/>
              <a:buFont typeface="Symbol" panose="05050102010706020507" pitchFamily="18" charset="2"/>
              <a:buNone/>
            </a:pPr>
            <a:endParaRPr kumimoji="0" lang="zh-CN" altLang="en-US" sz="1000" b="1" dirty="0"/>
          </a:p>
          <a:p>
            <a:pPr lvl="2">
              <a:buFontTx/>
              <a:buChar char="•"/>
            </a:pPr>
            <a:r>
              <a:rPr lang="zh-CN" altLang="en-US" dirty="0"/>
              <a:t>  </a:t>
            </a:r>
            <a:r>
              <a:rPr lang="zh-CN" altLang="en-US" b="1" dirty="0"/>
              <a:t>文法</a:t>
            </a:r>
            <a:r>
              <a:rPr lang="zh-CN" altLang="en-US" dirty="0"/>
              <a:t> </a:t>
            </a:r>
            <a:r>
              <a:rPr lang="en-US" altLang="zh-CN" i="1" dirty="0"/>
              <a:t>G</a:t>
            </a:r>
            <a:r>
              <a:rPr lang="en-US" altLang="zh-CN" b="1" dirty="0"/>
              <a:t> = (</a:t>
            </a:r>
            <a:r>
              <a:rPr lang="en-US" altLang="zh-CN" b="1" i="1" dirty="0"/>
              <a:t>V</a:t>
            </a:r>
            <a:r>
              <a:rPr lang="en-US" altLang="zh-CN" b="1" i="1" baseline="-25000" dirty="0"/>
              <a:t>N</a:t>
            </a:r>
            <a:r>
              <a:rPr lang="en-US" altLang="zh-CN" b="1" i="1" dirty="0"/>
              <a:t>,</a:t>
            </a:r>
            <a:r>
              <a:rPr lang="en-US" altLang="zh-CN" b="1" dirty="0"/>
              <a:t> </a:t>
            </a:r>
            <a:r>
              <a:rPr lang="en-US" altLang="zh-CN" b="1" i="1" dirty="0"/>
              <a:t>V</a:t>
            </a:r>
            <a:r>
              <a:rPr lang="en-US" altLang="zh-CN" b="1" i="1" baseline="-25000" dirty="0">
                <a:sym typeface="Symbol" panose="05050102010706020507" pitchFamily="18" charset="2"/>
              </a:rPr>
              <a:t>T</a:t>
            </a:r>
            <a:r>
              <a:rPr lang="en-US" altLang="zh-CN" b="1" i="1" dirty="0"/>
              <a:t>, </a:t>
            </a:r>
            <a:r>
              <a:rPr lang="en-US" altLang="zh-CN" b="1" i="1" dirty="0">
                <a:sym typeface="Symbol" panose="05050102010706020507" pitchFamily="18" charset="2"/>
              </a:rPr>
              <a:t>P</a:t>
            </a:r>
            <a:r>
              <a:rPr lang="en-US" altLang="zh-CN" b="1" i="1" dirty="0"/>
              <a:t> , S </a:t>
            </a:r>
            <a:r>
              <a:rPr lang="en-US" altLang="zh-CN" b="1" dirty="0"/>
              <a:t>)</a:t>
            </a:r>
            <a:r>
              <a:rPr lang="en-US" altLang="zh-CN" dirty="0"/>
              <a:t> </a:t>
            </a:r>
            <a:r>
              <a:rPr lang="zh-CN" altLang="en-US" b="1" dirty="0"/>
              <a:t>的 </a:t>
            </a:r>
            <a:r>
              <a:rPr kumimoji="0" lang="en-US" altLang="zh-CN" dirty="0"/>
              <a:t>LR</a:t>
            </a:r>
            <a:r>
              <a:rPr kumimoji="0" lang="zh-CN" altLang="en-US" dirty="0"/>
              <a:t>（</a:t>
            </a:r>
            <a:r>
              <a:rPr kumimoji="0" lang="en-US" altLang="zh-CN" dirty="0"/>
              <a:t>0</a:t>
            </a:r>
            <a:r>
              <a:rPr kumimoji="0" lang="zh-CN" altLang="en-US" dirty="0"/>
              <a:t>）</a:t>
            </a:r>
            <a:r>
              <a:rPr kumimoji="0" lang="en-US" altLang="zh-CN" dirty="0"/>
              <a:t>FSM </a:t>
            </a:r>
            <a:r>
              <a:rPr lang="zh-CN" altLang="en-US" b="1" dirty="0"/>
              <a:t>可以看</a:t>
            </a:r>
          </a:p>
          <a:p>
            <a:pPr lvl="2">
              <a:buFontTx/>
              <a:buNone/>
            </a:pPr>
            <a:r>
              <a:rPr lang="zh-CN" altLang="en-US" b="1" dirty="0"/>
              <a:t>   作一个字母表为 </a:t>
            </a:r>
            <a:r>
              <a:rPr lang="en-US" altLang="zh-CN" b="1" i="1" dirty="0"/>
              <a:t>V</a:t>
            </a:r>
            <a:r>
              <a:rPr lang="en-US" altLang="zh-CN" b="1" i="1" baseline="-25000" dirty="0"/>
              <a:t>N </a:t>
            </a:r>
            <a:r>
              <a:rPr kumimoji="0" lang="en-US" altLang="zh-CN" b="1" dirty="0">
                <a:sym typeface="Symbol" panose="05050102010706020507" pitchFamily="18" charset="2"/>
              </a:rPr>
              <a:t></a:t>
            </a:r>
            <a:r>
              <a:rPr lang="en-US" altLang="zh-CN" b="1" i="1" baseline="-25000" dirty="0">
                <a:sym typeface="Symbol" panose="05050102010706020507" pitchFamily="18" charset="2"/>
              </a:rPr>
              <a:t> </a:t>
            </a:r>
            <a:r>
              <a:rPr lang="en-US" altLang="zh-CN" b="1" i="1" dirty="0"/>
              <a:t>V</a:t>
            </a:r>
            <a:r>
              <a:rPr lang="en-US" altLang="zh-CN" b="1" i="1" baseline="-25000" dirty="0">
                <a:sym typeface="Symbol" panose="05050102010706020507" pitchFamily="18" charset="2"/>
              </a:rPr>
              <a:t>T</a:t>
            </a:r>
            <a:r>
              <a:rPr lang="en-US" altLang="zh-CN" b="1" i="1" dirty="0">
                <a:sym typeface="Symbol" panose="05050102010706020507" pitchFamily="18" charset="2"/>
              </a:rPr>
              <a:t> </a:t>
            </a:r>
            <a:r>
              <a:rPr lang="zh-CN" altLang="en-US" b="1" dirty="0"/>
              <a:t>的 </a:t>
            </a:r>
            <a:r>
              <a:rPr lang="en-US" altLang="zh-CN" dirty="0"/>
              <a:t>DFA</a:t>
            </a:r>
            <a:r>
              <a:rPr lang="zh-CN" altLang="en-US" b="1" dirty="0"/>
              <a:t>，可以证明</a:t>
            </a:r>
            <a:r>
              <a:rPr lang="en-US" altLang="zh-CN" b="1" dirty="0"/>
              <a:t>:</a:t>
            </a:r>
          </a:p>
          <a:p>
            <a:pPr lvl="2">
              <a:buFontTx/>
              <a:buNone/>
            </a:pPr>
            <a:endParaRPr lang="en-US" altLang="zh-CN" sz="1000" b="1" dirty="0"/>
          </a:p>
          <a:p>
            <a:pPr lvl="2">
              <a:buFontTx/>
              <a:buNone/>
            </a:pPr>
            <a:r>
              <a:rPr lang="en-US" altLang="zh-CN" b="1" dirty="0"/>
              <a:t>          </a:t>
            </a:r>
            <a:r>
              <a:rPr lang="zh-CN" altLang="en-US" b="1" dirty="0">
                <a:solidFill>
                  <a:srgbClr val="800080"/>
                </a:solidFill>
              </a:rPr>
              <a:t>该 </a:t>
            </a:r>
            <a:r>
              <a:rPr lang="en-US" altLang="zh-CN" dirty="0">
                <a:solidFill>
                  <a:srgbClr val="800080"/>
                </a:solidFill>
              </a:rPr>
              <a:t>DFA </a:t>
            </a:r>
            <a:r>
              <a:rPr lang="zh-CN" altLang="en-US" b="1" dirty="0">
                <a:solidFill>
                  <a:srgbClr val="800080"/>
                </a:solidFill>
              </a:rPr>
              <a:t>的语言是 </a:t>
            </a:r>
            <a:r>
              <a:rPr lang="en-US" altLang="zh-CN" i="1" dirty="0">
                <a:solidFill>
                  <a:srgbClr val="800080"/>
                </a:solidFill>
              </a:rPr>
              <a:t>G </a:t>
            </a:r>
            <a:r>
              <a:rPr lang="zh-CN" altLang="en-US" b="1" dirty="0">
                <a:solidFill>
                  <a:srgbClr val="800080"/>
                </a:solidFill>
              </a:rPr>
              <a:t>的所有活前缀的集合</a:t>
            </a:r>
          </a:p>
          <a:p>
            <a:pPr lvl="2">
              <a:buFontTx/>
              <a:buNone/>
            </a:pPr>
            <a:endParaRPr lang="zh-CN" altLang="en-US" sz="1000" b="1" dirty="0">
              <a:solidFill>
                <a:srgbClr val="800080"/>
              </a:solidFill>
            </a:endParaRPr>
          </a:p>
          <a:p>
            <a:pPr>
              <a:buFontTx/>
              <a:buNone/>
            </a:pPr>
            <a:r>
              <a:rPr lang="zh-CN" altLang="en-US" b="1" dirty="0"/>
              <a:t>            </a:t>
            </a:r>
          </a:p>
          <a:p>
            <a:pPr>
              <a:buFontTx/>
              <a:buNone/>
            </a:pPr>
            <a:endParaRPr lang="zh-CN" altLang="en-US" sz="1000" b="1" dirty="0"/>
          </a:p>
          <a:p>
            <a:pPr lvl="2">
              <a:buFontTx/>
              <a:buChar char="•"/>
            </a:pPr>
            <a:r>
              <a:rPr lang="zh-CN" altLang="en-US" dirty="0"/>
              <a:t>  </a:t>
            </a:r>
            <a:r>
              <a:rPr kumimoji="0" lang="zh-CN" altLang="en-US" b="1" dirty="0"/>
              <a:t>由此可知，对任何句型，我们不会错过任何可归</a:t>
            </a:r>
          </a:p>
          <a:p>
            <a:pPr lvl="2">
              <a:buFontTx/>
              <a:buNone/>
            </a:pPr>
            <a:r>
              <a:rPr kumimoji="0" lang="zh-CN" altLang="en-US" b="1" dirty="0"/>
              <a:t>   约的句柄，或者说不会错过任何最右推导</a:t>
            </a:r>
            <a:endParaRPr lang="zh-CN" altLang="en-US" b="1" dirty="0"/>
          </a:p>
        </p:txBody>
      </p:sp>
    </p:spTree>
  </p:cSld>
  <p:clrMapOvr>
    <a:masterClrMapping/>
  </p:clrMapOvr>
  <p:transition spd="med"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94" name="AutoShape 1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195" name="AutoShape 1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196" name="AutoShape 12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197" name="AutoShape 13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198" name="Rectangle 14"/>
          <p:cNvSpPr>
            <a:spLocks noChangeArrowheads="1"/>
          </p:cNvSpPr>
          <p:nvPr/>
        </p:nvSpPr>
        <p:spPr bwMode="auto">
          <a:xfrm>
            <a:off x="35496" y="188913"/>
            <a:ext cx="32385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>
                <a:solidFill>
                  <a:srgbClr val="800080"/>
                </a:solidFill>
                <a:ea typeface="华文行楷" pitchFamily="2" charset="-122"/>
              </a:rPr>
              <a:t>0</a:t>
            </a: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477199" name="Text Box 15"/>
          <p:cNvSpPr txBox="1">
            <a:spLocks noChangeArrowheads="1"/>
          </p:cNvSpPr>
          <p:nvPr/>
        </p:nvSpPr>
        <p:spPr bwMode="auto">
          <a:xfrm>
            <a:off x="539750" y="1268413"/>
            <a:ext cx="8353425" cy="5181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2800" b="1">
                <a:solidFill>
                  <a:srgbClr val="800080"/>
                </a:solidFill>
              </a:rPr>
              <a:t> </a:t>
            </a:r>
            <a:r>
              <a:rPr kumimoji="0" lang="en-US" altLang="zh-CN" sz="2800">
                <a:solidFill>
                  <a:srgbClr val="800080"/>
                </a:solidFill>
              </a:rPr>
              <a:t>LR</a:t>
            </a:r>
            <a:r>
              <a:rPr kumimoji="0" lang="zh-CN" altLang="en-US" sz="2800">
                <a:solidFill>
                  <a:srgbClr val="800080"/>
                </a:solidFill>
              </a:rPr>
              <a:t>（</a:t>
            </a:r>
            <a:r>
              <a:rPr kumimoji="0" lang="en-US" altLang="zh-CN" sz="2800">
                <a:solidFill>
                  <a:srgbClr val="800080"/>
                </a:solidFill>
              </a:rPr>
              <a:t>0</a:t>
            </a:r>
            <a:r>
              <a:rPr kumimoji="0" lang="zh-CN" altLang="en-US" sz="2800">
                <a:solidFill>
                  <a:srgbClr val="800080"/>
                </a:solidFill>
              </a:rPr>
              <a:t>）</a:t>
            </a:r>
            <a:r>
              <a:rPr kumimoji="0" lang="zh-CN" altLang="en-US" sz="2800" b="1">
                <a:solidFill>
                  <a:srgbClr val="800080"/>
                </a:solidFill>
              </a:rPr>
              <a:t>分析表</a:t>
            </a:r>
            <a:r>
              <a:rPr lang="zh-CN" altLang="en-US" sz="2800" b="1">
                <a:solidFill>
                  <a:srgbClr val="800080"/>
                </a:solidFill>
              </a:rPr>
              <a:t>的构造</a:t>
            </a:r>
            <a:endParaRPr lang="zh-CN" altLang="en-US" sz="2800" b="1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zh-CN" altLang="en-US"/>
              <a:t> </a:t>
            </a:r>
            <a:r>
              <a:rPr kumimoji="0" lang="zh-CN" altLang="en-US" b="1"/>
              <a:t>假定</a:t>
            </a:r>
            <a:r>
              <a:rPr kumimoji="0" lang="en-US" altLang="zh-CN" b="1"/>
              <a:t>C</a:t>
            </a:r>
            <a:r>
              <a:rPr kumimoji="0" lang="en-US" altLang="zh-CN"/>
              <a:t>={I</a:t>
            </a:r>
            <a:r>
              <a:rPr kumimoji="0" lang="en-US" altLang="zh-CN" baseline="-25000"/>
              <a:t>0</a:t>
            </a:r>
            <a:r>
              <a:rPr kumimoji="0" lang="en-US" altLang="zh-CN"/>
              <a:t>, I</a:t>
            </a:r>
            <a:r>
              <a:rPr kumimoji="0" lang="en-US" altLang="zh-CN" baseline="-25000"/>
              <a:t>1</a:t>
            </a:r>
            <a:r>
              <a:rPr kumimoji="0" lang="en-US" altLang="zh-CN"/>
              <a:t>,…</a:t>
            </a:r>
            <a:r>
              <a:rPr kumimoji="0" lang="zh-CN" altLang="en-US"/>
              <a:t>，</a:t>
            </a:r>
            <a:r>
              <a:rPr kumimoji="0" lang="en-US" altLang="zh-CN"/>
              <a:t>I</a:t>
            </a:r>
            <a:r>
              <a:rPr kumimoji="0" lang="en-US" altLang="zh-CN" baseline="-25000"/>
              <a:t>n</a:t>
            </a:r>
            <a:r>
              <a:rPr kumimoji="0" lang="en-US" altLang="zh-CN"/>
              <a:t>}</a:t>
            </a:r>
            <a:r>
              <a:rPr kumimoji="0" lang="zh-CN" altLang="en-US" b="1"/>
              <a:t>，令状态</a:t>
            </a:r>
            <a:r>
              <a:rPr kumimoji="0" lang="en-US" altLang="zh-CN"/>
              <a:t>I</a:t>
            </a:r>
            <a:r>
              <a:rPr kumimoji="0" lang="en-US" altLang="zh-CN" baseline="-25000"/>
              <a:t>k</a:t>
            </a:r>
            <a:r>
              <a:rPr kumimoji="0" lang="zh-CN" altLang="en-US" b="1"/>
              <a:t>对应的 </a:t>
            </a:r>
            <a:r>
              <a:rPr kumimoji="0" lang="en-US" altLang="zh-CN"/>
              <a:t>LR</a:t>
            </a:r>
            <a:r>
              <a:rPr kumimoji="0" lang="zh-CN" altLang="en-US"/>
              <a:t>（</a:t>
            </a:r>
            <a:r>
              <a:rPr kumimoji="0" lang="en-US" altLang="zh-CN"/>
              <a:t>0</a:t>
            </a:r>
            <a:r>
              <a:rPr kumimoji="0" lang="zh-CN" altLang="en-US"/>
              <a:t>）</a:t>
            </a:r>
            <a:r>
              <a:rPr kumimoji="0" lang="zh-CN" altLang="en-US" b="1"/>
              <a:t>分析表</a:t>
            </a:r>
          </a:p>
          <a:p>
            <a:pPr lvl="1">
              <a:buFont typeface="Symbol" panose="05050102010706020507" pitchFamily="18" charset="2"/>
              <a:buNone/>
            </a:pPr>
            <a:r>
              <a:rPr kumimoji="0" lang="zh-CN" altLang="en-US" b="1"/>
              <a:t>   的栈顶状态为</a:t>
            </a:r>
            <a:r>
              <a:rPr kumimoji="0" lang="en-US" altLang="zh-CN"/>
              <a:t>k</a:t>
            </a:r>
            <a:r>
              <a:rPr kumimoji="0" lang="zh-CN" altLang="en-US" b="1"/>
              <a:t>；令含有项目</a:t>
            </a:r>
            <a:r>
              <a:rPr kumimoji="0" lang="en-US" altLang="zh-CN" i="1"/>
              <a:t>S’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kumimoji="0" lang="en-US" altLang="zh-CN"/>
              <a:t>.</a:t>
            </a:r>
            <a:r>
              <a:rPr kumimoji="0" lang="en-US" altLang="zh-CN" i="1"/>
              <a:t>S </a:t>
            </a:r>
            <a:r>
              <a:rPr kumimoji="0" lang="zh-CN" altLang="en-US" b="1"/>
              <a:t>的状态为</a:t>
            </a:r>
            <a:r>
              <a:rPr kumimoji="0" lang="en-US" altLang="zh-CN"/>
              <a:t>I</a:t>
            </a:r>
            <a:r>
              <a:rPr kumimoji="0" lang="en-US" altLang="zh-CN" baseline="-25000"/>
              <a:t>0</a:t>
            </a:r>
            <a:r>
              <a:rPr kumimoji="0" lang="en-US" altLang="zh-CN" b="1"/>
              <a:t>, </a:t>
            </a:r>
            <a:r>
              <a:rPr kumimoji="0" lang="zh-CN" altLang="en-US" b="1"/>
              <a:t>因此 </a:t>
            </a:r>
            <a:r>
              <a:rPr kumimoji="0" lang="en-US" altLang="zh-CN"/>
              <a:t>0</a:t>
            </a:r>
          </a:p>
          <a:p>
            <a:pPr lvl="1">
              <a:buFont typeface="Symbol" panose="05050102010706020507" pitchFamily="18" charset="2"/>
              <a:buNone/>
            </a:pPr>
            <a:r>
              <a:rPr kumimoji="0" lang="en-US" altLang="zh-CN"/>
              <a:t>   </a:t>
            </a:r>
            <a:r>
              <a:rPr kumimoji="0" lang="zh-CN" altLang="en-US" b="1"/>
              <a:t>为初态。</a:t>
            </a:r>
            <a:r>
              <a:rPr kumimoji="0" lang="en-US" altLang="zh-CN"/>
              <a:t>ACTION </a:t>
            </a:r>
            <a:r>
              <a:rPr kumimoji="0" lang="zh-CN" altLang="en-US" b="1"/>
              <a:t>表项和 </a:t>
            </a:r>
            <a:r>
              <a:rPr kumimoji="0" lang="en-US" altLang="zh-CN"/>
              <a:t>GOTO </a:t>
            </a:r>
            <a:r>
              <a:rPr kumimoji="0" lang="zh-CN" altLang="en-US" b="1"/>
              <a:t>表项可按如下方法构 </a:t>
            </a:r>
          </a:p>
          <a:p>
            <a:pPr lvl="1">
              <a:buFont typeface="Symbol" panose="05050102010706020507" pitchFamily="18" charset="2"/>
              <a:buNone/>
            </a:pPr>
            <a:r>
              <a:rPr kumimoji="0" lang="zh-CN" altLang="en-US" b="1"/>
              <a:t>   造：</a:t>
            </a:r>
            <a:endParaRPr lang="zh-CN" altLang="en-US" b="1"/>
          </a:p>
          <a:p>
            <a:pPr lvl="1">
              <a:buClrTx/>
              <a:buFont typeface="Symbol" panose="05050102010706020507" pitchFamily="18" charset="2"/>
              <a:buNone/>
            </a:pPr>
            <a:endParaRPr lang="zh-CN" altLang="en-US" sz="800" b="1"/>
          </a:p>
          <a:p>
            <a:pPr lvl="1">
              <a:buFontTx/>
              <a:buChar char="•"/>
            </a:pPr>
            <a:r>
              <a:rPr kumimoji="0" lang="zh-CN" altLang="en-US" sz="2000" i="1"/>
              <a:t>  </a:t>
            </a:r>
            <a:r>
              <a:rPr kumimoji="0" lang="zh-CN" altLang="en-US" sz="2000" b="1"/>
              <a:t>若项目</a:t>
            </a:r>
            <a:r>
              <a:rPr kumimoji="0" lang="en-US" altLang="zh-CN" sz="2000"/>
              <a:t>A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kumimoji="0" lang="en-US" altLang="zh-CN" sz="2000" b="1"/>
              <a:t>α.</a:t>
            </a:r>
            <a:r>
              <a:rPr kumimoji="0" lang="en-US" altLang="zh-CN" sz="2000"/>
              <a:t>a</a:t>
            </a:r>
            <a:r>
              <a:rPr kumimoji="0" lang="en-US" altLang="zh-CN" sz="2000" b="1"/>
              <a:t>β</a:t>
            </a:r>
            <a:r>
              <a:rPr kumimoji="0" lang="zh-CN" altLang="en-US" sz="2000" b="1"/>
              <a:t>属于 </a:t>
            </a:r>
            <a:r>
              <a:rPr kumimoji="0" lang="en-US" altLang="zh-CN" sz="2000"/>
              <a:t>I</a:t>
            </a:r>
            <a:r>
              <a:rPr kumimoji="0" lang="en-US" altLang="zh-CN" sz="2000" baseline="-25000"/>
              <a:t>k </a:t>
            </a:r>
            <a:r>
              <a:rPr kumimoji="0" lang="zh-CN" altLang="en-US" sz="2000" b="1"/>
              <a:t>且 </a:t>
            </a:r>
            <a:r>
              <a:rPr kumimoji="0" lang="en-US" altLang="zh-CN" sz="2000"/>
              <a:t>GO (I</a:t>
            </a:r>
            <a:r>
              <a:rPr kumimoji="0" lang="en-US" altLang="zh-CN" sz="2000" baseline="-25000"/>
              <a:t>k</a:t>
            </a:r>
            <a:r>
              <a:rPr kumimoji="0" lang="en-US" altLang="zh-CN" sz="2000"/>
              <a:t>, a)= I</a:t>
            </a:r>
            <a:r>
              <a:rPr kumimoji="0" lang="en-US" altLang="zh-CN" sz="2000" baseline="-25000"/>
              <a:t>j</a:t>
            </a:r>
            <a:r>
              <a:rPr kumimoji="0" lang="en-US" altLang="zh-CN" sz="2000"/>
              <a:t>, a </a:t>
            </a:r>
            <a:r>
              <a:rPr kumimoji="0" lang="zh-CN" altLang="en-US" sz="2000" b="1"/>
              <a:t>为终结符，则置</a:t>
            </a:r>
          </a:p>
          <a:p>
            <a:pPr lvl="1">
              <a:buFontTx/>
              <a:buNone/>
            </a:pPr>
            <a:r>
              <a:rPr kumimoji="0" lang="zh-CN" altLang="en-US" sz="2000"/>
              <a:t>    </a:t>
            </a:r>
            <a:r>
              <a:rPr kumimoji="0" lang="en-US" altLang="zh-CN" sz="2000"/>
              <a:t>ACTION[k, a] </a:t>
            </a:r>
            <a:r>
              <a:rPr kumimoji="0" lang="zh-CN" altLang="en-US" sz="2000" b="1"/>
              <a:t>为“把状态</a:t>
            </a:r>
            <a:r>
              <a:rPr kumimoji="0" lang="en-US" altLang="zh-CN" sz="2000"/>
              <a:t>j</a:t>
            </a:r>
            <a:r>
              <a:rPr kumimoji="0" lang="zh-CN" altLang="en-US" sz="2000" b="1"/>
              <a:t>和符号</a:t>
            </a:r>
            <a:r>
              <a:rPr kumimoji="0" lang="en-US" altLang="zh-CN" sz="2000"/>
              <a:t>a</a:t>
            </a:r>
            <a:r>
              <a:rPr kumimoji="0" lang="zh-CN" altLang="en-US" sz="2000" b="1"/>
              <a:t>移进栈”，简记为“</a:t>
            </a:r>
            <a:r>
              <a:rPr kumimoji="0" lang="en-US" altLang="zh-CN" sz="2000"/>
              <a:t>sj</a:t>
            </a:r>
            <a:r>
              <a:rPr kumimoji="0" lang="en-US" altLang="zh-CN" sz="2000" b="1"/>
              <a:t>”;</a:t>
            </a:r>
            <a:r>
              <a:rPr kumimoji="0" lang="en-US" altLang="en-US" sz="2000"/>
              <a:t> </a:t>
            </a:r>
            <a:endParaRPr kumimoji="0" lang="en-US" altLang="zh-CN" sz="2000" b="1">
              <a:solidFill>
                <a:srgbClr val="800080"/>
              </a:solidFill>
            </a:endParaRPr>
          </a:p>
          <a:p>
            <a:pPr lvl="1">
              <a:buFontTx/>
              <a:buNone/>
            </a:pPr>
            <a:endParaRPr kumimoji="0" lang="en-US" altLang="zh-CN" sz="800" b="1"/>
          </a:p>
          <a:p>
            <a:pPr lvl="1">
              <a:buFontTx/>
              <a:buChar char="•"/>
            </a:pPr>
            <a:r>
              <a:rPr kumimoji="0" lang="en-US" altLang="zh-CN" sz="2000" b="1"/>
              <a:t>  </a:t>
            </a:r>
            <a:r>
              <a:rPr kumimoji="0" lang="zh-CN" altLang="en-US" sz="2000" b="1"/>
              <a:t>若项目</a:t>
            </a:r>
            <a:r>
              <a:rPr kumimoji="0" lang="en-US" altLang="zh-CN" sz="2000"/>
              <a:t>A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kumimoji="0" lang="en-US" altLang="zh-CN" sz="2000" b="1"/>
              <a:t>α. </a:t>
            </a:r>
            <a:r>
              <a:rPr kumimoji="0" lang="zh-CN" altLang="en-US" sz="2000" b="1"/>
              <a:t>属于</a:t>
            </a:r>
            <a:r>
              <a:rPr kumimoji="0" lang="en-US" altLang="zh-CN" sz="2000"/>
              <a:t>I</a:t>
            </a:r>
            <a:r>
              <a:rPr kumimoji="0" lang="en-US" altLang="zh-CN" sz="2000" baseline="-25000"/>
              <a:t>k</a:t>
            </a:r>
            <a:r>
              <a:rPr kumimoji="0" lang="en-US" altLang="zh-CN" sz="2000" b="1"/>
              <a:t>, </a:t>
            </a:r>
            <a:r>
              <a:rPr kumimoji="0" lang="zh-CN" altLang="en-US" sz="2000" b="1"/>
              <a:t>那么，对任何终结符</a:t>
            </a:r>
            <a:r>
              <a:rPr kumimoji="0" lang="en-US" altLang="zh-CN" sz="2000"/>
              <a:t>a</a:t>
            </a:r>
            <a:r>
              <a:rPr kumimoji="0" lang="en-US" altLang="zh-CN" sz="2000" b="1"/>
              <a:t>, </a:t>
            </a:r>
            <a:r>
              <a:rPr kumimoji="0" lang="zh-CN" altLang="en-US" sz="2000" b="1"/>
              <a:t>置</a:t>
            </a:r>
            <a:r>
              <a:rPr kumimoji="0" lang="en-US" altLang="zh-CN" sz="2000"/>
              <a:t>ACTION[k, a]</a:t>
            </a:r>
            <a:r>
              <a:rPr kumimoji="0" lang="zh-CN" altLang="en-US" sz="2000" b="1"/>
              <a:t>为“用</a:t>
            </a:r>
          </a:p>
          <a:p>
            <a:pPr lvl="1">
              <a:buFontTx/>
              <a:buNone/>
            </a:pPr>
            <a:r>
              <a:rPr kumimoji="0" lang="zh-CN" altLang="en-US" sz="2000" b="1"/>
              <a:t>   产生式</a:t>
            </a:r>
            <a:r>
              <a:rPr kumimoji="0" lang="en-US" altLang="zh-CN" sz="2000"/>
              <a:t>A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kumimoji="0" lang="en-US" altLang="zh-CN" sz="2000" b="1"/>
              <a:t>α</a:t>
            </a:r>
            <a:r>
              <a:rPr kumimoji="0" lang="zh-CN" altLang="en-US" sz="2000" b="1"/>
              <a:t>进行归约”，简记为“</a:t>
            </a:r>
            <a:r>
              <a:rPr kumimoji="0" lang="en-US" altLang="zh-CN" sz="2000"/>
              <a:t>rj</a:t>
            </a:r>
            <a:r>
              <a:rPr kumimoji="0" lang="en-US" altLang="zh-CN" sz="2000" b="1"/>
              <a:t>”;</a:t>
            </a:r>
            <a:r>
              <a:rPr kumimoji="0" lang="zh-CN" altLang="en-US" sz="2000" b="1"/>
              <a:t>其中，假定</a:t>
            </a:r>
            <a:r>
              <a:rPr kumimoji="0" lang="en-US" altLang="zh-CN" sz="2000"/>
              <a:t>A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kumimoji="0" lang="en-US" altLang="zh-CN" sz="2000" b="1"/>
              <a:t>α</a:t>
            </a:r>
            <a:r>
              <a:rPr kumimoji="0" lang="zh-CN" altLang="en-US" sz="2000" b="1"/>
              <a:t>为文法</a:t>
            </a:r>
            <a:r>
              <a:rPr kumimoji="0" lang="en-US" altLang="zh-CN" sz="2000" i="1"/>
              <a:t>G </a:t>
            </a:r>
            <a:r>
              <a:rPr kumimoji="0" lang="zh-CN" altLang="en-US" sz="2000" b="1"/>
              <a:t>的</a:t>
            </a:r>
          </a:p>
          <a:p>
            <a:pPr lvl="1">
              <a:buFontTx/>
              <a:buNone/>
            </a:pPr>
            <a:r>
              <a:rPr kumimoji="0" lang="zh-CN" altLang="en-US" sz="2000" b="1"/>
              <a:t>   第</a:t>
            </a:r>
            <a:r>
              <a:rPr kumimoji="0" lang="en-US" altLang="zh-CN" sz="2000"/>
              <a:t>j</a:t>
            </a:r>
            <a:r>
              <a:rPr kumimoji="0" lang="zh-CN" altLang="en-US" sz="2000" b="1"/>
              <a:t>个产生式；</a:t>
            </a:r>
            <a:r>
              <a:rPr kumimoji="0" lang="zh-CN" altLang="en-US" sz="2000"/>
              <a:t> </a:t>
            </a:r>
          </a:p>
          <a:p>
            <a:pPr lvl="1">
              <a:buFontTx/>
              <a:buNone/>
            </a:pPr>
            <a:endParaRPr kumimoji="0" lang="zh-CN" altLang="en-US" sz="800"/>
          </a:p>
          <a:p>
            <a:pPr lvl="1">
              <a:buFontTx/>
              <a:buChar char="•"/>
            </a:pPr>
            <a:r>
              <a:rPr kumimoji="0" lang="zh-CN" altLang="en-US" sz="2000"/>
              <a:t>  </a:t>
            </a:r>
            <a:r>
              <a:rPr kumimoji="0" lang="zh-CN" altLang="en-US" sz="2000" b="1"/>
              <a:t>若项目</a:t>
            </a:r>
            <a:r>
              <a:rPr kumimoji="0" lang="en-US" altLang="zh-CN" sz="2000" i="1"/>
              <a:t>S’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kumimoji="0" lang="en-US" altLang="zh-CN" sz="2000" i="1"/>
              <a:t>S</a:t>
            </a:r>
            <a:r>
              <a:rPr kumimoji="0" lang="en-US" altLang="zh-CN" sz="2000" b="1"/>
              <a:t>. </a:t>
            </a:r>
            <a:r>
              <a:rPr kumimoji="0" lang="zh-CN" altLang="en-US" sz="2000" b="1"/>
              <a:t>属于</a:t>
            </a:r>
            <a:r>
              <a:rPr kumimoji="0" lang="en-US" altLang="zh-CN" sz="2000"/>
              <a:t>I</a:t>
            </a:r>
            <a:r>
              <a:rPr kumimoji="0" lang="en-US" altLang="zh-CN" sz="2000" baseline="-25000"/>
              <a:t>k</a:t>
            </a:r>
            <a:r>
              <a:rPr kumimoji="0" lang="en-US" altLang="zh-CN" sz="2000" b="1"/>
              <a:t>, </a:t>
            </a:r>
            <a:r>
              <a:rPr kumimoji="0" lang="zh-CN" altLang="en-US" sz="2000" b="1"/>
              <a:t>则置</a:t>
            </a:r>
            <a:r>
              <a:rPr kumimoji="0" lang="en-US" altLang="zh-CN" sz="2000"/>
              <a:t>ACTION[k, #]</a:t>
            </a:r>
            <a:r>
              <a:rPr kumimoji="0" lang="zh-CN" altLang="en-US" sz="2000" b="1"/>
              <a:t>为“接受”，简记为“</a:t>
            </a:r>
            <a:r>
              <a:rPr kumimoji="0" lang="en-US" altLang="zh-CN" sz="2000"/>
              <a:t>acc</a:t>
            </a:r>
            <a:r>
              <a:rPr kumimoji="0" lang="en-US" altLang="zh-CN" sz="2000" b="1"/>
              <a:t>”;</a:t>
            </a:r>
          </a:p>
          <a:p>
            <a:pPr lvl="1">
              <a:buFontTx/>
              <a:buNone/>
            </a:pPr>
            <a:endParaRPr kumimoji="0" lang="en-US" altLang="zh-CN" sz="800" b="1"/>
          </a:p>
          <a:p>
            <a:pPr lvl="1">
              <a:buFontTx/>
              <a:buChar char="•"/>
            </a:pPr>
            <a:r>
              <a:rPr kumimoji="0" lang="en-US" altLang="zh-CN" sz="2000" b="1"/>
              <a:t>  </a:t>
            </a:r>
            <a:r>
              <a:rPr kumimoji="0" lang="zh-CN" altLang="en-US" sz="2000" b="1"/>
              <a:t>若</a:t>
            </a:r>
            <a:r>
              <a:rPr kumimoji="0" lang="en-US" altLang="zh-CN" sz="2000"/>
              <a:t>GO (I</a:t>
            </a:r>
            <a:r>
              <a:rPr kumimoji="0" lang="en-US" altLang="zh-CN" sz="2000" baseline="-25000"/>
              <a:t>k</a:t>
            </a:r>
            <a:r>
              <a:rPr kumimoji="0" lang="en-US" altLang="zh-CN" sz="2000"/>
              <a:t>, A)= I</a:t>
            </a:r>
            <a:r>
              <a:rPr kumimoji="0" lang="en-US" altLang="zh-CN" sz="2000" baseline="-25000"/>
              <a:t>j</a:t>
            </a:r>
            <a:r>
              <a:rPr kumimoji="0" lang="en-US" altLang="zh-CN" sz="2000" b="1"/>
              <a:t>,</a:t>
            </a:r>
            <a:r>
              <a:rPr kumimoji="0" lang="en-US" altLang="zh-CN" sz="2000"/>
              <a:t> A</a:t>
            </a:r>
            <a:r>
              <a:rPr kumimoji="0" lang="zh-CN" altLang="en-US" sz="2000" b="1"/>
              <a:t>为非终结符，则置</a:t>
            </a:r>
            <a:r>
              <a:rPr kumimoji="0" lang="en-US" altLang="zh-CN" sz="2000"/>
              <a:t>GOTO(k, A)=j</a:t>
            </a:r>
            <a:r>
              <a:rPr kumimoji="0" lang="en-US" altLang="zh-CN" sz="2000" b="1"/>
              <a:t>;</a:t>
            </a:r>
          </a:p>
          <a:p>
            <a:pPr lvl="1">
              <a:buFontTx/>
              <a:buNone/>
            </a:pPr>
            <a:endParaRPr kumimoji="0" lang="en-US" altLang="zh-CN" sz="800" b="1"/>
          </a:p>
          <a:p>
            <a:pPr lvl="1">
              <a:buFontTx/>
              <a:buChar char="•"/>
            </a:pPr>
            <a:r>
              <a:rPr kumimoji="0" lang="en-US" altLang="zh-CN" sz="2000" b="1"/>
              <a:t>  </a:t>
            </a:r>
            <a:r>
              <a:rPr kumimoji="0" lang="zh-CN" altLang="en-US" sz="2000" b="1"/>
              <a:t>分析表中凡不能用上述规则填入信息的空白格均置上“出错标志”</a:t>
            </a:r>
          </a:p>
        </p:txBody>
      </p:sp>
    </p:spTree>
  </p:cSld>
  <p:clrMapOvr>
    <a:masterClrMapping/>
  </p:clrMapOvr>
  <p:transition spd="med"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70" name="Text Box 62"/>
          <p:cNvSpPr txBox="1">
            <a:spLocks noChangeArrowheads="1"/>
          </p:cNvSpPr>
          <p:nvPr/>
        </p:nvSpPr>
        <p:spPr bwMode="auto">
          <a:xfrm>
            <a:off x="755650" y="1125538"/>
            <a:ext cx="4968875" cy="1311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800"/>
              <a:t>  LR</a:t>
            </a:r>
            <a:r>
              <a:rPr lang="zh-CN" altLang="en-US" sz="2800"/>
              <a:t>（</a:t>
            </a:r>
            <a:r>
              <a:rPr lang="en-US" altLang="zh-CN" sz="2800"/>
              <a:t>0</a:t>
            </a:r>
            <a:r>
              <a:rPr lang="zh-CN" altLang="en-US" sz="2800"/>
              <a:t>）</a:t>
            </a:r>
            <a:r>
              <a:rPr lang="zh-CN" altLang="en-US" sz="2800" b="1">
                <a:latin typeface="楷体_GB2312" pitchFamily="49" charset="-122"/>
              </a:rPr>
              <a:t>分析表的构造</a:t>
            </a:r>
            <a:r>
              <a:rPr lang="zh-CN" altLang="en-US" sz="2800" b="1">
                <a:solidFill>
                  <a:srgbClr val="800080"/>
                </a:solidFill>
                <a:latin typeface="楷体_GB2312" pitchFamily="49" charset="-122"/>
              </a:rPr>
              <a:t>举例</a:t>
            </a: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 b="1">
                <a:solidFill>
                  <a:srgbClr val="800080"/>
                </a:solidFill>
              </a:rPr>
              <a:t> </a:t>
            </a:r>
            <a:r>
              <a:rPr lang="zh-CN" altLang="en-US" b="1">
                <a:solidFill>
                  <a:srgbClr val="800080"/>
                </a:solidFill>
              </a:rPr>
              <a:t>增广</a:t>
            </a:r>
            <a:r>
              <a:rPr kumimoji="0" lang="zh-CN" altLang="en-US" b="1">
                <a:solidFill>
                  <a:srgbClr val="800080"/>
                </a:solidFill>
                <a:sym typeface="Symbol" panose="05050102010706020507" pitchFamily="18" charset="2"/>
              </a:rPr>
              <a:t>文法：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kumimoji="0" lang="zh-CN" altLang="en-US" i="1">
                <a:sym typeface="Symbol" panose="05050102010706020507" pitchFamily="18" charset="2"/>
              </a:rPr>
              <a:t>    </a:t>
            </a:r>
            <a:r>
              <a:rPr kumimoji="0" lang="en-US" altLang="zh-CN" i="1">
                <a:sym typeface="Symbol" panose="05050102010706020507" pitchFamily="18" charset="2"/>
              </a:rPr>
              <a:t>G’ </a:t>
            </a:r>
            <a:r>
              <a:rPr kumimoji="0" lang="en-US" altLang="zh-CN">
                <a:sym typeface="Symbol" panose="05050102010706020507" pitchFamily="18" charset="2"/>
              </a:rPr>
              <a:t>[</a:t>
            </a:r>
            <a:r>
              <a:rPr kumimoji="0" lang="en-US" altLang="zh-CN" i="1">
                <a:sym typeface="Symbol" panose="05050102010706020507" pitchFamily="18" charset="2"/>
              </a:rPr>
              <a:t>E’</a:t>
            </a:r>
            <a:r>
              <a:rPr kumimoji="0" lang="en-US" altLang="zh-CN">
                <a:sym typeface="Symbol" panose="05050102010706020507" pitchFamily="18" charset="2"/>
              </a:rPr>
              <a:t>]</a:t>
            </a:r>
            <a:r>
              <a:rPr lang="en-US" altLang="zh-CN"/>
              <a:t> </a:t>
            </a:r>
            <a:endParaRPr lang="en-US" altLang="zh-CN" i="1">
              <a:sym typeface="Symbol" panose="05050102010706020507" pitchFamily="18" charset="2"/>
            </a:endParaRPr>
          </a:p>
        </p:txBody>
      </p:sp>
      <p:sp>
        <p:nvSpPr>
          <p:cNvPr id="478271" name="AutoShape 6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8272" name="AutoShape 6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8273" name="AutoShape 6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8274" name="AutoShape 6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8281" name="Line 73"/>
          <p:cNvSpPr>
            <a:spLocks noChangeShapeType="1"/>
          </p:cNvSpPr>
          <p:nvPr/>
        </p:nvSpPr>
        <p:spPr bwMode="auto">
          <a:xfrm>
            <a:off x="6372225" y="2601913"/>
            <a:ext cx="0" cy="3851275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478360" name="Group 152"/>
          <p:cNvGrpSpPr/>
          <p:nvPr/>
        </p:nvGrpSpPr>
        <p:grpSpPr bwMode="auto">
          <a:xfrm>
            <a:off x="1223963" y="2565400"/>
            <a:ext cx="6948487" cy="3924300"/>
            <a:chOff x="771" y="1616"/>
            <a:chExt cx="4377" cy="2472"/>
          </a:xfrm>
        </p:grpSpPr>
        <p:sp>
          <p:nvSpPr>
            <p:cNvPr id="478276" name="Line 68"/>
            <p:cNvSpPr>
              <a:spLocks noChangeShapeType="1"/>
            </p:cNvSpPr>
            <p:nvPr/>
          </p:nvSpPr>
          <p:spPr bwMode="auto">
            <a:xfrm>
              <a:off x="1292" y="1866"/>
              <a:ext cx="3856" cy="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78277" name="Text Box 69"/>
            <p:cNvSpPr txBox="1">
              <a:spLocks noChangeArrowheads="1"/>
            </p:cNvSpPr>
            <p:nvPr/>
          </p:nvSpPr>
          <p:spPr bwMode="auto">
            <a:xfrm>
              <a:off x="794" y="1639"/>
              <a:ext cx="544" cy="44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kumimoji="0" lang="zh-CN" altLang="en-US" sz="2000" b="1">
                  <a:solidFill>
                    <a:srgbClr val="800080"/>
                  </a:solidFill>
                  <a:latin typeface="Times New Roman" panose="02020603050405020304" pitchFamily="18" charset="0"/>
                </a:rPr>
                <a:t>栈顶状态</a:t>
              </a:r>
            </a:p>
          </p:txBody>
        </p:sp>
        <p:sp>
          <p:nvSpPr>
            <p:cNvPr id="478278" name="Text Box 70"/>
            <p:cNvSpPr txBox="1">
              <a:spLocks noChangeArrowheads="1"/>
            </p:cNvSpPr>
            <p:nvPr/>
          </p:nvSpPr>
          <p:spPr bwMode="auto">
            <a:xfrm>
              <a:off x="2363" y="1616"/>
              <a:ext cx="744" cy="2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000">
                  <a:solidFill>
                    <a:srgbClr val="800080"/>
                  </a:solidFill>
                </a:rPr>
                <a:t>ACTION</a:t>
              </a:r>
            </a:p>
          </p:txBody>
        </p:sp>
        <p:sp>
          <p:nvSpPr>
            <p:cNvPr id="478279" name="Text Box 71"/>
            <p:cNvSpPr txBox="1">
              <a:spLocks noChangeArrowheads="1"/>
            </p:cNvSpPr>
            <p:nvPr/>
          </p:nvSpPr>
          <p:spPr bwMode="auto">
            <a:xfrm>
              <a:off x="4310" y="1616"/>
              <a:ext cx="702" cy="2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000">
                  <a:solidFill>
                    <a:srgbClr val="800080"/>
                  </a:solidFill>
                </a:rPr>
                <a:t>GOTO</a:t>
              </a:r>
            </a:p>
          </p:txBody>
        </p:sp>
        <p:sp>
          <p:nvSpPr>
            <p:cNvPr id="478280" name="Line 72"/>
            <p:cNvSpPr>
              <a:spLocks noChangeShapeType="1"/>
            </p:cNvSpPr>
            <p:nvPr/>
          </p:nvSpPr>
          <p:spPr bwMode="auto">
            <a:xfrm>
              <a:off x="1292" y="1639"/>
              <a:ext cx="0" cy="2426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78282" name="Line 74"/>
            <p:cNvSpPr>
              <a:spLocks noChangeShapeType="1"/>
            </p:cNvSpPr>
            <p:nvPr/>
          </p:nvSpPr>
          <p:spPr bwMode="auto">
            <a:xfrm>
              <a:off x="771" y="2093"/>
              <a:ext cx="4377" cy="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78284" name="Rectangle 76"/>
            <p:cNvSpPr>
              <a:spLocks noChangeArrowheads="1"/>
            </p:cNvSpPr>
            <p:nvPr/>
          </p:nvSpPr>
          <p:spPr bwMode="auto">
            <a:xfrm>
              <a:off x="1501" y="1821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i="1">
                  <a:sym typeface="Symbol" panose="05050102010706020507" pitchFamily="18" charset="2"/>
                </a:rPr>
                <a:t>d</a:t>
              </a:r>
            </a:p>
          </p:txBody>
        </p:sp>
        <p:sp>
          <p:nvSpPr>
            <p:cNvPr id="478286" name="Rectangle 78"/>
            <p:cNvSpPr>
              <a:spLocks noChangeArrowheads="1"/>
            </p:cNvSpPr>
            <p:nvPr/>
          </p:nvSpPr>
          <p:spPr bwMode="auto">
            <a:xfrm>
              <a:off x="2033" y="1821"/>
              <a:ext cx="228" cy="288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478287" name="Rectangle 79"/>
            <p:cNvSpPr>
              <a:spLocks noChangeArrowheads="1"/>
            </p:cNvSpPr>
            <p:nvPr/>
          </p:nvSpPr>
          <p:spPr bwMode="auto">
            <a:xfrm>
              <a:off x="2609" y="1821"/>
              <a:ext cx="180" cy="288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>
                  <a:sym typeface="Symbol" panose="05050102010706020507" pitchFamily="18" charset="2"/>
                </a:rPr>
                <a:t>(</a:t>
              </a:r>
            </a:p>
          </p:txBody>
        </p:sp>
        <p:sp>
          <p:nvSpPr>
            <p:cNvPr id="478288" name="Rectangle 80"/>
            <p:cNvSpPr>
              <a:spLocks noChangeArrowheads="1"/>
            </p:cNvSpPr>
            <p:nvPr/>
          </p:nvSpPr>
          <p:spPr bwMode="auto">
            <a:xfrm>
              <a:off x="3167" y="1821"/>
              <a:ext cx="180" cy="288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>
                  <a:sym typeface="Symbol" panose="05050102010706020507" pitchFamily="18" charset="2"/>
                </a:rPr>
                <a:t>)</a:t>
              </a:r>
            </a:p>
          </p:txBody>
        </p:sp>
        <p:sp>
          <p:nvSpPr>
            <p:cNvPr id="478289" name="Rectangle 81"/>
            <p:cNvSpPr>
              <a:spLocks noChangeArrowheads="1"/>
            </p:cNvSpPr>
            <p:nvPr/>
          </p:nvSpPr>
          <p:spPr bwMode="auto">
            <a:xfrm>
              <a:off x="3605" y="1821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>
                  <a:sym typeface="Symbol" panose="05050102010706020507" pitchFamily="18" charset="2"/>
                </a:rPr>
                <a:t>#</a:t>
              </a:r>
            </a:p>
          </p:txBody>
        </p:sp>
        <p:sp>
          <p:nvSpPr>
            <p:cNvPr id="478290" name="Rectangle 82"/>
            <p:cNvSpPr>
              <a:spLocks noChangeArrowheads="1"/>
            </p:cNvSpPr>
            <p:nvPr/>
          </p:nvSpPr>
          <p:spPr bwMode="auto">
            <a:xfrm>
              <a:off x="4241" y="1821"/>
              <a:ext cx="244" cy="288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i="1"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478291" name="Rectangle 83"/>
            <p:cNvSpPr>
              <a:spLocks noChangeArrowheads="1"/>
            </p:cNvSpPr>
            <p:nvPr/>
          </p:nvSpPr>
          <p:spPr bwMode="auto">
            <a:xfrm>
              <a:off x="4618" y="1821"/>
              <a:ext cx="233" cy="288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i="1">
                  <a:sym typeface="Symbol" panose="05050102010706020507" pitchFamily="18" charset="2"/>
                </a:rPr>
                <a:t>T</a:t>
              </a:r>
            </a:p>
          </p:txBody>
        </p:sp>
        <p:sp>
          <p:nvSpPr>
            <p:cNvPr id="478293" name="Rectangle 85"/>
            <p:cNvSpPr>
              <a:spLocks noChangeArrowheads="1"/>
            </p:cNvSpPr>
            <p:nvPr/>
          </p:nvSpPr>
          <p:spPr bwMode="auto">
            <a:xfrm>
              <a:off x="906" y="2091"/>
              <a:ext cx="20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478294" name="Rectangle 86"/>
            <p:cNvSpPr>
              <a:spLocks noChangeArrowheads="1"/>
            </p:cNvSpPr>
            <p:nvPr/>
          </p:nvSpPr>
          <p:spPr bwMode="auto">
            <a:xfrm>
              <a:off x="906" y="2318"/>
              <a:ext cx="20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478295" name="Rectangle 87"/>
            <p:cNvSpPr>
              <a:spLocks noChangeArrowheads="1"/>
            </p:cNvSpPr>
            <p:nvPr/>
          </p:nvSpPr>
          <p:spPr bwMode="auto">
            <a:xfrm>
              <a:off x="906" y="2545"/>
              <a:ext cx="20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478296" name="Rectangle 88"/>
            <p:cNvSpPr>
              <a:spLocks noChangeArrowheads="1"/>
            </p:cNvSpPr>
            <p:nvPr/>
          </p:nvSpPr>
          <p:spPr bwMode="auto">
            <a:xfrm>
              <a:off x="906" y="2772"/>
              <a:ext cx="20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478297" name="Rectangle 89"/>
            <p:cNvSpPr>
              <a:spLocks noChangeArrowheads="1"/>
            </p:cNvSpPr>
            <p:nvPr/>
          </p:nvSpPr>
          <p:spPr bwMode="auto">
            <a:xfrm>
              <a:off x="906" y="2978"/>
              <a:ext cx="20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4</a:t>
              </a:r>
            </a:p>
          </p:txBody>
        </p:sp>
        <p:sp>
          <p:nvSpPr>
            <p:cNvPr id="478298" name="Rectangle 90"/>
            <p:cNvSpPr>
              <a:spLocks noChangeArrowheads="1"/>
            </p:cNvSpPr>
            <p:nvPr/>
          </p:nvSpPr>
          <p:spPr bwMode="auto">
            <a:xfrm>
              <a:off x="906" y="3180"/>
              <a:ext cx="20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5</a:t>
              </a:r>
            </a:p>
          </p:txBody>
        </p:sp>
        <p:sp>
          <p:nvSpPr>
            <p:cNvPr id="478299" name="Rectangle 91"/>
            <p:cNvSpPr>
              <a:spLocks noChangeArrowheads="1"/>
            </p:cNvSpPr>
            <p:nvPr/>
          </p:nvSpPr>
          <p:spPr bwMode="auto">
            <a:xfrm>
              <a:off x="906" y="3407"/>
              <a:ext cx="20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6</a:t>
              </a:r>
            </a:p>
          </p:txBody>
        </p:sp>
        <p:sp>
          <p:nvSpPr>
            <p:cNvPr id="478300" name="Rectangle 92"/>
            <p:cNvSpPr>
              <a:spLocks noChangeArrowheads="1"/>
            </p:cNvSpPr>
            <p:nvPr/>
          </p:nvSpPr>
          <p:spPr bwMode="auto">
            <a:xfrm>
              <a:off x="906" y="3634"/>
              <a:ext cx="20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7</a:t>
              </a:r>
            </a:p>
          </p:txBody>
        </p:sp>
        <p:sp>
          <p:nvSpPr>
            <p:cNvPr id="478301" name="Rectangle 93"/>
            <p:cNvSpPr>
              <a:spLocks noChangeArrowheads="1"/>
            </p:cNvSpPr>
            <p:nvPr/>
          </p:nvSpPr>
          <p:spPr bwMode="auto">
            <a:xfrm>
              <a:off x="906" y="3838"/>
              <a:ext cx="20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8</a:t>
              </a:r>
            </a:p>
          </p:txBody>
        </p:sp>
      </p:grpSp>
      <p:sp>
        <p:nvSpPr>
          <p:cNvPr id="478306" name="Rectangle 98"/>
          <p:cNvSpPr>
            <a:spLocks noChangeArrowheads="1"/>
          </p:cNvSpPr>
          <p:nvPr/>
        </p:nvSpPr>
        <p:spPr bwMode="auto">
          <a:xfrm>
            <a:off x="6767513" y="3317875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1</a:t>
            </a:r>
          </a:p>
        </p:txBody>
      </p:sp>
      <p:sp>
        <p:nvSpPr>
          <p:cNvPr id="478307" name="Rectangle 99"/>
          <p:cNvSpPr>
            <a:spLocks noChangeArrowheads="1"/>
          </p:cNvSpPr>
          <p:nvPr/>
        </p:nvSpPr>
        <p:spPr bwMode="auto">
          <a:xfrm>
            <a:off x="7380288" y="3317875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2</a:t>
            </a:r>
          </a:p>
        </p:txBody>
      </p:sp>
      <p:sp>
        <p:nvSpPr>
          <p:cNvPr id="478309" name="Rectangle 101"/>
          <p:cNvSpPr>
            <a:spLocks noChangeArrowheads="1"/>
          </p:cNvSpPr>
          <p:nvPr/>
        </p:nvSpPr>
        <p:spPr bwMode="auto">
          <a:xfrm>
            <a:off x="5648325" y="3679825"/>
            <a:ext cx="579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acc</a:t>
            </a:r>
          </a:p>
        </p:txBody>
      </p:sp>
      <p:sp>
        <p:nvSpPr>
          <p:cNvPr id="478310" name="Rectangle 102"/>
          <p:cNvSpPr>
            <a:spLocks noChangeArrowheads="1"/>
          </p:cNvSpPr>
          <p:nvPr/>
        </p:nvSpPr>
        <p:spPr bwMode="auto">
          <a:xfrm>
            <a:off x="3203575" y="3676650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s6</a:t>
            </a:r>
          </a:p>
        </p:txBody>
      </p:sp>
      <p:sp>
        <p:nvSpPr>
          <p:cNvPr id="478312" name="Rectangle 104"/>
          <p:cNvSpPr>
            <a:spLocks noChangeArrowheads="1"/>
          </p:cNvSpPr>
          <p:nvPr/>
        </p:nvSpPr>
        <p:spPr bwMode="auto">
          <a:xfrm>
            <a:off x="3225800" y="4037013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r2</a:t>
            </a:r>
          </a:p>
        </p:txBody>
      </p:sp>
      <p:sp>
        <p:nvSpPr>
          <p:cNvPr id="478313" name="Text Box 105"/>
          <p:cNvSpPr txBox="1">
            <a:spLocks noChangeArrowheads="1"/>
          </p:cNvSpPr>
          <p:nvPr/>
        </p:nvSpPr>
        <p:spPr bwMode="auto">
          <a:xfrm>
            <a:off x="3203575" y="1700213"/>
            <a:ext cx="4752975" cy="701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0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E’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E</a:t>
            </a:r>
            <a:r>
              <a:rPr lang="en-US" altLang="zh-CN" sz="2000">
                <a:sym typeface="Symbol" panose="05050102010706020507" pitchFamily="18" charset="2"/>
              </a:rPr>
              <a:t>   </a:t>
            </a: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1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E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E+T</a:t>
            </a:r>
            <a:r>
              <a:rPr lang="en-US" altLang="zh-CN" sz="2000"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2</a:t>
            </a:r>
            <a:r>
              <a:rPr lang="zh-CN" altLang="en-US" sz="2000">
                <a:sym typeface="Symbol" panose="05050102010706020507" pitchFamily="18" charset="2"/>
              </a:rPr>
              <a:t>） </a:t>
            </a:r>
            <a:r>
              <a:rPr lang="en-US" altLang="zh-CN" sz="2000" i="1">
                <a:sym typeface="Symbol" panose="05050102010706020507" pitchFamily="18" charset="2"/>
              </a:rPr>
              <a:t>E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T   </a:t>
            </a: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3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T 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 (E)  </a:t>
            </a: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4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T 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/>
              <a:t> </a:t>
            </a:r>
            <a:r>
              <a:rPr lang="en-US" altLang="zh-CN" sz="2000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478314" name="Rectangle 106"/>
          <p:cNvSpPr>
            <a:spLocks noChangeArrowheads="1"/>
          </p:cNvSpPr>
          <p:nvPr/>
        </p:nvSpPr>
        <p:spPr bwMode="auto">
          <a:xfrm>
            <a:off x="4932363" y="4037013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r2</a:t>
            </a:r>
          </a:p>
        </p:txBody>
      </p:sp>
      <p:sp>
        <p:nvSpPr>
          <p:cNvPr id="478315" name="Rectangle 107"/>
          <p:cNvSpPr>
            <a:spLocks noChangeArrowheads="1"/>
          </p:cNvSpPr>
          <p:nvPr/>
        </p:nvSpPr>
        <p:spPr bwMode="auto">
          <a:xfrm>
            <a:off x="5722938" y="4037013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r2</a:t>
            </a:r>
          </a:p>
        </p:txBody>
      </p:sp>
      <p:sp>
        <p:nvSpPr>
          <p:cNvPr id="478316" name="Rectangle 108"/>
          <p:cNvSpPr>
            <a:spLocks noChangeArrowheads="1"/>
          </p:cNvSpPr>
          <p:nvPr/>
        </p:nvSpPr>
        <p:spPr bwMode="auto">
          <a:xfrm>
            <a:off x="3225800" y="439737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r4</a:t>
            </a:r>
          </a:p>
        </p:txBody>
      </p:sp>
      <p:sp>
        <p:nvSpPr>
          <p:cNvPr id="478317" name="Rectangle 109"/>
          <p:cNvSpPr>
            <a:spLocks noChangeArrowheads="1"/>
          </p:cNvSpPr>
          <p:nvPr/>
        </p:nvSpPr>
        <p:spPr bwMode="auto">
          <a:xfrm>
            <a:off x="4932363" y="439737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r4</a:t>
            </a:r>
          </a:p>
        </p:txBody>
      </p:sp>
      <p:sp>
        <p:nvSpPr>
          <p:cNvPr id="478318" name="Rectangle 110"/>
          <p:cNvSpPr>
            <a:spLocks noChangeArrowheads="1"/>
          </p:cNvSpPr>
          <p:nvPr/>
        </p:nvSpPr>
        <p:spPr bwMode="auto">
          <a:xfrm>
            <a:off x="5722938" y="439737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r4</a:t>
            </a:r>
          </a:p>
        </p:txBody>
      </p:sp>
      <p:sp>
        <p:nvSpPr>
          <p:cNvPr id="478319" name="Rectangle 111"/>
          <p:cNvSpPr>
            <a:spLocks noChangeArrowheads="1"/>
          </p:cNvSpPr>
          <p:nvPr/>
        </p:nvSpPr>
        <p:spPr bwMode="auto">
          <a:xfrm>
            <a:off x="4046538" y="3317875"/>
            <a:ext cx="452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s4</a:t>
            </a:r>
          </a:p>
        </p:txBody>
      </p:sp>
      <p:sp>
        <p:nvSpPr>
          <p:cNvPr id="478321" name="Rectangle 113"/>
          <p:cNvSpPr>
            <a:spLocks noChangeArrowheads="1"/>
          </p:cNvSpPr>
          <p:nvPr/>
        </p:nvSpPr>
        <p:spPr bwMode="auto">
          <a:xfrm>
            <a:off x="2339975" y="3317875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s3</a:t>
            </a:r>
          </a:p>
        </p:txBody>
      </p:sp>
      <p:sp>
        <p:nvSpPr>
          <p:cNvPr id="478323" name="Rectangle 115"/>
          <p:cNvSpPr>
            <a:spLocks noChangeArrowheads="1"/>
          </p:cNvSpPr>
          <p:nvPr/>
        </p:nvSpPr>
        <p:spPr bwMode="auto">
          <a:xfrm>
            <a:off x="2339975" y="4724400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s3</a:t>
            </a:r>
          </a:p>
        </p:txBody>
      </p:sp>
      <p:sp>
        <p:nvSpPr>
          <p:cNvPr id="478324" name="Rectangle 116"/>
          <p:cNvSpPr>
            <a:spLocks noChangeArrowheads="1"/>
          </p:cNvSpPr>
          <p:nvPr/>
        </p:nvSpPr>
        <p:spPr bwMode="auto">
          <a:xfrm>
            <a:off x="4025900" y="4724400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s4</a:t>
            </a:r>
          </a:p>
        </p:txBody>
      </p:sp>
      <p:sp>
        <p:nvSpPr>
          <p:cNvPr id="478325" name="Rectangle 117"/>
          <p:cNvSpPr>
            <a:spLocks noChangeArrowheads="1"/>
          </p:cNvSpPr>
          <p:nvPr/>
        </p:nvSpPr>
        <p:spPr bwMode="auto">
          <a:xfrm>
            <a:off x="6767513" y="4760913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5</a:t>
            </a:r>
          </a:p>
        </p:txBody>
      </p:sp>
      <p:sp>
        <p:nvSpPr>
          <p:cNvPr id="478326" name="Rectangle 118"/>
          <p:cNvSpPr>
            <a:spLocks noChangeArrowheads="1"/>
          </p:cNvSpPr>
          <p:nvPr/>
        </p:nvSpPr>
        <p:spPr bwMode="auto">
          <a:xfrm>
            <a:off x="7380288" y="4760913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2</a:t>
            </a:r>
          </a:p>
        </p:txBody>
      </p:sp>
      <p:sp>
        <p:nvSpPr>
          <p:cNvPr id="478329" name="Rectangle 121"/>
          <p:cNvSpPr>
            <a:spLocks noChangeArrowheads="1"/>
          </p:cNvSpPr>
          <p:nvPr/>
        </p:nvSpPr>
        <p:spPr bwMode="auto">
          <a:xfrm>
            <a:off x="3249613" y="5045075"/>
            <a:ext cx="452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s6</a:t>
            </a:r>
          </a:p>
        </p:txBody>
      </p:sp>
      <p:sp>
        <p:nvSpPr>
          <p:cNvPr id="478330" name="Rectangle 122"/>
          <p:cNvSpPr>
            <a:spLocks noChangeArrowheads="1"/>
          </p:cNvSpPr>
          <p:nvPr/>
        </p:nvSpPr>
        <p:spPr bwMode="auto">
          <a:xfrm>
            <a:off x="4956175" y="5045075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s7</a:t>
            </a:r>
          </a:p>
        </p:txBody>
      </p:sp>
      <p:sp>
        <p:nvSpPr>
          <p:cNvPr id="478333" name="Rectangle 125"/>
          <p:cNvSpPr>
            <a:spLocks noChangeArrowheads="1"/>
          </p:cNvSpPr>
          <p:nvPr/>
        </p:nvSpPr>
        <p:spPr bwMode="auto">
          <a:xfrm>
            <a:off x="2362200" y="5405438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s3</a:t>
            </a:r>
          </a:p>
        </p:txBody>
      </p:sp>
      <p:sp>
        <p:nvSpPr>
          <p:cNvPr id="478334" name="Rectangle 126"/>
          <p:cNvSpPr>
            <a:spLocks noChangeArrowheads="1"/>
          </p:cNvSpPr>
          <p:nvPr/>
        </p:nvSpPr>
        <p:spPr bwMode="auto">
          <a:xfrm>
            <a:off x="4048125" y="5405438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kumimoji="0" lang="en-US" altLang="zh-CN" sz="2000" i="1">
                <a:sym typeface="Symbol" panose="05050102010706020507" pitchFamily="18" charset="2"/>
              </a:rPr>
              <a:t>s4</a:t>
            </a:r>
            <a:endParaRPr lang="en-US" altLang="zh-CN" sz="2000" i="1">
              <a:sym typeface="Symbol" panose="05050102010706020507" pitchFamily="18" charset="2"/>
            </a:endParaRPr>
          </a:p>
        </p:txBody>
      </p:sp>
      <p:sp>
        <p:nvSpPr>
          <p:cNvPr id="478340" name="Rectangle 132"/>
          <p:cNvSpPr>
            <a:spLocks noChangeArrowheads="1"/>
          </p:cNvSpPr>
          <p:nvPr/>
        </p:nvSpPr>
        <p:spPr bwMode="auto">
          <a:xfrm>
            <a:off x="7380288" y="5445125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8</a:t>
            </a:r>
          </a:p>
        </p:txBody>
      </p:sp>
      <p:sp>
        <p:nvSpPr>
          <p:cNvPr id="478361" name="Rectangle 153"/>
          <p:cNvSpPr>
            <a:spLocks noChangeArrowheads="1"/>
          </p:cNvSpPr>
          <p:nvPr/>
        </p:nvSpPr>
        <p:spPr bwMode="auto">
          <a:xfrm>
            <a:off x="2339975" y="404018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r2</a:t>
            </a:r>
          </a:p>
        </p:txBody>
      </p:sp>
      <p:sp>
        <p:nvSpPr>
          <p:cNvPr id="478362" name="Rectangle 154"/>
          <p:cNvSpPr>
            <a:spLocks noChangeArrowheads="1"/>
          </p:cNvSpPr>
          <p:nvPr/>
        </p:nvSpPr>
        <p:spPr bwMode="auto">
          <a:xfrm>
            <a:off x="4067175" y="404018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r2</a:t>
            </a:r>
          </a:p>
        </p:txBody>
      </p:sp>
      <p:sp>
        <p:nvSpPr>
          <p:cNvPr id="478363" name="Rectangle 155"/>
          <p:cNvSpPr>
            <a:spLocks noChangeArrowheads="1"/>
          </p:cNvSpPr>
          <p:nvPr/>
        </p:nvSpPr>
        <p:spPr bwMode="auto">
          <a:xfrm>
            <a:off x="2339975" y="4400550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r4</a:t>
            </a:r>
          </a:p>
        </p:txBody>
      </p:sp>
      <p:sp>
        <p:nvSpPr>
          <p:cNvPr id="478364" name="Rectangle 156"/>
          <p:cNvSpPr>
            <a:spLocks noChangeArrowheads="1"/>
          </p:cNvSpPr>
          <p:nvPr/>
        </p:nvSpPr>
        <p:spPr bwMode="auto">
          <a:xfrm>
            <a:off x="4067175" y="4400550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r4</a:t>
            </a:r>
          </a:p>
        </p:txBody>
      </p:sp>
      <p:sp>
        <p:nvSpPr>
          <p:cNvPr id="478365" name="Rectangle 157"/>
          <p:cNvSpPr>
            <a:spLocks noChangeArrowheads="1"/>
          </p:cNvSpPr>
          <p:nvPr/>
        </p:nvSpPr>
        <p:spPr bwMode="auto">
          <a:xfrm>
            <a:off x="3225800" y="5765800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r3</a:t>
            </a:r>
          </a:p>
        </p:txBody>
      </p:sp>
      <p:sp>
        <p:nvSpPr>
          <p:cNvPr id="478366" name="Rectangle 158"/>
          <p:cNvSpPr>
            <a:spLocks noChangeArrowheads="1"/>
          </p:cNvSpPr>
          <p:nvPr/>
        </p:nvSpPr>
        <p:spPr bwMode="auto">
          <a:xfrm>
            <a:off x="4932363" y="5765800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r3</a:t>
            </a:r>
          </a:p>
        </p:txBody>
      </p:sp>
      <p:sp>
        <p:nvSpPr>
          <p:cNvPr id="478367" name="Rectangle 159"/>
          <p:cNvSpPr>
            <a:spLocks noChangeArrowheads="1"/>
          </p:cNvSpPr>
          <p:nvPr/>
        </p:nvSpPr>
        <p:spPr bwMode="auto">
          <a:xfrm>
            <a:off x="5722938" y="5765800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r3</a:t>
            </a:r>
          </a:p>
        </p:txBody>
      </p:sp>
      <p:sp>
        <p:nvSpPr>
          <p:cNvPr id="478368" name="Rectangle 160"/>
          <p:cNvSpPr>
            <a:spLocks noChangeArrowheads="1"/>
          </p:cNvSpPr>
          <p:nvPr/>
        </p:nvSpPr>
        <p:spPr bwMode="auto">
          <a:xfrm>
            <a:off x="2339975" y="576897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r3</a:t>
            </a:r>
          </a:p>
        </p:txBody>
      </p:sp>
      <p:sp>
        <p:nvSpPr>
          <p:cNvPr id="478369" name="Rectangle 161"/>
          <p:cNvSpPr>
            <a:spLocks noChangeArrowheads="1"/>
          </p:cNvSpPr>
          <p:nvPr/>
        </p:nvSpPr>
        <p:spPr bwMode="auto">
          <a:xfrm>
            <a:off x="4067175" y="576897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r3</a:t>
            </a:r>
          </a:p>
        </p:txBody>
      </p:sp>
      <p:sp>
        <p:nvSpPr>
          <p:cNvPr id="478370" name="Rectangle 162"/>
          <p:cNvSpPr>
            <a:spLocks noChangeArrowheads="1"/>
          </p:cNvSpPr>
          <p:nvPr/>
        </p:nvSpPr>
        <p:spPr bwMode="auto">
          <a:xfrm>
            <a:off x="3249613" y="612457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r1</a:t>
            </a:r>
          </a:p>
        </p:txBody>
      </p:sp>
      <p:sp>
        <p:nvSpPr>
          <p:cNvPr id="478371" name="Rectangle 163"/>
          <p:cNvSpPr>
            <a:spLocks noChangeArrowheads="1"/>
          </p:cNvSpPr>
          <p:nvPr/>
        </p:nvSpPr>
        <p:spPr bwMode="auto">
          <a:xfrm>
            <a:off x="4956175" y="612457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r1</a:t>
            </a:r>
          </a:p>
        </p:txBody>
      </p:sp>
      <p:sp>
        <p:nvSpPr>
          <p:cNvPr id="478372" name="Rectangle 164"/>
          <p:cNvSpPr>
            <a:spLocks noChangeArrowheads="1"/>
          </p:cNvSpPr>
          <p:nvPr/>
        </p:nvSpPr>
        <p:spPr bwMode="auto">
          <a:xfrm>
            <a:off x="5746750" y="612457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r1</a:t>
            </a:r>
          </a:p>
        </p:txBody>
      </p:sp>
      <p:sp>
        <p:nvSpPr>
          <p:cNvPr id="478373" name="Rectangle 165"/>
          <p:cNvSpPr>
            <a:spLocks noChangeArrowheads="1"/>
          </p:cNvSpPr>
          <p:nvPr/>
        </p:nvSpPr>
        <p:spPr bwMode="auto">
          <a:xfrm>
            <a:off x="2363788" y="6127750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r1</a:t>
            </a:r>
          </a:p>
        </p:txBody>
      </p:sp>
      <p:sp>
        <p:nvSpPr>
          <p:cNvPr id="478374" name="Rectangle 166"/>
          <p:cNvSpPr>
            <a:spLocks noChangeArrowheads="1"/>
          </p:cNvSpPr>
          <p:nvPr/>
        </p:nvSpPr>
        <p:spPr bwMode="auto">
          <a:xfrm>
            <a:off x="4090988" y="6127750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r1</a:t>
            </a:r>
          </a:p>
        </p:txBody>
      </p:sp>
      <p:sp>
        <p:nvSpPr>
          <p:cNvPr id="478375" name="Rectangle 167"/>
          <p:cNvSpPr>
            <a:spLocks noChangeArrowheads="1"/>
          </p:cNvSpPr>
          <p:nvPr/>
        </p:nvSpPr>
        <p:spPr bwMode="auto">
          <a:xfrm>
            <a:off x="35496" y="188913"/>
            <a:ext cx="32385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0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78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78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478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478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478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478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478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500"/>
                                        <p:tgtEl>
                                          <p:spTgt spid="478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478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478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478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" dur="500"/>
                                        <p:tgtEl>
                                          <p:spTgt spid="478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478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0" dur="500"/>
                                        <p:tgtEl>
                                          <p:spTgt spid="478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500"/>
                                        <p:tgtEl>
                                          <p:spTgt spid="478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6" dur="500"/>
                                        <p:tgtEl>
                                          <p:spTgt spid="478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1" dur="500"/>
                                        <p:tgtEl>
                                          <p:spTgt spid="478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6" dur="500"/>
                                        <p:tgtEl>
                                          <p:spTgt spid="478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1" dur="500"/>
                                        <p:tgtEl>
                                          <p:spTgt spid="478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6" dur="500"/>
                                        <p:tgtEl>
                                          <p:spTgt spid="478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1" dur="500"/>
                                        <p:tgtEl>
                                          <p:spTgt spid="478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6" dur="500"/>
                                        <p:tgtEl>
                                          <p:spTgt spid="478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1" dur="500"/>
                                        <p:tgtEl>
                                          <p:spTgt spid="478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6" dur="500"/>
                                        <p:tgtEl>
                                          <p:spTgt spid="478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1" dur="500"/>
                                        <p:tgtEl>
                                          <p:spTgt spid="478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6" dur="500"/>
                                        <p:tgtEl>
                                          <p:spTgt spid="478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9" dur="500"/>
                                        <p:tgtEl>
                                          <p:spTgt spid="478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2" dur="500"/>
                                        <p:tgtEl>
                                          <p:spTgt spid="478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5" dur="500"/>
                                        <p:tgtEl>
                                          <p:spTgt spid="478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8" dur="500"/>
                                        <p:tgtEl>
                                          <p:spTgt spid="478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3" dur="500"/>
                                        <p:tgtEl>
                                          <p:spTgt spid="47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6" dur="500"/>
                                        <p:tgtEl>
                                          <p:spTgt spid="47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9" dur="500"/>
                                        <p:tgtEl>
                                          <p:spTgt spid="47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2" dur="500"/>
                                        <p:tgtEl>
                                          <p:spTgt spid="47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5" dur="500"/>
                                        <p:tgtEl>
                                          <p:spTgt spid="478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8306" grpId="0"/>
      <p:bldP spid="478307" grpId="0"/>
      <p:bldP spid="478309" grpId="0"/>
      <p:bldP spid="478310" grpId="0"/>
      <p:bldP spid="478312" grpId="0"/>
      <p:bldP spid="478314" grpId="0"/>
      <p:bldP spid="478315" grpId="0"/>
      <p:bldP spid="478316" grpId="0"/>
      <p:bldP spid="478317" grpId="0"/>
      <p:bldP spid="478318" grpId="0"/>
      <p:bldP spid="478319" grpId="0"/>
      <p:bldP spid="478321" grpId="0"/>
      <p:bldP spid="478323" grpId="0"/>
      <p:bldP spid="478324" grpId="0"/>
      <p:bldP spid="478325" grpId="0"/>
      <p:bldP spid="478326" grpId="0"/>
      <p:bldP spid="478329" grpId="0"/>
      <p:bldP spid="478330" grpId="0"/>
      <p:bldP spid="478333" grpId="0"/>
      <p:bldP spid="478334" grpId="0"/>
      <p:bldP spid="478340" grpId="0"/>
      <p:bldP spid="478361" grpId="0"/>
      <p:bldP spid="478362" grpId="0"/>
      <p:bldP spid="478363" grpId="0"/>
      <p:bldP spid="478364" grpId="0"/>
      <p:bldP spid="478365" grpId="0"/>
      <p:bldP spid="478366" grpId="0"/>
      <p:bldP spid="478367" grpId="0"/>
      <p:bldP spid="478368" grpId="0"/>
      <p:bldP spid="478369" grpId="0"/>
      <p:bldP spid="478370" grpId="0"/>
      <p:bldP spid="478371" grpId="0"/>
      <p:bldP spid="478372" grpId="0"/>
      <p:bldP spid="478373" grpId="0"/>
      <p:bldP spid="47837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251" name="AutoShape 19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9252" name="AutoShape 2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9253" name="AutoShape 2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9254" name="AutoShape 2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9255" name="Rectangle 23"/>
          <p:cNvSpPr>
            <a:spLocks noChangeArrowheads="1"/>
          </p:cNvSpPr>
          <p:nvPr/>
        </p:nvSpPr>
        <p:spPr bwMode="auto">
          <a:xfrm>
            <a:off x="35496" y="188913"/>
            <a:ext cx="32385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>
                <a:solidFill>
                  <a:srgbClr val="800080"/>
                </a:solidFill>
                <a:ea typeface="华文行楷" pitchFamily="2" charset="-122"/>
              </a:rPr>
              <a:t>0</a:t>
            </a: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479256" name="Text Box 24"/>
          <p:cNvSpPr txBox="1">
            <a:spLocks noChangeArrowheads="1"/>
          </p:cNvSpPr>
          <p:nvPr/>
        </p:nvSpPr>
        <p:spPr bwMode="auto">
          <a:xfrm>
            <a:off x="539750" y="1427163"/>
            <a:ext cx="8424863" cy="4178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 </a:t>
            </a:r>
            <a:r>
              <a:rPr kumimoji="0" lang="en-US" altLang="zh-CN" sz="3200">
                <a:solidFill>
                  <a:srgbClr val="800080"/>
                </a:solidFill>
              </a:rPr>
              <a:t>LR</a:t>
            </a:r>
            <a:r>
              <a:rPr kumimoji="0" lang="zh-CN" altLang="en-US" sz="3200">
                <a:solidFill>
                  <a:srgbClr val="800080"/>
                </a:solidFill>
              </a:rPr>
              <a:t>（</a:t>
            </a:r>
            <a:r>
              <a:rPr kumimoji="0" lang="en-US" altLang="zh-CN" sz="3200">
                <a:solidFill>
                  <a:srgbClr val="800080"/>
                </a:solidFill>
              </a:rPr>
              <a:t>0</a:t>
            </a:r>
            <a:r>
              <a:rPr kumimoji="0" lang="zh-CN" altLang="en-US" sz="3200">
                <a:solidFill>
                  <a:srgbClr val="800080"/>
                </a:solidFill>
              </a:rPr>
              <a:t>）</a:t>
            </a:r>
            <a:r>
              <a:rPr kumimoji="0" lang="zh-CN" altLang="en-US" sz="3200" b="1">
                <a:solidFill>
                  <a:srgbClr val="800080"/>
                </a:solidFill>
              </a:rPr>
              <a:t>文法</a:t>
            </a:r>
            <a:endParaRPr lang="zh-CN" altLang="en-US" sz="3200" b="1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 b="1">
                <a:solidFill>
                  <a:srgbClr val="800080"/>
                </a:solidFill>
              </a:rPr>
              <a:t>  </a:t>
            </a:r>
            <a:r>
              <a:rPr kumimoji="0" lang="zh-CN" altLang="en-US" sz="2800" b="1"/>
              <a:t>按上述算法构造的分析表，如果各表项均无多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kumimoji="0" lang="zh-CN" altLang="en-US" sz="2800" b="1"/>
              <a:t>    重定义，则称它为文法 </a:t>
            </a:r>
            <a:r>
              <a:rPr kumimoji="0" lang="en-US" altLang="zh-CN" sz="2800" i="1"/>
              <a:t>G</a:t>
            </a:r>
            <a:r>
              <a:rPr kumimoji="0" lang="en-US" altLang="zh-CN" sz="2800" b="1"/>
              <a:t> </a:t>
            </a:r>
            <a:r>
              <a:rPr kumimoji="0" lang="zh-CN" altLang="en-US" sz="2800" b="1"/>
              <a:t>的一张 </a:t>
            </a:r>
            <a:r>
              <a:rPr kumimoji="0" lang="en-US" altLang="zh-CN" sz="2800">
                <a:solidFill>
                  <a:srgbClr val="800080"/>
                </a:solidFill>
              </a:rPr>
              <a:t>LR</a:t>
            </a:r>
            <a:r>
              <a:rPr kumimoji="0" lang="zh-CN" altLang="en-US" sz="2800">
                <a:solidFill>
                  <a:srgbClr val="800080"/>
                </a:solidFill>
              </a:rPr>
              <a:t>（</a:t>
            </a:r>
            <a:r>
              <a:rPr kumimoji="0" lang="en-US" altLang="zh-CN" sz="2800">
                <a:solidFill>
                  <a:srgbClr val="800080"/>
                </a:solidFill>
              </a:rPr>
              <a:t>0</a:t>
            </a:r>
            <a:r>
              <a:rPr kumimoji="0" lang="zh-CN" altLang="en-US" sz="2800">
                <a:solidFill>
                  <a:srgbClr val="800080"/>
                </a:solidFill>
              </a:rPr>
              <a:t>）</a:t>
            </a:r>
            <a:r>
              <a:rPr kumimoji="0" lang="zh-CN" altLang="en-US" sz="2800" b="1">
                <a:solidFill>
                  <a:srgbClr val="800080"/>
                </a:solidFill>
              </a:rPr>
              <a:t>表</a:t>
            </a:r>
            <a:r>
              <a:rPr kumimoji="0" lang="zh-CN" altLang="en-US" sz="2800" b="1"/>
              <a:t>，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kumimoji="0" lang="zh-CN" altLang="en-US" sz="2800" b="1"/>
              <a:t>    并称 </a:t>
            </a:r>
            <a:r>
              <a:rPr kumimoji="0" lang="en-US" altLang="zh-CN" sz="2800" i="1"/>
              <a:t>G</a:t>
            </a:r>
            <a:r>
              <a:rPr kumimoji="0" lang="en-US" altLang="zh-CN" sz="2800"/>
              <a:t> </a:t>
            </a:r>
            <a:r>
              <a:rPr kumimoji="0" lang="zh-CN" altLang="en-US" sz="2800" b="1"/>
              <a:t>为一个 </a:t>
            </a:r>
            <a:r>
              <a:rPr kumimoji="0" lang="en-US" altLang="zh-CN" sz="2800">
                <a:solidFill>
                  <a:srgbClr val="800080"/>
                </a:solidFill>
              </a:rPr>
              <a:t>LR</a:t>
            </a:r>
            <a:r>
              <a:rPr kumimoji="0" lang="zh-CN" altLang="en-US" sz="2800">
                <a:solidFill>
                  <a:srgbClr val="800080"/>
                </a:solidFill>
              </a:rPr>
              <a:t>（</a:t>
            </a:r>
            <a:r>
              <a:rPr kumimoji="0" lang="en-US" altLang="zh-CN" sz="2800">
                <a:solidFill>
                  <a:srgbClr val="800080"/>
                </a:solidFill>
              </a:rPr>
              <a:t>0</a:t>
            </a:r>
            <a:r>
              <a:rPr kumimoji="0" lang="zh-CN" altLang="en-US" sz="2800">
                <a:solidFill>
                  <a:srgbClr val="800080"/>
                </a:solidFill>
              </a:rPr>
              <a:t>）</a:t>
            </a:r>
            <a:r>
              <a:rPr kumimoji="0" lang="zh-CN" altLang="en-US" sz="2800" b="1">
                <a:solidFill>
                  <a:srgbClr val="800080"/>
                </a:solidFill>
              </a:rPr>
              <a:t>文法</a:t>
            </a:r>
          </a:p>
          <a:p>
            <a:pPr lvl="1">
              <a:buClrTx/>
              <a:buFont typeface="Symbol" panose="05050102010706020507" pitchFamily="18" charset="2"/>
              <a:buNone/>
            </a:pPr>
            <a:endParaRPr kumimoji="0" lang="zh-CN" altLang="en-US" sz="1000" b="1"/>
          </a:p>
          <a:p>
            <a:pPr lvl="1">
              <a:buFont typeface="Symbol" panose="05050102010706020507" pitchFamily="18" charset="2"/>
              <a:buChar char="-"/>
            </a:pPr>
            <a:r>
              <a:rPr lang="zh-CN" altLang="en-US" sz="2800"/>
              <a:t>  </a:t>
            </a:r>
            <a:r>
              <a:rPr kumimoji="0" lang="en-US" altLang="zh-CN" sz="2800"/>
              <a:t>LR</a:t>
            </a:r>
            <a:r>
              <a:rPr kumimoji="0" lang="zh-CN" altLang="en-US" sz="2800"/>
              <a:t>（</a:t>
            </a:r>
            <a:r>
              <a:rPr kumimoji="0" lang="en-US" altLang="zh-CN" sz="2800"/>
              <a:t>0</a:t>
            </a:r>
            <a:r>
              <a:rPr kumimoji="0" lang="zh-CN" altLang="en-US" sz="2800"/>
              <a:t>）</a:t>
            </a:r>
            <a:r>
              <a:rPr kumimoji="0" lang="zh-CN" altLang="en-US" sz="2800" b="1"/>
              <a:t>文法的 </a:t>
            </a:r>
            <a:r>
              <a:rPr kumimoji="0" lang="en-US" altLang="zh-CN" sz="2800"/>
              <a:t>LR</a:t>
            </a:r>
            <a:r>
              <a:rPr kumimoji="0" lang="zh-CN" altLang="en-US" sz="2800"/>
              <a:t>（</a:t>
            </a:r>
            <a:r>
              <a:rPr kumimoji="0" lang="en-US" altLang="zh-CN" sz="2800"/>
              <a:t>0</a:t>
            </a:r>
            <a:r>
              <a:rPr kumimoji="0" lang="zh-CN" altLang="en-US" sz="2800"/>
              <a:t>）</a:t>
            </a:r>
            <a:r>
              <a:rPr kumimoji="0" lang="en-US" altLang="zh-CN" sz="2800"/>
              <a:t>FSM</a:t>
            </a:r>
            <a:r>
              <a:rPr kumimoji="0" lang="en-US" altLang="zh-CN" sz="2800" b="1"/>
              <a:t> </a:t>
            </a:r>
            <a:r>
              <a:rPr kumimoji="0" lang="zh-CN" altLang="en-US" sz="2800" b="1"/>
              <a:t>中，每个状态</a:t>
            </a:r>
          </a:p>
          <a:p>
            <a:pPr lvl="1">
              <a:buFont typeface="Symbol" panose="05050102010706020507" pitchFamily="18" charset="2"/>
              <a:buNone/>
            </a:pPr>
            <a:r>
              <a:rPr kumimoji="0" lang="zh-CN" altLang="en-US" sz="2800" b="1"/>
              <a:t>   （闭包项目集）都满足：</a:t>
            </a:r>
          </a:p>
          <a:p>
            <a:pPr lvl="1">
              <a:buFont typeface="Symbol" panose="05050102010706020507" pitchFamily="18" charset="2"/>
              <a:buNone/>
            </a:pPr>
            <a:endParaRPr kumimoji="0" lang="zh-CN" altLang="en-US" sz="1000" b="1"/>
          </a:p>
          <a:p>
            <a:pPr lvl="2">
              <a:buFontTx/>
              <a:buChar char="•"/>
            </a:pPr>
            <a:r>
              <a:rPr kumimoji="0" lang="zh-CN" altLang="en-US" sz="2800" b="1"/>
              <a:t> 不同时含有移进项目和归约项目</a:t>
            </a:r>
          </a:p>
          <a:p>
            <a:pPr lvl="2">
              <a:buFontTx/>
              <a:buNone/>
            </a:pPr>
            <a:endParaRPr kumimoji="0" lang="zh-CN" altLang="en-US" sz="1000" b="1"/>
          </a:p>
          <a:p>
            <a:pPr lvl="2">
              <a:buFontTx/>
              <a:buChar char="•"/>
            </a:pPr>
            <a:r>
              <a:rPr kumimoji="0" lang="zh-CN" altLang="en-US" sz="2800" b="1"/>
              <a:t> 不含有两个以上归约项目</a:t>
            </a:r>
            <a:endParaRPr kumimoji="0" lang="zh-CN" altLang="en-US" sz="1000" b="1"/>
          </a:p>
        </p:txBody>
      </p:sp>
    </p:spTree>
  </p:cSld>
  <p:clrMapOvr>
    <a:masterClrMapping/>
  </p:clrMapOvr>
  <p:transition spd="med">
    <p:wipe dir="r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7" name="Rectangle 17"/>
          <p:cNvSpPr>
            <a:spLocks noChangeArrowheads="1"/>
          </p:cNvSpPr>
          <p:nvPr/>
        </p:nvSpPr>
        <p:spPr bwMode="auto">
          <a:xfrm>
            <a:off x="35496" y="188913"/>
            <a:ext cx="3527425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>
                <a:solidFill>
                  <a:srgbClr val="800080"/>
                </a:solidFill>
                <a:ea typeface="华文行楷" pitchFamily="2" charset="-122"/>
              </a:rPr>
              <a:t>SLR</a:t>
            </a: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481299" name="AutoShape 1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00" name="AutoShape 2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01" name="AutoShape 2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02" name="AutoShape 2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03" name="Text Box 23"/>
          <p:cNvSpPr txBox="1">
            <a:spLocks noChangeArrowheads="1"/>
          </p:cNvSpPr>
          <p:nvPr/>
        </p:nvSpPr>
        <p:spPr bwMode="auto">
          <a:xfrm>
            <a:off x="755650" y="1196975"/>
            <a:ext cx="8208963" cy="51800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 </a:t>
            </a:r>
            <a:r>
              <a:rPr kumimoji="0" lang="en-US" altLang="zh-CN" sz="3200">
                <a:solidFill>
                  <a:srgbClr val="800080"/>
                </a:solidFill>
              </a:rPr>
              <a:t>LR</a:t>
            </a:r>
            <a:r>
              <a:rPr kumimoji="0" lang="zh-CN" altLang="en-US" sz="3200" b="1">
                <a:solidFill>
                  <a:srgbClr val="800080"/>
                </a:solidFill>
              </a:rPr>
              <a:t>（</a:t>
            </a:r>
            <a:r>
              <a:rPr kumimoji="0" lang="en-US" altLang="zh-CN" sz="3200">
                <a:solidFill>
                  <a:srgbClr val="800080"/>
                </a:solidFill>
              </a:rPr>
              <a:t>0</a:t>
            </a:r>
            <a:r>
              <a:rPr kumimoji="0" lang="zh-CN" altLang="en-US" sz="3200" b="1">
                <a:solidFill>
                  <a:srgbClr val="800080"/>
                </a:solidFill>
              </a:rPr>
              <a:t>）分析的局限性</a:t>
            </a:r>
            <a:endParaRPr lang="zh-CN" altLang="en-US" sz="3200" b="1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 b="1">
                <a:solidFill>
                  <a:srgbClr val="800080"/>
                </a:solidFill>
              </a:rPr>
              <a:t>  满足 </a:t>
            </a:r>
            <a:r>
              <a:rPr kumimoji="0" lang="en-US" altLang="zh-CN" sz="2800">
                <a:solidFill>
                  <a:srgbClr val="800080"/>
                </a:solidFill>
              </a:rPr>
              <a:t>LR</a:t>
            </a:r>
            <a:r>
              <a:rPr kumimoji="0" lang="zh-CN" altLang="en-US" sz="2800" b="1">
                <a:solidFill>
                  <a:srgbClr val="800080"/>
                </a:solidFill>
              </a:rPr>
              <a:t>（</a:t>
            </a:r>
            <a:r>
              <a:rPr kumimoji="0" lang="en-US" altLang="zh-CN" sz="2800">
                <a:solidFill>
                  <a:srgbClr val="800080"/>
                </a:solidFill>
              </a:rPr>
              <a:t>0</a:t>
            </a:r>
            <a:r>
              <a:rPr kumimoji="0" lang="zh-CN" altLang="en-US" sz="2800" b="1">
                <a:solidFill>
                  <a:srgbClr val="800080"/>
                </a:solidFill>
              </a:rPr>
              <a:t>）</a:t>
            </a:r>
            <a:r>
              <a:rPr lang="zh-CN" altLang="en-US" sz="2800" b="1">
                <a:solidFill>
                  <a:srgbClr val="800080"/>
                </a:solidFill>
              </a:rPr>
              <a:t>要求的文法不多</a:t>
            </a:r>
          </a:p>
          <a:p>
            <a:pPr lvl="1">
              <a:buClrTx/>
              <a:buFont typeface="Symbol" panose="05050102010706020507" pitchFamily="18" charset="2"/>
              <a:buNone/>
            </a:pPr>
            <a:endParaRPr kumimoji="0" lang="zh-CN" altLang="en-US" sz="1000"/>
          </a:p>
          <a:p>
            <a:pPr lvl="1">
              <a:buClrTx/>
              <a:buFont typeface="Symbol" panose="05050102010706020507" pitchFamily="18" charset="2"/>
              <a:buNone/>
            </a:pPr>
            <a:r>
              <a:rPr kumimoji="0" lang="zh-CN" altLang="en-US" sz="2800" b="1"/>
              <a:t>    </a:t>
            </a:r>
            <a:r>
              <a:rPr kumimoji="0" lang="zh-CN" altLang="en-US" b="1"/>
              <a:t>如：文法中含有产生式 </a:t>
            </a:r>
            <a:r>
              <a:rPr lang="en-US" altLang="zh-CN"/>
              <a:t>A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</a:t>
            </a:r>
            <a:r>
              <a:rPr kumimoji="0" lang="en-US" altLang="zh-CN"/>
              <a:t> </a:t>
            </a:r>
            <a:r>
              <a:rPr kumimoji="0" lang="zh-CN" altLang="en-US" b="1"/>
              <a:t>通常会遇到问题，对应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kumimoji="0" lang="zh-CN" altLang="en-US" b="1"/>
              <a:t>     的项目</a:t>
            </a:r>
            <a:r>
              <a:rPr lang="en-US" altLang="zh-CN"/>
              <a:t>A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 </a:t>
            </a:r>
            <a:r>
              <a:rPr lang="en-US" altLang="zh-CN" b="1">
                <a:sym typeface="Symbol" panose="05050102010706020507" pitchFamily="18" charset="2"/>
              </a:rPr>
              <a:t>.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zh-CN" altLang="en-US" b="1">
                <a:sym typeface="Symbol" panose="05050102010706020507" pitchFamily="18" charset="2"/>
              </a:rPr>
              <a:t>是归约项目</a:t>
            </a:r>
            <a:r>
              <a:rPr lang="zh-CN" altLang="en-US">
                <a:sym typeface="Symbol" panose="05050102010706020507" pitchFamily="18" charset="2"/>
              </a:rPr>
              <a:t>，</a:t>
            </a:r>
            <a:r>
              <a:rPr lang="zh-CN" altLang="en-US" b="1">
                <a:sym typeface="Symbol" panose="05050102010706020507" pitchFamily="18" charset="2"/>
              </a:rPr>
              <a:t>容易引起移进归约冲突</a:t>
            </a:r>
          </a:p>
          <a:p>
            <a:pPr lvl="1">
              <a:buClrTx/>
              <a:buFont typeface="Symbol" panose="05050102010706020507" pitchFamily="18" charset="2"/>
              <a:buNone/>
            </a:pPr>
            <a:endParaRPr lang="zh-CN" altLang="en-US" sz="1000" b="1">
              <a:sym typeface="Symbol" panose="05050102010706020507" pitchFamily="18" charset="2"/>
            </a:endParaRP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lang="zh-CN" altLang="en-US" b="1">
                <a:sym typeface="Symbol" panose="05050102010706020507" pitchFamily="18" charset="2"/>
              </a:rPr>
              <a:t>     将会看到，对上述 </a:t>
            </a:r>
            <a:r>
              <a:rPr lang="en-US" altLang="zh-CN">
                <a:sym typeface="Symbol" panose="05050102010706020507" pitchFamily="18" charset="2"/>
              </a:rPr>
              <a:t>LR</a:t>
            </a:r>
            <a:r>
              <a:rPr lang="zh-CN" altLang="en-US" b="1">
                <a:sym typeface="Symbol" panose="05050102010706020507" pitchFamily="18" charset="2"/>
              </a:rPr>
              <a:t>（</a:t>
            </a:r>
            <a:r>
              <a:rPr lang="en-US" altLang="zh-CN">
                <a:sym typeface="Symbol" panose="05050102010706020507" pitchFamily="18" charset="2"/>
              </a:rPr>
              <a:t>0</a:t>
            </a:r>
            <a:r>
              <a:rPr lang="zh-CN" altLang="en-US" b="1">
                <a:sym typeface="Symbol" panose="05050102010706020507" pitchFamily="18" charset="2"/>
              </a:rPr>
              <a:t>）文法的例子作很小的扩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lang="zh-CN" altLang="en-US" b="1">
                <a:sym typeface="Symbol" panose="05050102010706020507" pitchFamily="18" charset="2"/>
              </a:rPr>
              <a:t>     充就会变成非 </a:t>
            </a:r>
            <a:r>
              <a:rPr lang="en-US" altLang="zh-CN">
                <a:sym typeface="Symbol" panose="05050102010706020507" pitchFamily="18" charset="2"/>
              </a:rPr>
              <a:t>LR</a:t>
            </a:r>
            <a:r>
              <a:rPr lang="zh-CN" altLang="en-US" b="1">
                <a:sym typeface="Symbol" panose="05050102010706020507" pitchFamily="18" charset="2"/>
              </a:rPr>
              <a:t>（</a:t>
            </a:r>
            <a:r>
              <a:rPr lang="en-US" altLang="zh-CN">
                <a:sym typeface="Symbol" panose="05050102010706020507" pitchFamily="18" charset="2"/>
              </a:rPr>
              <a:t>0</a:t>
            </a:r>
            <a:r>
              <a:rPr lang="zh-CN" altLang="en-US" b="1">
                <a:sym typeface="Symbol" panose="05050102010706020507" pitchFamily="18" charset="2"/>
              </a:rPr>
              <a:t>）文法</a:t>
            </a:r>
            <a:endParaRPr kumimoji="0" lang="zh-CN" altLang="en-US" sz="2800" b="1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None/>
            </a:pPr>
            <a:endParaRPr kumimoji="0" lang="zh-CN" altLang="en-US" sz="1000" b="1"/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kumimoji="0" lang="zh-CN" altLang="en-US" sz="2800" b="1">
                <a:solidFill>
                  <a:srgbClr val="800080"/>
                </a:solidFill>
              </a:rPr>
              <a:t>  只根据栈顶的当前状态确定下一步动作</a:t>
            </a:r>
          </a:p>
          <a:p>
            <a:pPr lvl="1">
              <a:buClrTx/>
              <a:buFont typeface="Symbol" panose="05050102010706020507" pitchFamily="18" charset="2"/>
              <a:buNone/>
            </a:pPr>
            <a:endParaRPr kumimoji="0" lang="zh-CN" altLang="en-US" sz="1000" b="1"/>
          </a:p>
          <a:p>
            <a:pPr lvl="1">
              <a:buClrTx/>
              <a:buFont typeface="Symbol" panose="05050102010706020507" pitchFamily="18" charset="2"/>
              <a:buNone/>
            </a:pPr>
            <a:r>
              <a:rPr kumimoji="0" lang="zh-CN" altLang="en-US" sz="2800" b="1"/>
              <a:t>    </a:t>
            </a:r>
            <a:r>
              <a:rPr kumimoji="0" lang="zh-CN" altLang="en-US" b="1"/>
              <a:t>根据栈顶状态，就可确定进行移进还是归约：</a:t>
            </a:r>
          </a:p>
          <a:p>
            <a:pPr lvl="1">
              <a:buClrTx/>
              <a:buFont typeface="Symbol" panose="05050102010706020507" pitchFamily="18" charset="2"/>
              <a:buNone/>
            </a:pPr>
            <a:endParaRPr kumimoji="0" lang="zh-CN" altLang="en-US" sz="1000" b="1"/>
          </a:p>
          <a:p>
            <a:pPr lvl="2">
              <a:buFontTx/>
              <a:buChar char="•"/>
            </a:pPr>
            <a:r>
              <a:rPr kumimoji="0" lang="zh-CN" altLang="en-US"/>
              <a:t> </a:t>
            </a:r>
            <a:r>
              <a:rPr kumimoji="0" lang="zh-CN" altLang="en-US" b="1"/>
              <a:t> </a:t>
            </a:r>
            <a:r>
              <a:rPr kumimoji="0" lang="en-US" altLang="zh-CN"/>
              <a:t>ACTION</a:t>
            </a:r>
            <a:r>
              <a:rPr kumimoji="0" lang="en-US" altLang="zh-CN" b="1"/>
              <a:t> </a:t>
            </a:r>
            <a:r>
              <a:rPr kumimoji="0" lang="zh-CN" altLang="en-US" b="1"/>
              <a:t>表同一行中，不会既有移进又有归约；</a:t>
            </a:r>
          </a:p>
          <a:p>
            <a:pPr lvl="2">
              <a:buFontTx/>
              <a:buNone/>
            </a:pPr>
            <a:endParaRPr kumimoji="0" lang="zh-CN" altLang="en-US" sz="1000" b="1"/>
          </a:p>
          <a:p>
            <a:pPr lvl="2">
              <a:buFontTx/>
              <a:buChar char="•"/>
            </a:pPr>
            <a:r>
              <a:rPr kumimoji="0" lang="zh-CN" altLang="en-US" b="1"/>
              <a:t> 同一行中，归约动作同时存在且都是一样的   </a:t>
            </a:r>
          </a:p>
        </p:txBody>
      </p:sp>
    </p:spTree>
  </p:cSld>
  <p:clrMapOvr>
    <a:masterClrMapping/>
  </p:clrMapOvr>
  <p:transition spd="med">
    <p:wipe dir="r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38" name="Rectangle 34"/>
          <p:cNvSpPr>
            <a:spLocks noChangeArrowheads="1"/>
          </p:cNvSpPr>
          <p:nvPr/>
        </p:nvSpPr>
        <p:spPr bwMode="auto">
          <a:xfrm>
            <a:off x="35496" y="188913"/>
            <a:ext cx="3527425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>
                <a:solidFill>
                  <a:srgbClr val="800080"/>
                </a:solidFill>
                <a:ea typeface="华文行楷" pitchFamily="2" charset="-122"/>
              </a:rPr>
              <a:t>SLR</a:t>
            </a: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482339" name="AutoShape 3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2340" name="AutoShape 3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2341" name="AutoShape 3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2342" name="AutoShape 3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2343" name="Text Box 39"/>
          <p:cNvSpPr txBox="1">
            <a:spLocks noChangeArrowheads="1"/>
          </p:cNvSpPr>
          <p:nvPr/>
        </p:nvSpPr>
        <p:spPr bwMode="auto">
          <a:xfrm>
            <a:off x="827088" y="1196975"/>
            <a:ext cx="7993062" cy="1158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 </a:t>
            </a:r>
            <a:r>
              <a:rPr lang="zh-CN" altLang="en-US" sz="3200" b="1"/>
              <a:t>不是 </a:t>
            </a:r>
            <a:r>
              <a:rPr kumimoji="0" lang="en-US" altLang="zh-CN" sz="3200"/>
              <a:t>LR</a:t>
            </a:r>
            <a:r>
              <a:rPr kumimoji="0" lang="zh-CN" altLang="en-US" sz="3200" b="1"/>
              <a:t>（</a:t>
            </a:r>
            <a:r>
              <a:rPr kumimoji="0" lang="en-US" altLang="zh-CN" sz="3200"/>
              <a:t>0</a:t>
            </a:r>
            <a:r>
              <a:rPr kumimoji="0" lang="zh-CN" altLang="en-US" sz="3200" b="1"/>
              <a:t>）的文法</a:t>
            </a:r>
            <a:r>
              <a:rPr kumimoji="0" lang="zh-CN" altLang="en-US" sz="3200" b="1">
                <a:solidFill>
                  <a:srgbClr val="800080"/>
                </a:solidFill>
              </a:rPr>
              <a:t>举例</a:t>
            </a:r>
            <a:endParaRPr lang="zh-CN" altLang="en-US" sz="3200" b="1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 b="1">
                <a:solidFill>
                  <a:srgbClr val="800080"/>
                </a:solidFill>
              </a:rPr>
              <a:t>  验证如下文法不是 </a:t>
            </a:r>
            <a:r>
              <a:rPr kumimoji="0" lang="en-US" altLang="zh-CN" sz="2800">
                <a:solidFill>
                  <a:srgbClr val="800080"/>
                </a:solidFill>
              </a:rPr>
              <a:t>LR</a:t>
            </a:r>
            <a:r>
              <a:rPr kumimoji="0" lang="zh-CN" altLang="en-US" sz="2800" b="1">
                <a:solidFill>
                  <a:srgbClr val="800080"/>
                </a:solidFill>
              </a:rPr>
              <a:t>（</a:t>
            </a:r>
            <a:r>
              <a:rPr kumimoji="0" lang="en-US" altLang="zh-CN" sz="2800">
                <a:solidFill>
                  <a:srgbClr val="800080"/>
                </a:solidFill>
              </a:rPr>
              <a:t>0</a:t>
            </a:r>
            <a:r>
              <a:rPr kumimoji="0" lang="zh-CN" altLang="en-US" sz="2800" b="1">
                <a:solidFill>
                  <a:srgbClr val="800080"/>
                </a:solidFill>
              </a:rPr>
              <a:t>）</a:t>
            </a:r>
            <a:r>
              <a:rPr lang="zh-CN" altLang="en-US" sz="2800" b="1">
                <a:solidFill>
                  <a:srgbClr val="800080"/>
                </a:solidFill>
              </a:rPr>
              <a:t>的</a:t>
            </a:r>
            <a:endParaRPr kumimoji="0" lang="zh-CN" altLang="en-US" sz="1000"/>
          </a:p>
        </p:txBody>
      </p:sp>
      <p:sp>
        <p:nvSpPr>
          <p:cNvPr id="482344" name="Text Box 40"/>
          <p:cNvSpPr txBox="1">
            <a:spLocks noChangeArrowheads="1"/>
          </p:cNvSpPr>
          <p:nvPr/>
        </p:nvSpPr>
        <p:spPr bwMode="auto">
          <a:xfrm>
            <a:off x="1619250" y="2592388"/>
            <a:ext cx="2232025" cy="31353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zh-CN" altLang="en-US" b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文法 </a:t>
            </a:r>
            <a:r>
              <a:rPr kumimoji="0" lang="en-US" altLang="zh-CN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en-US" altLang="zh-CN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kumimoji="0" lang="en-US" altLang="zh-CN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0" lang="en-US" altLang="zh-CN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]: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kumimoji="0" lang="en-US" altLang="zh-CN" sz="80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 (1) 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E + T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 (2) 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 T</a:t>
            </a:r>
            <a:r>
              <a:rPr lang="en-US" altLang="zh-CN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 (3) 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en-US" altLang="zh-CN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T </a:t>
            </a: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 F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 (4) 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 (5) 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( E 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 (6) 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 v</a:t>
            </a: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 (7) 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 d</a:t>
            </a:r>
          </a:p>
        </p:txBody>
      </p:sp>
      <p:sp>
        <p:nvSpPr>
          <p:cNvPr id="482345" name="Text Box 41"/>
          <p:cNvSpPr txBox="1">
            <a:spLocks noChangeArrowheads="1"/>
          </p:cNvSpPr>
          <p:nvPr/>
        </p:nvSpPr>
        <p:spPr bwMode="auto">
          <a:xfrm>
            <a:off x="4716463" y="2636838"/>
            <a:ext cx="3384550" cy="3500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i="1">
                <a:solidFill>
                  <a:srgbClr val="800080"/>
                </a:solidFill>
                <a:sym typeface="Symbol" panose="05050102010706020507" pitchFamily="18" charset="2"/>
              </a:rPr>
              <a:t>G</a:t>
            </a:r>
            <a:r>
              <a:rPr kumimoji="0" lang="en-US" altLang="zh-CN">
                <a:solidFill>
                  <a:srgbClr val="800080"/>
                </a:solidFill>
                <a:sym typeface="Symbol" panose="05050102010706020507" pitchFamily="18" charset="2"/>
              </a:rPr>
              <a:t>[</a:t>
            </a:r>
            <a:r>
              <a:rPr kumimoji="0" lang="en-US" altLang="zh-CN" i="1">
                <a:solidFill>
                  <a:srgbClr val="800080"/>
                </a:solidFill>
                <a:sym typeface="Symbol" panose="05050102010706020507" pitchFamily="18" charset="2"/>
              </a:rPr>
              <a:t>E</a:t>
            </a:r>
            <a:r>
              <a:rPr kumimoji="0" lang="en-US" altLang="zh-CN">
                <a:solidFill>
                  <a:srgbClr val="800080"/>
                </a:solidFill>
                <a:sym typeface="Symbol" panose="05050102010706020507" pitchFamily="18" charset="2"/>
              </a:rPr>
              <a:t>] </a:t>
            </a:r>
            <a:r>
              <a:rPr kumimoji="0" lang="zh-CN" altLang="en-US" b="1">
                <a:solidFill>
                  <a:srgbClr val="800080"/>
                </a:solidFill>
                <a:sym typeface="Symbol" panose="05050102010706020507" pitchFamily="18" charset="2"/>
              </a:rPr>
              <a:t>的增广</a:t>
            </a:r>
            <a:r>
              <a:rPr kumimoji="0" lang="zh-CN" altLang="en-US" b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文法 </a:t>
            </a:r>
            <a:r>
              <a:rPr kumimoji="0" lang="en-US" altLang="zh-CN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G’ </a:t>
            </a:r>
            <a:r>
              <a:rPr kumimoji="0" lang="en-US" altLang="zh-CN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kumimoji="0" lang="en-US" altLang="zh-CN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kumimoji="0" lang="en-US" altLang="zh-CN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]: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kumimoji="0" lang="en-US" altLang="zh-CN" sz="80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 (0)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 S </a:t>
            </a: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 E</a:t>
            </a:r>
            <a:endParaRPr kumimoji="0" lang="en-US" altLang="zh-CN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 (1) 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E + T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 (2) 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 T</a:t>
            </a:r>
            <a:r>
              <a:rPr lang="en-US" altLang="zh-CN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 (3) 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en-US" altLang="zh-CN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T </a:t>
            </a: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 F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 (4) 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 (5) 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( E 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 (6) 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 v</a:t>
            </a: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 (7) 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 d</a:t>
            </a:r>
          </a:p>
        </p:txBody>
      </p:sp>
    </p:spTree>
  </p:cSld>
  <p:clrMapOvr>
    <a:masterClrMapping/>
  </p:clrMapOvr>
  <p:transition spd="med">
    <p:wipe dir="r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64" name="Rectangle 36"/>
          <p:cNvSpPr>
            <a:spLocks noChangeArrowheads="1"/>
          </p:cNvSpPr>
          <p:nvPr/>
        </p:nvSpPr>
        <p:spPr bwMode="auto">
          <a:xfrm>
            <a:off x="35496" y="188913"/>
            <a:ext cx="3527425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SLR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483369" name="Text Box 41"/>
          <p:cNvSpPr txBox="1">
            <a:spLocks noChangeArrowheads="1"/>
          </p:cNvSpPr>
          <p:nvPr/>
        </p:nvSpPr>
        <p:spPr bwMode="auto">
          <a:xfrm>
            <a:off x="468313" y="1052513"/>
            <a:ext cx="6551612" cy="944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 </a:t>
            </a:r>
            <a:r>
              <a:rPr lang="zh-CN" altLang="en-US" sz="2800" b="1">
                <a:solidFill>
                  <a:srgbClr val="800080"/>
                </a:solidFill>
              </a:rPr>
              <a:t>验证文法</a:t>
            </a:r>
            <a:r>
              <a:rPr kumimoji="0" lang="en-US" altLang="zh-CN" sz="2800" i="1">
                <a:solidFill>
                  <a:srgbClr val="800080"/>
                </a:solidFill>
                <a:sym typeface="Symbol" panose="05050102010706020507" pitchFamily="18" charset="2"/>
              </a:rPr>
              <a:t>G</a:t>
            </a:r>
            <a:r>
              <a:rPr lang="zh-CN" altLang="en-US" sz="2800" b="1">
                <a:solidFill>
                  <a:srgbClr val="800080"/>
                </a:solidFill>
              </a:rPr>
              <a:t>不是 </a:t>
            </a:r>
            <a:r>
              <a:rPr kumimoji="0" lang="en-US" altLang="zh-CN" sz="2800">
                <a:solidFill>
                  <a:srgbClr val="800080"/>
                </a:solidFill>
              </a:rPr>
              <a:t>LR</a:t>
            </a:r>
            <a:r>
              <a:rPr kumimoji="0" lang="zh-CN" altLang="en-US" sz="2800" b="1">
                <a:solidFill>
                  <a:srgbClr val="800080"/>
                </a:solidFill>
              </a:rPr>
              <a:t>（</a:t>
            </a:r>
            <a:r>
              <a:rPr kumimoji="0" lang="en-US" altLang="zh-CN" sz="2800">
                <a:solidFill>
                  <a:srgbClr val="800080"/>
                </a:solidFill>
              </a:rPr>
              <a:t>0</a:t>
            </a:r>
            <a:r>
              <a:rPr kumimoji="0" lang="zh-CN" altLang="en-US" sz="2800" b="1">
                <a:solidFill>
                  <a:srgbClr val="800080"/>
                </a:solidFill>
              </a:rPr>
              <a:t>）</a:t>
            </a:r>
            <a:r>
              <a:rPr lang="zh-CN" altLang="en-US" sz="2800" b="1">
                <a:solidFill>
                  <a:srgbClr val="800080"/>
                </a:solidFill>
              </a:rPr>
              <a:t>文法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zh-CN" altLang="en-US"/>
              <a:t> </a:t>
            </a:r>
            <a:r>
              <a:rPr lang="zh-CN" altLang="en-US" b="1"/>
              <a:t>构造</a:t>
            </a:r>
            <a:r>
              <a:rPr kumimoji="0" lang="en-US" altLang="zh-CN" i="1">
                <a:solidFill>
                  <a:srgbClr val="800080"/>
                </a:solidFill>
                <a:sym typeface="Symbol" panose="05050102010706020507" pitchFamily="18" charset="2"/>
              </a:rPr>
              <a:t>G</a:t>
            </a:r>
            <a:r>
              <a:rPr kumimoji="0" lang="en-US" altLang="zh-CN">
                <a:solidFill>
                  <a:srgbClr val="800080"/>
                </a:solidFill>
                <a:sym typeface="Symbol" panose="05050102010706020507" pitchFamily="18" charset="2"/>
              </a:rPr>
              <a:t>[</a:t>
            </a:r>
            <a:r>
              <a:rPr kumimoji="0" lang="en-US" altLang="zh-CN" i="1">
                <a:solidFill>
                  <a:srgbClr val="800080"/>
                </a:solidFill>
                <a:sym typeface="Symbol" panose="05050102010706020507" pitchFamily="18" charset="2"/>
              </a:rPr>
              <a:t>E</a:t>
            </a:r>
            <a:r>
              <a:rPr kumimoji="0" lang="en-US" altLang="zh-CN">
                <a:solidFill>
                  <a:srgbClr val="800080"/>
                </a:solidFill>
                <a:sym typeface="Symbol" panose="05050102010706020507" pitchFamily="18" charset="2"/>
              </a:rPr>
              <a:t>]</a:t>
            </a:r>
            <a:r>
              <a:rPr kumimoji="0" lang="zh-CN" altLang="en-US" b="1">
                <a:sym typeface="Symbol" panose="05050102010706020507" pitchFamily="18" charset="2"/>
              </a:rPr>
              <a:t>的</a:t>
            </a:r>
            <a:r>
              <a:rPr lang="zh-CN" altLang="en-US" b="1"/>
              <a:t>增广文法</a:t>
            </a:r>
            <a:r>
              <a:rPr lang="en-US" altLang="zh-CN" i="1">
                <a:solidFill>
                  <a:srgbClr val="800080"/>
                </a:solidFill>
              </a:rPr>
              <a:t>G’</a:t>
            </a:r>
            <a:r>
              <a:rPr lang="en-US" altLang="zh-CN" b="1">
                <a:solidFill>
                  <a:srgbClr val="800080"/>
                </a:solidFill>
              </a:rPr>
              <a:t> </a:t>
            </a:r>
            <a:r>
              <a:rPr lang="en-US" altLang="zh-CN">
                <a:solidFill>
                  <a:srgbClr val="800080"/>
                </a:solidFill>
              </a:rPr>
              <a:t>[</a:t>
            </a:r>
            <a:r>
              <a:rPr lang="en-US" altLang="zh-CN" i="1">
                <a:solidFill>
                  <a:srgbClr val="800080"/>
                </a:solidFill>
                <a:sym typeface="Symbol" panose="05050102010706020507" pitchFamily="18" charset="2"/>
              </a:rPr>
              <a:t>S</a:t>
            </a:r>
            <a:r>
              <a:rPr lang="en-US" altLang="zh-CN">
                <a:solidFill>
                  <a:srgbClr val="800080"/>
                </a:solidFill>
              </a:rPr>
              <a:t>]</a:t>
            </a:r>
            <a:r>
              <a:rPr kumimoji="0" lang="zh-CN" altLang="en-US" b="1">
                <a:solidFill>
                  <a:srgbClr val="800080"/>
                </a:solidFill>
                <a:sym typeface="Symbol" panose="05050102010706020507" pitchFamily="18" charset="2"/>
              </a:rPr>
              <a:t>的</a:t>
            </a:r>
            <a:r>
              <a:rPr lang="en-US" altLang="zh-CN">
                <a:solidFill>
                  <a:srgbClr val="800080"/>
                </a:solidFill>
              </a:rPr>
              <a:t>LR</a:t>
            </a:r>
            <a:r>
              <a:rPr lang="zh-CN" altLang="en-US">
                <a:solidFill>
                  <a:srgbClr val="800080"/>
                </a:solidFill>
              </a:rPr>
              <a:t>（</a:t>
            </a:r>
            <a:r>
              <a:rPr lang="en-US" altLang="zh-CN">
                <a:solidFill>
                  <a:srgbClr val="800080"/>
                </a:solidFill>
              </a:rPr>
              <a:t>0</a:t>
            </a:r>
            <a:r>
              <a:rPr lang="zh-CN" altLang="en-US">
                <a:solidFill>
                  <a:srgbClr val="800080"/>
                </a:solidFill>
              </a:rPr>
              <a:t>）</a:t>
            </a:r>
            <a:r>
              <a:rPr lang="en-US" altLang="zh-CN">
                <a:solidFill>
                  <a:srgbClr val="800080"/>
                </a:solidFill>
              </a:rPr>
              <a:t>FSM</a:t>
            </a:r>
            <a:endParaRPr lang="en-US" altLang="zh-CN" b="1">
              <a:solidFill>
                <a:srgbClr val="800080"/>
              </a:solidFill>
            </a:endParaRPr>
          </a:p>
        </p:txBody>
      </p:sp>
      <p:sp>
        <p:nvSpPr>
          <p:cNvPr id="483376" name="Text Box 48"/>
          <p:cNvSpPr txBox="1">
            <a:spLocks noChangeArrowheads="1"/>
          </p:cNvSpPr>
          <p:nvPr/>
        </p:nvSpPr>
        <p:spPr bwMode="auto">
          <a:xfrm>
            <a:off x="682625" y="2192338"/>
            <a:ext cx="1512888" cy="2389187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kumimoji="0"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.E</a:t>
            </a:r>
            <a:endParaRPr kumimoji="0" lang="en-US" altLang="zh-CN" sz="1800" b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E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.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E+T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    </a:t>
            </a:r>
            <a:r>
              <a:rPr lang="en-US" altLang="zh-CN" sz="1800" b="1" i="1">
                <a:sym typeface="Symbol" panose="05050102010706020507" pitchFamily="18" charset="2"/>
              </a:rPr>
              <a:t>E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.T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T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.T</a:t>
            </a:r>
            <a:r>
              <a:rPr lang="en-US" altLang="zh-CN" sz="1800" b="1">
                <a:sym typeface="Symbol" panose="05050102010706020507" pitchFamily="18" charset="2"/>
              </a:rPr>
              <a:t></a:t>
            </a:r>
            <a:r>
              <a:rPr lang="en-US" altLang="zh-CN" sz="1800" b="1" i="1">
                <a:sym typeface="Symbol" panose="05050102010706020507" pitchFamily="18" charset="2"/>
              </a:rPr>
              <a:t>F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T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.F</a:t>
            </a:r>
            <a:endParaRPr lang="en-US" altLang="zh-CN" sz="1800" b="1" i="1">
              <a:ea typeface="华文行楷" pitchFamily="2" charset="-122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    </a:t>
            </a:r>
            <a:r>
              <a:rPr lang="en-US" altLang="zh-CN" sz="1800" b="1" i="1">
                <a:sym typeface="Symbol" panose="05050102010706020507" pitchFamily="18" charset="2"/>
              </a:rPr>
              <a:t>F </a:t>
            </a:r>
            <a:r>
              <a:rPr lang="en-US" altLang="zh-CN" sz="1800" b="1">
                <a:ea typeface="华文行楷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 .(E)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    </a:t>
            </a:r>
            <a:r>
              <a:rPr lang="en-US" altLang="zh-CN" sz="1800" b="1" i="1">
                <a:sym typeface="Symbol" panose="05050102010706020507" pitchFamily="18" charset="2"/>
              </a:rPr>
              <a:t>F </a:t>
            </a:r>
            <a:r>
              <a:rPr lang="en-US" altLang="zh-CN" sz="1800" b="1"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sym typeface="Symbol" panose="05050102010706020507" pitchFamily="18" charset="2"/>
              </a:rPr>
              <a:t>v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b="1" i="1">
                <a:sym typeface="Symbol" panose="05050102010706020507" pitchFamily="18" charset="2"/>
              </a:rPr>
              <a:t>   </a:t>
            </a:r>
            <a:r>
              <a:rPr lang="en-US" altLang="zh-CN" sz="1800" b="1" i="1">
                <a:sym typeface="Symbol" panose="05050102010706020507" pitchFamily="18" charset="2"/>
              </a:rPr>
              <a:t>F </a:t>
            </a:r>
            <a:r>
              <a:rPr lang="en-US" altLang="zh-CN" sz="1800" b="1"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483378" name="Text Box 50"/>
          <p:cNvSpPr txBox="1">
            <a:spLocks noChangeArrowheads="1"/>
          </p:cNvSpPr>
          <p:nvPr/>
        </p:nvSpPr>
        <p:spPr bwMode="auto">
          <a:xfrm>
            <a:off x="2843213" y="6018213"/>
            <a:ext cx="1512887" cy="65087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S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E.</a:t>
            </a:r>
            <a:endParaRPr kumimoji="0" lang="en-US" altLang="zh-CN" sz="1800" b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E.+T </a:t>
            </a:r>
            <a:endParaRPr lang="en-US" altLang="zh-CN" sz="1800" b="1" i="1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83379" name="Text Box 51"/>
          <p:cNvSpPr txBox="1">
            <a:spLocks noChangeArrowheads="1"/>
          </p:cNvSpPr>
          <p:nvPr/>
        </p:nvSpPr>
        <p:spPr bwMode="auto">
          <a:xfrm>
            <a:off x="1187450" y="5084763"/>
            <a:ext cx="1008063" cy="376237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F.</a:t>
            </a:r>
            <a:endParaRPr kumimoji="0" lang="en-US" altLang="zh-CN" sz="1800" b="1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83380" name="Text Box 52"/>
          <p:cNvSpPr txBox="1">
            <a:spLocks noChangeArrowheads="1"/>
          </p:cNvSpPr>
          <p:nvPr/>
        </p:nvSpPr>
        <p:spPr bwMode="auto">
          <a:xfrm>
            <a:off x="611188" y="6292850"/>
            <a:ext cx="1152525" cy="376238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6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d.</a:t>
            </a:r>
            <a:endParaRPr kumimoji="0" lang="en-US" altLang="zh-CN" sz="1800" b="1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83390" name="Line 62"/>
          <p:cNvSpPr>
            <a:spLocks noChangeShapeType="1"/>
          </p:cNvSpPr>
          <p:nvPr/>
        </p:nvSpPr>
        <p:spPr bwMode="auto">
          <a:xfrm>
            <a:off x="5724525" y="2852738"/>
            <a:ext cx="0" cy="504825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83395" name="Line 67"/>
          <p:cNvSpPr>
            <a:spLocks noChangeShapeType="1"/>
          </p:cNvSpPr>
          <p:nvPr/>
        </p:nvSpPr>
        <p:spPr bwMode="auto">
          <a:xfrm>
            <a:off x="4356100" y="6597650"/>
            <a:ext cx="2232025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83396" name="Line 68"/>
          <p:cNvSpPr>
            <a:spLocks noChangeShapeType="1"/>
          </p:cNvSpPr>
          <p:nvPr/>
        </p:nvSpPr>
        <p:spPr bwMode="auto">
          <a:xfrm>
            <a:off x="2195513" y="2997200"/>
            <a:ext cx="647700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83398" name="Rectangle 70"/>
          <p:cNvSpPr>
            <a:spLocks noChangeArrowheads="1"/>
          </p:cNvSpPr>
          <p:nvPr/>
        </p:nvSpPr>
        <p:spPr bwMode="auto">
          <a:xfrm>
            <a:off x="2195513" y="5300663"/>
            <a:ext cx="287337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E</a:t>
            </a:r>
          </a:p>
        </p:txBody>
      </p:sp>
      <p:sp>
        <p:nvSpPr>
          <p:cNvPr id="483404" name="Arc 76"/>
          <p:cNvSpPr/>
          <p:nvPr/>
        </p:nvSpPr>
        <p:spPr bwMode="auto">
          <a:xfrm flipH="1">
            <a:off x="2555875" y="4291013"/>
            <a:ext cx="288925" cy="2889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000080"/>
            </a:solidFill>
            <a:rou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83405" name="Arc 77"/>
          <p:cNvSpPr/>
          <p:nvPr/>
        </p:nvSpPr>
        <p:spPr bwMode="auto">
          <a:xfrm rot="16200000" flipH="1">
            <a:off x="2555875" y="4579938"/>
            <a:ext cx="288925" cy="2889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000080"/>
            </a:solidFill>
            <a:rou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83406" name="Arc 78"/>
          <p:cNvSpPr/>
          <p:nvPr/>
        </p:nvSpPr>
        <p:spPr bwMode="auto">
          <a:xfrm rot="10800000" flipH="1">
            <a:off x="2843213" y="4579938"/>
            <a:ext cx="288925" cy="2889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83407" name="Rectangle 79"/>
          <p:cNvSpPr>
            <a:spLocks noChangeArrowheads="1"/>
          </p:cNvSpPr>
          <p:nvPr/>
        </p:nvSpPr>
        <p:spPr bwMode="auto">
          <a:xfrm>
            <a:off x="2555875" y="3933825"/>
            <a:ext cx="260350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(</a:t>
            </a:r>
          </a:p>
        </p:txBody>
      </p:sp>
      <p:sp>
        <p:nvSpPr>
          <p:cNvPr id="483408" name="Rectangle 80"/>
          <p:cNvSpPr>
            <a:spLocks noChangeArrowheads="1"/>
          </p:cNvSpPr>
          <p:nvPr/>
        </p:nvSpPr>
        <p:spPr bwMode="auto">
          <a:xfrm>
            <a:off x="4427538" y="6302375"/>
            <a:ext cx="254000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+</a:t>
            </a:r>
          </a:p>
        </p:txBody>
      </p:sp>
      <p:sp>
        <p:nvSpPr>
          <p:cNvPr id="483409" name="Line 81"/>
          <p:cNvSpPr>
            <a:spLocks noChangeShapeType="1"/>
          </p:cNvSpPr>
          <p:nvPr/>
        </p:nvSpPr>
        <p:spPr bwMode="auto">
          <a:xfrm>
            <a:off x="2051050" y="4581525"/>
            <a:ext cx="792163" cy="1439863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83420" name="Text Box 92"/>
          <p:cNvSpPr txBox="1">
            <a:spLocks noChangeArrowheads="1"/>
          </p:cNvSpPr>
          <p:nvPr/>
        </p:nvSpPr>
        <p:spPr bwMode="auto">
          <a:xfrm>
            <a:off x="2843213" y="2192338"/>
            <a:ext cx="1655762" cy="2389187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(.E)</a:t>
            </a:r>
            <a:endParaRPr kumimoji="0" lang="en-US" altLang="zh-CN" sz="1800" b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E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.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E+T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    </a:t>
            </a:r>
            <a:r>
              <a:rPr lang="en-US" altLang="zh-CN" sz="1800" b="1" i="1">
                <a:sym typeface="Symbol" panose="05050102010706020507" pitchFamily="18" charset="2"/>
              </a:rPr>
              <a:t>E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.T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T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.T</a:t>
            </a:r>
            <a:r>
              <a:rPr lang="en-US" altLang="zh-CN" sz="1800" b="1">
                <a:sym typeface="Symbol" panose="05050102010706020507" pitchFamily="18" charset="2"/>
              </a:rPr>
              <a:t></a:t>
            </a:r>
            <a:r>
              <a:rPr lang="en-US" altLang="zh-CN" sz="1800" b="1" i="1">
                <a:sym typeface="Symbol" panose="05050102010706020507" pitchFamily="18" charset="2"/>
              </a:rPr>
              <a:t>F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T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.F</a:t>
            </a:r>
            <a:endParaRPr lang="en-US" altLang="zh-CN" sz="1800" b="1" i="1">
              <a:ea typeface="华文行楷" pitchFamily="2" charset="-122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    </a:t>
            </a:r>
            <a:r>
              <a:rPr lang="en-US" altLang="zh-CN" sz="1800" b="1" i="1">
                <a:sym typeface="Symbol" panose="05050102010706020507" pitchFamily="18" charset="2"/>
              </a:rPr>
              <a:t>F </a:t>
            </a:r>
            <a:r>
              <a:rPr lang="en-US" altLang="zh-CN" sz="1800" b="1">
                <a:ea typeface="华文行楷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 .(E)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    </a:t>
            </a:r>
            <a:r>
              <a:rPr lang="en-US" altLang="zh-CN" sz="1800" b="1" i="1">
                <a:sym typeface="Symbol" panose="05050102010706020507" pitchFamily="18" charset="2"/>
              </a:rPr>
              <a:t>F </a:t>
            </a:r>
            <a:r>
              <a:rPr lang="en-US" altLang="zh-CN" sz="1800" b="1"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sym typeface="Symbol" panose="05050102010706020507" pitchFamily="18" charset="2"/>
              </a:rPr>
              <a:t>v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b="1" i="1">
                <a:sym typeface="Symbol" panose="05050102010706020507" pitchFamily="18" charset="2"/>
              </a:rPr>
              <a:t>   </a:t>
            </a:r>
            <a:r>
              <a:rPr lang="en-US" altLang="zh-CN" sz="1800" b="1" i="1">
                <a:sym typeface="Symbol" panose="05050102010706020507" pitchFamily="18" charset="2"/>
              </a:rPr>
              <a:t>F </a:t>
            </a:r>
            <a:r>
              <a:rPr lang="en-US" altLang="zh-CN" sz="1800" b="1"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483421" name="Text Box 93"/>
          <p:cNvSpPr txBox="1">
            <a:spLocks noChangeArrowheads="1"/>
          </p:cNvSpPr>
          <p:nvPr/>
        </p:nvSpPr>
        <p:spPr bwMode="auto">
          <a:xfrm>
            <a:off x="5435600" y="2201863"/>
            <a:ext cx="1441450" cy="65087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9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(E.)</a:t>
            </a:r>
            <a:endParaRPr kumimoji="0" lang="en-US" altLang="zh-CN" sz="1800" b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E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E.+T </a:t>
            </a:r>
          </a:p>
        </p:txBody>
      </p:sp>
      <p:sp>
        <p:nvSpPr>
          <p:cNvPr id="483422" name="Text Box 94"/>
          <p:cNvSpPr txBox="1">
            <a:spLocks noChangeArrowheads="1"/>
          </p:cNvSpPr>
          <p:nvPr/>
        </p:nvSpPr>
        <p:spPr bwMode="auto">
          <a:xfrm>
            <a:off x="5507038" y="3357563"/>
            <a:ext cx="1441450" cy="376237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12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(E).</a:t>
            </a:r>
            <a:endParaRPr lang="en-US" altLang="zh-CN" sz="1800" b="1" i="1">
              <a:ea typeface="华文行楷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83423" name="Text Box 95"/>
          <p:cNvSpPr txBox="1">
            <a:spLocks noChangeArrowheads="1"/>
          </p:cNvSpPr>
          <p:nvPr/>
        </p:nvSpPr>
        <p:spPr bwMode="auto">
          <a:xfrm>
            <a:off x="900113" y="5716588"/>
            <a:ext cx="1152525" cy="376237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v.</a:t>
            </a:r>
            <a:endParaRPr kumimoji="0" lang="en-US" altLang="zh-CN" sz="1800" b="1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83424" name="Text Box 96"/>
          <p:cNvSpPr txBox="1">
            <a:spLocks noChangeArrowheads="1"/>
          </p:cNvSpPr>
          <p:nvPr/>
        </p:nvSpPr>
        <p:spPr bwMode="auto">
          <a:xfrm>
            <a:off x="2843213" y="5010150"/>
            <a:ext cx="1512887" cy="65087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T.</a:t>
            </a:r>
            <a:endParaRPr kumimoji="0" lang="en-US" altLang="zh-CN" sz="1800" b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T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T. </a:t>
            </a:r>
            <a:r>
              <a:rPr lang="en-US" altLang="zh-CN" sz="1800" b="1">
                <a:sym typeface="Symbol" panose="05050102010706020507" pitchFamily="18" charset="2"/>
              </a:rPr>
              <a:t>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F </a:t>
            </a:r>
          </a:p>
        </p:txBody>
      </p:sp>
      <p:sp>
        <p:nvSpPr>
          <p:cNvPr id="483425" name="Text Box 97"/>
          <p:cNvSpPr txBox="1">
            <a:spLocks noChangeArrowheads="1"/>
          </p:cNvSpPr>
          <p:nvPr/>
        </p:nvSpPr>
        <p:spPr bwMode="auto">
          <a:xfrm>
            <a:off x="6588125" y="4868863"/>
            <a:ext cx="1511300" cy="1839912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7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E+.T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T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.T</a:t>
            </a:r>
            <a:r>
              <a:rPr lang="en-US" altLang="zh-CN" sz="1800" b="1">
                <a:sym typeface="Symbol" panose="05050102010706020507" pitchFamily="18" charset="2"/>
              </a:rPr>
              <a:t></a:t>
            </a:r>
            <a:r>
              <a:rPr lang="en-US" altLang="zh-CN" sz="1800" b="1" i="1">
                <a:sym typeface="Symbol" panose="05050102010706020507" pitchFamily="18" charset="2"/>
              </a:rPr>
              <a:t>F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T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.F</a:t>
            </a:r>
            <a:endParaRPr lang="en-US" altLang="zh-CN" sz="1800" b="1" i="1">
              <a:ea typeface="华文行楷" pitchFamily="2" charset="-122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    </a:t>
            </a:r>
            <a:r>
              <a:rPr lang="en-US" altLang="zh-CN" sz="1800" b="1" i="1">
                <a:sym typeface="Symbol" panose="05050102010706020507" pitchFamily="18" charset="2"/>
              </a:rPr>
              <a:t>F </a:t>
            </a:r>
            <a:r>
              <a:rPr lang="en-US" altLang="zh-CN" sz="1800" b="1">
                <a:ea typeface="华文行楷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 .(E)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    </a:t>
            </a:r>
            <a:r>
              <a:rPr lang="en-US" altLang="zh-CN" sz="1800" b="1" i="1">
                <a:sym typeface="Symbol" panose="05050102010706020507" pitchFamily="18" charset="2"/>
              </a:rPr>
              <a:t>F </a:t>
            </a:r>
            <a:r>
              <a:rPr lang="en-US" altLang="zh-CN" sz="1800" b="1"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sym typeface="Symbol" panose="05050102010706020507" pitchFamily="18" charset="2"/>
              </a:rPr>
              <a:t>v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b="1" i="1">
                <a:sym typeface="Symbol" panose="05050102010706020507" pitchFamily="18" charset="2"/>
              </a:rPr>
              <a:t>   </a:t>
            </a:r>
            <a:r>
              <a:rPr lang="en-US" altLang="zh-CN" sz="1800" b="1" i="1">
                <a:sym typeface="Symbol" panose="05050102010706020507" pitchFamily="18" charset="2"/>
              </a:rPr>
              <a:t>F </a:t>
            </a:r>
            <a:r>
              <a:rPr lang="en-US" altLang="zh-CN" sz="1800" b="1"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483426" name="Text Box 98"/>
          <p:cNvSpPr txBox="1">
            <a:spLocks noChangeArrowheads="1"/>
          </p:cNvSpPr>
          <p:nvPr/>
        </p:nvSpPr>
        <p:spPr bwMode="auto">
          <a:xfrm>
            <a:off x="4859338" y="4581525"/>
            <a:ext cx="1439862" cy="1290638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8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.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F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.(E)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b="1" i="1"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</a:p>
        </p:txBody>
      </p:sp>
      <p:sp>
        <p:nvSpPr>
          <p:cNvPr id="483427" name="Text Box 99"/>
          <p:cNvSpPr txBox="1">
            <a:spLocks noChangeArrowheads="1"/>
          </p:cNvSpPr>
          <p:nvPr/>
        </p:nvSpPr>
        <p:spPr bwMode="auto">
          <a:xfrm>
            <a:off x="7308850" y="3930650"/>
            <a:ext cx="1511300" cy="65087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10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E+T.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T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T.</a:t>
            </a:r>
            <a:r>
              <a:rPr lang="en-US" altLang="zh-CN" sz="1800" b="1">
                <a:sym typeface="Symbol" panose="05050102010706020507" pitchFamily="18" charset="2"/>
              </a:rPr>
              <a:t></a:t>
            </a:r>
            <a:r>
              <a:rPr lang="en-US" altLang="zh-CN" sz="1800" b="1" i="1">
                <a:sym typeface="Symbol" panose="05050102010706020507" pitchFamily="18" charset="2"/>
              </a:rPr>
              <a:t>F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 </a:t>
            </a:r>
            <a:endParaRPr lang="en-US" altLang="zh-CN" sz="1800" b="1" i="1">
              <a:sym typeface="Symbol" panose="05050102010706020507" pitchFamily="18" charset="2"/>
            </a:endParaRPr>
          </a:p>
        </p:txBody>
      </p:sp>
      <p:sp>
        <p:nvSpPr>
          <p:cNvPr id="483428" name="Text Box 100"/>
          <p:cNvSpPr txBox="1">
            <a:spLocks noChangeArrowheads="1"/>
          </p:cNvSpPr>
          <p:nvPr/>
        </p:nvSpPr>
        <p:spPr bwMode="auto">
          <a:xfrm>
            <a:off x="5365750" y="4076700"/>
            <a:ext cx="1511300" cy="376238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11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T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F.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1800" b="1" i="1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83429" name="Line 101"/>
          <p:cNvSpPr>
            <a:spLocks noChangeShapeType="1"/>
          </p:cNvSpPr>
          <p:nvPr/>
        </p:nvSpPr>
        <p:spPr bwMode="auto">
          <a:xfrm>
            <a:off x="2195513" y="4221163"/>
            <a:ext cx="647700" cy="1223962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83430" name="Rectangle 102"/>
          <p:cNvSpPr>
            <a:spLocks noChangeArrowheads="1"/>
          </p:cNvSpPr>
          <p:nvPr/>
        </p:nvSpPr>
        <p:spPr bwMode="auto">
          <a:xfrm>
            <a:off x="2195513" y="4141788"/>
            <a:ext cx="287337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T</a:t>
            </a:r>
          </a:p>
        </p:txBody>
      </p:sp>
      <p:sp>
        <p:nvSpPr>
          <p:cNvPr id="483431" name="Rectangle 103"/>
          <p:cNvSpPr>
            <a:spLocks noChangeArrowheads="1"/>
          </p:cNvSpPr>
          <p:nvPr/>
        </p:nvSpPr>
        <p:spPr bwMode="auto">
          <a:xfrm>
            <a:off x="2411413" y="2630488"/>
            <a:ext cx="287337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(</a:t>
            </a:r>
          </a:p>
        </p:txBody>
      </p:sp>
      <p:sp>
        <p:nvSpPr>
          <p:cNvPr id="483432" name="Line 104"/>
          <p:cNvSpPr>
            <a:spLocks noChangeShapeType="1"/>
          </p:cNvSpPr>
          <p:nvPr/>
        </p:nvSpPr>
        <p:spPr bwMode="auto">
          <a:xfrm>
            <a:off x="1620838" y="4581525"/>
            <a:ext cx="0" cy="503238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83433" name="Rectangle 105"/>
          <p:cNvSpPr>
            <a:spLocks noChangeArrowheads="1"/>
          </p:cNvSpPr>
          <p:nvPr/>
        </p:nvSpPr>
        <p:spPr bwMode="auto">
          <a:xfrm>
            <a:off x="1547813" y="4646613"/>
            <a:ext cx="287337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F</a:t>
            </a:r>
          </a:p>
        </p:txBody>
      </p:sp>
      <p:sp>
        <p:nvSpPr>
          <p:cNvPr id="483434" name="Line 106"/>
          <p:cNvSpPr>
            <a:spLocks noChangeShapeType="1"/>
          </p:cNvSpPr>
          <p:nvPr/>
        </p:nvSpPr>
        <p:spPr bwMode="auto">
          <a:xfrm>
            <a:off x="1044575" y="4581525"/>
            <a:ext cx="0" cy="1152525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83435" name="Rectangle 107"/>
          <p:cNvSpPr>
            <a:spLocks noChangeArrowheads="1"/>
          </p:cNvSpPr>
          <p:nvPr/>
        </p:nvSpPr>
        <p:spPr bwMode="auto">
          <a:xfrm>
            <a:off x="971550" y="4646613"/>
            <a:ext cx="287338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v</a:t>
            </a:r>
          </a:p>
        </p:txBody>
      </p:sp>
      <p:sp>
        <p:nvSpPr>
          <p:cNvPr id="483436" name="Line 108"/>
          <p:cNvSpPr>
            <a:spLocks noChangeShapeType="1"/>
          </p:cNvSpPr>
          <p:nvPr/>
        </p:nvSpPr>
        <p:spPr bwMode="auto">
          <a:xfrm>
            <a:off x="757238" y="4581525"/>
            <a:ext cx="0" cy="172720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83437" name="Rectangle 109"/>
          <p:cNvSpPr>
            <a:spLocks noChangeArrowheads="1"/>
          </p:cNvSpPr>
          <p:nvPr/>
        </p:nvSpPr>
        <p:spPr bwMode="auto">
          <a:xfrm>
            <a:off x="468313" y="4646613"/>
            <a:ext cx="287337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483438" name="Line 110"/>
          <p:cNvSpPr>
            <a:spLocks noChangeShapeType="1"/>
          </p:cNvSpPr>
          <p:nvPr/>
        </p:nvSpPr>
        <p:spPr bwMode="auto">
          <a:xfrm>
            <a:off x="4356100" y="5373688"/>
            <a:ext cx="503238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83439" name="Rectangle 111"/>
          <p:cNvSpPr>
            <a:spLocks noChangeArrowheads="1"/>
          </p:cNvSpPr>
          <p:nvPr/>
        </p:nvSpPr>
        <p:spPr bwMode="auto">
          <a:xfrm>
            <a:off x="4427538" y="5078413"/>
            <a:ext cx="254000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</a:t>
            </a:r>
          </a:p>
        </p:txBody>
      </p:sp>
      <p:sp>
        <p:nvSpPr>
          <p:cNvPr id="483440" name="Line 112"/>
          <p:cNvSpPr>
            <a:spLocks noChangeShapeType="1"/>
          </p:cNvSpPr>
          <p:nvPr/>
        </p:nvSpPr>
        <p:spPr bwMode="auto">
          <a:xfrm>
            <a:off x="4500563" y="2428875"/>
            <a:ext cx="935037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83441" name="Rectangle 113"/>
          <p:cNvSpPr>
            <a:spLocks noChangeArrowheads="1"/>
          </p:cNvSpPr>
          <p:nvPr/>
        </p:nvSpPr>
        <p:spPr bwMode="auto">
          <a:xfrm>
            <a:off x="4787900" y="2133600"/>
            <a:ext cx="360363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E</a:t>
            </a:r>
          </a:p>
        </p:txBody>
      </p:sp>
      <p:sp>
        <p:nvSpPr>
          <p:cNvPr id="483443" name="Rectangle 115"/>
          <p:cNvSpPr>
            <a:spLocks noChangeArrowheads="1"/>
          </p:cNvSpPr>
          <p:nvPr/>
        </p:nvSpPr>
        <p:spPr bwMode="auto">
          <a:xfrm>
            <a:off x="5148263" y="2565400"/>
            <a:ext cx="360362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I</a:t>
            </a:r>
            <a:r>
              <a:rPr lang="en-US" altLang="zh-CN" sz="1800" b="1" baseline="-25000">
                <a:sym typeface="Symbol" panose="05050102010706020507" pitchFamily="18" charset="2"/>
              </a:rPr>
              <a:t>2</a:t>
            </a:r>
          </a:p>
        </p:txBody>
      </p:sp>
      <p:sp>
        <p:nvSpPr>
          <p:cNvPr id="483444" name="Line 116"/>
          <p:cNvSpPr>
            <a:spLocks noChangeShapeType="1"/>
          </p:cNvSpPr>
          <p:nvPr/>
        </p:nvSpPr>
        <p:spPr bwMode="auto">
          <a:xfrm>
            <a:off x="4500563" y="2781300"/>
            <a:ext cx="647700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83446" name="Rectangle 118"/>
          <p:cNvSpPr>
            <a:spLocks noChangeArrowheads="1"/>
          </p:cNvSpPr>
          <p:nvPr/>
        </p:nvSpPr>
        <p:spPr bwMode="auto">
          <a:xfrm>
            <a:off x="4643438" y="2492375"/>
            <a:ext cx="360362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T</a:t>
            </a:r>
          </a:p>
        </p:txBody>
      </p:sp>
      <p:sp>
        <p:nvSpPr>
          <p:cNvPr id="483447" name="Rectangle 119"/>
          <p:cNvSpPr>
            <a:spLocks noChangeArrowheads="1"/>
          </p:cNvSpPr>
          <p:nvPr/>
        </p:nvSpPr>
        <p:spPr bwMode="auto">
          <a:xfrm>
            <a:off x="5148263" y="2917825"/>
            <a:ext cx="360362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I</a:t>
            </a:r>
            <a:r>
              <a:rPr lang="en-US" altLang="zh-CN" sz="1800" b="1" baseline="-25000">
                <a:sym typeface="Symbol" panose="05050102010706020507" pitchFamily="18" charset="2"/>
              </a:rPr>
              <a:t>3</a:t>
            </a:r>
          </a:p>
        </p:txBody>
      </p:sp>
      <p:sp>
        <p:nvSpPr>
          <p:cNvPr id="483448" name="Line 120"/>
          <p:cNvSpPr>
            <a:spLocks noChangeShapeType="1"/>
          </p:cNvSpPr>
          <p:nvPr/>
        </p:nvSpPr>
        <p:spPr bwMode="auto">
          <a:xfrm>
            <a:off x="4500563" y="3133725"/>
            <a:ext cx="647700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83449" name="Rectangle 121"/>
          <p:cNvSpPr>
            <a:spLocks noChangeArrowheads="1"/>
          </p:cNvSpPr>
          <p:nvPr/>
        </p:nvSpPr>
        <p:spPr bwMode="auto">
          <a:xfrm>
            <a:off x="4643438" y="2844800"/>
            <a:ext cx="360362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F</a:t>
            </a:r>
          </a:p>
        </p:txBody>
      </p:sp>
      <p:sp>
        <p:nvSpPr>
          <p:cNvPr id="483450" name="Rectangle 122"/>
          <p:cNvSpPr>
            <a:spLocks noChangeArrowheads="1"/>
          </p:cNvSpPr>
          <p:nvPr/>
        </p:nvSpPr>
        <p:spPr bwMode="auto">
          <a:xfrm>
            <a:off x="5148263" y="3278188"/>
            <a:ext cx="360362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I</a:t>
            </a:r>
            <a:r>
              <a:rPr lang="en-US" altLang="zh-CN" sz="1800" b="1" baseline="-25000">
                <a:sym typeface="Symbol" panose="05050102010706020507" pitchFamily="18" charset="2"/>
              </a:rPr>
              <a:t>5</a:t>
            </a:r>
          </a:p>
        </p:txBody>
      </p:sp>
      <p:sp>
        <p:nvSpPr>
          <p:cNvPr id="483451" name="Line 123"/>
          <p:cNvSpPr>
            <a:spLocks noChangeShapeType="1"/>
          </p:cNvSpPr>
          <p:nvPr/>
        </p:nvSpPr>
        <p:spPr bwMode="auto">
          <a:xfrm>
            <a:off x="4500563" y="3494088"/>
            <a:ext cx="647700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83452" name="Rectangle 124"/>
          <p:cNvSpPr>
            <a:spLocks noChangeArrowheads="1"/>
          </p:cNvSpPr>
          <p:nvPr/>
        </p:nvSpPr>
        <p:spPr bwMode="auto">
          <a:xfrm>
            <a:off x="4643438" y="3205163"/>
            <a:ext cx="360362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v</a:t>
            </a:r>
          </a:p>
        </p:txBody>
      </p:sp>
      <p:sp>
        <p:nvSpPr>
          <p:cNvPr id="483453" name="Rectangle 125"/>
          <p:cNvSpPr>
            <a:spLocks noChangeArrowheads="1"/>
          </p:cNvSpPr>
          <p:nvPr/>
        </p:nvSpPr>
        <p:spPr bwMode="auto">
          <a:xfrm>
            <a:off x="5148263" y="3638550"/>
            <a:ext cx="360362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I</a:t>
            </a:r>
            <a:r>
              <a:rPr lang="en-US" altLang="zh-CN" sz="1800" b="1" baseline="-25000">
                <a:sym typeface="Symbol" panose="05050102010706020507" pitchFamily="18" charset="2"/>
              </a:rPr>
              <a:t>6</a:t>
            </a:r>
          </a:p>
        </p:txBody>
      </p:sp>
      <p:sp>
        <p:nvSpPr>
          <p:cNvPr id="483454" name="Line 126"/>
          <p:cNvSpPr>
            <a:spLocks noChangeShapeType="1"/>
          </p:cNvSpPr>
          <p:nvPr/>
        </p:nvSpPr>
        <p:spPr bwMode="auto">
          <a:xfrm>
            <a:off x="4500563" y="3854450"/>
            <a:ext cx="647700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83455" name="Rectangle 127"/>
          <p:cNvSpPr>
            <a:spLocks noChangeArrowheads="1"/>
          </p:cNvSpPr>
          <p:nvPr/>
        </p:nvSpPr>
        <p:spPr bwMode="auto">
          <a:xfrm>
            <a:off x="4643438" y="3565525"/>
            <a:ext cx="360362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483456" name="Rectangle 128"/>
          <p:cNvSpPr>
            <a:spLocks noChangeArrowheads="1"/>
          </p:cNvSpPr>
          <p:nvPr/>
        </p:nvSpPr>
        <p:spPr bwMode="auto">
          <a:xfrm>
            <a:off x="5722938" y="2852738"/>
            <a:ext cx="288925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483457" name="Line 129"/>
          <p:cNvSpPr>
            <a:spLocks noChangeShapeType="1"/>
          </p:cNvSpPr>
          <p:nvPr/>
        </p:nvSpPr>
        <p:spPr bwMode="auto">
          <a:xfrm>
            <a:off x="6156325" y="2852738"/>
            <a:ext cx="0" cy="288925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83458" name="Rectangle 130"/>
          <p:cNvSpPr>
            <a:spLocks noChangeArrowheads="1"/>
          </p:cNvSpPr>
          <p:nvPr/>
        </p:nvSpPr>
        <p:spPr bwMode="auto">
          <a:xfrm>
            <a:off x="6804025" y="2924175"/>
            <a:ext cx="360363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I</a:t>
            </a:r>
            <a:r>
              <a:rPr lang="en-US" altLang="zh-CN" sz="1800" b="1" baseline="-25000">
                <a:sym typeface="Symbol" panose="05050102010706020507" pitchFamily="18" charset="2"/>
              </a:rPr>
              <a:t>7</a:t>
            </a:r>
          </a:p>
        </p:txBody>
      </p:sp>
      <p:sp>
        <p:nvSpPr>
          <p:cNvPr id="483459" name="Line 131"/>
          <p:cNvSpPr>
            <a:spLocks noChangeShapeType="1"/>
          </p:cNvSpPr>
          <p:nvPr/>
        </p:nvSpPr>
        <p:spPr bwMode="auto">
          <a:xfrm>
            <a:off x="6156325" y="3141663"/>
            <a:ext cx="647700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83460" name="Rectangle 132"/>
          <p:cNvSpPr>
            <a:spLocks noChangeArrowheads="1"/>
          </p:cNvSpPr>
          <p:nvPr/>
        </p:nvSpPr>
        <p:spPr bwMode="auto">
          <a:xfrm>
            <a:off x="6299200" y="2852738"/>
            <a:ext cx="360363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+</a:t>
            </a:r>
          </a:p>
        </p:txBody>
      </p:sp>
      <p:sp>
        <p:nvSpPr>
          <p:cNvPr id="483461" name="Line 133"/>
          <p:cNvSpPr>
            <a:spLocks noChangeShapeType="1"/>
          </p:cNvSpPr>
          <p:nvPr/>
        </p:nvSpPr>
        <p:spPr bwMode="auto">
          <a:xfrm flipH="1">
            <a:off x="5157788" y="4221163"/>
            <a:ext cx="206375" cy="360362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head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83462" name="Rectangle 134"/>
          <p:cNvSpPr>
            <a:spLocks noChangeArrowheads="1"/>
          </p:cNvSpPr>
          <p:nvPr/>
        </p:nvSpPr>
        <p:spPr bwMode="auto">
          <a:xfrm>
            <a:off x="4932363" y="4221163"/>
            <a:ext cx="288925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F</a:t>
            </a:r>
          </a:p>
        </p:txBody>
      </p:sp>
      <p:sp>
        <p:nvSpPr>
          <p:cNvPr id="483463" name="Line 135"/>
          <p:cNvSpPr>
            <a:spLocks noChangeShapeType="1"/>
          </p:cNvSpPr>
          <p:nvPr/>
        </p:nvSpPr>
        <p:spPr bwMode="auto">
          <a:xfrm>
            <a:off x="5080000" y="5872163"/>
            <a:ext cx="0" cy="365125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83464" name="Rectangle 136"/>
          <p:cNvSpPr>
            <a:spLocks noChangeArrowheads="1"/>
          </p:cNvSpPr>
          <p:nvPr/>
        </p:nvSpPr>
        <p:spPr bwMode="auto">
          <a:xfrm>
            <a:off x="5075238" y="5870575"/>
            <a:ext cx="288925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(</a:t>
            </a:r>
          </a:p>
        </p:txBody>
      </p:sp>
      <p:sp>
        <p:nvSpPr>
          <p:cNvPr id="483469" name="Rectangle 141"/>
          <p:cNvSpPr>
            <a:spLocks noChangeArrowheads="1"/>
          </p:cNvSpPr>
          <p:nvPr/>
        </p:nvSpPr>
        <p:spPr bwMode="auto">
          <a:xfrm>
            <a:off x="4932363" y="6165850"/>
            <a:ext cx="360362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I</a:t>
            </a:r>
            <a:r>
              <a:rPr lang="en-US" altLang="zh-CN" sz="1800" b="1" baseline="-25000">
                <a:sym typeface="Symbol" panose="05050102010706020507" pitchFamily="18" charset="2"/>
              </a:rPr>
              <a:t>4</a:t>
            </a:r>
          </a:p>
        </p:txBody>
      </p:sp>
      <p:sp>
        <p:nvSpPr>
          <p:cNvPr id="483470" name="Line 142"/>
          <p:cNvSpPr>
            <a:spLocks noChangeShapeType="1"/>
          </p:cNvSpPr>
          <p:nvPr/>
        </p:nvSpPr>
        <p:spPr bwMode="auto">
          <a:xfrm>
            <a:off x="5511800" y="5872163"/>
            <a:ext cx="0" cy="365125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83471" name="Rectangle 143"/>
          <p:cNvSpPr>
            <a:spLocks noChangeArrowheads="1"/>
          </p:cNvSpPr>
          <p:nvPr/>
        </p:nvSpPr>
        <p:spPr bwMode="auto">
          <a:xfrm>
            <a:off x="5435600" y="5870575"/>
            <a:ext cx="288925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v</a:t>
            </a:r>
          </a:p>
        </p:txBody>
      </p:sp>
      <p:sp>
        <p:nvSpPr>
          <p:cNvPr id="483472" name="Rectangle 144"/>
          <p:cNvSpPr>
            <a:spLocks noChangeArrowheads="1"/>
          </p:cNvSpPr>
          <p:nvPr/>
        </p:nvSpPr>
        <p:spPr bwMode="auto">
          <a:xfrm>
            <a:off x="5364163" y="6165850"/>
            <a:ext cx="360362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I</a:t>
            </a:r>
            <a:r>
              <a:rPr lang="en-US" altLang="zh-CN" sz="1800" b="1" baseline="-25000">
                <a:sym typeface="Symbol" panose="05050102010706020507" pitchFamily="18" charset="2"/>
              </a:rPr>
              <a:t>5</a:t>
            </a:r>
          </a:p>
        </p:txBody>
      </p:sp>
      <p:sp>
        <p:nvSpPr>
          <p:cNvPr id="483473" name="Line 145"/>
          <p:cNvSpPr>
            <a:spLocks noChangeShapeType="1"/>
          </p:cNvSpPr>
          <p:nvPr/>
        </p:nvSpPr>
        <p:spPr bwMode="auto">
          <a:xfrm>
            <a:off x="5943600" y="5872163"/>
            <a:ext cx="0" cy="365125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83474" name="Rectangle 146"/>
          <p:cNvSpPr>
            <a:spLocks noChangeArrowheads="1"/>
          </p:cNvSpPr>
          <p:nvPr/>
        </p:nvSpPr>
        <p:spPr bwMode="auto">
          <a:xfrm>
            <a:off x="5867400" y="5870575"/>
            <a:ext cx="288925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483475" name="Rectangle 147"/>
          <p:cNvSpPr>
            <a:spLocks noChangeArrowheads="1"/>
          </p:cNvSpPr>
          <p:nvPr/>
        </p:nvSpPr>
        <p:spPr bwMode="auto">
          <a:xfrm>
            <a:off x="5795963" y="6165850"/>
            <a:ext cx="360362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I</a:t>
            </a:r>
            <a:r>
              <a:rPr lang="en-US" altLang="zh-CN" sz="1800" b="1" baseline="-25000">
                <a:sym typeface="Symbol" panose="05050102010706020507" pitchFamily="18" charset="2"/>
              </a:rPr>
              <a:t>6</a:t>
            </a:r>
          </a:p>
        </p:txBody>
      </p:sp>
      <p:sp>
        <p:nvSpPr>
          <p:cNvPr id="483476" name="Line 148"/>
          <p:cNvSpPr>
            <a:spLocks noChangeShapeType="1"/>
          </p:cNvSpPr>
          <p:nvPr/>
        </p:nvSpPr>
        <p:spPr bwMode="auto">
          <a:xfrm flipH="1">
            <a:off x="7061200" y="4437063"/>
            <a:ext cx="247650" cy="43180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head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83477" name="Rectangle 149"/>
          <p:cNvSpPr>
            <a:spLocks noChangeArrowheads="1"/>
          </p:cNvSpPr>
          <p:nvPr/>
        </p:nvSpPr>
        <p:spPr bwMode="auto">
          <a:xfrm>
            <a:off x="6875463" y="4508500"/>
            <a:ext cx="288925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T</a:t>
            </a:r>
          </a:p>
        </p:txBody>
      </p:sp>
      <p:sp>
        <p:nvSpPr>
          <p:cNvPr id="483478" name="Rectangle 150"/>
          <p:cNvSpPr>
            <a:spLocks noChangeArrowheads="1"/>
          </p:cNvSpPr>
          <p:nvPr/>
        </p:nvSpPr>
        <p:spPr bwMode="auto">
          <a:xfrm>
            <a:off x="8748713" y="5302250"/>
            <a:ext cx="360362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I</a:t>
            </a:r>
            <a:r>
              <a:rPr lang="en-US" altLang="zh-CN" sz="1800" b="1" baseline="-25000">
                <a:sym typeface="Symbol" panose="05050102010706020507" pitchFamily="18" charset="2"/>
              </a:rPr>
              <a:t>3</a:t>
            </a:r>
          </a:p>
        </p:txBody>
      </p:sp>
      <p:sp>
        <p:nvSpPr>
          <p:cNvPr id="483479" name="Line 151"/>
          <p:cNvSpPr>
            <a:spLocks noChangeShapeType="1"/>
          </p:cNvSpPr>
          <p:nvPr/>
        </p:nvSpPr>
        <p:spPr bwMode="auto">
          <a:xfrm>
            <a:off x="8101013" y="5518150"/>
            <a:ext cx="647700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83480" name="Rectangle 152"/>
          <p:cNvSpPr>
            <a:spLocks noChangeArrowheads="1"/>
          </p:cNvSpPr>
          <p:nvPr/>
        </p:nvSpPr>
        <p:spPr bwMode="auto">
          <a:xfrm>
            <a:off x="8243888" y="5229225"/>
            <a:ext cx="360362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F</a:t>
            </a:r>
          </a:p>
        </p:txBody>
      </p:sp>
      <p:sp>
        <p:nvSpPr>
          <p:cNvPr id="483481" name="Rectangle 153"/>
          <p:cNvSpPr>
            <a:spLocks noChangeArrowheads="1"/>
          </p:cNvSpPr>
          <p:nvPr/>
        </p:nvSpPr>
        <p:spPr bwMode="auto">
          <a:xfrm>
            <a:off x="8748713" y="5654675"/>
            <a:ext cx="360362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I</a:t>
            </a:r>
            <a:r>
              <a:rPr lang="en-US" altLang="zh-CN" sz="1800" b="1" baseline="-25000">
                <a:sym typeface="Symbol" panose="05050102010706020507" pitchFamily="18" charset="2"/>
              </a:rPr>
              <a:t>4</a:t>
            </a:r>
          </a:p>
        </p:txBody>
      </p:sp>
      <p:sp>
        <p:nvSpPr>
          <p:cNvPr id="483482" name="Line 154"/>
          <p:cNvSpPr>
            <a:spLocks noChangeShapeType="1"/>
          </p:cNvSpPr>
          <p:nvPr/>
        </p:nvSpPr>
        <p:spPr bwMode="auto">
          <a:xfrm>
            <a:off x="8101013" y="5870575"/>
            <a:ext cx="647700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83483" name="Rectangle 155"/>
          <p:cNvSpPr>
            <a:spLocks noChangeArrowheads="1"/>
          </p:cNvSpPr>
          <p:nvPr/>
        </p:nvSpPr>
        <p:spPr bwMode="auto">
          <a:xfrm>
            <a:off x="8243888" y="5518150"/>
            <a:ext cx="360362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(</a:t>
            </a:r>
          </a:p>
        </p:txBody>
      </p:sp>
      <p:sp>
        <p:nvSpPr>
          <p:cNvPr id="483484" name="Rectangle 156"/>
          <p:cNvSpPr>
            <a:spLocks noChangeArrowheads="1"/>
          </p:cNvSpPr>
          <p:nvPr/>
        </p:nvSpPr>
        <p:spPr bwMode="auto">
          <a:xfrm>
            <a:off x="8748713" y="6015038"/>
            <a:ext cx="360362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I</a:t>
            </a:r>
            <a:r>
              <a:rPr lang="en-US" altLang="zh-CN" sz="1800" b="1" baseline="-25000">
                <a:sym typeface="Symbol" panose="05050102010706020507" pitchFamily="18" charset="2"/>
              </a:rPr>
              <a:t>5</a:t>
            </a:r>
          </a:p>
        </p:txBody>
      </p:sp>
      <p:sp>
        <p:nvSpPr>
          <p:cNvPr id="483485" name="Line 157"/>
          <p:cNvSpPr>
            <a:spLocks noChangeShapeType="1"/>
          </p:cNvSpPr>
          <p:nvPr/>
        </p:nvSpPr>
        <p:spPr bwMode="auto">
          <a:xfrm>
            <a:off x="8101013" y="6230938"/>
            <a:ext cx="647700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83486" name="Rectangle 158"/>
          <p:cNvSpPr>
            <a:spLocks noChangeArrowheads="1"/>
          </p:cNvSpPr>
          <p:nvPr/>
        </p:nvSpPr>
        <p:spPr bwMode="auto">
          <a:xfrm>
            <a:off x="8243888" y="5942013"/>
            <a:ext cx="360362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v</a:t>
            </a:r>
          </a:p>
        </p:txBody>
      </p:sp>
      <p:sp>
        <p:nvSpPr>
          <p:cNvPr id="483487" name="Rectangle 159"/>
          <p:cNvSpPr>
            <a:spLocks noChangeArrowheads="1"/>
          </p:cNvSpPr>
          <p:nvPr/>
        </p:nvSpPr>
        <p:spPr bwMode="auto">
          <a:xfrm>
            <a:off x="8748713" y="6375400"/>
            <a:ext cx="360362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I</a:t>
            </a:r>
            <a:r>
              <a:rPr lang="en-US" altLang="zh-CN" sz="1800" b="1" baseline="-25000">
                <a:sym typeface="Symbol" panose="05050102010706020507" pitchFamily="18" charset="2"/>
              </a:rPr>
              <a:t>6</a:t>
            </a:r>
          </a:p>
        </p:txBody>
      </p:sp>
      <p:sp>
        <p:nvSpPr>
          <p:cNvPr id="483488" name="Line 160"/>
          <p:cNvSpPr>
            <a:spLocks noChangeShapeType="1"/>
          </p:cNvSpPr>
          <p:nvPr/>
        </p:nvSpPr>
        <p:spPr bwMode="auto">
          <a:xfrm>
            <a:off x="8101013" y="6591300"/>
            <a:ext cx="647700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83489" name="Rectangle 161"/>
          <p:cNvSpPr>
            <a:spLocks noChangeArrowheads="1"/>
          </p:cNvSpPr>
          <p:nvPr/>
        </p:nvSpPr>
        <p:spPr bwMode="auto">
          <a:xfrm>
            <a:off x="8243888" y="6302375"/>
            <a:ext cx="360362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483490" name="Line 162"/>
          <p:cNvSpPr>
            <a:spLocks noChangeShapeType="1"/>
          </p:cNvSpPr>
          <p:nvPr/>
        </p:nvSpPr>
        <p:spPr bwMode="auto">
          <a:xfrm>
            <a:off x="8535988" y="4583113"/>
            <a:ext cx="0" cy="365125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83492" name="Rectangle 164"/>
          <p:cNvSpPr>
            <a:spLocks noChangeArrowheads="1"/>
          </p:cNvSpPr>
          <p:nvPr/>
        </p:nvSpPr>
        <p:spPr bwMode="auto">
          <a:xfrm>
            <a:off x="8388350" y="4876800"/>
            <a:ext cx="360363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I</a:t>
            </a:r>
            <a:r>
              <a:rPr lang="en-US" altLang="zh-CN" sz="1800" b="1" baseline="-25000">
                <a:sym typeface="Symbol" panose="05050102010706020507" pitchFamily="18" charset="2"/>
              </a:rPr>
              <a:t>8</a:t>
            </a:r>
          </a:p>
        </p:txBody>
      </p:sp>
      <p:sp>
        <p:nvSpPr>
          <p:cNvPr id="483493" name="Rectangle 165"/>
          <p:cNvSpPr>
            <a:spLocks noChangeArrowheads="1"/>
          </p:cNvSpPr>
          <p:nvPr/>
        </p:nvSpPr>
        <p:spPr bwMode="auto">
          <a:xfrm>
            <a:off x="8494713" y="4575175"/>
            <a:ext cx="254000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</a:t>
            </a:r>
          </a:p>
        </p:txBody>
      </p:sp>
      <p:sp>
        <p:nvSpPr>
          <p:cNvPr id="483494" name="Text Box 166"/>
          <p:cNvSpPr txBox="1">
            <a:spLocks noChangeArrowheads="1"/>
          </p:cNvSpPr>
          <p:nvPr/>
        </p:nvSpPr>
        <p:spPr bwMode="auto">
          <a:xfrm>
            <a:off x="7092950" y="1125538"/>
            <a:ext cx="1979613" cy="2725737"/>
          </a:xfrm>
          <a:prstGeom prst="rect">
            <a:avLst/>
          </a:prstGeom>
          <a:noFill/>
          <a:ln w="9525" cap="rnd">
            <a:solidFill>
              <a:srgbClr val="990099"/>
            </a:solidFill>
            <a:prstDash val="sysDot"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zh-CN" altLang="en-US" sz="2000" b="1">
                <a:solidFill>
                  <a:srgbClr val="800080"/>
                </a:solidFill>
                <a:sym typeface="Symbol" panose="05050102010706020507" pitchFamily="18" charset="2"/>
              </a:rPr>
              <a:t>增广</a:t>
            </a:r>
            <a:r>
              <a:rPr kumimoji="0" lang="zh-CN" altLang="en-US" sz="2000" b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文法</a:t>
            </a:r>
            <a:r>
              <a:rPr kumimoji="0" lang="en-US" altLang="zh-CN" sz="20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G’ </a:t>
            </a:r>
            <a:r>
              <a:rPr kumimoji="0" lang="en-US" altLang="zh-CN" sz="20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kumimoji="0" lang="en-US" altLang="zh-CN" sz="20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kumimoji="0" lang="en-US" altLang="zh-CN" sz="20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]: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kumimoji="0" lang="en-US" altLang="zh-CN" sz="800">
              <a:solidFill>
                <a:srgbClr val="80008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(0)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S 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E</a:t>
            </a:r>
            <a:endParaRPr kumimoji="0" lang="en-US" altLang="zh-CN" sz="1800">
              <a:solidFill>
                <a:srgbClr val="80008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(1)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E + T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(2)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T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(3)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en-US" altLang="zh-CN" sz="1800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T 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F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(4)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(5)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( E 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(6)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v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(7)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d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3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83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83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83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83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83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83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83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83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83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83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483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483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483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483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83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83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483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483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483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483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483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483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483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483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483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483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483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483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483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483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483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483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483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483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483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483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483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483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483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483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483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500"/>
                                        <p:tgtEl>
                                          <p:spTgt spid="483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4" dur="500"/>
                                        <p:tgtEl>
                                          <p:spTgt spid="483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0"/>
                                        <p:tgtEl>
                                          <p:spTgt spid="483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0"/>
                                        <p:tgtEl>
                                          <p:spTgt spid="483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5" dur="500"/>
                                        <p:tgtEl>
                                          <p:spTgt spid="483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0" dur="500"/>
                                        <p:tgtEl>
                                          <p:spTgt spid="483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500"/>
                                        <p:tgtEl>
                                          <p:spTgt spid="483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500"/>
                                        <p:tgtEl>
                                          <p:spTgt spid="483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1" dur="500"/>
                                        <p:tgtEl>
                                          <p:spTgt spid="483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4" dur="500"/>
                                        <p:tgtEl>
                                          <p:spTgt spid="483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7" dur="500"/>
                                        <p:tgtEl>
                                          <p:spTgt spid="483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2" dur="500"/>
                                        <p:tgtEl>
                                          <p:spTgt spid="483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500"/>
                                        <p:tgtEl>
                                          <p:spTgt spid="483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0"/>
                                        <p:tgtEl>
                                          <p:spTgt spid="483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3" dur="500"/>
                                        <p:tgtEl>
                                          <p:spTgt spid="483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6" dur="500"/>
                                        <p:tgtEl>
                                          <p:spTgt spid="483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9" dur="500"/>
                                        <p:tgtEl>
                                          <p:spTgt spid="483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4" dur="500"/>
                                        <p:tgtEl>
                                          <p:spTgt spid="483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7" dur="500"/>
                                        <p:tgtEl>
                                          <p:spTgt spid="483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0" dur="500"/>
                                        <p:tgtEl>
                                          <p:spTgt spid="48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5" dur="500"/>
                                        <p:tgtEl>
                                          <p:spTgt spid="483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8" dur="500"/>
                                        <p:tgtEl>
                                          <p:spTgt spid="483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1" dur="500"/>
                                        <p:tgtEl>
                                          <p:spTgt spid="483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6" dur="500"/>
                                        <p:tgtEl>
                                          <p:spTgt spid="483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9" dur="500"/>
                                        <p:tgtEl>
                                          <p:spTgt spid="483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2" dur="500"/>
                                        <p:tgtEl>
                                          <p:spTgt spid="483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7" dur="500"/>
                                        <p:tgtEl>
                                          <p:spTgt spid="483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0" dur="500"/>
                                        <p:tgtEl>
                                          <p:spTgt spid="483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3" dur="500"/>
                                        <p:tgtEl>
                                          <p:spTgt spid="483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8" dur="500"/>
                                        <p:tgtEl>
                                          <p:spTgt spid="483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1" dur="500"/>
                                        <p:tgtEl>
                                          <p:spTgt spid="483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4" dur="500"/>
                                        <p:tgtEl>
                                          <p:spTgt spid="483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9" dur="500"/>
                                        <p:tgtEl>
                                          <p:spTgt spid="483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2" dur="500"/>
                                        <p:tgtEl>
                                          <p:spTgt spid="483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5" dur="500"/>
                                        <p:tgtEl>
                                          <p:spTgt spid="483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8" dur="500"/>
                                        <p:tgtEl>
                                          <p:spTgt spid="483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3" dur="500"/>
                                        <p:tgtEl>
                                          <p:spTgt spid="48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6" dur="500"/>
                                        <p:tgtEl>
                                          <p:spTgt spid="48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9" dur="500"/>
                                        <p:tgtEl>
                                          <p:spTgt spid="48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3376" grpId="0" animBg="1"/>
      <p:bldP spid="483378" grpId="0" animBg="1"/>
      <p:bldP spid="483379" grpId="0" animBg="1"/>
      <p:bldP spid="483380" grpId="0" animBg="1"/>
      <p:bldP spid="483390" grpId="0" animBg="1"/>
      <p:bldP spid="483395" grpId="0" animBg="1"/>
      <p:bldP spid="483396" grpId="0" animBg="1"/>
      <p:bldP spid="483398" grpId="0"/>
      <p:bldP spid="483404" grpId="0" animBg="1"/>
      <p:bldP spid="483405" grpId="0" animBg="1"/>
      <p:bldP spid="483406" grpId="0" animBg="1"/>
      <p:bldP spid="483407" grpId="0"/>
      <p:bldP spid="483408" grpId="0"/>
      <p:bldP spid="483409" grpId="0" animBg="1"/>
      <p:bldP spid="483420" grpId="0" animBg="1"/>
      <p:bldP spid="483421" grpId="0" animBg="1"/>
      <p:bldP spid="483422" grpId="0" animBg="1"/>
      <p:bldP spid="483423" grpId="0" animBg="1"/>
      <p:bldP spid="483424" grpId="0" animBg="1"/>
      <p:bldP spid="483425" grpId="0" animBg="1"/>
      <p:bldP spid="483426" grpId="0" animBg="1"/>
      <p:bldP spid="483427" grpId="0" animBg="1"/>
      <p:bldP spid="483428" grpId="0" animBg="1"/>
      <p:bldP spid="483429" grpId="0" animBg="1"/>
      <p:bldP spid="483430" grpId="0"/>
      <p:bldP spid="483431" grpId="0"/>
      <p:bldP spid="483432" grpId="0" animBg="1"/>
      <p:bldP spid="483433" grpId="0"/>
      <p:bldP spid="483434" grpId="0" animBg="1"/>
      <p:bldP spid="483435" grpId="0"/>
      <p:bldP spid="483436" grpId="0" animBg="1"/>
      <p:bldP spid="483437" grpId="0"/>
      <p:bldP spid="483438" grpId="0" animBg="1"/>
      <p:bldP spid="483439" grpId="0"/>
      <p:bldP spid="483440" grpId="0" animBg="1"/>
      <p:bldP spid="483441" grpId="0"/>
      <p:bldP spid="483443" grpId="0"/>
      <p:bldP spid="483444" grpId="0" animBg="1"/>
      <p:bldP spid="483446" grpId="0"/>
      <p:bldP spid="483447" grpId="0"/>
      <p:bldP spid="483448" grpId="0" animBg="1"/>
      <p:bldP spid="483449" grpId="0"/>
      <p:bldP spid="483450" grpId="0"/>
      <p:bldP spid="483451" grpId="0" animBg="1"/>
      <p:bldP spid="483452" grpId="0"/>
      <p:bldP spid="483453" grpId="0"/>
      <p:bldP spid="483454" grpId="0" animBg="1"/>
      <p:bldP spid="483455" grpId="0"/>
      <p:bldP spid="483456" grpId="0"/>
      <p:bldP spid="483457" grpId="0" animBg="1"/>
      <p:bldP spid="483458" grpId="0"/>
      <p:bldP spid="483459" grpId="0" animBg="1"/>
      <p:bldP spid="483460" grpId="0"/>
      <p:bldP spid="483461" grpId="0" animBg="1"/>
      <p:bldP spid="483462" grpId="0"/>
      <p:bldP spid="483463" grpId="0" animBg="1"/>
      <p:bldP spid="483464" grpId="0"/>
      <p:bldP spid="483469" grpId="0"/>
      <p:bldP spid="483470" grpId="0" animBg="1"/>
      <p:bldP spid="483471" grpId="0"/>
      <p:bldP spid="483472" grpId="0"/>
      <p:bldP spid="483473" grpId="0" animBg="1"/>
      <p:bldP spid="483474" grpId="0"/>
      <p:bldP spid="483475" grpId="0"/>
      <p:bldP spid="483476" grpId="0" animBg="1"/>
      <p:bldP spid="483477" grpId="0"/>
      <p:bldP spid="483478" grpId="0"/>
      <p:bldP spid="483479" grpId="0" animBg="1"/>
      <p:bldP spid="483480" grpId="0"/>
      <p:bldP spid="483481" grpId="0"/>
      <p:bldP spid="483482" grpId="0" animBg="1"/>
      <p:bldP spid="483483" grpId="0"/>
      <p:bldP spid="483484" grpId="0"/>
      <p:bldP spid="483485" grpId="0" animBg="1"/>
      <p:bldP spid="483486" grpId="0"/>
      <p:bldP spid="483487" grpId="0"/>
      <p:bldP spid="483488" grpId="0" animBg="1"/>
      <p:bldP spid="483489" grpId="0"/>
      <p:bldP spid="483490" grpId="0" animBg="1"/>
      <p:bldP spid="483492" grpId="0"/>
      <p:bldP spid="48349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644" name="Rectangle 36"/>
          <p:cNvSpPr>
            <a:spLocks noChangeArrowheads="1"/>
          </p:cNvSpPr>
          <p:nvPr/>
        </p:nvSpPr>
        <p:spPr bwMode="auto">
          <a:xfrm>
            <a:off x="36463" y="188913"/>
            <a:ext cx="3527425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SLR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452645" name="Text Box 37"/>
          <p:cNvSpPr txBox="1">
            <a:spLocks noChangeArrowheads="1"/>
          </p:cNvSpPr>
          <p:nvPr/>
        </p:nvSpPr>
        <p:spPr bwMode="auto">
          <a:xfrm>
            <a:off x="682625" y="1189038"/>
            <a:ext cx="6121400" cy="2012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 </a:t>
            </a:r>
            <a:r>
              <a:rPr lang="zh-CN" altLang="en-US" sz="3200" b="1">
                <a:solidFill>
                  <a:srgbClr val="800080"/>
                </a:solidFill>
              </a:rPr>
              <a:t>验证文法</a:t>
            </a:r>
            <a:r>
              <a:rPr kumimoji="0" lang="en-US" altLang="zh-CN" sz="3200" i="1">
                <a:solidFill>
                  <a:srgbClr val="800080"/>
                </a:solidFill>
                <a:sym typeface="Symbol" panose="05050102010706020507" pitchFamily="18" charset="2"/>
              </a:rPr>
              <a:t>G</a:t>
            </a:r>
            <a:r>
              <a:rPr lang="zh-CN" altLang="en-US" sz="3200" b="1">
                <a:solidFill>
                  <a:srgbClr val="800080"/>
                </a:solidFill>
              </a:rPr>
              <a:t>不是 </a:t>
            </a:r>
            <a:r>
              <a:rPr kumimoji="0" lang="en-US" altLang="zh-CN" sz="3200">
                <a:solidFill>
                  <a:srgbClr val="800080"/>
                </a:solidFill>
              </a:rPr>
              <a:t>LR</a:t>
            </a:r>
            <a:r>
              <a:rPr kumimoji="0" lang="zh-CN" altLang="en-US" sz="3200" b="1">
                <a:solidFill>
                  <a:srgbClr val="800080"/>
                </a:solidFill>
              </a:rPr>
              <a:t>（</a:t>
            </a:r>
            <a:r>
              <a:rPr kumimoji="0" lang="en-US" altLang="zh-CN" sz="3200">
                <a:solidFill>
                  <a:srgbClr val="800080"/>
                </a:solidFill>
              </a:rPr>
              <a:t>0</a:t>
            </a:r>
            <a:r>
              <a:rPr kumimoji="0" lang="zh-CN" altLang="en-US" sz="3200" b="1">
                <a:solidFill>
                  <a:srgbClr val="800080"/>
                </a:solidFill>
              </a:rPr>
              <a:t>）</a:t>
            </a:r>
            <a:r>
              <a:rPr lang="zh-CN" altLang="en-US" sz="3200" b="1">
                <a:solidFill>
                  <a:srgbClr val="800080"/>
                </a:solidFill>
              </a:rPr>
              <a:t>文法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zh-CN" altLang="en-US" sz="2800"/>
              <a:t> </a:t>
            </a:r>
            <a:r>
              <a:rPr kumimoji="0" lang="zh-CN" altLang="en-US" sz="2800" b="1"/>
              <a:t>从前一页</a:t>
            </a:r>
            <a:r>
              <a:rPr kumimoji="0" lang="zh-CN" altLang="en-US" sz="2800" b="1">
                <a:sym typeface="Symbol" panose="05050102010706020507" pitchFamily="18" charset="2"/>
              </a:rPr>
              <a:t>的 </a:t>
            </a:r>
            <a:r>
              <a:rPr lang="en-US" altLang="zh-CN" sz="2800"/>
              <a:t>LR</a:t>
            </a:r>
            <a:r>
              <a:rPr lang="zh-CN" altLang="en-US" sz="2800"/>
              <a:t>（</a:t>
            </a:r>
            <a:r>
              <a:rPr lang="en-US" altLang="zh-CN" sz="2800"/>
              <a:t>0</a:t>
            </a:r>
            <a:r>
              <a:rPr lang="zh-CN" altLang="en-US" sz="2800"/>
              <a:t>）</a:t>
            </a:r>
            <a:r>
              <a:rPr lang="en-US" altLang="zh-CN" sz="2800"/>
              <a:t>FSM </a:t>
            </a:r>
            <a:r>
              <a:rPr lang="zh-CN" altLang="en-US" sz="2800" b="1"/>
              <a:t>可以发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zh-CN" altLang="en-US" sz="2800" b="1"/>
              <a:t>   现如下两个状态（项目集）存在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zh-CN" altLang="en-US" sz="2800" b="1">
                <a:solidFill>
                  <a:srgbClr val="800080"/>
                </a:solidFill>
              </a:rPr>
              <a:t>   移进</a:t>
            </a:r>
            <a:r>
              <a:rPr lang="zh-CN" altLang="en-US" b="1">
                <a:solidFill>
                  <a:srgbClr val="800080"/>
                </a:solidFill>
                <a:sym typeface="Symbol" panose="05050102010706020507" pitchFamily="18" charset="2"/>
              </a:rPr>
              <a:t></a:t>
            </a:r>
            <a:r>
              <a:rPr lang="zh-CN" altLang="en-US" sz="2800" b="1">
                <a:solidFill>
                  <a:srgbClr val="800080"/>
                </a:solidFill>
              </a:rPr>
              <a:t>归约冲突</a:t>
            </a:r>
          </a:p>
        </p:txBody>
      </p:sp>
      <p:sp>
        <p:nvSpPr>
          <p:cNvPr id="452648" name="Text Box 40"/>
          <p:cNvSpPr txBox="1">
            <a:spLocks noChangeArrowheads="1"/>
          </p:cNvSpPr>
          <p:nvPr/>
        </p:nvSpPr>
        <p:spPr bwMode="auto">
          <a:xfrm>
            <a:off x="1547813" y="5657850"/>
            <a:ext cx="2232025" cy="831850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baseline="-25000"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S </a:t>
            </a: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b="1" i="1"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kumimoji="0" lang="en-US" altLang="zh-CN" b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     E </a:t>
            </a:r>
            <a:r>
              <a:rPr lang="en-US" altLang="zh-CN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lang="en-US" altLang="zh-CN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+ T </a:t>
            </a:r>
            <a:endParaRPr lang="en-US" altLang="zh-CN" i="1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52665" name="Text Box 57"/>
          <p:cNvSpPr txBox="1">
            <a:spLocks noChangeArrowheads="1"/>
          </p:cNvSpPr>
          <p:nvPr/>
        </p:nvSpPr>
        <p:spPr bwMode="auto">
          <a:xfrm>
            <a:off x="1547813" y="3460750"/>
            <a:ext cx="2232025" cy="831850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baseline="-25000"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b="1" i="1">
                <a:cs typeface="Times New Roman" panose="02020603050405020304" pitchFamily="18" charset="0"/>
                <a:sym typeface="Symbol" panose="05050102010706020507" pitchFamily="18" charset="2"/>
              </a:rPr>
              <a:t> .</a:t>
            </a:r>
            <a:endParaRPr kumimoji="0" lang="en-US" altLang="zh-CN" b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    T </a:t>
            </a:r>
            <a:r>
              <a:rPr lang="en-US" altLang="zh-CN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. </a:t>
            </a:r>
            <a:r>
              <a:rPr lang="en-US" altLang="zh-CN">
                <a:sym typeface="Symbol" panose="05050102010706020507" pitchFamily="18" charset="2"/>
              </a:rPr>
              <a:t> </a:t>
            </a:r>
            <a:r>
              <a:rPr lang="en-US" altLang="zh-CN" i="1">
                <a:ea typeface="华文行楷" pitchFamily="2" charset="-122"/>
                <a:sym typeface="Symbol" panose="05050102010706020507" pitchFamily="18" charset="2"/>
              </a:rPr>
              <a:t>F </a:t>
            </a:r>
          </a:p>
        </p:txBody>
      </p:sp>
      <p:sp>
        <p:nvSpPr>
          <p:cNvPr id="452668" name="Text Box 60"/>
          <p:cNvSpPr txBox="1">
            <a:spLocks noChangeArrowheads="1"/>
          </p:cNvSpPr>
          <p:nvPr/>
        </p:nvSpPr>
        <p:spPr bwMode="auto">
          <a:xfrm>
            <a:off x="4427538" y="3460750"/>
            <a:ext cx="2305050" cy="831850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baseline="-25000">
                <a:cs typeface="Times New Roman" panose="02020603050405020304" pitchFamily="18" charset="0"/>
                <a:sym typeface="Symbol" panose="05050102010706020507" pitchFamily="18" charset="2"/>
              </a:rPr>
              <a:t>10</a:t>
            </a:r>
            <a:r>
              <a:rPr kumimoji="0"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i="1">
                <a:ea typeface="华文行楷" pitchFamily="2" charset="-122"/>
                <a:sym typeface="Symbol" panose="05050102010706020507" pitchFamily="18" charset="2"/>
              </a:rPr>
              <a:t>E + T </a:t>
            </a:r>
            <a:r>
              <a:rPr lang="en-US" altLang="zh-CN" b="1" i="1">
                <a:ea typeface="华文行楷" pitchFamily="2" charset="-122"/>
                <a:sym typeface="Symbol" panose="05050102010706020507" pitchFamily="18" charset="2"/>
              </a:rPr>
              <a:t>.</a:t>
            </a:r>
            <a:r>
              <a:rPr lang="en-US" altLang="zh-CN" i="1">
                <a:ea typeface="华文行楷" pitchFamily="2" charset="-122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i="1">
                <a:sym typeface="Symbol" panose="05050102010706020507" pitchFamily="18" charset="2"/>
              </a:rPr>
              <a:t>      T </a:t>
            </a:r>
            <a:r>
              <a:rPr lang="en-US" altLang="zh-CN">
                <a:sym typeface="Symbol" panose="05050102010706020507" pitchFamily="18" charset="2"/>
              </a:rPr>
              <a:t> </a:t>
            </a:r>
            <a:r>
              <a:rPr lang="en-US" altLang="zh-CN" i="1">
                <a:sym typeface="Symbol" panose="05050102010706020507" pitchFamily="18" charset="2"/>
              </a:rPr>
              <a:t>T </a:t>
            </a:r>
            <a:r>
              <a:rPr lang="en-US" altLang="zh-CN" b="1" i="1">
                <a:sym typeface="Symbol" panose="05050102010706020507" pitchFamily="18" charset="2"/>
              </a:rPr>
              <a:t>. </a:t>
            </a:r>
            <a:r>
              <a:rPr lang="en-US" altLang="zh-CN">
                <a:sym typeface="Symbol" panose="05050102010706020507" pitchFamily="18" charset="2"/>
              </a:rPr>
              <a:t> </a:t>
            </a:r>
            <a:r>
              <a:rPr lang="en-US" altLang="zh-CN" i="1">
                <a:sym typeface="Symbol" panose="05050102010706020507" pitchFamily="18" charset="2"/>
              </a:rPr>
              <a:t>F</a:t>
            </a:r>
            <a:r>
              <a:rPr lang="en-US" altLang="zh-CN" i="1">
                <a:ea typeface="华文行楷" pitchFamily="2" charset="-122"/>
                <a:sym typeface="Symbol" panose="05050102010706020507" pitchFamily="18" charset="2"/>
              </a:rPr>
              <a:t> </a:t>
            </a:r>
            <a:endParaRPr lang="en-US" altLang="zh-CN" i="1">
              <a:sym typeface="Symbol" panose="05050102010706020507" pitchFamily="18" charset="2"/>
            </a:endParaRPr>
          </a:p>
        </p:txBody>
      </p:sp>
      <p:sp>
        <p:nvSpPr>
          <p:cNvPr id="452728" name="Text Box 120"/>
          <p:cNvSpPr txBox="1">
            <a:spLocks noChangeArrowheads="1"/>
          </p:cNvSpPr>
          <p:nvPr/>
        </p:nvSpPr>
        <p:spPr bwMode="auto">
          <a:xfrm>
            <a:off x="1116013" y="4503738"/>
            <a:ext cx="7559675" cy="9461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Symbol" panose="05050102010706020507" pitchFamily="18" charset="2"/>
              <a:buChar char="-"/>
            </a:pPr>
            <a:r>
              <a:rPr kumimoji="0" lang="en-US" altLang="zh-CN" sz="2800" b="1"/>
              <a:t> </a:t>
            </a:r>
            <a:r>
              <a:rPr kumimoji="0" lang="zh-CN" altLang="en-US" sz="2800" b="1"/>
              <a:t>注意：由于 </a:t>
            </a:r>
            <a:r>
              <a:rPr lang="en-US" altLang="zh-CN" i="1" u="sng">
                <a:sym typeface="Symbol" panose="05050102010706020507" pitchFamily="18" charset="2"/>
              </a:rPr>
              <a:t>S </a:t>
            </a:r>
            <a:r>
              <a:rPr lang="en-US" altLang="zh-CN" u="sng">
                <a:sym typeface="Symbol" panose="05050102010706020507" pitchFamily="18" charset="2"/>
              </a:rPr>
              <a:t> </a:t>
            </a:r>
            <a:r>
              <a:rPr lang="en-US" altLang="zh-CN" i="1" u="sng">
                <a:sym typeface="Symbol" panose="05050102010706020507" pitchFamily="18" charset="2"/>
              </a:rPr>
              <a:t>E </a:t>
            </a:r>
            <a:r>
              <a:rPr lang="en-US" altLang="zh-CN" b="1" i="1" u="sng">
                <a:sym typeface="Symbol" panose="05050102010706020507" pitchFamily="18" charset="2"/>
              </a:rPr>
              <a:t>.</a:t>
            </a:r>
            <a:r>
              <a:rPr lang="en-US" altLang="zh-CN" b="1" i="1">
                <a:sym typeface="Symbol" panose="05050102010706020507" pitchFamily="18" charset="2"/>
              </a:rPr>
              <a:t> </a:t>
            </a:r>
            <a:r>
              <a:rPr kumimoji="0" lang="zh-CN" altLang="en-US" sz="2800" b="1"/>
              <a:t>是</a:t>
            </a:r>
            <a:r>
              <a:rPr lang="zh-CN" altLang="en-US" sz="2800" b="1"/>
              <a:t>接受项目，所以如下</a:t>
            </a:r>
          </a:p>
          <a:p>
            <a:pPr>
              <a:buFont typeface="Symbol" panose="05050102010706020507" pitchFamily="18" charset="2"/>
              <a:buNone/>
            </a:pPr>
            <a:r>
              <a:rPr lang="zh-CN" altLang="en-US" sz="2800" b="1"/>
              <a:t>   状态不存在冲突</a:t>
            </a:r>
          </a:p>
        </p:txBody>
      </p:sp>
      <p:sp>
        <p:nvSpPr>
          <p:cNvPr id="452729" name="AutoShape 12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2730" name="AutoShape 12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2731" name="AutoShape 123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2732" name="AutoShape 12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2733" name="Text Box 125"/>
          <p:cNvSpPr txBox="1">
            <a:spLocks noChangeArrowheads="1"/>
          </p:cNvSpPr>
          <p:nvPr/>
        </p:nvSpPr>
        <p:spPr bwMode="auto">
          <a:xfrm>
            <a:off x="7092950" y="1341438"/>
            <a:ext cx="1979613" cy="2725737"/>
          </a:xfrm>
          <a:prstGeom prst="rect">
            <a:avLst/>
          </a:prstGeom>
          <a:noFill/>
          <a:ln w="9525" cap="rnd">
            <a:solidFill>
              <a:srgbClr val="990099"/>
            </a:solidFill>
            <a:prstDash val="sysDot"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zh-CN" altLang="en-US" sz="2000" b="1">
                <a:solidFill>
                  <a:srgbClr val="800080"/>
                </a:solidFill>
                <a:sym typeface="Symbol" panose="05050102010706020507" pitchFamily="18" charset="2"/>
              </a:rPr>
              <a:t>增广</a:t>
            </a:r>
            <a:r>
              <a:rPr kumimoji="0" lang="zh-CN" altLang="en-US" sz="2000" b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文法</a:t>
            </a:r>
            <a:r>
              <a:rPr kumimoji="0" lang="en-US" altLang="zh-CN" sz="20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G’ </a:t>
            </a:r>
            <a:r>
              <a:rPr kumimoji="0" lang="en-US" altLang="zh-CN" sz="20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kumimoji="0" lang="en-US" altLang="zh-CN" sz="20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kumimoji="0" lang="en-US" altLang="zh-CN" sz="20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]: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kumimoji="0" lang="en-US" altLang="zh-CN" sz="800">
              <a:solidFill>
                <a:srgbClr val="80008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(0)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S 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E</a:t>
            </a:r>
            <a:endParaRPr kumimoji="0" lang="en-US" altLang="zh-CN" sz="1800">
              <a:solidFill>
                <a:srgbClr val="80008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(1)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E + T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(2)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T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(3)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en-US" altLang="zh-CN" sz="1800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T 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F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(4)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(5)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( E 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(6)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v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(7)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d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2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52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2648" grpId="0" animBg="1"/>
      <p:bldP spid="452728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80" name="Rectangle 28"/>
          <p:cNvSpPr>
            <a:spLocks noChangeArrowheads="1"/>
          </p:cNvSpPr>
          <p:nvPr/>
        </p:nvSpPr>
        <p:spPr bwMode="auto">
          <a:xfrm>
            <a:off x="35496" y="188913"/>
            <a:ext cx="3527425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SLR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484381" name="Text Box 29"/>
          <p:cNvSpPr txBox="1">
            <a:spLocks noChangeArrowheads="1"/>
          </p:cNvSpPr>
          <p:nvPr/>
        </p:nvSpPr>
        <p:spPr bwMode="auto">
          <a:xfrm>
            <a:off x="682625" y="1350963"/>
            <a:ext cx="6121400" cy="38735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 </a:t>
            </a:r>
            <a:r>
              <a:rPr kumimoji="0" lang="zh-CN" altLang="en-US" sz="3200" b="1">
                <a:solidFill>
                  <a:srgbClr val="800080"/>
                </a:solidFill>
              </a:rPr>
              <a:t>向前查看一个符号</a:t>
            </a:r>
            <a:r>
              <a:rPr kumimoji="0" lang="zh-CN" altLang="en-US" sz="3200" b="1"/>
              <a:t>可</a:t>
            </a:r>
            <a:r>
              <a:rPr kumimoji="0" lang="zh-CN" altLang="en-US" sz="3200" b="1">
                <a:solidFill>
                  <a:srgbClr val="800080"/>
                </a:solidFill>
              </a:rPr>
              <a:t>解决冲突</a:t>
            </a:r>
            <a:endParaRPr lang="zh-CN" altLang="en-US" sz="3200" b="1">
              <a:solidFill>
                <a:srgbClr val="800080"/>
              </a:solidFill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zh-CN" altLang="en-US" sz="2800"/>
              <a:t> </a:t>
            </a:r>
            <a:r>
              <a:rPr kumimoji="0" lang="zh-CN" altLang="en-US" sz="2800" b="1"/>
              <a:t>文法 </a:t>
            </a:r>
            <a:r>
              <a:rPr lang="en-US" altLang="zh-CN" sz="2800" i="1"/>
              <a:t>G’</a:t>
            </a:r>
            <a:r>
              <a:rPr lang="en-US" altLang="zh-CN" sz="2800"/>
              <a:t> </a:t>
            </a:r>
            <a:r>
              <a:rPr lang="zh-CN" altLang="en-US" sz="2800" b="1"/>
              <a:t>中， </a:t>
            </a:r>
            <a:r>
              <a:rPr lang="en-US" altLang="zh-CN" sz="2800"/>
              <a:t>Follow(</a:t>
            </a:r>
            <a:r>
              <a:rPr lang="en-US" altLang="zh-CN" sz="2800" i="1"/>
              <a:t>E</a:t>
            </a:r>
            <a:r>
              <a:rPr lang="en-US" altLang="zh-CN" sz="2800">
                <a:sym typeface="Symbol" panose="05050102010706020507" pitchFamily="18" charset="2"/>
              </a:rPr>
              <a:t>) = { </a:t>
            </a:r>
            <a:r>
              <a:rPr lang="en-US" altLang="zh-CN" i="1">
                <a:sym typeface="Symbol" panose="05050102010706020507" pitchFamily="18" charset="2"/>
              </a:rPr>
              <a:t>+</a:t>
            </a:r>
            <a:r>
              <a:rPr lang="en-US" altLang="zh-CN" sz="2800">
                <a:sym typeface="Symbol" panose="05050102010706020507" pitchFamily="18" charset="2"/>
              </a:rPr>
              <a:t>, </a:t>
            </a:r>
            <a:r>
              <a:rPr lang="en-US" altLang="zh-CN" i="1">
                <a:sym typeface="Symbol" panose="05050102010706020507" pitchFamily="18" charset="2"/>
              </a:rPr>
              <a:t>)</a:t>
            </a:r>
            <a:r>
              <a:rPr lang="en-US" altLang="zh-CN" sz="2800">
                <a:sym typeface="Symbol" panose="05050102010706020507" pitchFamily="18" charset="2"/>
              </a:rPr>
              <a:t>,</a:t>
            </a:r>
            <a:r>
              <a:rPr lang="en-US" altLang="zh-CN" sz="2800" i="1">
                <a:sym typeface="Symbol" panose="05050102010706020507" pitchFamily="18" charset="2"/>
              </a:rPr>
              <a:t># </a:t>
            </a:r>
            <a:r>
              <a:rPr lang="en-US" altLang="zh-CN" sz="2800">
                <a:sym typeface="Symbol" panose="05050102010706020507" pitchFamily="18" charset="2"/>
              </a:rPr>
              <a:t>}</a:t>
            </a:r>
          </a:p>
          <a:p>
            <a:pPr lvl="1">
              <a:buFont typeface="Symbol" panose="05050102010706020507" pitchFamily="18" charset="2"/>
              <a:buNone/>
            </a:pPr>
            <a:endParaRPr lang="en-US" altLang="zh-CN" sz="1000"/>
          </a:p>
          <a:p>
            <a:pPr lvl="1">
              <a:buFont typeface="Symbol" panose="05050102010706020507" pitchFamily="18" charset="2"/>
              <a:buNone/>
            </a:pPr>
            <a:r>
              <a:rPr lang="en-US" altLang="zh-CN" sz="2800" b="1"/>
              <a:t>   </a:t>
            </a:r>
            <a:r>
              <a:rPr lang="zh-CN" altLang="en-US" sz="2800" b="1"/>
              <a:t>在如下存在移进</a:t>
            </a:r>
            <a:r>
              <a:rPr lang="zh-CN" altLang="en-US" sz="2800" b="1">
                <a:sym typeface="Symbol" panose="05050102010706020507" pitchFamily="18" charset="2"/>
              </a:rPr>
              <a:t></a:t>
            </a:r>
            <a:r>
              <a:rPr lang="zh-CN" altLang="en-US" sz="2800" b="1"/>
              <a:t>归约冲突的状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zh-CN" altLang="en-US" sz="2800" b="1"/>
              <a:t>   态 </a:t>
            </a:r>
            <a:r>
              <a:rPr kumimoji="0" lang="en-US" altLang="zh-CN" sz="2800">
                <a:sym typeface="Symbol" panose="05050102010706020507" pitchFamily="18" charset="2"/>
              </a:rPr>
              <a:t>I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sym typeface="Symbol" panose="05050102010706020507" pitchFamily="18" charset="2"/>
              </a:rPr>
              <a:t> </a:t>
            </a:r>
            <a:r>
              <a:rPr lang="zh-CN" altLang="en-US" sz="2800" b="1"/>
              <a:t>和 </a:t>
            </a:r>
            <a:r>
              <a:rPr kumimoji="0" lang="en-US" altLang="zh-CN" sz="2800">
                <a:sym typeface="Symbol" panose="05050102010706020507" pitchFamily="18" charset="2"/>
              </a:rPr>
              <a:t>I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10</a:t>
            </a:r>
            <a:r>
              <a:rPr kumimoji="0" lang="en-US" altLang="zh-CN" sz="2800">
                <a:sym typeface="Symbol" panose="05050102010706020507" pitchFamily="18" charset="2"/>
              </a:rPr>
              <a:t> </a:t>
            </a:r>
            <a:r>
              <a:rPr lang="zh-CN" altLang="en-US" sz="2800" b="1"/>
              <a:t>中，可以根据下一个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zh-CN" altLang="en-US" sz="2800" b="1"/>
              <a:t>   输入符号是否属于 </a:t>
            </a:r>
            <a:r>
              <a:rPr lang="en-US" altLang="zh-CN" sz="2800"/>
              <a:t>Follow(</a:t>
            </a:r>
            <a:r>
              <a:rPr lang="en-US" altLang="zh-CN" sz="2800" i="1"/>
              <a:t>E</a:t>
            </a:r>
            <a:r>
              <a:rPr lang="en-US" altLang="zh-CN" sz="2800">
                <a:sym typeface="Symbol" panose="05050102010706020507" pitchFamily="18" charset="2"/>
              </a:rPr>
              <a:t>) </a:t>
            </a:r>
            <a:r>
              <a:rPr lang="zh-CN" altLang="en-US" sz="2800" b="1">
                <a:sym typeface="Symbol" panose="05050102010706020507" pitchFamily="18" charset="2"/>
              </a:rPr>
              <a:t>来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zh-CN" altLang="en-US" sz="2800" b="1">
                <a:sym typeface="Symbol" panose="05050102010706020507" pitchFamily="18" charset="2"/>
              </a:rPr>
              <a:t>   决定是否进行归约，同时</a:t>
            </a:r>
            <a:r>
              <a:rPr lang="zh-CN" altLang="en-US" sz="2800" b="1"/>
              <a:t>可以根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zh-CN" altLang="en-US" sz="2800" b="1"/>
              <a:t>   据下一个输入符号是否为 </a:t>
            </a:r>
            <a:r>
              <a:rPr lang="zh-CN" altLang="en-US" sz="2800">
                <a:sym typeface="Symbol" panose="05050102010706020507" pitchFamily="18" charset="2"/>
              </a:rPr>
              <a:t> </a:t>
            </a:r>
            <a:r>
              <a:rPr lang="zh-CN" altLang="en-US" sz="2800" b="1">
                <a:sym typeface="Symbol" panose="05050102010706020507" pitchFamily="18" charset="2"/>
              </a:rPr>
              <a:t>来决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zh-CN" altLang="en-US" sz="2800" b="1">
                <a:sym typeface="Symbol" panose="05050102010706020507" pitchFamily="18" charset="2"/>
              </a:rPr>
              <a:t>   定是否移进</a:t>
            </a:r>
            <a:endParaRPr lang="zh-CN" altLang="en-US" sz="2800" b="1"/>
          </a:p>
        </p:txBody>
      </p:sp>
      <p:sp>
        <p:nvSpPr>
          <p:cNvPr id="484382" name="Text Box 30"/>
          <p:cNvSpPr txBox="1">
            <a:spLocks noChangeArrowheads="1"/>
          </p:cNvSpPr>
          <p:nvPr/>
        </p:nvSpPr>
        <p:spPr bwMode="auto">
          <a:xfrm>
            <a:off x="7092950" y="1412875"/>
            <a:ext cx="1979613" cy="2725738"/>
          </a:xfrm>
          <a:prstGeom prst="rect">
            <a:avLst/>
          </a:prstGeom>
          <a:noFill/>
          <a:ln w="9525" cap="rnd">
            <a:solidFill>
              <a:srgbClr val="990099"/>
            </a:solidFill>
            <a:prstDash val="sysDot"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zh-CN" altLang="en-US" sz="2000" b="1">
                <a:solidFill>
                  <a:srgbClr val="800080"/>
                </a:solidFill>
                <a:sym typeface="Symbol" panose="05050102010706020507" pitchFamily="18" charset="2"/>
              </a:rPr>
              <a:t>增广</a:t>
            </a:r>
            <a:r>
              <a:rPr kumimoji="0" lang="zh-CN" altLang="en-US" sz="2000" b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文法</a:t>
            </a:r>
            <a:r>
              <a:rPr kumimoji="0" lang="en-US" altLang="zh-CN" sz="20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G’ </a:t>
            </a:r>
            <a:r>
              <a:rPr kumimoji="0" lang="en-US" altLang="zh-CN" sz="20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kumimoji="0" lang="en-US" altLang="zh-CN" sz="20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kumimoji="0" lang="en-US" altLang="zh-CN" sz="20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]: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kumimoji="0" lang="en-US" altLang="zh-CN" sz="800">
              <a:solidFill>
                <a:srgbClr val="80008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(0)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S 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E</a:t>
            </a:r>
            <a:endParaRPr kumimoji="0" lang="en-US" altLang="zh-CN" sz="1800">
              <a:solidFill>
                <a:srgbClr val="80008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(1)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E + T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(2)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T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(3)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en-US" altLang="zh-CN" sz="1800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T 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F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(4)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(5)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( E 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(6)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v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(7)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d</a:t>
            </a:r>
          </a:p>
        </p:txBody>
      </p:sp>
      <p:sp>
        <p:nvSpPr>
          <p:cNvPr id="484384" name="Text Box 32"/>
          <p:cNvSpPr txBox="1">
            <a:spLocks noChangeArrowheads="1"/>
          </p:cNvSpPr>
          <p:nvPr/>
        </p:nvSpPr>
        <p:spPr bwMode="auto">
          <a:xfrm>
            <a:off x="1547813" y="5476875"/>
            <a:ext cx="2232025" cy="831850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baseline="-25000"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b="1" i="1">
                <a:cs typeface="Times New Roman" panose="02020603050405020304" pitchFamily="18" charset="0"/>
                <a:sym typeface="Symbol" panose="05050102010706020507" pitchFamily="18" charset="2"/>
              </a:rPr>
              <a:t> .</a:t>
            </a:r>
            <a:endParaRPr kumimoji="0" lang="en-US" altLang="zh-CN" b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    T </a:t>
            </a:r>
            <a:r>
              <a:rPr lang="en-US" altLang="zh-CN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. </a:t>
            </a:r>
            <a:r>
              <a:rPr lang="en-US" altLang="zh-CN">
                <a:sym typeface="Symbol" panose="05050102010706020507" pitchFamily="18" charset="2"/>
              </a:rPr>
              <a:t> </a:t>
            </a:r>
            <a:r>
              <a:rPr lang="en-US" altLang="zh-CN" i="1">
                <a:ea typeface="华文行楷" pitchFamily="2" charset="-122"/>
                <a:sym typeface="Symbol" panose="05050102010706020507" pitchFamily="18" charset="2"/>
              </a:rPr>
              <a:t>F </a:t>
            </a:r>
          </a:p>
        </p:txBody>
      </p:sp>
      <p:sp>
        <p:nvSpPr>
          <p:cNvPr id="484385" name="Text Box 33"/>
          <p:cNvSpPr txBox="1">
            <a:spLocks noChangeArrowheads="1"/>
          </p:cNvSpPr>
          <p:nvPr/>
        </p:nvSpPr>
        <p:spPr bwMode="auto">
          <a:xfrm>
            <a:off x="4427538" y="5476875"/>
            <a:ext cx="2305050" cy="831850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baseline="-25000">
                <a:cs typeface="Times New Roman" panose="02020603050405020304" pitchFamily="18" charset="0"/>
                <a:sym typeface="Symbol" panose="05050102010706020507" pitchFamily="18" charset="2"/>
              </a:rPr>
              <a:t>10</a:t>
            </a:r>
            <a:r>
              <a:rPr kumimoji="0"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i="1">
                <a:ea typeface="华文行楷" pitchFamily="2" charset="-122"/>
                <a:sym typeface="Symbol" panose="05050102010706020507" pitchFamily="18" charset="2"/>
              </a:rPr>
              <a:t>E + T </a:t>
            </a:r>
            <a:r>
              <a:rPr lang="en-US" altLang="zh-CN" b="1" i="1">
                <a:ea typeface="华文行楷" pitchFamily="2" charset="-122"/>
                <a:sym typeface="Symbol" panose="05050102010706020507" pitchFamily="18" charset="2"/>
              </a:rPr>
              <a:t>.</a:t>
            </a:r>
            <a:r>
              <a:rPr lang="en-US" altLang="zh-CN" i="1">
                <a:ea typeface="华文行楷" pitchFamily="2" charset="-122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i="1">
                <a:sym typeface="Symbol" panose="05050102010706020507" pitchFamily="18" charset="2"/>
              </a:rPr>
              <a:t>    T </a:t>
            </a:r>
            <a:r>
              <a:rPr lang="en-US" altLang="zh-CN">
                <a:sym typeface="Symbol" panose="05050102010706020507" pitchFamily="18" charset="2"/>
              </a:rPr>
              <a:t> </a:t>
            </a:r>
            <a:r>
              <a:rPr lang="en-US" altLang="zh-CN" i="1">
                <a:sym typeface="Symbol" panose="05050102010706020507" pitchFamily="18" charset="2"/>
              </a:rPr>
              <a:t>T </a:t>
            </a:r>
            <a:r>
              <a:rPr lang="en-US" altLang="zh-CN" b="1" i="1">
                <a:sym typeface="Symbol" panose="05050102010706020507" pitchFamily="18" charset="2"/>
              </a:rPr>
              <a:t>. </a:t>
            </a:r>
            <a:r>
              <a:rPr lang="en-US" altLang="zh-CN">
                <a:sym typeface="Symbol" panose="05050102010706020507" pitchFamily="18" charset="2"/>
              </a:rPr>
              <a:t> </a:t>
            </a:r>
            <a:r>
              <a:rPr lang="en-US" altLang="zh-CN" i="1">
                <a:sym typeface="Symbol" panose="05050102010706020507" pitchFamily="18" charset="2"/>
              </a:rPr>
              <a:t>F</a:t>
            </a:r>
            <a:r>
              <a:rPr lang="en-US" altLang="zh-CN" i="1">
                <a:ea typeface="华文行楷" pitchFamily="2" charset="-122"/>
                <a:sym typeface="Symbol" panose="05050102010706020507" pitchFamily="18" charset="2"/>
              </a:rPr>
              <a:t> </a:t>
            </a:r>
            <a:endParaRPr lang="en-US" altLang="zh-CN" i="1">
              <a:sym typeface="Symbol" panose="05050102010706020507" pitchFamily="18" charset="2"/>
            </a:endParaRPr>
          </a:p>
        </p:txBody>
      </p:sp>
      <p:sp>
        <p:nvSpPr>
          <p:cNvPr id="484387" name="AutoShape 3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4388" name="AutoShape 3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4389" name="AutoShape 3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4390" name="AutoShape 3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403" name="Rectangle 27"/>
          <p:cNvSpPr>
            <a:spLocks noChangeArrowheads="1"/>
          </p:cNvSpPr>
          <p:nvPr/>
        </p:nvSpPr>
        <p:spPr bwMode="auto">
          <a:xfrm>
            <a:off x="35496" y="188913"/>
            <a:ext cx="3527425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SLR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485404" name="Text Box 28"/>
          <p:cNvSpPr txBox="1">
            <a:spLocks noChangeArrowheads="1"/>
          </p:cNvSpPr>
          <p:nvPr/>
        </p:nvSpPr>
        <p:spPr bwMode="auto">
          <a:xfrm>
            <a:off x="755650" y="1325563"/>
            <a:ext cx="7920038" cy="48402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 </a:t>
            </a:r>
            <a:r>
              <a:rPr kumimoji="0" lang="en-US" altLang="zh-CN" sz="3200">
                <a:solidFill>
                  <a:srgbClr val="800080"/>
                </a:solidFill>
              </a:rPr>
              <a:t>SLR</a:t>
            </a:r>
            <a:r>
              <a:rPr kumimoji="0" lang="zh-CN" altLang="en-US" sz="3200">
                <a:solidFill>
                  <a:srgbClr val="800080"/>
                </a:solidFill>
              </a:rPr>
              <a:t>（</a:t>
            </a:r>
            <a:r>
              <a:rPr kumimoji="0" lang="en-US" altLang="zh-CN" sz="3200">
                <a:solidFill>
                  <a:srgbClr val="800080"/>
                </a:solidFill>
              </a:rPr>
              <a:t>1</a:t>
            </a:r>
            <a:r>
              <a:rPr kumimoji="0" lang="zh-CN" altLang="en-US" sz="3200">
                <a:solidFill>
                  <a:srgbClr val="800080"/>
                </a:solidFill>
              </a:rPr>
              <a:t>）</a:t>
            </a:r>
            <a:r>
              <a:rPr kumimoji="0" lang="zh-CN" altLang="en-US" sz="3200" b="1">
                <a:solidFill>
                  <a:srgbClr val="800080"/>
                </a:solidFill>
              </a:rPr>
              <a:t>分析思想</a:t>
            </a:r>
            <a:endParaRPr lang="zh-CN" altLang="en-US" sz="3200" b="1">
              <a:solidFill>
                <a:srgbClr val="800080"/>
              </a:solidFill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zh-CN" altLang="en-US"/>
              <a:t> </a:t>
            </a:r>
            <a:r>
              <a:rPr kumimoji="0" lang="zh-CN" altLang="en-US" b="1"/>
              <a:t>向前查看一个符号</a:t>
            </a:r>
            <a:r>
              <a:rPr lang="zh-CN" altLang="en-US" b="1"/>
              <a:t>来</a:t>
            </a:r>
            <a:r>
              <a:rPr lang="zh-CN" altLang="en-US" b="1">
                <a:solidFill>
                  <a:srgbClr val="800080"/>
                </a:solidFill>
              </a:rPr>
              <a:t>改进</a:t>
            </a:r>
            <a:r>
              <a:rPr lang="zh-CN" altLang="en-US" b="1"/>
              <a:t>对</a:t>
            </a:r>
            <a:r>
              <a:rPr kumimoji="0" lang="en-US" altLang="zh-CN">
                <a:solidFill>
                  <a:srgbClr val="800080"/>
                </a:solidFill>
              </a:rPr>
              <a:t>LR</a:t>
            </a:r>
            <a:r>
              <a:rPr kumimoji="0" lang="zh-CN" altLang="en-US" b="1">
                <a:solidFill>
                  <a:srgbClr val="800080"/>
                </a:solidFill>
              </a:rPr>
              <a:t>（</a:t>
            </a:r>
            <a:r>
              <a:rPr kumimoji="0" lang="en-US" altLang="zh-CN">
                <a:solidFill>
                  <a:srgbClr val="800080"/>
                </a:solidFill>
              </a:rPr>
              <a:t>0</a:t>
            </a:r>
            <a:r>
              <a:rPr kumimoji="0" lang="zh-CN" altLang="en-US" b="1">
                <a:solidFill>
                  <a:srgbClr val="800080"/>
                </a:solidFill>
              </a:rPr>
              <a:t>）</a:t>
            </a:r>
            <a:r>
              <a:rPr lang="zh-CN" altLang="en-US" b="1"/>
              <a:t>状态（项目集）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zh-CN" altLang="en-US" b="1"/>
              <a:t>   中移进</a:t>
            </a:r>
            <a:r>
              <a:rPr lang="zh-CN" altLang="en-US" b="1">
                <a:sym typeface="Symbol" panose="05050102010706020507" pitchFamily="18" charset="2"/>
              </a:rPr>
              <a:t></a:t>
            </a:r>
            <a:r>
              <a:rPr lang="zh-CN" altLang="en-US" b="1"/>
              <a:t>归约和归约</a:t>
            </a:r>
            <a:r>
              <a:rPr lang="zh-CN" altLang="en-US" b="1">
                <a:sym typeface="Symbol" panose="05050102010706020507" pitchFamily="18" charset="2"/>
              </a:rPr>
              <a:t></a:t>
            </a:r>
            <a:r>
              <a:rPr lang="zh-CN" altLang="en-US" b="1"/>
              <a:t>归约</a:t>
            </a:r>
            <a:r>
              <a:rPr lang="zh-CN" altLang="en-US" b="1">
                <a:solidFill>
                  <a:srgbClr val="800080"/>
                </a:solidFill>
              </a:rPr>
              <a:t>冲突的解决</a:t>
            </a:r>
          </a:p>
          <a:p>
            <a:pPr lvl="1">
              <a:buFont typeface="Symbol" panose="05050102010706020507" pitchFamily="18" charset="2"/>
              <a:buNone/>
            </a:pPr>
            <a:endParaRPr lang="zh-CN" altLang="en-US" sz="1000" b="1">
              <a:sym typeface="Symbol" panose="05050102010706020507" pitchFamily="18" charset="2"/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zh-CN" altLang="en-US"/>
              <a:t> </a:t>
            </a:r>
            <a:r>
              <a:rPr lang="zh-CN" altLang="en-US" b="1"/>
              <a:t>根据下一个输入符号是否属于要归约的非终结符的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zh-CN" altLang="en-US" b="1"/>
              <a:t>   </a:t>
            </a:r>
            <a:r>
              <a:rPr lang="en-US" altLang="zh-CN"/>
              <a:t>Follow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zh-CN" altLang="en-US" b="1">
                <a:sym typeface="Symbol" panose="05050102010706020507" pitchFamily="18" charset="2"/>
              </a:rPr>
              <a:t>集来决定是否进行归约</a:t>
            </a:r>
            <a:endParaRPr lang="zh-CN" altLang="en-US" b="1"/>
          </a:p>
          <a:p>
            <a:pPr lvl="1"/>
            <a:endParaRPr lang="zh-CN" altLang="en-US" sz="1000" b="1"/>
          </a:p>
          <a:p>
            <a:pPr lvl="1">
              <a:buFont typeface="Symbol" panose="05050102010706020507" pitchFamily="18" charset="2"/>
              <a:buChar char="-"/>
            </a:pPr>
            <a:r>
              <a:rPr lang="zh-CN" altLang="en-US"/>
              <a:t> </a:t>
            </a:r>
            <a:r>
              <a:rPr kumimoji="0" lang="zh-CN" altLang="en-US" b="1"/>
              <a:t>如果</a:t>
            </a:r>
            <a:r>
              <a:rPr kumimoji="0" lang="en-US" altLang="zh-CN"/>
              <a:t>LR</a:t>
            </a:r>
            <a:r>
              <a:rPr kumimoji="0" lang="zh-CN" altLang="en-US" b="1"/>
              <a:t>（</a:t>
            </a:r>
            <a:r>
              <a:rPr kumimoji="0" lang="en-US" altLang="zh-CN"/>
              <a:t>0</a:t>
            </a:r>
            <a:r>
              <a:rPr kumimoji="0" lang="zh-CN" altLang="en-US" b="1"/>
              <a:t>）</a:t>
            </a:r>
            <a:r>
              <a:rPr lang="zh-CN" altLang="en-US" b="1"/>
              <a:t>状态（项目集）中的所有归约项</a:t>
            </a:r>
            <a:r>
              <a:rPr kumimoji="0" lang="zh-CN" altLang="en-US" b="1"/>
              <a:t>中</a:t>
            </a:r>
            <a:r>
              <a:rPr lang="zh-CN" altLang="en-US" b="1"/>
              <a:t>要归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zh-CN" altLang="en-US" b="1"/>
              <a:t>   约的非终结符的 </a:t>
            </a:r>
            <a:r>
              <a:rPr lang="en-US" altLang="zh-CN"/>
              <a:t>Follow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zh-CN" altLang="en-US" b="1">
                <a:sym typeface="Symbol" panose="05050102010706020507" pitchFamily="18" charset="2"/>
              </a:rPr>
              <a:t>集互不相交，则可以解决</a:t>
            </a:r>
            <a:r>
              <a:rPr lang="zh-CN" altLang="en-US" b="1"/>
              <a:t>归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zh-CN" altLang="en-US" b="1"/>
              <a:t>   约</a:t>
            </a:r>
            <a:r>
              <a:rPr lang="zh-CN" altLang="en-US" b="1">
                <a:sym typeface="Symbol" panose="05050102010706020507" pitchFamily="18" charset="2"/>
              </a:rPr>
              <a:t></a:t>
            </a:r>
            <a:r>
              <a:rPr lang="zh-CN" altLang="en-US" b="1"/>
              <a:t>归约</a:t>
            </a:r>
            <a:r>
              <a:rPr lang="zh-CN" altLang="en-US" b="1">
                <a:sym typeface="Symbol" panose="05050102010706020507" pitchFamily="18" charset="2"/>
              </a:rPr>
              <a:t>冲突</a:t>
            </a:r>
            <a:endParaRPr lang="zh-CN" altLang="en-US"/>
          </a:p>
          <a:p>
            <a:pPr lvl="1">
              <a:buFont typeface="Symbol" panose="05050102010706020507" pitchFamily="18" charset="2"/>
              <a:buNone/>
            </a:pPr>
            <a:endParaRPr lang="zh-CN" altLang="en-US" sz="1000"/>
          </a:p>
          <a:p>
            <a:pPr lvl="1">
              <a:buFont typeface="Symbol" panose="05050102010706020507" pitchFamily="18" charset="2"/>
              <a:buChar char="-"/>
            </a:pPr>
            <a:r>
              <a:rPr lang="zh-CN" altLang="en-US"/>
              <a:t> </a:t>
            </a:r>
            <a:r>
              <a:rPr kumimoji="0" lang="zh-CN" altLang="en-US" b="1"/>
              <a:t>如果</a:t>
            </a:r>
            <a:r>
              <a:rPr kumimoji="0" lang="en-US" altLang="zh-CN"/>
              <a:t>LR</a:t>
            </a:r>
            <a:r>
              <a:rPr kumimoji="0" lang="zh-CN" altLang="en-US" b="1"/>
              <a:t>（</a:t>
            </a:r>
            <a:r>
              <a:rPr kumimoji="0" lang="en-US" altLang="zh-CN"/>
              <a:t>0</a:t>
            </a:r>
            <a:r>
              <a:rPr kumimoji="0" lang="zh-CN" altLang="en-US" b="1"/>
              <a:t>）</a:t>
            </a:r>
            <a:r>
              <a:rPr lang="zh-CN" altLang="en-US" b="1"/>
              <a:t>状态（项目集）中的所有归约项</a:t>
            </a:r>
            <a:r>
              <a:rPr kumimoji="0" lang="zh-CN" altLang="en-US" b="1"/>
              <a:t>中</a:t>
            </a:r>
            <a:r>
              <a:rPr lang="zh-CN" altLang="en-US" b="1"/>
              <a:t>要归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zh-CN" altLang="en-US" b="1"/>
              <a:t>   约的非终结符的 </a:t>
            </a:r>
            <a:r>
              <a:rPr lang="en-US" altLang="zh-CN"/>
              <a:t>Follow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zh-CN" altLang="en-US" b="1">
                <a:sym typeface="Symbol" panose="05050102010706020507" pitchFamily="18" charset="2"/>
              </a:rPr>
              <a:t>集</a:t>
            </a:r>
            <a:r>
              <a:rPr lang="zh-CN" altLang="en-US" b="1"/>
              <a:t>与所有移进项目要移进的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zh-CN" altLang="en-US" b="1"/>
              <a:t>   符号集</a:t>
            </a:r>
            <a:r>
              <a:rPr lang="zh-CN" altLang="en-US" b="1">
                <a:sym typeface="Symbol" panose="05050102010706020507" pitchFamily="18" charset="2"/>
              </a:rPr>
              <a:t>互不相交，则可以解决</a:t>
            </a:r>
            <a:r>
              <a:rPr lang="zh-CN" altLang="en-US" b="1"/>
              <a:t>移进</a:t>
            </a:r>
            <a:r>
              <a:rPr lang="zh-CN" altLang="en-US" b="1">
                <a:sym typeface="Symbol" panose="05050102010706020507" pitchFamily="18" charset="2"/>
              </a:rPr>
              <a:t></a:t>
            </a:r>
            <a:r>
              <a:rPr lang="zh-CN" altLang="en-US" b="1"/>
              <a:t>归约</a:t>
            </a:r>
            <a:r>
              <a:rPr lang="zh-CN" altLang="en-US" b="1">
                <a:sym typeface="Symbol" panose="05050102010706020507" pitchFamily="18" charset="2"/>
              </a:rPr>
              <a:t>冲突</a:t>
            </a:r>
            <a:endParaRPr lang="zh-CN" altLang="en-US"/>
          </a:p>
        </p:txBody>
      </p:sp>
      <p:sp>
        <p:nvSpPr>
          <p:cNvPr id="485408" name="AutoShape 3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5409" name="AutoShape 3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5410" name="AutoShape 3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5411" name="AutoShape 3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854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4854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4854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4854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0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48540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0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48540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0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48540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0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48540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29" name="Rectangle 29"/>
          <p:cNvSpPr>
            <a:spLocks noChangeArrowheads="1"/>
          </p:cNvSpPr>
          <p:nvPr/>
        </p:nvSpPr>
        <p:spPr bwMode="auto">
          <a:xfrm>
            <a:off x="35496" y="188913"/>
            <a:ext cx="3527425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SLR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486431" name="AutoShape 3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6432" name="AutoShape 3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6433" name="AutoShape 33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6434" name="AutoShape 3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6435" name="Text Box 35"/>
          <p:cNvSpPr txBox="1">
            <a:spLocks noChangeArrowheads="1"/>
          </p:cNvSpPr>
          <p:nvPr/>
        </p:nvSpPr>
        <p:spPr bwMode="auto">
          <a:xfrm>
            <a:off x="539750" y="1341120"/>
            <a:ext cx="8351838" cy="27447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 </a:t>
            </a:r>
            <a:r>
              <a:rPr kumimoji="0" lang="en-US" altLang="zh-CN" sz="3200">
                <a:solidFill>
                  <a:srgbClr val="800080"/>
                </a:solidFill>
              </a:rPr>
              <a:t>SLR</a:t>
            </a:r>
            <a:r>
              <a:rPr kumimoji="0" lang="zh-CN" altLang="en-US" sz="3200">
                <a:solidFill>
                  <a:srgbClr val="800080"/>
                </a:solidFill>
              </a:rPr>
              <a:t>（</a:t>
            </a:r>
            <a:r>
              <a:rPr kumimoji="0" lang="en-US" altLang="zh-CN" sz="3200">
                <a:solidFill>
                  <a:srgbClr val="800080"/>
                </a:solidFill>
              </a:rPr>
              <a:t>1</a:t>
            </a:r>
            <a:r>
              <a:rPr kumimoji="0" lang="zh-CN" altLang="en-US" sz="3200">
                <a:solidFill>
                  <a:srgbClr val="800080"/>
                </a:solidFill>
              </a:rPr>
              <a:t>）</a:t>
            </a:r>
            <a:r>
              <a:rPr kumimoji="0" lang="zh-CN" altLang="en-US" sz="3200" b="1">
                <a:solidFill>
                  <a:srgbClr val="800080"/>
                </a:solidFill>
              </a:rPr>
              <a:t>分析思想</a:t>
            </a:r>
            <a:endParaRPr lang="zh-CN" altLang="en-US" sz="3200" b="1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 b="1">
                <a:solidFill>
                  <a:srgbClr val="800080"/>
                </a:solidFill>
              </a:rPr>
              <a:t>   </a:t>
            </a:r>
            <a:r>
              <a:rPr lang="en-US" altLang="zh-CN" sz="2800">
                <a:solidFill>
                  <a:srgbClr val="800080"/>
                </a:solidFill>
              </a:rPr>
              <a:t>S</a:t>
            </a:r>
            <a:r>
              <a:rPr kumimoji="0" lang="en-US" altLang="zh-CN" sz="2800">
                <a:solidFill>
                  <a:srgbClr val="800080"/>
                </a:solidFill>
              </a:rPr>
              <a:t>LR</a:t>
            </a:r>
            <a:r>
              <a:rPr kumimoji="0" lang="zh-CN" altLang="en-US" sz="2800" b="1">
                <a:solidFill>
                  <a:srgbClr val="800080"/>
                </a:solidFill>
              </a:rPr>
              <a:t>（</a:t>
            </a:r>
            <a:r>
              <a:rPr kumimoji="0" lang="en-US" altLang="zh-CN" sz="2800">
                <a:solidFill>
                  <a:srgbClr val="800080"/>
                </a:solidFill>
              </a:rPr>
              <a:t>0</a:t>
            </a:r>
            <a:r>
              <a:rPr kumimoji="0" lang="zh-CN" altLang="en-US" sz="2800" b="1">
                <a:solidFill>
                  <a:srgbClr val="800080"/>
                </a:solidFill>
              </a:rPr>
              <a:t>）</a:t>
            </a:r>
            <a:r>
              <a:rPr lang="zh-CN" altLang="en-US" sz="2800" b="1">
                <a:solidFill>
                  <a:srgbClr val="800080"/>
                </a:solidFill>
              </a:rPr>
              <a:t>分析表的构造也基于</a:t>
            </a:r>
            <a:r>
              <a:rPr lang="en-US" altLang="zh-CN" sz="2800">
                <a:solidFill>
                  <a:srgbClr val="800080"/>
                </a:solidFill>
              </a:rPr>
              <a:t>LR</a:t>
            </a:r>
            <a:r>
              <a:rPr lang="zh-CN" altLang="en-US" sz="2800">
                <a:solidFill>
                  <a:srgbClr val="800080"/>
                </a:solidFill>
              </a:rPr>
              <a:t>（</a:t>
            </a:r>
            <a:r>
              <a:rPr lang="en-US" altLang="zh-CN" sz="2800">
                <a:solidFill>
                  <a:srgbClr val="800080"/>
                </a:solidFill>
              </a:rPr>
              <a:t>0</a:t>
            </a:r>
            <a:r>
              <a:rPr lang="zh-CN" altLang="en-US" sz="2800">
                <a:solidFill>
                  <a:srgbClr val="800080"/>
                </a:solidFill>
              </a:rPr>
              <a:t>）</a:t>
            </a:r>
            <a:r>
              <a:rPr lang="en-US" altLang="zh-CN" sz="2800">
                <a:solidFill>
                  <a:srgbClr val="800080"/>
                </a:solidFill>
              </a:rPr>
              <a:t>FSM</a:t>
            </a:r>
            <a:endParaRPr lang="en-US" altLang="zh-CN" sz="2800" b="1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None/>
            </a:pPr>
            <a:endParaRPr lang="en-US" altLang="zh-CN" sz="1000" b="1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</a:rPr>
              <a:t> </a:t>
            </a:r>
            <a:r>
              <a:rPr lang="en-US" altLang="zh-CN" sz="2800"/>
              <a:t> </a:t>
            </a:r>
            <a:r>
              <a:rPr lang="zh-CN" altLang="en-US" sz="2800" b="1">
                <a:solidFill>
                  <a:srgbClr val="800080"/>
                </a:solidFill>
              </a:rPr>
              <a:t>只需对 </a:t>
            </a:r>
            <a:r>
              <a:rPr kumimoji="0" lang="en-US" altLang="zh-CN" sz="2800">
                <a:solidFill>
                  <a:srgbClr val="800080"/>
                </a:solidFill>
              </a:rPr>
              <a:t>LR</a:t>
            </a:r>
            <a:r>
              <a:rPr kumimoji="0" lang="zh-CN" altLang="en-US" sz="2800" b="1">
                <a:solidFill>
                  <a:srgbClr val="800080"/>
                </a:solidFill>
              </a:rPr>
              <a:t>（</a:t>
            </a:r>
            <a:r>
              <a:rPr kumimoji="0" lang="en-US" altLang="zh-CN" sz="2800">
                <a:solidFill>
                  <a:srgbClr val="800080"/>
                </a:solidFill>
              </a:rPr>
              <a:t>0</a:t>
            </a:r>
            <a:r>
              <a:rPr kumimoji="0" lang="zh-CN" altLang="en-US" sz="2800" b="1">
                <a:solidFill>
                  <a:srgbClr val="800080"/>
                </a:solidFill>
              </a:rPr>
              <a:t>）</a:t>
            </a:r>
            <a:r>
              <a:rPr lang="zh-CN" altLang="en-US" sz="2800" b="1">
                <a:solidFill>
                  <a:srgbClr val="800080"/>
                </a:solidFill>
              </a:rPr>
              <a:t>分析表进行简单修改</a:t>
            </a:r>
          </a:p>
          <a:p>
            <a:pPr lvl="1">
              <a:buClrTx/>
              <a:buFont typeface="Symbol" panose="05050102010706020507" pitchFamily="18" charset="2"/>
              <a:buNone/>
            </a:pPr>
            <a:endParaRPr kumimoji="0" lang="zh-CN" altLang="en-US" sz="1000"/>
          </a:p>
          <a:p>
            <a:pPr lvl="1">
              <a:buClrTx/>
              <a:buFont typeface="Symbol" panose="05050102010706020507" pitchFamily="18" charset="2"/>
              <a:buNone/>
            </a:pPr>
            <a:r>
              <a:rPr kumimoji="0" lang="zh-CN" altLang="en-US" sz="2800" b="1"/>
              <a:t>    使得归约表项只适用于相应非终结符</a:t>
            </a:r>
            <a:r>
              <a:rPr lang="en-US" altLang="zh-CN" sz="2800"/>
              <a:t>Follow</a:t>
            </a:r>
            <a:r>
              <a:rPr lang="en-US" altLang="zh-CN" sz="2800">
                <a:sym typeface="Symbol" panose="05050102010706020507" pitchFamily="18" charset="2"/>
              </a:rPr>
              <a:t> </a:t>
            </a:r>
            <a:r>
              <a:rPr lang="zh-CN" altLang="en-US" sz="2800" b="1">
                <a:sym typeface="Symbol" panose="05050102010706020507" pitchFamily="18" charset="2"/>
              </a:rPr>
              <a:t>集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lang="zh-CN" altLang="en-US" sz="2800" b="1">
                <a:sym typeface="Symbol" panose="05050102010706020507" pitchFamily="18" charset="2"/>
              </a:rPr>
              <a:t>    </a:t>
            </a:r>
            <a:r>
              <a:rPr kumimoji="0" lang="zh-CN" altLang="en-US" sz="2800" b="1"/>
              <a:t>中的输入符号</a:t>
            </a:r>
          </a:p>
        </p:txBody>
      </p:sp>
    </p:spTree>
  </p:cSld>
  <p:clrMapOvr>
    <a:masterClrMapping/>
  </p:clrMapOvr>
  <p:transition spd="med">
    <p:wipe dir="r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52" name="Rectangle 1052"/>
          <p:cNvSpPr>
            <a:spLocks noChangeArrowheads="1"/>
          </p:cNvSpPr>
          <p:nvPr/>
        </p:nvSpPr>
        <p:spPr bwMode="auto">
          <a:xfrm>
            <a:off x="35496" y="188913"/>
            <a:ext cx="3527425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SLR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487453" name="AutoShape 105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7454" name="AutoShape 105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7455" name="AutoShape 105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7456" name="AutoShape 105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7458" name="Text Box 1058"/>
          <p:cNvSpPr txBox="1">
            <a:spLocks noChangeArrowheads="1"/>
          </p:cNvSpPr>
          <p:nvPr/>
        </p:nvSpPr>
        <p:spPr bwMode="auto">
          <a:xfrm>
            <a:off x="468312" y="1268413"/>
            <a:ext cx="8675687" cy="5181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buClrTx/>
            </a:pPr>
            <a:r>
              <a:rPr lang="en-US" altLang="zh-CN" sz="2800" b="1" dirty="0">
                <a:solidFill>
                  <a:srgbClr val="800080"/>
                </a:solidFill>
              </a:rPr>
              <a:t> </a:t>
            </a:r>
            <a:r>
              <a:rPr lang="en-US" altLang="zh-CN" sz="2800" dirty="0">
                <a:solidFill>
                  <a:srgbClr val="800080"/>
                </a:solidFill>
              </a:rPr>
              <a:t>S</a:t>
            </a:r>
            <a:r>
              <a:rPr kumimoji="0" lang="en-US" altLang="zh-CN" sz="2800" dirty="0">
                <a:solidFill>
                  <a:srgbClr val="800080"/>
                </a:solidFill>
              </a:rPr>
              <a:t>LR</a:t>
            </a:r>
            <a:r>
              <a:rPr kumimoji="0" lang="zh-CN" altLang="en-US" sz="2800" dirty="0">
                <a:solidFill>
                  <a:srgbClr val="800080"/>
                </a:solidFill>
              </a:rPr>
              <a:t>（</a:t>
            </a:r>
            <a:r>
              <a:rPr kumimoji="0" lang="en-US" altLang="zh-CN" sz="2800" dirty="0">
                <a:solidFill>
                  <a:srgbClr val="800080"/>
                </a:solidFill>
              </a:rPr>
              <a:t>1</a:t>
            </a:r>
            <a:r>
              <a:rPr kumimoji="0" lang="zh-CN" altLang="en-US" sz="2800" dirty="0">
                <a:solidFill>
                  <a:srgbClr val="800080"/>
                </a:solidFill>
              </a:rPr>
              <a:t>）</a:t>
            </a:r>
            <a:r>
              <a:rPr kumimoji="0" lang="zh-CN" altLang="en-US" sz="2800" b="1" dirty="0">
                <a:solidFill>
                  <a:srgbClr val="800080"/>
                </a:solidFill>
              </a:rPr>
              <a:t>分析表</a:t>
            </a:r>
            <a:r>
              <a:rPr lang="zh-CN" altLang="en-US" sz="2800" b="1" dirty="0">
                <a:solidFill>
                  <a:srgbClr val="800080"/>
                </a:solidFill>
              </a:rPr>
              <a:t>的构造</a:t>
            </a:r>
            <a:endParaRPr lang="zh-CN" altLang="en-US" sz="2800" b="1" dirty="0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 dirty="0">
              <a:solidFill>
                <a:srgbClr val="800080"/>
              </a:solidFill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zh-CN" altLang="en-US" dirty="0"/>
              <a:t> </a:t>
            </a:r>
            <a:r>
              <a:rPr kumimoji="0" lang="zh-CN" altLang="en-US" b="1" dirty="0"/>
              <a:t>假定</a:t>
            </a:r>
            <a:r>
              <a:rPr kumimoji="0" lang="en-US" altLang="zh-CN" i="1" dirty="0"/>
              <a:t>G</a:t>
            </a:r>
            <a:r>
              <a:rPr kumimoji="0" lang="en-US" altLang="zh-CN" dirty="0"/>
              <a:t>[</a:t>
            </a:r>
            <a:r>
              <a:rPr kumimoji="0" lang="en-US" altLang="zh-CN" i="1" dirty="0"/>
              <a:t>S</a:t>
            </a:r>
            <a:r>
              <a:rPr kumimoji="0" lang="en-US" altLang="zh-CN" dirty="0"/>
              <a:t>]</a:t>
            </a:r>
            <a:r>
              <a:rPr kumimoji="0" lang="zh-CN" altLang="en-US" b="1" dirty="0"/>
              <a:t>的增广文法为</a:t>
            </a:r>
            <a:r>
              <a:rPr kumimoji="0" lang="en-US" altLang="zh-CN" i="1" dirty="0"/>
              <a:t>G’</a:t>
            </a:r>
            <a:r>
              <a:rPr kumimoji="0" lang="en-US" altLang="zh-CN" dirty="0"/>
              <a:t> [</a:t>
            </a:r>
            <a:r>
              <a:rPr kumimoji="0" lang="en-US" altLang="zh-CN" i="1" dirty="0"/>
              <a:t>S</a:t>
            </a:r>
            <a:r>
              <a:rPr kumimoji="0" lang="en-US" altLang="zh-CN" dirty="0"/>
              <a:t>]</a:t>
            </a:r>
            <a:r>
              <a:rPr kumimoji="0" lang="zh-CN" altLang="en-US" dirty="0"/>
              <a:t>，</a:t>
            </a:r>
            <a:r>
              <a:rPr kumimoji="0" lang="zh-CN" altLang="en-US" b="1" dirty="0"/>
              <a:t>其</a:t>
            </a:r>
            <a:r>
              <a:rPr kumimoji="0" lang="en-US" altLang="zh-CN" dirty="0"/>
              <a:t>LR</a:t>
            </a:r>
            <a:r>
              <a:rPr kumimoji="0" lang="zh-CN" altLang="en-US" dirty="0"/>
              <a:t>（</a:t>
            </a:r>
            <a:r>
              <a:rPr kumimoji="0" lang="en-US" altLang="zh-CN" dirty="0"/>
              <a:t>0</a:t>
            </a:r>
            <a:r>
              <a:rPr kumimoji="0" lang="zh-CN" altLang="en-US" dirty="0"/>
              <a:t>）</a:t>
            </a:r>
            <a:r>
              <a:rPr kumimoji="0" lang="en-US" altLang="zh-CN" dirty="0"/>
              <a:t>FSM</a:t>
            </a:r>
            <a:r>
              <a:rPr kumimoji="0" lang="en-US" altLang="zh-CN" b="1" dirty="0"/>
              <a:t> </a:t>
            </a:r>
            <a:r>
              <a:rPr kumimoji="0" lang="zh-CN" altLang="en-US" b="1" dirty="0"/>
              <a:t>的状态集</a:t>
            </a:r>
          </a:p>
          <a:p>
            <a:pPr lvl="1">
              <a:buFont typeface="Symbol" panose="05050102010706020507" pitchFamily="18" charset="2"/>
              <a:buNone/>
            </a:pPr>
            <a:r>
              <a:rPr kumimoji="0" lang="zh-CN" altLang="en-US" b="1" dirty="0"/>
              <a:t>   为</a:t>
            </a:r>
            <a:r>
              <a:rPr kumimoji="0" lang="en-US" altLang="zh-CN" b="1" dirty="0"/>
              <a:t>C</a:t>
            </a:r>
            <a:r>
              <a:rPr kumimoji="0" lang="en-US" altLang="zh-CN" dirty="0"/>
              <a:t>={I</a:t>
            </a:r>
            <a:r>
              <a:rPr kumimoji="0" lang="en-US" altLang="zh-CN" baseline="-25000" dirty="0"/>
              <a:t>0</a:t>
            </a:r>
            <a:r>
              <a:rPr kumimoji="0" lang="en-US" altLang="zh-CN" dirty="0"/>
              <a:t>, I</a:t>
            </a:r>
            <a:r>
              <a:rPr kumimoji="0" lang="en-US" altLang="zh-CN" baseline="-25000" dirty="0"/>
              <a:t>1</a:t>
            </a:r>
            <a:r>
              <a:rPr kumimoji="0" lang="en-US" altLang="zh-CN" dirty="0"/>
              <a:t>,…</a:t>
            </a:r>
            <a:r>
              <a:rPr kumimoji="0" lang="zh-CN" altLang="en-US" dirty="0"/>
              <a:t>，</a:t>
            </a:r>
            <a:r>
              <a:rPr kumimoji="0" lang="en-US" altLang="zh-CN" dirty="0"/>
              <a:t>I</a:t>
            </a:r>
            <a:r>
              <a:rPr kumimoji="0" lang="en-US" altLang="zh-CN" baseline="-25000" dirty="0"/>
              <a:t>n</a:t>
            </a:r>
            <a:r>
              <a:rPr kumimoji="0" lang="en-US" altLang="zh-CN" dirty="0"/>
              <a:t>}</a:t>
            </a:r>
            <a:r>
              <a:rPr kumimoji="0" lang="zh-CN" altLang="en-US" b="1" dirty="0"/>
              <a:t>；令状态</a:t>
            </a:r>
            <a:r>
              <a:rPr kumimoji="0" lang="en-US" altLang="zh-CN" dirty="0" err="1"/>
              <a:t>I</a:t>
            </a:r>
            <a:r>
              <a:rPr kumimoji="0" lang="en-US" altLang="zh-CN" baseline="-25000" dirty="0" err="1"/>
              <a:t>k</a:t>
            </a:r>
            <a:r>
              <a:rPr kumimoji="0" lang="zh-CN" altLang="en-US" b="1" dirty="0"/>
              <a:t>对应的 </a:t>
            </a:r>
            <a:r>
              <a:rPr kumimoji="0" lang="en-US" altLang="zh-CN" dirty="0"/>
              <a:t>SLR</a:t>
            </a:r>
            <a:r>
              <a:rPr kumimoji="0" lang="zh-CN" altLang="en-US" dirty="0"/>
              <a:t>（</a:t>
            </a:r>
            <a:r>
              <a:rPr kumimoji="0" lang="en-US" altLang="zh-CN" dirty="0"/>
              <a:t>1</a:t>
            </a:r>
            <a:r>
              <a:rPr kumimoji="0" lang="zh-CN" altLang="en-US" dirty="0"/>
              <a:t>）</a:t>
            </a:r>
            <a:r>
              <a:rPr kumimoji="0" lang="zh-CN" altLang="en-US" b="1" dirty="0"/>
              <a:t>分析表的</a:t>
            </a:r>
          </a:p>
          <a:p>
            <a:pPr lvl="1">
              <a:buFont typeface="Symbol" panose="05050102010706020507" pitchFamily="18" charset="2"/>
              <a:buNone/>
            </a:pPr>
            <a:r>
              <a:rPr kumimoji="0" lang="zh-CN" altLang="en-US" b="1" dirty="0"/>
              <a:t>   栈顶状态为</a:t>
            </a:r>
            <a:r>
              <a:rPr kumimoji="0" lang="en-US" altLang="zh-CN" dirty="0"/>
              <a:t>k </a:t>
            </a:r>
            <a:r>
              <a:rPr kumimoji="0" lang="zh-CN" altLang="en-US" b="1" dirty="0"/>
              <a:t>；并令含有项目</a:t>
            </a:r>
            <a:r>
              <a:rPr kumimoji="0" lang="en-US" altLang="zh-CN" i="1" dirty="0"/>
              <a:t>S’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kumimoji="0" lang="en-US" altLang="zh-CN" dirty="0"/>
              <a:t>.</a:t>
            </a:r>
            <a:r>
              <a:rPr kumimoji="0" lang="en-US" altLang="zh-CN" i="1" dirty="0"/>
              <a:t>S </a:t>
            </a:r>
            <a:r>
              <a:rPr kumimoji="0" lang="zh-CN" altLang="en-US" b="1" dirty="0"/>
              <a:t>的项目集为</a:t>
            </a:r>
            <a:r>
              <a:rPr kumimoji="0" lang="en-US" altLang="zh-CN" dirty="0"/>
              <a:t>I</a:t>
            </a:r>
            <a:r>
              <a:rPr kumimoji="0" lang="en-US" altLang="zh-CN" baseline="-25000" dirty="0"/>
              <a:t>0</a:t>
            </a:r>
            <a:r>
              <a:rPr kumimoji="0" lang="en-US" altLang="zh-CN" b="1" dirty="0"/>
              <a:t>, </a:t>
            </a:r>
            <a:r>
              <a:rPr kumimoji="0" lang="zh-CN" altLang="en-US" b="1" dirty="0"/>
              <a:t>因此 </a:t>
            </a:r>
          </a:p>
          <a:p>
            <a:pPr lvl="1">
              <a:buFont typeface="Symbol" panose="05050102010706020507" pitchFamily="18" charset="2"/>
              <a:buNone/>
            </a:pPr>
            <a:r>
              <a:rPr kumimoji="0" lang="zh-CN" altLang="en-US" b="1" dirty="0"/>
              <a:t>   </a:t>
            </a:r>
            <a:r>
              <a:rPr kumimoji="0" lang="en-US" altLang="zh-CN" dirty="0"/>
              <a:t>0</a:t>
            </a:r>
            <a:r>
              <a:rPr kumimoji="0" lang="zh-CN" altLang="en-US" b="1" dirty="0"/>
              <a:t>为初态</a:t>
            </a:r>
            <a:r>
              <a:rPr kumimoji="0" lang="en-US" altLang="zh-CN" b="1" dirty="0"/>
              <a:t>. </a:t>
            </a:r>
            <a:r>
              <a:rPr kumimoji="0" lang="en-US" altLang="zh-CN" dirty="0"/>
              <a:t>ACTION</a:t>
            </a:r>
            <a:r>
              <a:rPr kumimoji="0" lang="zh-CN" altLang="en-US" b="1" dirty="0"/>
              <a:t>表项和</a:t>
            </a:r>
            <a:r>
              <a:rPr kumimoji="0" lang="en-US" altLang="zh-CN" dirty="0"/>
              <a:t>GOTO</a:t>
            </a:r>
            <a:r>
              <a:rPr kumimoji="0" lang="zh-CN" altLang="en-US" b="1" dirty="0"/>
              <a:t>表项可按如下方法构造：</a:t>
            </a:r>
            <a:endParaRPr lang="zh-CN" altLang="en-US" b="1" dirty="0"/>
          </a:p>
          <a:p>
            <a:pPr lvl="1">
              <a:buClrTx/>
              <a:buFont typeface="Symbol" panose="05050102010706020507" pitchFamily="18" charset="2"/>
              <a:buNone/>
            </a:pPr>
            <a:endParaRPr lang="zh-CN" altLang="en-US" sz="800" b="1" dirty="0"/>
          </a:p>
          <a:p>
            <a:pPr lvl="1">
              <a:buFontTx/>
              <a:buChar char="•"/>
            </a:pPr>
            <a:r>
              <a:rPr kumimoji="0" lang="zh-CN" altLang="en-US" sz="2000" i="1" dirty="0"/>
              <a:t>  </a:t>
            </a:r>
            <a:r>
              <a:rPr kumimoji="0" lang="zh-CN" altLang="en-US" sz="2000" b="1" dirty="0"/>
              <a:t>若项目</a:t>
            </a:r>
            <a:r>
              <a:rPr kumimoji="0" lang="en-US" altLang="zh-CN" sz="2000" dirty="0" err="1"/>
              <a:t>A</a:t>
            </a:r>
            <a:r>
              <a:rPr lang="en-US" altLang="zh-CN" sz="2000" dirty="0" err="1">
                <a:sym typeface="Symbol" panose="05050102010706020507" pitchFamily="18" charset="2"/>
              </a:rPr>
              <a:t></a:t>
            </a:r>
            <a:r>
              <a:rPr kumimoji="0" lang="en-US" altLang="zh-CN" sz="2000" b="1" dirty="0" err="1"/>
              <a:t>α.</a:t>
            </a:r>
            <a:r>
              <a:rPr kumimoji="0" lang="en-US" altLang="zh-CN" sz="2000" dirty="0" err="1"/>
              <a:t>a</a:t>
            </a:r>
            <a:r>
              <a:rPr kumimoji="0" lang="en-US" altLang="zh-CN" sz="2000" b="1" dirty="0" err="1"/>
              <a:t>β</a:t>
            </a:r>
            <a:r>
              <a:rPr kumimoji="0" lang="zh-CN" altLang="en-US" sz="2000" b="1" dirty="0"/>
              <a:t>属于 </a:t>
            </a:r>
            <a:r>
              <a:rPr kumimoji="0" lang="en-US" altLang="zh-CN" sz="2000" dirty="0" err="1"/>
              <a:t>I</a:t>
            </a:r>
            <a:r>
              <a:rPr kumimoji="0" lang="en-US" altLang="zh-CN" sz="2000" baseline="-25000" dirty="0" err="1"/>
              <a:t>k</a:t>
            </a:r>
            <a:r>
              <a:rPr kumimoji="0" lang="en-US" altLang="zh-CN" sz="2000" baseline="-25000" dirty="0"/>
              <a:t> </a:t>
            </a:r>
            <a:r>
              <a:rPr kumimoji="0" lang="zh-CN" altLang="en-US" sz="2000" b="1" dirty="0"/>
              <a:t>且 </a:t>
            </a:r>
            <a:r>
              <a:rPr kumimoji="0" lang="en-US" altLang="zh-CN" sz="2000" dirty="0"/>
              <a:t>GO (</a:t>
            </a:r>
            <a:r>
              <a:rPr kumimoji="0" lang="en-US" altLang="zh-CN" sz="2000" dirty="0" err="1"/>
              <a:t>I</a:t>
            </a:r>
            <a:r>
              <a:rPr kumimoji="0" lang="en-US" altLang="zh-CN" sz="2000" baseline="-25000" dirty="0" err="1"/>
              <a:t>k</a:t>
            </a:r>
            <a:r>
              <a:rPr kumimoji="0" lang="en-US" altLang="zh-CN" sz="2000" dirty="0"/>
              <a:t>, a)= </a:t>
            </a:r>
            <a:r>
              <a:rPr kumimoji="0" lang="en-US" altLang="zh-CN" sz="2000" dirty="0" err="1"/>
              <a:t>I</a:t>
            </a:r>
            <a:r>
              <a:rPr kumimoji="0" lang="en-US" altLang="zh-CN" sz="2000" baseline="-25000" dirty="0" err="1"/>
              <a:t>j</a:t>
            </a:r>
            <a:r>
              <a:rPr kumimoji="0" lang="en-US" altLang="zh-CN" sz="2000" dirty="0"/>
              <a:t>, a </a:t>
            </a:r>
            <a:r>
              <a:rPr kumimoji="0" lang="zh-CN" altLang="en-US" sz="2000" b="1" dirty="0"/>
              <a:t>为终结符，则置</a:t>
            </a:r>
          </a:p>
          <a:p>
            <a:pPr lvl="1">
              <a:buFontTx/>
              <a:buNone/>
            </a:pPr>
            <a:r>
              <a:rPr kumimoji="0" lang="zh-CN" altLang="en-US" sz="2000" dirty="0"/>
              <a:t>    </a:t>
            </a:r>
            <a:r>
              <a:rPr kumimoji="0" lang="en-US" altLang="zh-CN" sz="2000" dirty="0"/>
              <a:t>ACTION[k, a] </a:t>
            </a:r>
            <a:r>
              <a:rPr kumimoji="0" lang="zh-CN" altLang="en-US" sz="2000" b="1" dirty="0"/>
              <a:t>为“把状态</a:t>
            </a:r>
            <a:r>
              <a:rPr kumimoji="0" lang="en-US" altLang="zh-CN" sz="2000" dirty="0"/>
              <a:t>j</a:t>
            </a:r>
            <a:r>
              <a:rPr kumimoji="0" lang="zh-CN" altLang="en-US" sz="2000" b="1" dirty="0"/>
              <a:t>和符号</a:t>
            </a:r>
            <a:r>
              <a:rPr kumimoji="0" lang="en-US" altLang="zh-CN" sz="2000" dirty="0"/>
              <a:t>a</a:t>
            </a:r>
            <a:r>
              <a:rPr kumimoji="0" lang="zh-CN" altLang="en-US" sz="2000" b="1" dirty="0"/>
              <a:t>移进栈”，简记为“</a:t>
            </a:r>
            <a:r>
              <a:rPr kumimoji="0" lang="en-US" altLang="zh-CN" sz="2000" dirty="0" err="1"/>
              <a:t>sj</a:t>
            </a:r>
            <a:r>
              <a:rPr kumimoji="0" lang="en-US" altLang="zh-CN" sz="2000" b="1" dirty="0"/>
              <a:t>”;</a:t>
            </a:r>
            <a:r>
              <a:rPr kumimoji="0" lang="en-US" altLang="en-US" sz="2000" dirty="0"/>
              <a:t> </a:t>
            </a:r>
            <a:endParaRPr kumimoji="0" lang="en-US" altLang="zh-CN" sz="2000" b="1" dirty="0">
              <a:solidFill>
                <a:srgbClr val="800080"/>
              </a:solidFill>
            </a:endParaRPr>
          </a:p>
          <a:p>
            <a:pPr lvl="1">
              <a:buFontTx/>
              <a:buNone/>
            </a:pPr>
            <a:endParaRPr kumimoji="0" lang="en-US" altLang="zh-CN" sz="800" b="1" dirty="0"/>
          </a:p>
          <a:p>
            <a:pPr lvl="1">
              <a:buFontTx/>
              <a:buChar char="•"/>
            </a:pPr>
            <a:r>
              <a:rPr kumimoji="0" lang="en-US" altLang="zh-CN" sz="2000" b="1" dirty="0"/>
              <a:t>  </a:t>
            </a:r>
            <a:r>
              <a:rPr kumimoji="0" lang="zh-CN" altLang="en-US" sz="2000" b="1" dirty="0"/>
              <a:t>若项目</a:t>
            </a:r>
            <a:r>
              <a:rPr kumimoji="0" lang="en-US" altLang="zh-CN" sz="2000" dirty="0" err="1"/>
              <a:t>A</a:t>
            </a:r>
            <a:r>
              <a:rPr lang="en-US" altLang="zh-CN" sz="2000" dirty="0" err="1">
                <a:sym typeface="Symbol" panose="05050102010706020507" pitchFamily="18" charset="2"/>
              </a:rPr>
              <a:t></a:t>
            </a:r>
            <a:r>
              <a:rPr kumimoji="0" lang="en-US" altLang="zh-CN" sz="2000" b="1" dirty="0" err="1"/>
              <a:t>α</a:t>
            </a:r>
            <a:r>
              <a:rPr kumimoji="0" lang="en-US" altLang="zh-CN" sz="2000" b="1" dirty="0"/>
              <a:t>. </a:t>
            </a:r>
            <a:r>
              <a:rPr kumimoji="0" lang="zh-CN" altLang="en-US" sz="2000" b="1" dirty="0"/>
              <a:t>属于</a:t>
            </a:r>
            <a:r>
              <a:rPr kumimoji="0" lang="en-US" altLang="zh-CN" sz="2000" dirty="0" err="1"/>
              <a:t>I</a:t>
            </a:r>
            <a:r>
              <a:rPr kumimoji="0" lang="en-US" altLang="zh-CN" sz="2000" baseline="-25000" dirty="0" err="1"/>
              <a:t>k</a:t>
            </a:r>
            <a:r>
              <a:rPr kumimoji="0" lang="en-US" altLang="zh-CN" sz="2000" b="1" dirty="0"/>
              <a:t>, </a:t>
            </a:r>
            <a:r>
              <a:rPr kumimoji="0" lang="zh-CN" altLang="en-US" sz="2000" b="1" dirty="0"/>
              <a:t>那么，对任何</a:t>
            </a:r>
            <a:r>
              <a:rPr kumimoji="0" lang="en-US" altLang="zh-CN" sz="2000" dirty="0" err="1"/>
              <a:t>a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</a:t>
            </a:r>
            <a:r>
              <a:rPr lang="en-US" altLang="zh-CN" sz="2000" dirty="0" err="1"/>
              <a:t>Follow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kumimoji="0" lang="en-US" altLang="zh-CN" sz="2000" dirty="0"/>
              <a:t>A</a:t>
            </a:r>
            <a:r>
              <a:rPr lang="en-US" altLang="zh-CN" sz="2000" dirty="0">
                <a:sym typeface="Symbol" panose="05050102010706020507" pitchFamily="18" charset="2"/>
              </a:rPr>
              <a:t>)</a:t>
            </a:r>
            <a:r>
              <a:rPr kumimoji="0" lang="en-US" altLang="zh-CN" sz="2000" b="1" dirty="0"/>
              <a:t>, </a:t>
            </a:r>
            <a:r>
              <a:rPr kumimoji="0" lang="zh-CN" altLang="en-US" sz="2000" b="1" dirty="0"/>
              <a:t>置</a:t>
            </a:r>
            <a:r>
              <a:rPr kumimoji="0" lang="en-US" altLang="zh-CN" sz="2000" dirty="0"/>
              <a:t>ACTION[k, a]</a:t>
            </a:r>
            <a:r>
              <a:rPr kumimoji="0" lang="zh-CN" altLang="en-US" sz="2000" b="1" dirty="0"/>
              <a:t>为</a:t>
            </a:r>
          </a:p>
          <a:p>
            <a:pPr lvl="1">
              <a:buFontTx/>
              <a:buNone/>
            </a:pPr>
            <a:r>
              <a:rPr kumimoji="0" lang="zh-CN" altLang="en-US" sz="2000" b="1" dirty="0"/>
              <a:t>    “用产生式</a:t>
            </a:r>
            <a:r>
              <a:rPr kumimoji="0" lang="en-US" altLang="zh-CN" sz="2000" dirty="0" err="1"/>
              <a:t>A</a:t>
            </a:r>
            <a:r>
              <a:rPr lang="en-US" altLang="zh-CN" sz="2000" dirty="0" err="1">
                <a:sym typeface="Symbol" panose="05050102010706020507" pitchFamily="18" charset="2"/>
              </a:rPr>
              <a:t></a:t>
            </a:r>
            <a:r>
              <a:rPr kumimoji="0" lang="en-US" altLang="zh-CN" sz="2000" b="1" dirty="0" err="1"/>
              <a:t>α</a:t>
            </a:r>
            <a:r>
              <a:rPr kumimoji="0" lang="zh-CN" altLang="en-US" sz="2000" b="1" dirty="0"/>
              <a:t>进行归约”，简记为“</a:t>
            </a:r>
            <a:r>
              <a:rPr kumimoji="0" lang="en-US" altLang="zh-CN" sz="2000" dirty="0" err="1"/>
              <a:t>rj</a:t>
            </a:r>
            <a:r>
              <a:rPr kumimoji="0" lang="en-US" altLang="zh-CN" sz="2000" b="1" dirty="0"/>
              <a:t>”;</a:t>
            </a:r>
            <a:r>
              <a:rPr kumimoji="0" lang="zh-CN" altLang="en-US" sz="2000" b="1" dirty="0"/>
              <a:t>其中，假定</a:t>
            </a:r>
            <a:r>
              <a:rPr kumimoji="0" lang="en-US" altLang="zh-CN" sz="2000" dirty="0" err="1"/>
              <a:t>A</a:t>
            </a:r>
            <a:r>
              <a:rPr lang="en-US" altLang="zh-CN" sz="2000" dirty="0" err="1">
                <a:sym typeface="Symbol" panose="05050102010706020507" pitchFamily="18" charset="2"/>
              </a:rPr>
              <a:t></a:t>
            </a:r>
            <a:r>
              <a:rPr kumimoji="0" lang="en-US" altLang="zh-CN" sz="2000" b="1" dirty="0" err="1"/>
              <a:t>α</a:t>
            </a:r>
            <a:r>
              <a:rPr kumimoji="0" lang="zh-CN" altLang="en-US" sz="2000" b="1" dirty="0"/>
              <a:t>为文法</a:t>
            </a:r>
            <a:r>
              <a:rPr kumimoji="0" lang="en-US" altLang="zh-CN" sz="2000" i="1" dirty="0"/>
              <a:t>G’</a:t>
            </a:r>
          </a:p>
          <a:p>
            <a:pPr lvl="1">
              <a:buFontTx/>
              <a:buNone/>
            </a:pPr>
            <a:r>
              <a:rPr kumimoji="0" lang="en-US" altLang="zh-CN" sz="2000" i="1" dirty="0"/>
              <a:t>   </a:t>
            </a:r>
            <a:r>
              <a:rPr kumimoji="0" lang="zh-CN" altLang="en-US" sz="2000" b="1" dirty="0"/>
              <a:t>的第</a:t>
            </a:r>
            <a:r>
              <a:rPr kumimoji="0" lang="en-US" altLang="zh-CN" sz="2000" dirty="0"/>
              <a:t>j</a:t>
            </a:r>
            <a:r>
              <a:rPr kumimoji="0" lang="zh-CN" altLang="en-US" sz="2000" b="1" dirty="0"/>
              <a:t>个产生式；</a:t>
            </a:r>
            <a:r>
              <a:rPr kumimoji="0" lang="zh-CN" altLang="en-US" sz="2000" dirty="0"/>
              <a:t> </a:t>
            </a:r>
          </a:p>
          <a:p>
            <a:pPr lvl="1">
              <a:buFontTx/>
              <a:buNone/>
            </a:pPr>
            <a:endParaRPr kumimoji="0" lang="zh-CN" altLang="en-US" sz="800" dirty="0"/>
          </a:p>
          <a:p>
            <a:pPr lvl="1">
              <a:buFontTx/>
              <a:buChar char="•"/>
            </a:pPr>
            <a:r>
              <a:rPr kumimoji="0" lang="zh-CN" altLang="en-US" sz="2000" dirty="0"/>
              <a:t>  </a:t>
            </a:r>
            <a:r>
              <a:rPr kumimoji="0" lang="zh-CN" altLang="en-US" sz="2000" b="1" dirty="0"/>
              <a:t>若项目</a:t>
            </a:r>
            <a:r>
              <a:rPr kumimoji="0" lang="en-US" altLang="zh-CN" sz="2000" i="1" dirty="0"/>
              <a:t>S’</a:t>
            </a:r>
            <a:r>
              <a:rPr lang="en-US" altLang="zh-CN" sz="2000" dirty="0">
                <a:sym typeface="Symbol" panose="05050102010706020507" pitchFamily="18" charset="2"/>
              </a:rPr>
              <a:t></a:t>
            </a:r>
            <a:r>
              <a:rPr kumimoji="0" lang="en-US" altLang="zh-CN" sz="2000" i="1" dirty="0"/>
              <a:t>S</a:t>
            </a:r>
            <a:r>
              <a:rPr kumimoji="0" lang="en-US" altLang="zh-CN" sz="2000" b="1" dirty="0"/>
              <a:t>. </a:t>
            </a:r>
            <a:r>
              <a:rPr kumimoji="0" lang="zh-CN" altLang="en-US" sz="2000" b="1" dirty="0"/>
              <a:t>属于</a:t>
            </a:r>
            <a:r>
              <a:rPr kumimoji="0" lang="en-US" altLang="zh-CN" sz="2000" dirty="0" err="1"/>
              <a:t>I</a:t>
            </a:r>
            <a:r>
              <a:rPr kumimoji="0" lang="en-US" altLang="zh-CN" sz="2000" baseline="-25000" dirty="0" err="1"/>
              <a:t>k</a:t>
            </a:r>
            <a:r>
              <a:rPr kumimoji="0" lang="en-US" altLang="zh-CN" sz="2000" b="1" dirty="0"/>
              <a:t>, </a:t>
            </a:r>
            <a:r>
              <a:rPr kumimoji="0" lang="zh-CN" altLang="en-US" sz="2000" b="1" dirty="0"/>
              <a:t>则置</a:t>
            </a:r>
            <a:r>
              <a:rPr kumimoji="0" lang="en-US" altLang="zh-CN" sz="2000" dirty="0"/>
              <a:t>ACTION[k, #]</a:t>
            </a:r>
            <a:r>
              <a:rPr kumimoji="0" lang="zh-CN" altLang="en-US" sz="2000" b="1" dirty="0"/>
              <a:t>为“接受”，简记为“</a:t>
            </a:r>
            <a:r>
              <a:rPr kumimoji="0" lang="en-US" altLang="zh-CN" sz="2000" dirty="0"/>
              <a:t>acc</a:t>
            </a:r>
            <a:r>
              <a:rPr kumimoji="0" lang="en-US" altLang="zh-CN" sz="2000" b="1" dirty="0"/>
              <a:t>”;</a:t>
            </a:r>
          </a:p>
          <a:p>
            <a:pPr lvl="1">
              <a:buFontTx/>
              <a:buNone/>
            </a:pPr>
            <a:endParaRPr kumimoji="0" lang="en-US" altLang="zh-CN" sz="800" b="1" dirty="0"/>
          </a:p>
          <a:p>
            <a:pPr lvl="1">
              <a:buFontTx/>
              <a:buChar char="•"/>
            </a:pPr>
            <a:r>
              <a:rPr kumimoji="0" lang="en-US" altLang="zh-CN" sz="2000" b="1" dirty="0"/>
              <a:t>  </a:t>
            </a:r>
            <a:r>
              <a:rPr kumimoji="0" lang="zh-CN" altLang="en-US" sz="2000" b="1" dirty="0"/>
              <a:t>若</a:t>
            </a:r>
            <a:r>
              <a:rPr kumimoji="0" lang="en-US" altLang="zh-CN" sz="2000" dirty="0"/>
              <a:t>GO (</a:t>
            </a:r>
            <a:r>
              <a:rPr kumimoji="0" lang="en-US" altLang="zh-CN" sz="2000" dirty="0" err="1"/>
              <a:t>I</a:t>
            </a:r>
            <a:r>
              <a:rPr kumimoji="0" lang="en-US" altLang="zh-CN" sz="2000" baseline="-25000" dirty="0" err="1"/>
              <a:t>k</a:t>
            </a:r>
            <a:r>
              <a:rPr kumimoji="0" lang="en-US" altLang="zh-CN" sz="2000" dirty="0"/>
              <a:t>, A)= </a:t>
            </a:r>
            <a:r>
              <a:rPr kumimoji="0" lang="en-US" altLang="zh-CN" sz="2000" dirty="0" err="1"/>
              <a:t>I</a:t>
            </a:r>
            <a:r>
              <a:rPr kumimoji="0" lang="en-US" altLang="zh-CN" sz="2000" baseline="-25000" dirty="0" err="1"/>
              <a:t>j</a:t>
            </a:r>
            <a:r>
              <a:rPr kumimoji="0" lang="en-US" altLang="zh-CN" sz="2000" b="1" dirty="0"/>
              <a:t>,</a:t>
            </a:r>
            <a:r>
              <a:rPr kumimoji="0" lang="en-US" altLang="zh-CN" sz="2000" dirty="0"/>
              <a:t> A</a:t>
            </a:r>
            <a:r>
              <a:rPr kumimoji="0" lang="zh-CN" altLang="en-US" sz="2000" b="1" dirty="0"/>
              <a:t>为非终结符，则置</a:t>
            </a:r>
            <a:r>
              <a:rPr kumimoji="0" lang="en-US" altLang="zh-CN" sz="2000" dirty="0"/>
              <a:t>GOTO(k, A)=j</a:t>
            </a:r>
            <a:r>
              <a:rPr kumimoji="0" lang="en-US" altLang="zh-CN" sz="2000" b="1" dirty="0"/>
              <a:t>;</a:t>
            </a:r>
          </a:p>
          <a:p>
            <a:pPr lvl="1">
              <a:buFontTx/>
              <a:buNone/>
            </a:pPr>
            <a:endParaRPr kumimoji="0" lang="en-US" altLang="zh-CN" sz="800" b="1" dirty="0"/>
          </a:p>
          <a:p>
            <a:pPr lvl="1">
              <a:buFontTx/>
              <a:buChar char="•"/>
            </a:pPr>
            <a:r>
              <a:rPr kumimoji="0" lang="en-US" altLang="zh-CN" sz="2000" b="1" dirty="0"/>
              <a:t>  </a:t>
            </a:r>
            <a:r>
              <a:rPr kumimoji="0" lang="zh-CN" altLang="en-US" sz="2000" b="1" dirty="0"/>
              <a:t>分析表中凡不能用上述规则填入信息的空白格均置上“出错标志”</a:t>
            </a:r>
          </a:p>
        </p:txBody>
      </p:sp>
    </p:spTree>
  </p:cSld>
  <p:clrMapOvr>
    <a:masterClrMapping/>
  </p:clrMapOvr>
  <p:transition spd="med">
    <p:wipe dir="r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82" name="Text Box 2"/>
          <p:cNvSpPr txBox="1">
            <a:spLocks noChangeArrowheads="1"/>
          </p:cNvSpPr>
          <p:nvPr/>
        </p:nvSpPr>
        <p:spPr bwMode="auto">
          <a:xfrm>
            <a:off x="755650" y="1052513"/>
            <a:ext cx="3529013" cy="1373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800"/>
              <a:t>  SLR</a:t>
            </a:r>
            <a:r>
              <a:rPr lang="zh-CN" altLang="en-US" sz="2800"/>
              <a:t>（</a:t>
            </a:r>
            <a:r>
              <a:rPr lang="en-US" altLang="zh-CN" sz="2800"/>
              <a:t>1</a:t>
            </a:r>
            <a:r>
              <a:rPr lang="zh-CN" altLang="en-US" sz="2800"/>
              <a:t>）</a:t>
            </a:r>
            <a:r>
              <a:rPr lang="zh-CN" altLang="en-US" sz="2800" b="1">
                <a:latin typeface="楷体_GB2312" pitchFamily="49" charset="-122"/>
              </a:rPr>
              <a:t>分析表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latin typeface="楷体_GB2312" pitchFamily="49" charset="-122"/>
              </a:rPr>
              <a:t>   的构造</a:t>
            </a:r>
            <a:r>
              <a:rPr lang="zh-CN" altLang="en-US" sz="2800" b="1">
                <a:solidFill>
                  <a:srgbClr val="800080"/>
                </a:solidFill>
                <a:latin typeface="楷体_GB2312" pitchFamily="49" charset="-122"/>
              </a:rPr>
              <a:t>举例</a:t>
            </a: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 b="1">
                <a:solidFill>
                  <a:srgbClr val="800080"/>
                </a:solidFill>
              </a:rPr>
              <a:t> </a:t>
            </a:r>
            <a:r>
              <a:rPr lang="zh-CN" altLang="en-US" b="1">
                <a:solidFill>
                  <a:srgbClr val="800080"/>
                </a:solidFill>
              </a:rPr>
              <a:t>增广</a:t>
            </a:r>
            <a:r>
              <a:rPr kumimoji="0" lang="zh-CN" altLang="en-US" b="1">
                <a:solidFill>
                  <a:srgbClr val="800080"/>
                </a:solidFill>
                <a:sym typeface="Symbol" panose="05050102010706020507" pitchFamily="18" charset="2"/>
              </a:rPr>
              <a:t>文法：</a:t>
            </a:r>
            <a:r>
              <a:rPr kumimoji="0" lang="en-US" altLang="zh-CN" i="1">
                <a:sym typeface="Symbol" panose="05050102010706020507" pitchFamily="18" charset="2"/>
              </a:rPr>
              <a:t>G’ </a:t>
            </a:r>
            <a:r>
              <a:rPr kumimoji="0" lang="en-US" altLang="zh-CN">
                <a:sym typeface="Symbol" panose="05050102010706020507" pitchFamily="18" charset="2"/>
              </a:rPr>
              <a:t>[</a:t>
            </a:r>
            <a:r>
              <a:rPr kumimoji="0" lang="en-US" altLang="zh-CN" i="1">
                <a:sym typeface="Symbol" panose="05050102010706020507" pitchFamily="18" charset="2"/>
              </a:rPr>
              <a:t>S</a:t>
            </a:r>
            <a:r>
              <a:rPr kumimoji="0" lang="en-US" altLang="zh-CN">
                <a:sym typeface="Symbol" panose="05050102010706020507" pitchFamily="18" charset="2"/>
              </a:rPr>
              <a:t>]</a:t>
            </a:r>
            <a:r>
              <a:rPr lang="en-US" altLang="zh-CN"/>
              <a:t> </a:t>
            </a:r>
            <a:endParaRPr lang="en-US" altLang="zh-CN" i="1">
              <a:sym typeface="Symbol" panose="05050102010706020507" pitchFamily="18" charset="2"/>
            </a:endParaRPr>
          </a:p>
        </p:txBody>
      </p:sp>
      <p:sp>
        <p:nvSpPr>
          <p:cNvPr id="532483" name="AutoShape 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484" name="AutoShape 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485" name="AutoShape 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486" name="AutoShape 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548" name="Rectangle 68"/>
          <p:cNvSpPr>
            <a:spLocks noChangeArrowheads="1"/>
          </p:cNvSpPr>
          <p:nvPr/>
        </p:nvSpPr>
        <p:spPr bwMode="auto">
          <a:xfrm>
            <a:off x="36463" y="188913"/>
            <a:ext cx="3527425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SLR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532549" name="Line 69"/>
          <p:cNvSpPr>
            <a:spLocks noChangeShapeType="1"/>
          </p:cNvSpPr>
          <p:nvPr/>
        </p:nvSpPr>
        <p:spPr bwMode="auto">
          <a:xfrm>
            <a:off x="2051050" y="2781300"/>
            <a:ext cx="61214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2550" name="Text Box 70"/>
          <p:cNvSpPr txBox="1">
            <a:spLocks noChangeArrowheads="1"/>
          </p:cNvSpPr>
          <p:nvPr/>
        </p:nvSpPr>
        <p:spPr bwMode="auto">
          <a:xfrm>
            <a:off x="1260475" y="2420938"/>
            <a:ext cx="863600" cy="701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kumimoji="0" lang="zh-CN" altLang="en-US" sz="2000" b="1">
                <a:solidFill>
                  <a:srgbClr val="800080"/>
                </a:solidFill>
                <a:latin typeface="Times New Roman" panose="02020603050405020304" pitchFamily="18" charset="0"/>
              </a:rPr>
              <a:t>栈顶状态</a:t>
            </a:r>
          </a:p>
        </p:txBody>
      </p:sp>
      <p:sp>
        <p:nvSpPr>
          <p:cNvPr id="532551" name="Text Box 71"/>
          <p:cNvSpPr txBox="1">
            <a:spLocks noChangeArrowheads="1"/>
          </p:cNvSpPr>
          <p:nvPr/>
        </p:nvSpPr>
        <p:spPr bwMode="auto">
          <a:xfrm>
            <a:off x="3751263" y="2384425"/>
            <a:ext cx="1181100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kumimoji="0" lang="en-US" altLang="zh-CN" sz="2000">
                <a:solidFill>
                  <a:srgbClr val="800080"/>
                </a:solidFill>
              </a:rPr>
              <a:t>ACTION</a:t>
            </a:r>
          </a:p>
        </p:txBody>
      </p:sp>
      <p:sp>
        <p:nvSpPr>
          <p:cNvPr id="532552" name="Text Box 72"/>
          <p:cNvSpPr txBox="1">
            <a:spLocks noChangeArrowheads="1"/>
          </p:cNvSpPr>
          <p:nvPr/>
        </p:nvSpPr>
        <p:spPr bwMode="auto">
          <a:xfrm>
            <a:off x="6948488" y="2384425"/>
            <a:ext cx="1114425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kumimoji="0" lang="en-US" altLang="zh-CN" sz="2000">
                <a:solidFill>
                  <a:srgbClr val="800080"/>
                </a:solidFill>
              </a:rPr>
              <a:t>GOTO</a:t>
            </a:r>
          </a:p>
        </p:txBody>
      </p:sp>
      <p:sp>
        <p:nvSpPr>
          <p:cNvPr id="532553" name="Line 73"/>
          <p:cNvSpPr>
            <a:spLocks noChangeShapeType="1"/>
          </p:cNvSpPr>
          <p:nvPr/>
        </p:nvSpPr>
        <p:spPr bwMode="auto">
          <a:xfrm>
            <a:off x="2051050" y="2420938"/>
            <a:ext cx="0" cy="4321175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2554" name="Line 74"/>
          <p:cNvSpPr>
            <a:spLocks noChangeShapeType="1"/>
          </p:cNvSpPr>
          <p:nvPr/>
        </p:nvSpPr>
        <p:spPr bwMode="auto">
          <a:xfrm>
            <a:off x="6372225" y="2420938"/>
            <a:ext cx="0" cy="4321175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2555" name="Line 75"/>
          <p:cNvSpPr>
            <a:spLocks noChangeShapeType="1"/>
          </p:cNvSpPr>
          <p:nvPr/>
        </p:nvSpPr>
        <p:spPr bwMode="auto">
          <a:xfrm>
            <a:off x="1223963" y="3141663"/>
            <a:ext cx="6948487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2556" name="Rectangle 76"/>
          <p:cNvSpPr>
            <a:spLocks noChangeArrowheads="1"/>
          </p:cNvSpPr>
          <p:nvPr/>
        </p:nvSpPr>
        <p:spPr bwMode="auto">
          <a:xfrm>
            <a:off x="2147888" y="2709863"/>
            <a:ext cx="3365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>
                <a:sym typeface="Symbol" panose="05050102010706020507" pitchFamily="18" charset="2"/>
              </a:rPr>
              <a:t>v</a:t>
            </a:r>
          </a:p>
        </p:txBody>
      </p:sp>
      <p:sp>
        <p:nvSpPr>
          <p:cNvPr id="532557" name="Rectangle 77"/>
          <p:cNvSpPr>
            <a:spLocks noChangeArrowheads="1"/>
          </p:cNvSpPr>
          <p:nvPr/>
        </p:nvSpPr>
        <p:spPr bwMode="auto">
          <a:xfrm>
            <a:off x="2722563" y="2709863"/>
            <a:ext cx="354012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532558" name="Rectangle 78"/>
          <p:cNvSpPr>
            <a:spLocks noChangeArrowheads="1"/>
          </p:cNvSpPr>
          <p:nvPr/>
        </p:nvSpPr>
        <p:spPr bwMode="auto">
          <a:xfrm>
            <a:off x="3348038" y="2705100"/>
            <a:ext cx="3365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</a:t>
            </a:r>
          </a:p>
        </p:txBody>
      </p:sp>
      <p:sp>
        <p:nvSpPr>
          <p:cNvPr id="532559" name="Rectangle 79"/>
          <p:cNvSpPr>
            <a:spLocks noChangeArrowheads="1"/>
          </p:cNvSpPr>
          <p:nvPr/>
        </p:nvSpPr>
        <p:spPr bwMode="auto">
          <a:xfrm>
            <a:off x="3948113" y="2709863"/>
            <a:ext cx="3619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+</a:t>
            </a:r>
          </a:p>
        </p:txBody>
      </p:sp>
      <p:sp>
        <p:nvSpPr>
          <p:cNvPr id="532560" name="Rectangle 80"/>
          <p:cNvSpPr>
            <a:spLocks noChangeArrowheads="1"/>
          </p:cNvSpPr>
          <p:nvPr/>
        </p:nvSpPr>
        <p:spPr bwMode="auto">
          <a:xfrm>
            <a:off x="4595813" y="2709863"/>
            <a:ext cx="2857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(</a:t>
            </a:r>
          </a:p>
        </p:txBody>
      </p:sp>
      <p:sp>
        <p:nvSpPr>
          <p:cNvPr id="532561" name="Rectangle 81"/>
          <p:cNvSpPr>
            <a:spLocks noChangeArrowheads="1"/>
          </p:cNvSpPr>
          <p:nvPr/>
        </p:nvSpPr>
        <p:spPr bwMode="auto">
          <a:xfrm>
            <a:off x="5243513" y="2709863"/>
            <a:ext cx="2857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532562" name="Rectangle 82"/>
          <p:cNvSpPr>
            <a:spLocks noChangeArrowheads="1"/>
          </p:cNvSpPr>
          <p:nvPr/>
        </p:nvSpPr>
        <p:spPr bwMode="auto">
          <a:xfrm>
            <a:off x="5867400" y="2709863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#</a:t>
            </a:r>
          </a:p>
        </p:txBody>
      </p:sp>
      <p:sp>
        <p:nvSpPr>
          <p:cNvPr id="532563" name="Rectangle 83"/>
          <p:cNvSpPr>
            <a:spLocks noChangeArrowheads="1"/>
          </p:cNvSpPr>
          <p:nvPr/>
        </p:nvSpPr>
        <p:spPr bwMode="auto">
          <a:xfrm>
            <a:off x="6516688" y="2709863"/>
            <a:ext cx="3873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>
                <a:sym typeface="Symbol" panose="05050102010706020507" pitchFamily="18" charset="2"/>
              </a:rPr>
              <a:t>E</a:t>
            </a:r>
          </a:p>
        </p:txBody>
      </p:sp>
      <p:sp>
        <p:nvSpPr>
          <p:cNvPr id="532564" name="Rectangle 84"/>
          <p:cNvSpPr>
            <a:spLocks noChangeArrowheads="1"/>
          </p:cNvSpPr>
          <p:nvPr/>
        </p:nvSpPr>
        <p:spPr bwMode="auto">
          <a:xfrm>
            <a:off x="7115175" y="2709863"/>
            <a:ext cx="369888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>
                <a:sym typeface="Symbol" panose="05050102010706020507" pitchFamily="18" charset="2"/>
              </a:rPr>
              <a:t>T</a:t>
            </a:r>
          </a:p>
        </p:txBody>
      </p:sp>
      <p:sp>
        <p:nvSpPr>
          <p:cNvPr id="532565" name="Rectangle 85"/>
          <p:cNvSpPr>
            <a:spLocks noChangeArrowheads="1"/>
          </p:cNvSpPr>
          <p:nvPr/>
        </p:nvSpPr>
        <p:spPr bwMode="auto">
          <a:xfrm>
            <a:off x="7715250" y="2709863"/>
            <a:ext cx="369888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>
                <a:sym typeface="Symbol" panose="05050102010706020507" pitchFamily="18" charset="2"/>
              </a:rPr>
              <a:t>F</a:t>
            </a:r>
          </a:p>
        </p:txBody>
      </p:sp>
      <p:sp>
        <p:nvSpPr>
          <p:cNvPr id="532566" name="Rectangle 86"/>
          <p:cNvSpPr>
            <a:spLocks noChangeArrowheads="1"/>
          </p:cNvSpPr>
          <p:nvPr/>
        </p:nvSpPr>
        <p:spPr bwMode="auto">
          <a:xfrm>
            <a:off x="1438275" y="3070225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0</a:t>
            </a:r>
          </a:p>
        </p:txBody>
      </p:sp>
      <p:sp>
        <p:nvSpPr>
          <p:cNvPr id="532567" name="Rectangle 87"/>
          <p:cNvSpPr>
            <a:spLocks noChangeArrowheads="1"/>
          </p:cNvSpPr>
          <p:nvPr/>
        </p:nvSpPr>
        <p:spPr bwMode="auto">
          <a:xfrm>
            <a:off x="1438275" y="3324225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1</a:t>
            </a:r>
          </a:p>
        </p:txBody>
      </p:sp>
      <p:sp>
        <p:nvSpPr>
          <p:cNvPr id="532568" name="Rectangle 88"/>
          <p:cNvSpPr>
            <a:spLocks noChangeArrowheads="1"/>
          </p:cNvSpPr>
          <p:nvPr/>
        </p:nvSpPr>
        <p:spPr bwMode="auto">
          <a:xfrm>
            <a:off x="1438275" y="3611563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2</a:t>
            </a:r>
          </a:p>
        </p:txBody>
      </p:sp>
      <p:sp>
        <p:nvSpPr>
          <p:cNvPr id="532569" name="Rectangle 89"/>
          <p:cNvSpPr>
            <a:spLocks noChangeArrowheads="1"/>
          </p:cNvSpPr>
          <p:nvPr/>
        </p:nvSpPr>
        <p:spPr bwMode="auto">
          <a:xfrm>
            <a:off x="1438275" y="3900488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3</a:t>
            </a:r>
          </a:p>
        </p:txBody>
      </p:sp>
      <p:sp>
        <p:nvSpPr>
          <p:cNvPr id="532570" name="Rectangle 90"/>
          <p:cNvSpPr>
            <a:spLocks noChangeArrowheads="1"/>
          </p:cNvSpPr>
          <p:nvPr/>
        </p:nvSpPr>
        <p:spPr bwMode="auto">
          <a:xfrm>
            <a:off x="1438275" y="4187825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4</a:t>
            </a:r>
          </a:p>
        </p:txBody>
      </p:sp>
      <p:sp>
        <p:nvSpPr>
          <p:cNvPr id="532571" name="Rectangle 91"/>
          <p:cNvSpPr>
            <a:spLocks noChangeArrowheads="1"/>
          </p:cNvSpPr>
          <p:nvPr/>
        </p:nvSpPr>
        <p:spPr bwMode="auto">
          <a:xfrm>
            <a:off x="1438275" y="4475163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5</a:t>
            </a:r>
          </a:p>
        </p:txBody>
      </p:sp>
      <p:sp>
        <p:nvSpPr>
          <p:cNvPr id="532572" name="Rectangle 92"/>
          <p:cNvSpPr>
            <a:spLocks noChangeArrowheads="1"/>
          </p:cNvSpPr>
          <p:nvPr/>
        </p:nvSpPr>
        <p:spPr bwMode="auto">
          <a:xfrm>
            <a:off x="1438275" y="4764088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6</a:t>
            </a:r>
          </a:p>
        </p:txBody>
      </p:sp>
      <p:sp>
        <p:nvSpPr>
          <p:cNvPr id="532573" name="Rectangle 93"/>
          <p:cNvSpPr>
            <a:spLocks noChangeArrowheads="1"/>
          </p:cNvSpPr>
          <p:nvPr/>
        </p:nvSpPr>
        <p:spPr bwMode="auto">
          <a:xfrm>
            <a:off x="1438275" y="5014913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7</a:t>
            </a:r>
          </a:p>
        </p:txBody>
      </p:sp>
      <p:sp>
        <p:nvSpPr>
          <p:cNvPr id="532574" name="Rectangle 94"/>
          <p:cNvSpPr>
            <a:spLocks noChangeArrowheads="1"/>
          </p:cNvSpPr>
          <p:nvPr/>
        </p:nvSpPr>
        <p:spPr bwMode="auto">
          <a:xfrm>
            <a:off x="1438275" y="5267325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8</a:t>
            </a:r>
          </a:p>
        </p:txBody>
      </p:sp>
      <p:sp>
        <p:nvSpPr>
          <p:cNvPr id="532575" name="Rectangle 95"/>
          <p:cNvSpPr>
            <a:spLocks noChangeArrowheads="1"/>
          </p:cNvSpPr>
          <p:nvPr/>
        </p:nvSpPr>
        <p:spPr bwMode="auto">
          <a:xfrm>
            <a:off x="1438275" y="5519738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9</a:t>
            </a:r>
          </a:p>
        </p:txBody>
      </p:sp>
      <p:sp>
        <p:nvSpPr>
          <p:cNvPr id="532576" name="Rectangle 96"/>
          <p:cNvSpPr>
            <a:spLocks noChangeArrowheads="1"/>
          </p:cNvSpPr>
          <p:nvPr/>
        </p:nvSpPr>
        <p:spPr bwMode="auto">
          <a:xfrm>
            <a:off x="1368425" y="5772150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10</a:t>
            </a:r>
          </a:p>
        </p:txBody>
      </p:sp>
      <p:sp>
        <p:nvSpPr>
          <p:cNvPr id="532577" name="Rectangle 97"/>
          <p:cNvSpPr>
            <a:spLocks noChangeArrowheads="1"/>
          </p:cNvSpPr>
          <p:nvPr/>
        </p:nvSpPr>
        <p:spPr bwMode="auto">
          <a:xfrm>
            <a:off x="1368425" y="6056313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11</a:t>
            </a:r>
          </a:p>
        </p:txBody>
      </p:sp>
      <p:sp>
        <p:nvSpPr>
          <p:cNvPr id="532578" name="Rectangle 98"/>
          <p:cNvSpPr>
            <a:spLocks noChangeArrowheads="1"/>
          </p:cNvSpPr>
          <p:nvPr/>
        </p:nvSpPr>
        <p:spPr bwMode="auto">
          <a:xfrm>
            <a:off x="1368425" y="6345238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12</a:t>
            </a:r>
          </a:p>
        </p:txBody>
      </p:sp>
      <p:sp>
        <p:nvSpPr>
          <p:cNvPr id="532579" name="Rectangle 99"/>
          <p:cNvSpPr>
            <a:spLocks noChangeArrowheads="1"/>
          </p:cNvSpPr>
          <p:nvPr/>
        </p:nvSpPr>
        <p:spPr bwMode="auto">
          <a:xfrm>
            <a:off x="6551613" y="3068638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1</a:t>
            </a:r>
          </a:p>
        </p:txBody>
      </p:sp>
      <p:sp>
        <p:nvSpPr>
          <p:cNvPr id="532580" name="Rectangle 100"/>
          <p:cNvSpPr>
            <a:spLocks noChangeArrowheads="1"/>
          </p:cNvSpPr>
          <p:nvPr/>
        </p:nvSpPr>
        <p:spPr bwMode="auto">
          <a:xfrm>
            <a:off x="7164388" y="3068638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2</a:t>
            </a:r>
          </a:p>
        </p:txBody>
      </p:sp>
      <p:sp>
        <p:nvSpPr>
          <p:cNvPr id="532581" name="Rectangle 101"/>
          <p:cNvSpPr>
            <a:spLocks noChangeArrowheads="1"/>
          </p:cNvSpPr>
          <p:nvPr/>
        </p:nvSpPr>
        <p:spPr bwMode="auto">
          <a:xfrm>
            <a:off x="7740650" y="3068638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3</a:t>
            </a:r>
          </a:p>
        </p:txBody>
      </p:sp>
      <p:sp>
        <p:nvSpPr>
          <p:cNvPr id="532582" name="Rectangle 102"/>
          <p:cNvSpPr>
            <a:spLocks noChangeArrowheads="1"/>
          </p:cNvSpPr>
          <p:nvPr/>
        </p:nvSpPr>
        <p:spPr bwMode="auto">
          <a:xfrm>
            <a:off x="5792788" y="3284538"/>
            <a:ext cx="579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acc</a:t>
            </a:r>
          </a:p>
        </p:txBody>
      </p:sp>
      <p:sp>
        <p:nvSpPr>
          <p:cNvPr id="532583" name="Rectangle 103"/>
          <p:cNvSpPr>
            <a:spLocks noChangeArrowheads="1"/>
          </p:cNvSpPr>
          <p:nvPr/>
        </p:nvSpPr>
        <p:spPr bwMode="auto">
          <a:xfrm>
            <a:off x="3924300" y="3321050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s7</a:t>
            </a:r>
          </a:p>
        </p:txBody>
      </p:sp>
      <p:sp>
        <p:nvSpPr>
          <p:cNvPr id="532584" name="Rectangle 104"/>
          <p:cNvSpPr>
            <a:spLocks noChangeArrowheads="1"/>
          </p:cNvSpPr>
          <p:nvPr/>
        </p:nvSpPr>
        <p:spPr bwMode="auto">
          <a:xfrm>
            <a:off x="3276600" y="3608388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s8</a:t>
            </a:r>
          </a:p>
        </p:txBody>
      </p:sp>
      <p:sp>
        <p:nvSpPr>
          <p:cNvPr id="532585" name="Rectangle 105"/>
          <p:cNvSpPr>
            <a:spLocks noChangeArrowheads="1"/>
          </p:cNvSpPr>
          <p:nvPr/>
        </p:nvSpPr>
        <p:spPr bwMode="auto">
          <a:xfrm>
            <a:off x="3946525" y="360838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r2</a:t>
            </a:r>
          </a:p>
        </p:txBody>
      </p:sp>
      <p:sp>
        <p:nvSpPr>
          <p:cNvPr id="532586" name="Rectangle 106"/>
          <p:cNvSpPr>
            <a:spLocks noChangeArrowheads="1"/>
          </p:cNvSpPr>
          <p:nvPr/>
        </p:nvSpPr>
        <p:spPr bwMode="auto">
          <a:xfrm>
            <a:off x="5148263" y="360838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r2</a:t>
            </a:r>
          </a:p>
        </p:txBody>
      </p:sp>
      <p:sp>
        <p:nvSpPr>
          <p:cNvPr id="532587" name="Rectangle 107"/>
          <p:cNvSpPr>
            <a:spLocks noChangeArrowheads="1"/>
          </p:cNvSpPr>
          <p:nvPr/>
        </p:nvSpPr>
        <p:spPr bwMode="auto">
          <a:xfrm>
            <a:off x="5867400" y="360838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r2</a:t>
            </a:r>
          </a:p>
        </p:txBody>
      </p:sp>
      <p:sp>
        <p:nvSpPr>
          <p:cNvPr id="532588" name="Rectangle 108"/>
          <p:cNvSpPr>
            <a:spLocks noChangeArrowheads="1"/>
          </p:cNvSpPr>
          <p:nvPr/>
        </p:nvSpPr>
        <p:spPr bwMode="auto">
          <a:xfrm>
            <a:off x="3946525" y="3897313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r4</a:t>
            </a:r>
          </a:p>
        </p:txBody>
      </p:sp>
      <p:sp>
        <p:nvSpPr>
          <p:cNvPr id="532589" name="Rectangle 109"/>
          <p:cNvSpPr>
            <a:spLocks noChangeArrowheads="1"/>
          </p:cNvSpPr>
          <p:nvPr/>
        </p:nvSpPr>
        <p:spPr bwMode="auto">
          <a:xfrm>
            <a:off x="5148263" y="3897313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r4</a:t>
            </a:r>
          </a:p>
        </p:txBody>
      </p:sp>
      <p:sp>
        <p:nvSpPr>
          <p:cNvPr id="532590" name="Rectangle 110"/>
          <p:cNvSpPr>
            <a:spLocks noChangeArrowheads="1"/>
          </p:cNvSpPr>
          <p:nvPr/>
        </p:nvSpPr>
        <p:spPr bwMode="auto">
          <a:xfrm>
            <a:off x="5867400" y="3897313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r4</a:t>
            </a:r>
          </a:p>
        </p:txBody>
      </p:sp>
      <p:sp>
        <p:nvSpPr>
          <p:cNvPr id="532591" name="Rectangle 111"/>
          <p:cNvSpPr>
            <a:spLocks noChangeArrowheads="1"/>
          </p:cNvSpPr>
          <p:nvPr/>
        </p:nvSpPr>
        <p:spPr bwMode="auto">
          <a:xfrm>
            <a:off x="4500563" y="3068638"/>
            <a:ext cx="452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s4</a:t>
            </a:r>
          </a:p>
        </p:txBody>
      </p:sp>
      <p:sp>
        <p:nvSpPr>
          <p:cNvPr id="532592" name="Rectangle 112"/>
          <p:cNvSpPr>
            <a:spLocks noChangeArrowheads="1"/>
          </p:cNvSpPr>
          <p:nvPr/>
        </p:nvSpPr>
        <p:spPr bwMode="auto">
          <a:xfrm>
            <a:off x="2103438" y="3068638"/>
            <a:ext cx="452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s5</a:t>
            </a:r>
          </a:p>
        </p:txBody>
      </p:sp>
      <p:sp>
        <p:nvSpPr>
          <p:cNvPr id="532593" name="Rectangle 113"/>
          <p:cNvSpPr>
            <a:spLocks noChangeArrowheads="1"/>
          </p:cNvSpPr>
          <p:nvPr/>
        </p:nvSpPr>
        <p:spPr bwMode="auto">
          <a:xfrm>
            <a:off x="2679700" y="3068638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s6</a:t>
            </a:r>
          </a:p>
        </p:txBody>
      </p:sp>
      <p:sp>
        <p:nvSpPr>
          <p:cNvPr id="532594" name="Rectangle 114"/>
          <p:cNvSpPr>
            <a:spLocks noChangeArrowheads="1"/>
          </p:cNvSpPr>
          <p:nvPr/>
        </p:nvSpPr>
        <p:spPr bwMode="auto">
          <a:xfrm>
            <a:off x="2103438" y="4184650"/>
            <a:ext cx="452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s5</a:t>
            </a:r>
          </a:p>
        </p:txBody>
      </p:sp>
      <p:sp>
        <p:nvSpPr>
          <p:cNvPr id="532595" name="Rectangle 115"/>
          <p:cNvSpPr>
            <a:spLocks noChangeArrowheads="1"/>
          </p:cNvSpPr>
          <p:nvPr/>
        </p:nvSpPr>
        <p:spPr bwMode="auto">
          <a:xfrm>
            <a:off x="2679700" y="4184650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s6</a:t>
            </a:r>
          </a:p>
        </p:txBody>
      </p:sp>
      <p:sp>
        <p:nvSpPr>
          <p:cNvPr id="532596" name="Rectangle 116"/>
          <p:cNvSpPr>
            <a:spLocks noChangeArrowheads="1"/>
          </p:cNvSpPr>
          <p:nvPr/>
        </p:nvSpPr>
        <p:spPr bwMode="auto">
          <a:xfrm>
            <a:off x="4479925" y="4184650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s4</a:t>
            </a:r>
          </a:p>
        </p:txBody>
      </p:sp>
      <p:sp>
        <p:nvSpPr>
          <p:cNvPr id="532597" name="Rectangle 117"/>
          <p:cNvSpPr>
            <a:spLocks noChangeArrowheads="1"/>
          </p:cNvSpPr>
          <p:nvPr/>
        </p:nvSpPr>
        <p:spPr bwMode="auto">
          <a:xfrm>
            <a:off x="6551613" y="4221163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9</a:t>
            </a:r>
          </a:p>
        </p:txBody>
      </p:sp>
      <p:sp>
        <p:nvSpPr>
          <p:cNvPr id="532598" name="Rectangle 118"/>
          <p:cNvSpPr>
            <a:spLocks noChangeArrowheads="1"/>
          </p:cNvSpPr>
          <p:nvPr/>
        </p:nvSpPr>
        <p:spPr bwMode="auto">
          <a:xfrm>
            <a:off x="7164388" y="4221163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2</a:t>
            </a:r>
          </a:p>
        </p:txBody>
      </p:sp>
      <p:sp>
        <p:nvSpPr>
          <p:cNvPr id="532599" name="Rectangle 119"/>
          <p:cNvSpPr>
            <a:spLocks noChangeArrowheads="1"/>
          </p:cNvSpPr>
          <p:nvPr/>
        </p:nvSpPr>
        <p:spPr bwMode="auto">
          <a:xfrm>
            <a:off x="7740650" y="4221163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3</a:t>
            </a:r>
          </a:p>
        </p:txBody>
      </p:sp>
      <p:sp>
        <p:nvSpPr>
          <p:cNvPr id="532600" name="Rectangle 120"/>
          <p:cNvSpPr>
            <a:spLocks noChangeArrowheads="1"/>
          </p:cNvSpPr>
          <p:nvPr/>
        </p:nvSpPr>
        <p:spPr bwMode="auto">
          <a:xfrm>
            <a:off x="3298825" y="3897313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r4</a:t>
            </a:r>
          </a:p>
        </p:txBody>
      </p:sp>
      <p:sp>
        <p:nvSpPr>
          <p:cNvPr id="532601" name="Rectangle 121"/>
          <p:cNvSpPr>
            <a:spLocks noChangeArrowheads="1"/>
          </p:cNvSpPr>
          <p:nvPr/>
        </p:nvSpPr>
        <p:spPr bwMode="auto">
          <a:xfrm>
            <a:off x="3970338" y="447198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r6</a:t>
            </a:r>
          </a:p>
        </p:txBody>
      </p:sp>
      <p:sp>
        <p:nvSpPr>
          <p:cNvPr id="532602" name="Rectangle 122"/>
          <p:cNvSpPr>
            <a:spLocks noChangeArrowheads="1"/>
          </p:cNvSpPr>
          <p:nvPr/>
        </p:nvSpPr>
        <p:spPr bwMode="auto">
          <a:xfrm>
            <a:off x="5172075" y="447198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r6</a:t>
            </a:r>
          </a:p>
        </p:txBody>
      </p:sp>
      <p:sp>
        <p:nvSpPr>
          <p:cNvPr id="532603" name="Rectangle 123"/>
          <p:cNvSpPr>
            <a:spLocks noChangeArrowheads="1"/>
          </p:cNvSpPr>
          <p:nvPr/>
        </p:nvSpPr>
        <p:spPr bwMode="auto">
          <a:xfrm>
            <a:off x="5891213" y="447198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r6</a:t>
            </a:r>
          </a:p>
        </p:txBody>
      </p:sp>
      <p:sp>
        <p:nvSpPr>
          <p:cNvPr id="532604" name="Rectangle 124"/>
          <p:cNvSpPr>
            <a:spLocks noChangeArrowheads="1"/>
          </p:cNvSpPr>
          <p:nvPr/>
        </p:nvSpPr>
        <p:spPr bwMode="auto">
          <a:xfrm>
            <a:off x="3322638" y="447198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r6</a:t>
            </a:r>
          </a:p>
        </p:txBody>
      </p:sp>
      <p:sp>
        <p:nvSpPr>
          <p:cNvPr id="532605" name="Rectangle 125"/>
          <p:cNvSpPr>
            <a:spLocks noChangeArrowheads="1"/>
          </p:cNvSpPr>
          <p:nvPr/>
        </p:nvSpPr>
        <p:spPr bwMode="auto">
          <a:xfrm>
            <a:off x="3970338" y="4760913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r7</a:t>
            </a:r>
          </a:p>
        </p:txBody>
      </p:sp>
      <p:sp>
        <p:nvSpPr>
          <p:cNvPr id="532606" name="Rectangle 126"/>
          <p:cNvSpPr>
            <a:spLocks noChangeArrowheads="1"/>
          </p:cNvSpPr>
          <p:nvPr/>
        </p:nvSpPr>
        <p:spPr bwMode="auto">
          <a:xfrm>
            <a:off x="5172075" y="4760913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r7</a:t>
            </a:r>
          </a:p>
        </p:txBody>
      </p:sp>
      <p:sp>
        <p:nvSpPr>
          <p:cNvPr id="532607" name="Rectangle 127"/>
          <p:cNvSpPr>
            <a:spLocks noChangeArrowheads="1"/>
          </p:cNvSpPr>
          <p:nvPr/>
        </p:nvSpPr>
        <p:spPr bwMode="auto">
          <a:xfrm>
            <a:off x="5891213" y="4760913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r7</a:t>
            </a:r>
          </a:p>
        </p:txBody>
      </p:sp>
      <p:sp>
        <p:nvSpPr>
          <p:cNvPr id="532608" name="Rectangle 128"/>
          <p:cNvSpPr>
            <a:spLocks noChangeArrowheads="1"/>
          </p:cNvSpPr>
          <p:nvPr/>
        </p:nvSpPr>
        <p:spPr bwMode="auto">
          <a:xfrm>
            <a:off x="3322638" y="4760913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r7</a:t>
            </a:r>
          </a:p>
        </p:txBody>
      </p:sp>
      <p:sp>
        <p:nvSpPr>
          <p:cNvPr id="532609" name="Rectangle 129"/>
          <p:cNvSpPr>
            <a:spLocks noChangeArrowheads="1"/>
          </p:cNvSpPr>
          <p:nvPr/>
        </p:nvSpPr>
        <p:spPr bwMode="auto">
          <a:xfrm>
            <a:off x="2103438" y="5013325"/>
            <a:ext cx="452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s5</a:t>
            </a:r>
          </a:p>
        </p:txBody>
      </p:sp>
      <p:sp>
        <p:nvSpPr>
          <p:cNvPr id="532610" name="Rectangle 130"/>
          <p:cNvSpPr>
            <a:spLocks noChangeArrowheads="1"/>
          </p:cNvSpPr>
          <p:nvPr/>
        </p:nvSpPr>
        <p:spPr bwMode="auto">
          <a:xfrm>
            <a:off x="2679700" y="5013325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s6</a:t>
            </a:r>
          </a:p>
        </p:txBody>
      </p:sp>
      <p:sp>
        <p:nvSpPr>
          <p:cNvPr id="532611" name="Rectangle 131"/>
          <p:cNvSpPr>
            <a:spLocks noChangeArrowheads="1"/>
          </p:cNvSpPr>
          <p:nvPr/>
        </p:nvSpPr>
        <p:spPr bwMode="auto">
          <a:xfrm>
            <a:off x="4479925" y="5013325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s4</a:t>
            </a:r>
          </a:p>
        </p:txBody>
      </p:sp>
      <p:sp>
        <p:nvSpPr>
          <p:cNvPr id="532612" name="Rectangle 132"/>
          <p:cNvSpPr>
            <a:spLocks noChangeArrowheads="1"/>
          </p:cNvSpPr>
          <p:nvPr/>
        </p:nvSpPr>
        <p:spPr bwMode="auto">
          <a:xfrm>
            <a:off x="7058025" y="5013325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10</a:t>
            </a:r>
          </a:p>
        </p:txBody>
      </p:sp>
      <p:sp>
        <p:nvSpPr>
          <p:cNvPr id="532613" name="Rectangle 133"/>
          <p:cNvSpPr>
            <a:spLocks noChangeArrowheads="1"/>
          </p:cNvSpPr>
          <p:nvPr/>
        </p:nvSpPr>
        <p:spPr bwMode="auto">
          <a:xfrm>
            <a:off x="7740650" y="5013325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3</a:t>
            </a:r>
          </a:p>
        </p:txBody>
      </p:sp>
      <p:sp>
        <p:nvSpPr>
          <p:cNvPr id="532614" name="Rectangle 134"/>
          <p:cNvSpPr>
            <a:spLocks noChangeArrowheads="1"/>
          </p:cNvSpPr>
          <p:nvPr/>
        </p:nvSpPr>
        <p:spPr bwMode="auto">
          <a:xfrm>
            <a:off x="2103438" y="5302250"/>
            <a:ext cx="452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s5</a:t>
            </a:r>
          </a:p>
        </p:txBody>
      </p:sp>
      <p:sp>
        <p:nvSpPr>
          <p:cNvPr id="532615" name="Rectangle 135"/>
          <p:cNvSpPr>
            <a:spLocks noChangeArrowheads="1"/>
          </p:cNvSpPr>
          <p:nvPr/>
        </p:nvSpPr>
        <p:spPr bwMode="auto">
          <a:xfrm>
            <a:off x="2679700" y="5302250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s6</a:t>
            </a:r>
          </a:p>
        </p:txBody>
      </p:sp>
      <p:sp>
        <p:nvSpPr>
          <p:cNvPr id="532616" name="Rectangle 136"/>
          <p:cNvSpPr>
            <a:spLocks noChangeArrowheads="1"/>
          </p:cNvSpPr>
          <p:nvPr/>
        </p:nvSpPr>
        <p:spPr bwMode="auto">
          <a:xfrm>
            <a:off x="4479925" y="5302250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s4</a:t>
            </a:r>
          </a:p>
        </p:txBody>
      </p:sp>
      <p:sp>
        <p:nvSpPr>
          <p:cNvPr id="532617" name="Rectangle 137"/>
          <p:cNvSpPr>
            <a:spLocks noChangeArrowheads="1"/>
          </p:cNvSpPr>
          <p:nvPr/>
        </p:nvSpPr>
        <p:spPr bwMode="auto">
          <a:xfrm>
            <a:off x="7634288" y="5302250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11</a:t>
            </a:r>
          </a:p>
        </p:txBody>
      </p:sp>
      <p:sp>
        <p:nvSpPr>
          <p:cNvPr id="532618" name="Rectangle 138"/>
          <p:cNvSpPr>
            <a:spLocks noChangeArrowheads="1"/>
          </p:cNvSpPr>
          <p:nvPr/>
        </p:nvSpPr>
        <p:spPr bwMode="auto">
          <a:xfrm>
            <a:off x="5057775" y="5518150"/>
            <a:ext cx="593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s12</a:t>
            </a:r>
          </a:p>
        </p:txBody>
      </p:sp>
      <p:sp>
        <p:nvSpPr>
          <p:cNvPr id="532619" name="Rectangle 139"/>
          <p:cNvSpPr>
            <a:spLocks noChangeArrowheads="1"/>
          </p:cNvSpPr>
          <p:nvPr/>
        </p:nvSpPr>
        <p:spPr bwMode="auto">
          <a:xfrm>
            <a:off x="3276600" y="5768975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s8</a:t>
            </a:r>
          </a:p>
        </p:txBody>
      </p:sp>
      <p:sp>
        <p:nvSpPr>
          <p:cNvPr id="532620" name="Rectangle 140"/>
          <p:cNvSpPr>
            <a:spLocks noChangeArrowheads="1"/>
          </p:cNvSpPr>
          <p:nvPr/>
        </p:nvSpPr>
        <p:spPr bwMode="auto">
          <a:xfrm>
            <a:off x="3946525" y="576897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r1</a:t>
            </a:r>
          </a:p>
        </p:txBody>
      </p:sp>
      <p:sp>
        <p:nvSpPr>
          <p:cNvPr id="532621" name="Rectangle 141"/>
          <p:cNvSpPr>
            <a:spLocks noChangeArrowheads="1"/>
          </p:cNvSpPr>
          <p:nvPr/>
        </p:nvSpPr>
        <p:spPr bwMode="auto">
          <a:xfrm>
            <a:off x="5148263" y="576897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r1</a:t>
            </a:r>
          </a:p>
        </p:txBody>
      </p:sp>
      <p:sp>
        <p:nvSpPr>
          <p:cNvPr id="532622" name="Rectangle 142"/>
          <p:cNvSpPr>
            <a:spLocks noChangeArrowheads="1"/>
          </p:cNvSpPr>
          <p:nvPr/>
        </p:nvSpPr>
        <p:spPr bwMode="auto">
          <a:xfrm>
            <a:off x="5867400" y="576897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r1</a:t>
            </a:r>
          </a:p>
        </p:txBody>
      </p:sp>
      <p:sp>
        <p:nvSpPr>
          <p:cNvPr id="532623" name="Rectangle 143"/>
          <p:cNvSpPr>
            <a:spLocks noChangeArrowheads="1"/>
          </p:cNvSpPr>
          <p:nvPr/>
        </p:nvSpPr>
        <p:spPr bwMode="auto">
          <a:xfrm>
            <a:off x="3946525" y="609282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r3</a:t>
            </a:r>
          </a:p>
        </p:txBody>
      </p:sp>
      <p:sp>
        <p:nvSpPr>
          <p:cNvPr id="532624" name="Rectangle 144"/>
          <p:cNvSpPr>
            <a:spLocks noChangeArrowheads="1"/>
          </p:cNvSpPr>
          <p:nvPr/>
        </p:nvSpPr>
        <p:spPr bwMode="auto">
          <a:xfrm>
            <a:off x="5148263" y="609282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r3</a:t>
            </a:r>
          </a:p>
        </p:txBody>
      </p:sp>
      <p:sp>
        <p:nvSpPr>
          <p:cNvPr id="532625" name="Rectangle 145"/>
          <p:cNvSpPr>
            <a:spLocks noChangeArrowheads="1"/>
          </p:cNvSpPr>
          <p:nvPr/>
        </p:nvSpPr>
        <p:spPr bwMode="auto">
          <a:xfrm>
            <a:off x="5867400" y="609282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r3</a:t>
            </a:r>
          </a:p>
        </p:txBody>
      </p:sp>
      <p:sp>
        <p:nvSpPr>
          <p:cNvPr id="532626" name="Rectangle 146"/>
          <p:cNvSpPr>
            <a:spLocks noChangeArrowheads="1"/>
          </p:cNvSpPr>
          <p:nvPr/>
        </p:nvSpPr>
        <p:spPr bwMode="auto">
          <a:xfrm>
            <a:off x="3298825" y="609282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r3</a:t>
            </a:r>
          </a:p>
        </p:txBody>
      </p:sp>
      <p:sp>
        <p:nvSpPr>
          <p:cNvPr id="532627" name="Rectangle 147"/>
          <p:cNvSpPr>
            <a:spLocks noChangeArrowheads="1"/>
          </p:cNvSpPr>
          <p:nvPr/>
        </p:nvSpPr>
        <p:spPr bwMode="auto">
          <a:xfrm>
            <a:off x="3924300" y="641667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r5</a:t>
            </a:r>
          </a:p>
        </p:txBody>
      </p:sp>
      <p:sp>
        <p:nvSpPr>
          <p:cNvPr id="532628" name="Rectangle 148"/>
          <p:cNvSpPr>
            <a:spLocks noChangeArrowheads="1"/>
          </p:cNvSpPr>
          <p:nvPr/>
        </p:nvSpPr>
        <p:spPr bwMode="auto">
          <a:xfrm>
            <a:off x="5126038" y="641667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r5</a:t>
            </a:r>
          </a:p>
        </p:txBody>
      </p:sp>
      <p:sp>
        <p:nvSpPr>
          <p:cNvPr id="532629" name="Rectangle 149"/>
          <p:cNvSpPr>
            <a:spLocks noChangeArrowheads="1"/>
          </p:cNvSpPr>
          <p:nvPr/>
        </p:nvSpPr>
        <p:spPr bwMode="auto">
          <a:xfrm>
            <a:off x="5845175" y="641667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r5</a:t>
            </a:r>
          </a:p>
        </p:txBody>
      </p:sp>
      <p:sp>
        <p:nvSpPr>
          <p:cNvPr id="532630" name="Rectangle 150"/>
          <p:cNvSpPr>
            <a:spLocks noChangeArrowheads="1"/>
          </p:cNvSpPr>
          <p:nvPr/>
        </p:nvSpPr>
        <p:spPr bwMode="auto">
          <a:xfrm>
            <a:off x="3276600" y="641667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r5</a:t>
            </a:r>
          </a:p>
        </p:txBody>
      </p:sp>
      <p:sp>
        <p:nvSpPr>
          <p:cNvPr id="532631" name="Rectangle 151"/>
          <p:cNvSpPr>
            <a:spLocks noChangeArrowheads="1"/>
          </p:cNvSpPr>
          <p:nvPr/>
        </p:nvSpPr>
        <p:spPr bwMode="auto">
          <a:xfrm>
            <a:off x="3924300" y="5516563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s7</a:t>
            </a:r>
          </a:p>
        </p:txBody>
      </p:sp>
      <p:sp>
        <p:nvSpPr>
          <p:cNvPr id="532632" name="Text Box 152"/>
          <p:cNvSpPr txBox="1">
            <a:spLocks noChangeArrowheads="1"/>
          </p:cNvSpPr>
          <p:nvPr/>
        </p:nvSpPr>
        <p:spPr bwMode="auto">
          <a:xfrm>
            <a:off x="4283075" y="1196975"/>
            <a:ext cx="4752975" cy="106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0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S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E</a:t>
            </a:r>
            <a:r>
              <a:rPr lang="en-US" altLang="zh-CN" sz="2000">
                <a:sym typeface="Symbol" panose="05050102010706020507" pitchFamily="18" charset="2"/>
              </a:rPr>
              <a:t> </a:t>
            </a: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1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E</a:t>
            </a:r>
            <a:r>
              <a:rPr lang="en-US" altLang="zh-CN" sz="2000">
                <a:sym typeface="Symbol" panose="05050102010706020507" pitchFamily="18" charset="2"/>
              </a:rPr>
              <a:t> </a:t>
            </a:r>
            <a:r>
              <a:rPr lang="en-US" altLang="zh-CN" sz="2000" i="1">
                <a:sym typeface="Symbol" panose="05050102010706020507" pitchFamily="18" charset="2"/>
              </a:rPr>
              <a:t>E+T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2</a:t>
            </a:r>
            <a:r>
              <a:rPr lang="zh-CN" altLang="en-US" sz="2000">
                <a:sym typeface="Symbol" panose="05050102010706020507" pitchFamily="18" charset="2"/>
              </a:rPr>
              <a:t>） </a:t>
            </a:r>
            <a:r>
              <a:rPr lang="en-US" altLang="zh-CN" sz="2000" i="1">
                <a:sym typeface="Symbol" panose="05050102010706020507" pitchFamily="18" charset="2"/>
              </a:rPr>
              <a:t>E 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/>
              <a:t> </a:t>
            </a:r>
            <a:r>
              <a:rPr lang="en-US" altLang="zh-CN" sz="2000" i="1">
                <a:sym typeface="Symbol" panose="05050102010706020507" pitchFamily="18" charset="2"/>
              </a:rPr>
              <a:t>T 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3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T 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T</a:t>
            </a:r>
            <a:r>
              <a:rPr lang="en-US" altLang="zh-CN" sz="2000">
                <a:sym typeface="Symbol" panose="05050102010706020507" pitchFamily="18" charset="2"/>
              </a:rPr>
              <a:t></a:t>
            </a:r>
            <a:r>
              <a:rPr lang="en-US" altLang="zh-CN" sz="2000" i="1">
                <a:sym typeface="Symbol" panose="05050102010706020507" pitchFamily="18" charset="2"/>
              </a:rPr>
              <a:t>F    </a:t>
            </a: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4</a:t>
            </a:r>
            <a:r>
              <a:rPr lang="zh-CN" altLang="en-US" sz="2000">
                <a:sym typeface="Symbol" panose="05050102010706020507" pitchFamily="18" charset="2"/>
              </a:rPr>
              <a:t>） </a:t>
            </a:r>
            <a:r>
              <a:rPr lang="en-US" altLang="zh-CN" sz="2000" i="1">
                <a:sym typeface="Symbol" panose="05050102010706020507" pitchFamily="18" charset="2"/>
              </a:rPr>
              <a:t>T 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/>
              <a:t> </a:t>
            </a:r>
            <a:r>
              <a:rPr lang="en-US" altLang="zh-CN" sz="2000" i="1">
                <a:sym typeface="Symbol" panose="05050102010706020507" pitchFamily="18" charset="2"/>
              </a:rPr>
              <a:t>F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5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F 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 (E)  </a:t>
            </a: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6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zh-CN" altLang="en-US" sz="2000" i="1">
                <a:sym typeface="Symbol" panose="05050102010706020507" pitchFamily="18" charset="2"/>
              </a:rPr>
              <a:t> </a:t>
            </a:r>
            <a:r>
              <a:rPr lang="en-US" altLang="zh-CN" sz="2000" i="1">
                <a:sym typeface="Symbol" panose="05050102010706020507" pitchFamily="18" charset="2"/>
              </a:rPr>
              <a:t>F 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/>
              <a:t> </a:t>
            </a:r>
            <a:r>
              <a:rPr lang="en-US" altLang="zh-CN" sz="2000" i="1">
                <a:sym typeface="Symbol" panose="05050102010706020507" pitchFamily="18" charset="2"/>
              </a:rPr>
              <a:t>v</a:t>
            </a:r>
            <a:r>
              <a:rPr lang="en-US" altLang="zh-CN" sz="2000"/>
              <a:t> </a:t>
            </a: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7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F 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/>
              <a:t> </a:t>
            </a:r>
            <a:r>
              <a:rPr lang="en-US" altLang="zh-CN" sz="2000" i="1">
                <a:sym typeface="Symbol" panose="05050102010706020507" pitchFamily="18" charset="2"/>
              </a:rPr>
              <a:t>d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32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32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3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32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32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532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53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532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532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53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532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532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532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2" dur="500"/>
                                        <p:tgtEl>
                                          <p:spTgt spid="532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7" dur="500"/>
                                        <p:tgtEl>
                                          <p:spTgt spid="532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2" dur="500"/>
                                        <p:tgtEl>
                                          <p:spTgt spid="532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7" dur="500"/>
                                        <p:tgtEl>
                                          <p:spTgt spid="532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2" dur="500"/>
                                        <p:tgtEl>
                                          <p:spTgt spid="532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7" dur="500"/>
                                        <p:tgtEl>
                                          <p:spTgt spid="532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2" dur="500"/>
                                        <p:tgtEl>
                                          <p:spTgt spid="532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7" dur="500"/>
                                        <p:tgtEl>
                                          <p:spTgt spid="532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2" dur="500"/>
                                        <p:tgtEl>
                                          <p:spTgt spid="532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7" dur="500"/>
                                        <p:tgtEl>
                                          <p:spTgt spid="532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2" dur="500"/>
                                        <p:tgtEl>
                                          <p:spTgt spid="532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7" dur="500"/>
                                        <p:tgtEl>
                                          <p:spTgt spid="532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2" dur="500"/>
                                        <p:tgtEl>
                                          <p:spTgt spid="532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7" dur="500"/>
                                        <p:tgtEl>
                                          <p:spTgt spid="532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2" dur="500"/>
                                        <p:tgtEl>
                                          <p:spTgt spid="532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7" dur="500"/>
                                        <p:tgtEl>
                                          <p:spTgt spid="532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2" dur="500"/>
                                        <p:tgtEl>
                                          <p:spTgt spid="532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7" dur="500"/>
                                        <p:tgtEl>
                                          <p:spTgt spid="532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2" dur="500"/>
                                        <p:tgtEl>
                                          <p:spTgt spid="532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7" dur="500"/>
                                        <p:tgtEl>
                                          <p:spTgt spid="532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2" dur="500"/>
                                        <p:tgtEl>
                                          <p:spTgt spid="532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7" dur="500"/>
                                        <p:tgtEl>
                                          <p:spTgt spid="532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2" dur="500"/>
                                        <p:tgtEl>
                                          <p:spTgt spid="532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7" dur="500"/>
                                        <p:tgtEl>
                                          <p:spTgt spid="532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2" dur="500"/>
                                        <p:tgtEl>
                                          <p:spTgt spid="532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7" dur="500"/>
                                        <p:tgtEl>
                                          <p:spTgt spid="532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2" dur="500"/>
                                        <p:tgtEl>
                                          <p:spTgt spid="532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7" dur="500"/>
                                        <p:tgtEl>
                                          <p:spTgt spid="532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2" dur="500"/>
                                        <p:tgtEl>
                                          <p:spTgt spid="532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7" dur="500"/>
                                        <p:tgtEl>
                                          <p:spTgt spid="532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2" dur="500"/>
                                        <p:tgtEl>
                                          <p:spTgt spid="532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7" dur="500"/>
                                        <p:tgtEl>
                                          <p:spTgt spid="532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2" dur="500"/>
                                        <p:tgtEl>
                                          <p:spTgt spid="532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7" dur="500"/>
                                        <p:tgtEl>
                                          <p:spTgt spid="532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2" dur="500"/>
                                        <p:tgtEl>
                                          <p:spTgt spid="532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7" dur="500"/>
                                        <p:tgtEl>
                                          <p:spTgt spid="532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2" dur="500"/>
                                        <p:tgtEl>
                                          <p:spTgt spid="532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7" dur="500"/>
                                        <p:tgtEl>
                                          <p:spTgt spid="532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2" dur="500"/>
                                        <p:tgtEl>
                                          <p:spTgt spid="532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7" dur="500"/>
                                        <p:tgtEl>
                                          <p:spTgt spid="532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79" grpId="0"/>
      <p:bldP spid="532580" grpId="0"/>
      <p:bldP spid="532581" grpId="0"/>
      <p:bldP spid="532582" grpId="0"/>
      <p:bldP spid="532583" grpId="0"/>
      <p:bldP spid="532584" grpId="0"/>
      <p:bldP spid="532585" grpId="0"/>
      <p:bldP spid="532586" grpId="0"/>
      <p:bldP spid="532587" grpId="0"/>
      <p:bldP spid="532588" grpId="0"/>
      <p:bldP spid="532589" grpId="0"/>
      <p:bldP spid="532590" grpId="0"/>
      <p:bldP spid="532591" grpId="0"/>
      <p:bldP spid="532592" grpId="0"/>
      <p:bldP spid="532593" grpId="0"/>
      <p:bldP spid="532594" grpId="0"/>
      <p:bldP spid="532595" grpId="0"/>
      <p:bldP spid="532596" grpId="0"/>
      <p:bldP spid="532597" grpId="0"/>
      <p:bldP spid="532598" grpId="0"/>
      <p:bldP spid="532599" grpId="0"/>
      <p:bldP spid="532600" grpId="0"/>
      <p:bldP spid="532601" grpId="0"/>
      <p:bldP spid="532602" grpId="0"/>
      <p:bldP spid="532603" grpId="0"/>
      <p:bldP spid="532604" grpId="0"/>
      <p:bldP spid="532605" grpId="0"/>
      <p:bldP spid="532606" grpId="0"/>
      <p:bldP spid="532607" grpId="0"/>
      <p:bldP spid="532608" grpId="0"/>
      <p:bldP spid="532609" grpId="0"/>
      <p:bldP spid="532610" grpId="0"/>
      <p:bldP spid="532611" grpId="0"/>
      <p:bldP spid="532612" grpId="0"/>
      <p:bldP spid="532613" grpId="0"/>
      <p:bldP spid="532614" grpId="0"/>
      <p:bldP spid="532615" grpId="0"/>
      <p:bldP spid="532616" grpId="0"/>
      <p:bldP spid="532617" grpId="0"/>
      <p:bldP spid="532618" grpId="0"/>
      <p:bldP spid="532619" grpId="0"/>
      <p:bldP spid="532620" grpId="0"/>
      <p:bldP spid="532621" grpId="0"/>
      <p:bldP spid="532622" grpId="0"/>
      <p:bldP spid="532623" grpId="0"/>
      <p:bldP spid="532624" grpId="0"/>
      <p:bldP spid="532625" grpId="0"/>
      <p:bldP spid="532626" grpId="0"/>
      <p:bldP spid="532627" grpId="0"/>
      <p:bldP spid="532628" grpId="0"/>
      <p:bldP spid="532629" grpId="0"/>
      <p:bldP spid="532630" grpId="0"/>
      <p:bldP spid="53263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6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3507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3508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3509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3511" name="Text Box 7"/>
          <p:cNvSpPr txBox="1">
            <a:spLocks noChangeArrowheads="1"/>
          </p:cNvSpPr>
          <p:nvPr/>
        </p:nvSpPr>
        <p:spPr bwMode="auto">
          <a:xfrm>
            <a:off x="466725" y="1341438"/>
            <a:ext cx="8569325" cy="4908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 </a:t>
            </a:r>
            <a:r>
              <a:rPr lang="en-US" altLang="zh-CN" sz="3200">
                <a:solidFill>
                  <a:srgbClr val="800080"/>
                </a:solidFill>
              </a:rPr>
              <a:t>S</a:t>
            </a:r>
            <a:r>
              <a:rPr kumimoji="0" lang="en-US" altLang="zh-CN" sz="3200">
                <a:solidFill>
                  <a:srgbClr val="800080"/>
                </a:solidFill>
              </a:rPr>
              <a:t>LR</a:t>
            </a:r>
            <a:r>
              <a:rPr kumimoji="0" lang="zh-CN" altLang="en-US" sz="3200">
                <a:solidFill>
                  <a:srgbClr val="800080"/>
                </a:solidFill>
              </a:rPr>
              <a:t>（</a:t>
            </a:r>
            <a:r>
              <a:rPr kumimoji="0" lang="en-US" altLang="zh-CN" sz="3200">
                <a:solidFill>
                  <a:srgbClr val="800080"/>
                </a:solidFill>
              </a:rPr>
              <a:t>1</a:t>
            </a:r>
            <a:r>
              <a:rPr kumimoji="0" lang="zh-CN" altLang="en-US" sz="3200">
                <a:solidFill>
                  <a:srgbClr val="800080"/>
                </a:solidFill>
              </a:rPr>
              <a:t>）</a:t>
            </a:r>
            <a:r>
              <a:rPr kumimoji="0" lang="zh-CN" altLang="en-US" sz="3200" b="1">
                <a:solidFill>
                  <a:srgbClr val="800080"/>
                </a:solidFill>
              </a:rPr>
              <a:t>文法</a:t>
            </a:r>
            <a:endParaRPr lang="zh-CN" altLang="en-US" sz="3200" b="1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 b="1">
                <a:solidFill>
                  <a:srgbClr val="800080"/>
                </a:solidFill>
              </a:rPr>
              <a:t>  </a:t>
            </a:r>
            <a:r>
              <a:rPr kumimoji="0" lang="zh-CN" altLang="en-US" sz="2800" b="1"/>
              <a:t>按上述算法构造的分析表，如果各表项均无多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kumimoji="0" lang="zh-CN" altLang="en-US" sz="2800" b="1"/>
              <a:t>    重定义，则称它为文法 </a:t>
            </a:r>
            <a:r>
              <a:rPr kumimoji="0" lang="en-US" altLang="zh-CN" sz="2800" i="1"/>
              <a:t>G</a:t>
            </a:r>
            <a:r>
              <a:rPr kumimoji="0" lang="en-US" altLang="zh-CN" sz="2800" b="1"/>
              <a:t> </a:t>
            </a:r>
            <a:r>
              <a:rPr kumimoji="0" lang="zh-CN" altLang="en-US" sz="2800" b="1"/>
              <a:t>的一张 </a:t>
            </a:r>
            <a:r>
              <a:rPr lang="en-US" altLang="zh-CN" sz="2800">
                <a:solidFill>
                  <a:srgbClr val="800080"/>
                </a:solidFill>
              </a:rPr>
              <a:t>S</a:t>
            </a:r>
            <a:r>
              <a:rPr kumimoji="0" lang="en-US" altLang="zh-CN" sz="2800">
                <a:solidFill>
                  <a:srgbClr val="800080"/>
                </a:solidFill>
              </a:rPr>
              <a:t>LR</a:t>
            </a:r>
            <a:r>
              <a:rPr kumimoji="0" lang="zh-CN" altLang="en-US" sz="2800">
                <a:solidFill>
                  <a:srgbClr val="800080"/>
                </a:solidFill>
              </a:rPr>
              <a:t>（</a:t>
            </a:r>
            <a:r>
              <a:rPr kumimoji="0" lang="en-US" altLang="zh-CN" sz="2800">
                <a:solidFill>
                  <a:srgbClr val="800080"/>
                </a:solidFill>
              </a:rPr>
              <a:t>1</a:t>
            </a:r>
            <a:r>
              <a:rPr kumimoji="0" lang="zh-CN" altLang="en-US" sz="2800">
                <a:solidFill>
                  <a:srgbClr val="800080"/>
                </a:solidFill>
              </a:rPr>
              <a:t>）</a:t>
            </a:r>
            <a:r>
              <a:rPr kumimoji="0" lang="zh-CN" altLang="en-US" sz="2800" b="1">
                <a:solidFill>
                  <a:srgbClr val="800080"/>
                </a:solidFill>
              </a:rPr>
              <a:t>表</a:t>
            </a:r>
            <a:r>
              <a:rPr kumimoji="0" lang="zh-CN" altLang="en-US" sz="2800" b="1"/>
              <a:t>，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kumimoji="0" lang="zh-CN" altLang="en-US" sz="2800" b="1"/>
              <a:t>    并称 </a:t>
            </a:r>
            <a:r>
              <a:rPr kumimoji="0" lang="en-US" altLang="zh-CN" sz="2800" i="1"/>
              <a:t>G</a:t>
            </a:r>
            <a:r>
              <a:rPr kumimoji="0" lang="en-US" altLang="zh-CN" sz="2800"/>
              <a:t> </a:t>
            </a:r>
            <a:r>
              <a:rPr kumimoji="0" lang="zh-CN" altLang="en-US" sz="2800" b="1"/>
              <a:t>为一个 </a:t>
            </a:r>
            <a:r>
              <a:rPr lang="en-US" altLang="zh-CN" sz="2800">
                <a:solidFill>
                  <a:srgbClr val="800080"/>
                </a:solidFill>
              </a:rPr>
              <a:t>S</a:t>
            </a:r>
            <a:r>
              <a:rPr kumimoji="0" lang="en-US" altLang="zh-CN" sz="2800">
                <a:solidFill>
                  <a:srgbClr val="800080"/>
                </a:solidFill>
              </a:rPr>
              <a:t>LR</a:t>
            </a:r>
            <a:r>
              <a:rPr kumimoji="0" lang="zh-CN" altLang="en-US" sz="2800">
                <a:solidFill>
                  <a:srgbClr val="800080"/>
                </a:solidFill>
              </a:rPr>
              <a:t>（</a:t>
            </a:r>
            <a:r>
              <a:rPr kumimoji="0" lang="en-US" altLang="zh-CN" sz="2800">
                <a:solidFill>
                  <a:srgbClr val="800080"/>
                </a:solidFill>
              </a:rPr>
              <a:t>1</a:t>
            </a:r>
            <a:r>
              <a:rPr kumimoji="0" lang="zh-CN" altLang="en-US" sz="2800">
                <a:solidFill>
                  <a:srgbClr val="800080"/>
                </a:solidFill>
              </a:rPr>
              <a:t>）</a:t>
            </a:r>
            <a:r>
              <a:rPr kumimoji="0" lang="zh-CN" altLang="en-US" sz="2800" b="1">
                <a:solidFill>
                  <a:srgbClr val="800080"/>
                </a:solidFill>
              </a:rPr>
              <a:t>文法</a:t>
            </a:r>
          </a:p>
          <a:p>
            <a:pPr lvl="1">
              <a:buClrTx/>
              <a:buFont typeface="Symbol" panose="05050102010706020507" pitchFamily="18" charset="2"/>
              <a:buNone/>
            </a:pPr>
            <a:endParaRPr kumimoji="0" lang="zh-CN" altLang="en-US" sz="1000" b="1"/>
          </a:p>
          <a:p>
            <a:pPr lvl="1">
              <a:buFont typeface="Symbol" panose="05050102010706020507" pitchFamily="18" charset="2"/>
              <a:buChar char="-"/>
            </a:pPr>
            <a:r>
              <a:rPr lang="zh-CN" altLang="en-US" sz="2800"/>
              <a:t>  </a:t>
            </a:r>
            <a:r>
              <a:rPr lang="en-US" altLang="zh-CN" sz="2800"/>
              <a:t>S</a:t>
            </a:r>
            <a:r>
              <a:rPr kumimoji="0" lang="en-US" altLang="zh-CN" sz="2800"/>
              <a:t>LR</a:t>
            </a:r>
            <a:r>
              <a:rPr kumimoji="0" lang="zh-CN" altLang="en-US" sz="2800"/>
              <a:t>（</a:t>
            </a:r>
            <a:r>
              <a:rPr kumimoji="0" lang="en-US" altLang="zh-CN" sz="2800"/>
              <a:t>1</a:t>
            </a:r>
            <a:r>
              <a:rPr kumimoji="0" lang="zh-CN" altLang="en-US" sz="2800"/>
              <a:t>）</a:t>
            </a:r>
            <a:r>
              <a:rPr kumimoji="0" lang="zh-CN" altLang="en-US" sz="2800" b="1"/>
              <a:t>文法的</a:t>
            </a:r>
            <a:r>
              <a:rPr kumimoji="0" lang="en-US" altLang="zh-CN" sz="2800"/>
              <a:t>LR</a:t>
            </a:r>
            <a:r>
              <a:rPr kumimoji="0" lang="zh-CN" altLang="en-US" sz="2800"/>
              <a:t>（</a:t>
            </a:r>
            <a:r>
              <a:rPr kumimoji="0" lang="en-US" altLang="zh-CN" sz="2800"/>
              <a:t>0</a:t>
            </a:r>
            <a:r>
              <a:rPr kumimoji="0" lang="zh-CN" altLang="en-US" sz="2800"/>
              <a:t>）</a:t>
            </a:r>
            <a:r>
              <a:rPr kumimoji="0" lang="en-US" altLang="zh-CN" sz="2800"/>
              <a:t>FSM</a:t>
            </a:r>
            <a:r>
              <a:rPr kumimoji="0" lang="zh-CN" altLang="en-US" sz="2800" b="1"/>
              <a:t>中，每个状态都</a:t>
            </a:r>
          </a:p>
          <a:p>
            <a:pPr lvl="1">
              <a:buFont typeface="Symbol" panose="05050102010706020507" pitchFamily="18" charset="2"/>
              <a:buNone/>
            </a:pPr>
            <a:r>
              <a:rPr kumimoji="0" lang="zh-CN" altLang="en-US" sz="2800" b="1"/>
              <a:t>    满足：</a:t>
            </a:r>
          </a:p>
          <a:p>
            <a:pPr lvl="1">
              <a:buFont typeface="Symbol" panose="05050102010706020507" pitchFamily="18" charset="2"/>
              <a:buNone/>
            </a:pPr>
            <a:endParaRPr kumimoji="0" lang="zh-CN" altLang="en-US" sz="1000" b="1"/>
          </a:p>
          <a:p>
            <a:pPr lvl="2">
              <a:buFontTx/>
              <a:buChar char="•"/>
            </a:pPr>
            <a:r>
              <a:rPr kumimoji="0" lang="zh-CN" altLang="en-US" sz="2800" b="1"/>
              <a:t> </a:t>
            </a:r>
            <a:r>
              <a:rPr kumimoji="0" lang="zh-CN" altLang="en-US" b="1"/>
              <a:t>对该状态的任何项目</a:t>
            </a:r>
            <a:r>
              <a:rPr kumimoji="0" lang="en-US" altLang="zh-CN"/>
              <a:t>A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kumimoji="0" lang="en-US" altLang="zh-CN"/>
              <a:t>u</a:t>
            </a:r>
            <a:r>
              <a:rPr kumimoji="0" lang="en-US" altLang="zh-CN" b="1"/>
              <a:t>.</a:t>
            </a:r>
            <a:r>
              <a:rPr kumimoji="0" lang="en-US" altLang="zh-CN"/>
              <a:t>av</a:t>
            </a:r>
            <a:r>
              <a:rPr kumimoji="0" lang="zh-CN" altLang="en-US"/>
              <a:t>（</a:t>
            </a:r>
            <a:r>
              <a:rPr kumimoji="0" lang="en-US" altLang="zh-CN"/>
              <a:t>a</a:t>
            </a:r>
            <a:r>
              <a:rPr kumimoji="0" lang="zh-CN" altLang="en-US" b="1"/>
              <a:t>为终结符</a:t>
            </a:r>
            <a:r>
              <a:rPr kumimoji="0" lang="zh-CN" altLang="en-US"/>
              <a:t>），</a:t>
            </a:r>
            <a:r>
              <a:rPr kumimoji="0" lang="zh-CN" altLang="en-US" b="1"/>
              <a:t>不存在</a:t>
            </a:r>
          </a:p>
          <a:p>
            <a:pPr lvl="2">
              <a:buFontTx/>
              <a:buNone/>
            </a:pPr>
            <a:r>
              <a:rPr kumimoji="0" lang="zh-CN" altLang="en-US" b="1"/>
              <a:t>   项目 </a:t>
            </a:r>
            <a:r>
              <a:rPr kumimoji="0" lang="en-US" altLang="zh-CN"/>
              <a:t>B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kumimoji="0" lang="en-US" altLang="zh-CN"/>
              <a:t>w</a:t>
            </a:r>
            <a:r>
              <a:rPr kumimoji="0" lang="en-US" altLang="zh-CN" b="1"/>
              <a:t>. </a:t>
            </a:r>
            <a:r>
              <a:rPr kumimoji="0" lang="zh-CN" altLang="en-US" b="1"/>
              <a:t>使得 </a:t>
            </a:r>
            <a:r>
              <a:rPr kumimoji="0" lang="en-US" altLang="zh-CN"/>
              <a:t>a</a:t>
            </a:r>
            <a:r>
              <a:rPr kumimoji="0" lang="en-US" altLang="zh-CN">
                <a:sym typeface="Symbol" panose="05050102010706020507" pitchFamily="18" charset="2"/>
              </a:rPr>
              <a:t></a:t>
            </a:r>
            <a:r>
              <a:rPr lang="en-US" altLang="zh-CN"/>
              <a:t>Follow</a:t>
            </a:r>
            <a:r>
              <a:rPr lang="en-US" altLang="zh-CN">
                <a:sym typeface="Symbol" panose="05050102010706020507" pitchFamily="18" charset="2"/>
              </a:rPr>
              <a:t>(</a:t>
            </a:r>
            <a:r>
              <a:rPr kumimoji="0" lang="en-US" altLang="zh-CN"/>
              <a:t>B</a:t>
            </a:r>
            <a:r>
              <a:rPr lang="en-US" altLang="zh-CN">
                <a:sym typeface="Symbol" panose="05050102010706020507" pitchFamily="18" charset="2"/>
              </a:rPr>
              <a:t>)</a:t>
            </a:r>
          </a:p>
          <a:p>
            <a:pPr lvl="2">
              <a:buFontTx/>
              <a:buNone/>
            </a:pPr>
            <a:endParaRPr kumimoji="0" lang="en-US" altLang="zh-CN" sz="1000" b="1"/>
          </a:p>
          <a:p>
            <a:pPr lvl="2">
              <a:buFontTx/>
              <a:buChar char="•"/>
            </a:pPr>
            <a:r>
              <a:rPr kumimoji="0" lang="en-US" altLang="zh-CN" sz="2800" b="1"/>
              <a:t> </a:t>
            </a:r>
            <a:r>
              <a:rPr kumimoji="0" lang="zh-CN" altLang="en-US" b="1"/>
              <a:t>对该状态的任何两个项目</a:t>
            </a:r>
            <a:r>
              <a:rPr kumimoji="0" lang="en-US" altLang="zh-CN"/>
              <a:t>A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kumimoji="0" lang="en-US" altLang="zh-CN"/>
              <a:t>u</a:t>
            </a:r>
            <a:r>
              <a:rPr kumimoji="0" lang="en-US" altLang="zh-CN" b="1"/>
              <a:t>.</a:t>
            </a:r>
            <a:r>
              <a:rPr kumimoji="0" lang="zh-CN" altLang="en-US" b="1"/>
              <a:t>和</a:t>
            </a:r>
            <a:r>
              <a:rPr kumimoji="0" lang="en-US" altLang="zh-CN"/>
              <a:t>B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kumimoji="0" lang="en-US" altLang="zh-CN"/>
              <a:t>v</a:t>
            </a:r>
            <a:r>
              <a:rPr kumimoji="0" lang="en-US" altLang="zh-CN" b="1"/>
              <a:t>.</a:t>
            </a:r>
            <a:r>
              <a:rPr kumimoji="0" lang="zh-CN" altLang="en-US"/>
              <a:t>，</a:t>
            </a:r>
            <a:r>
              <a:rPr kumimoji="0" lang="zh-CN" altLang="en-US" b="1"/>
              <a:t>满足</a:t>
            </a:r>
          </a:p>
          <a:p>
            <a:pPr lvl="2">
              <a:buFontTx/>
              <a:buNone/>
            </a:pPr>
            <a:r>
              <a:rPr kumimoji="0" lang="zh-CN" altLang="en-US" b="1"/>
              <a:t>           </a:t>
            </a:r>
            <a:r>
              <a:rPr kumimoji="0" lang="en-US" altLang="zh-CN"/>
              <a:t>Follow(A) </a:t>
            </a:r>
            <a:r>
              <a:rPr kumimoji="0" lang="en-US" altLang="zh-CN">
                <a:sym typeface="Symbol" panose="05050102010706020507" pitchFamily="18" charset="2"/>
              </a:rPr>
              <a:t></a:t>
            </a:r>
            <a:r>
              <a:rPr kumimoji="0" lang="en-US" altLang="zh-CN"/>
              <a:t> Follow(B) = </a:t>
            </a:r>
            <a:r>
              <a:rPr kumimoji="0" lang="en-US" altLang="zh-CN">
                <a:sym typeface="Symbol" panose="05050102010706020507" pitchFamily="18" charset="2"/>
              </a:rPr>
              <a:t></a:t>
            </a:r>
          </a:p>
        </p:txBody>
      </p:sp>
      <p:sp>
        <p:nvSpPr>
          <p:cNvPr id="533512" name="Rectangle 8"/>
          <p:cNvSpPr>
            <a:spLocks noChangeArrowheads="1"/>
          </p:cNvSpPr>
          <p:nvPr/>
        </p:nvSpPr>
        <p:spPr bwMode="auto">
          <a:xfrm>
            <a:off x="35496" y="188913"/>
            <a:ext cx="3527425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SLR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</p:spTree>
  </p:cSld>
  <p:clrMapOvr>
    <a:masterClrMapping/>
  </p:clrMapOvr>
  <p:transition spd="med">
    <p:wipe dir="r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82" name="Rectangle 2"/>
          <p:cNvSpPr>
            <a:spLocks noChangeArrowheads="1"/>
          </p:cNvSpPr>
          <p:nvPr/>
        </p:nvSpPr>
        <p:spPr bwMode="auto">
          <a:xfrm>
            <a:off x="35496" y="188913"/>
            <a:ext cx="3527425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SLR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583683" name="AutoShape 3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684" name="AutoShape 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685" name="AutoShape 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686" name="AutoShape 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687" name="Text Box 7"/>
          <p:cNvSpPr txBox="1">
            <a:spLocks noChangeArrowheads="1"/>
          </p:cNvSpPr>
          <p:nvPr/>
        </p:nvSpPr>
        <p:spPr bwMode="auto">
          <a:xfrm>
            <a:off x="684213" y="1341438"/>
            <a:ext cx="7991475" cy="34464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 </a:t>
            </a:r>
            <a:r>
              <a:rPr lang="zh-CN" altLang="en-US" sz="3200" b="1">
                <a:solidFill>
                  <a:srgbClr val="800080"/>
                </a:solidFill>
              </a:rPr>
              <a:t>比较 </a:t>
            </a:r>
            <a:r>
              <a:rPr kumimoji="0" lang="en-US" altLang="zh-CN" sz="3200">
                <a:solidFill>
                  <a:srgbClr val="800080"/>
                </a:solidFill>
              </a:rPr>
              <a:t>LR</a:t>
            </a:r>
            <a:r>
              <a:rPr kumimoji="0" lang="zh-CN" altLang="en-US" sz="3200" b="1">
                <a:solidFill>
                  <a:srgbClr val="800080"/>
                </a:solidFill>
              </a:rPr>
              <a:t>（</a:t>
            </a:r>
            <a:r>
              <a:rPr kumimoji="0" lang="en-US" altLang="zh-CN" sz="3200">
                <a:solidFill>
                  <a:srgbClr val="800080"/>
                </a:solidFill>
              </a:rPr>
              <a:t>0</a:t>
            </a:r>
            <a:r>
              <a:rPr kumimoji="0" lang="zh-CN" altLang="en-US" sz="3200" b="1">
                <a:solidFill>
                  <a:srgbClr val="800080"/>
                </a:solidFill>
              </a:rPr>
              <a:t>）</a:t>
            </a:r>
            <a:r>
              <a:rPr lang="zh-CN" altLang="en-US" sz="3200" b="1">
                <a:solidFill>
                  <a:srgbClr val="800080"/>
                </a:solidFill>
              </a:rPr>
              <a:t>表和 </a:t>
            </a:r>
            <a:r>
              <a:rPr kumimoji="0" lang="en-US" altLang="zh-CN" sz="3200">
                <a:solidFill>
                  <a:srgbClr val="800080"/>
                </a:solidFill>
              </a:rPr>
              <a:t>SLR</a:t>
            </a:r>
            <a:r>
              <a:rPr kumimoji="0" lang="zh-CN" altLang="en-US" sz="3200" b="1">
                <a:solidFill>
                  <a:srgbClr val="800080"/>
                </a:solidFill>
              </a:rPr>
              <a:t>（</a:t>
            </a:r>
            <a:r>
              <a:rPr kumimoji="0" lang="en-US" altLang="zh-CN" sz="3200">
                <a:solidFill>
                  <a:srgbClr val="800080"/>
                </a:solidFill>
              </a:rPr>
              <a:t>1</a:t>
            </a:r>
            <a:r>
              <a:rPr kumimoji="0" lang="zh-CN" altLang="en-US" sz="3200" b="1">
                <a:solidFill>
                  <a:srgbClr val="800080"/>
                </a:solidFill>
              </a:rPr>
              <a:t>）</a:t>
            </a:r>
            <a:r>
              <a:rPr lang="zh-CN" altLang="en-US" sz="3200" b="1">
                <a:solidFill>
                  <a:srgbClr val="800080"/>
                </a:solidFill>
              </a:rPr>
              <a:t>表</a:t>
            </a:r>
            <a:endParaRPr lang="zh-CN" altLang="en-US" sz="3200" b="1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 b="1">
                <a:solidFill>
                  <a:srgbClr val="800080"/>
                </a:solidFill>
              </a:rPr>
              <a:t> </a:t>
            </a:r>
            <a:r>
              <a:rPr lang="zh-CN" altLang="en-US" sz="2800"/>
              <a:t> </a:t>
            </a:r>
            <a:r>
              <a:rPr kumimoji="0" lang="zh-CN" altLang="en-US" sz="2800" b="1"/>
              <a:t>在 </a:t>
            </a:r>
            <a:r>
              <a:rPr lang="en-US" altLang="zh-CN" sz="2800">
                <a:sym typeface="Symbol" panose="05050102010706020507" pitchFamily="18" charset="2"/>
              </a:rPr>
              <a:t>LR</a:t>
            </a:r>
            <a:r>
              <a:rPr lang="zh-CN" altLang="en-US" sz="2800" b="1">
                <a:sym typeface="Symbol" panose="05050102010706020507" pitchFamily="18" charset="2"/>
              </a:rPr>
              <a:t>（</a:t>
            </a:r>
            <a:r>
              <a:rPr lang="en-US" altLang="zh-CN" sz="2800">
                <a:sym typeface="Symbol" panose="05050102010706020507" pitchFamily="18" charset="2"/>
              </a:rPr>
              <a:t>0</a:t>
            </a:r>
            <a:r>
              <a:rPr lang="zh-CN" altLang="en-US" sz="2800" b="1">
                <a:sym typeface="Symbol" panose="05050102010706020507" pitchFamily="18" charset="2"/>
              </a:rPr>
              <a:t>）</a:t>
            </a:r>
            <a:r>
              <a:rPr kumimoji="0" lang="zh-CN" altLang="en-US" sz="2800" b="1"/>
              <a:t>表的 </a:t>
            </a:r>
            <a:r>
              <a:rPr kumimoji="0" lang="en-US" altLang="zh-CN" sz="2800"/>
              <a:t>ACTION </a:t>
            </a:r>
            <a:r>
              <a:rPr kumimoji="0" lang="zh-CN" altLang="en-US" sz="2800" b="1"/>
              <a:t>表中，归约表项总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kumimoji="0" lang="zh-CN" altLang="en-US" sz="2800" b="1"/>
              <a:t>    是    整行出现的，即一个归约对于所有输入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kumimoji="0" lang="zh-CN" altLang="en-US" sz="2800" b="1"/>
              <a:t>    符号都适用</a:t>
            </a:r>
            <a:r>
              <a:rPr kumimoji="0" lang="en-US" altLang="zh-CN" sz="2800" b="1">
                <a:latin typeface="楷体_GB2312" pitchFamily="49" charset="-122"/>
              </a:rPr>
              <a:t>; </a:t>
            </a:r>
            <a:r>
              <a:rPr kumimoji="0" lang="zh-CN" altLang="en-US" sz="2800" b="1"/>
              <a:t>不会既有移进又有归约</a:t>
            </a:r>
            <a:endParaRPr kumimoji="0" lang="zh-CN" altLang="en-US" sz="2800" b="1">
              <a:latin typeface="楷体_GB2312" pitchFamily="49" charset="-122"/>
            </a:endParaRPr>
          </a:p>
          <a:p>
            <a:pPr lvl="1">
              <a:buClrTx/>
              <a:buFont typeface="Symbol" panose="05050102010706020507" pitchFamily="18" charset="2"/>
              <a:buNone/>
            </a:pPr>
            <a:endParaRPr kumimoji="0" lang="zh-CN" altLang="en-US" sz="1000" b="1"/>
          </a:p>
          <a:p>
            <a:pPr lvl="1">
              <a:buFont typeface="Symbol" panose="05050102010706020507" pitchFamily="18" charset="2"/>
              <a:buChar char="-"/>
            </a:pPr>
            <a:r>
              <a:rPr kumimoji="0" lang="zh-CN" altLang="en-US" sz="2800" b="1"/>
              <a:t>  而在 </a:t>
            </a:r>
            <a:r>
              <a:rPr kumimoji="0" lang="en-US" altLang="zh-CN" sz="2800"/>
              <a:t>S</a:t>
            </a:r>
            <a:r>
              <a:rPr lang="en-US" altLang="zh-CN" sz="2800">
                <a:sym typeface="Symbol" panose="05050102010706020507" pitchFamily="18" charset="2"/>
              </a:rPr>
              <a:t>LR</a:t>
            </a:r>
            <a:r>
              <a:rPr lang="zh-CN" altLang="en-US" sz="2800" b="1">
                <a:sym typeface="Symbol" panose="05050102010706020507" pitchFamily="18" charset="2"/>
              </a:rPr>
              <a:t>（</a:t>
            </a:r>
            <a:r>
              <a:rPr lang="en-US" altLang="zh-CN" sz="2800">
                <a:sym typeface="Symbol" panose="05050102010706020507" pitchFamily="18" charset="2"/>
              </a:rPr>
              <a:t>1</a:t>
            </a:r>
            <a:r>
              <a:rPr lang="zh-CN" altLang="en-US" sz="2800" b="1">
                <a:sym typeface="Symbol" panose="05050102010706020507" pitchFamily="18" charset="2"/>
              </a:rPr>
              <a:t>）</a:t>
            </a:r>
            <a:r>
              <a:rPr kumimoji="0" lang="zh-CN" altLang="en-US" sz="2800" b="1"/>
              <a:t>表的</a:t>
            </a:r>
            <a:r>
              <a:rPr kumimoji="0" lang="en-US" altLang="zh-CN" sz="2800"/>
              <a:t>ACTION </a:t>
            </a:r>
            <a:r>
              <a:rPr kumimoji="0" lang="zh-CN" altLang="en-US" sz="2800" b="1"/>
              <a:t>表中。归约表</a:t>
            </a:r>
          </a:p>
          <a:p>
            <a:pPr lvl="1">
              <a:buFont typeface="Symbol" panose="05050102010706020507" pitchFamily="18" charset="2"/>
              <a:buNone/>
            </a:pPr>
            <a:r>
              <a:rPr kumimoji="0" lang="zh-CN" altLang="en-US" sz="2800" b="1"/>
              <a:t>    项只适用于相应非终结符</a:t>
            </a:r>
            <a:r>
              <a:rPr lang="en-US" altLang="zh-CN" sz="2800"/>
              <a:t>Follow</a:t>
            </a:r>
            <a:r>
              <a:rPr lang="en-US" altLang="zh-CN" sz="2800">
                <a:sym typeface="Symbol" panose="05050102010706020507" pitchFamily="18" charset="2"/>
              </a:rPr>
              <a:t> </a:t>
            </a:r>
            <a:r>
              <a:rPr lang="zh-CN" altLang="en-US" sz="2800" b="1">
                <a:sym typeface="Symbol" panose="05050102010706020507" pitchFamily="18" charset="2"/>
              </a:rPr>
              <a:t>集</a:t>
            </a:r>
            <a:r>
              <a:rPr kumimoji="0" lang="zh-CN" altLang="en-US" sz="2800" b="1"/>
              <a:t>中的输入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kumimoji="0" lang="zh-CN" altLang="en-US" sz="2800" b="1"/>
              <a:t>    符号</a:t>
            </a:r>
            <a:r>
              <a:rPr kumimoji="0" lang="en-US" altLang="zh-CN" sz="2800" b="1">
                <a:latin typeface="楷体_GB2312" pitchFamily="49" charset="-122"/>
              </a:rPr>
              <a:t>;</a:t>
            </a:r>
            <a:r>
              <a:rPr kumimoji="0" lang="en-US" altLang="zh-CN" sz="2800" b="1"/>
              <a:t>  </a:t>
            </a:r>
            <a:r>
              <a:rPr kumimoji="0" lang="zh-CN" altLang="en-US" sz="2800" b="1"/>
              <a:t>可以既有移进又有归约</a:t>
            </a:r>
          </a:p>
        </p:txBody>
      </p:sp>
    </p:spTree>
  </p:cSld>
  <p:clrMapOvr>
    <a:masterClrMapping/>
  </p:clrMapOvr>
  <p:transition spd="med">
    <p:wipe dir="r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475" name="Rectangle 27"/>
          <p:cNvSpPr>
            <a:spLocks noChangeArrowheads="1"/>
          </p:cNvSpPr>
          <p:nvPr/>
        </p:nvSpPr>
        <p:spPr bwMode="auto">
          <a:xfrm>
            <a:off x="35496" y="188913"/>
            <a:ext cx="3167063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488476" name="AutoShape 2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8477" name="AutoShape 2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8478" name="AutoShape 3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8479" name="AutoShape 3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8480" name="Text Box 32"/>
          <p:cNvSpPr txBox="1">
            <a:spLocks noChangeArrowheads="1"/>
          </p:cNvSpPr>
          <p:nvPr/>
        </p:nvSpPr>
        <p:spPr bwMode="auto">
          <a:xfrm>
            <a:off x="684213" y="1412875"/>
            <a:ext cx="7993062" cy="4054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 </a:t>
            </a:r>
            <a:r>
              <a:rPr lang="en-US" altLang="zh-CN" sz="3200">
                <a:solidFill>
                  <a:srgbClr val="800080"/>
                </a:solidFill>
              </a:rPr>
              <a:t>S</a:t>
            </a:r>
            <a:r>
              <a:rPr kumimoji="0" lang="en-US" altLang="zh-CN" sz="3200">
                <a:solidFill>
                  <a:srgbClr val="800080"/>
                </a:solidFill>
              </a:rPr>
              <a:t>LR</a:t>
            </a:r>
            <a:r>
              <a:rPr kumimoji="0" lang="zh-CN" altLang="en-US" sz="3200" b="1">
                <a:solidFill>
                  <a:srgbClr val="800080"/>
                </a:solidFill>
              </a:rPr>
              <a:t>（</a:t>
            </a:r>
            <a:r>
              <a:rPr kumimoji="0" lang="en-US" altLang="zh-CN" sz="3200">
                <a:solidFill>
                  <a:srgbClr val="800080"/>
                </a:solidFill>
              </a:rPr>
              <a:t>1</a:t>
            </a:r>
            <a:r>
              <a:rPr kumimoji="0" lang="zh-CN" altLang="en-US" sz="3200" b="1">
                <a:solidFill>
                  <a:srgbClr val="800080"/>
                </a:solidFill>
              </a:rPr>
              <a:t>）分析的局限性</a:t>
            </a:r>
            <a:endParaRPr lang="zh-CN" altLang="en-US" sz="3200" b="1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 b="1">
                <a:solidFill>
                  <a:srgbClr val="800080"/>
                </a:solidFill>
              </a:rPr>
              <a:t>  只考虑到所归约非终结符的 </a:t>
            </a:r>
            <a:r>
              <a:rPr lang="en-US" altLang="zh-CN" sz="2800">
                <a:solidFill>
                  <a:srgbClr val="800080"/>
                </a:solidFill>
              </a:rPr>
              <a:t>Follow </a:t>
            </a:r>
            <a:r>
              <a:rPr lang="zh-CN" altLang="en-US" sz="2800" b="1">
                <a:solidFill>
                  <a:srgbClr val="800080"/>
                </a:solidFill>
              </a:rPr>
              <a:t>符号</a:t>
            </a:r>
          </a:p>
          <a:p>
            <a:pPr lvl="1">
              <a:buClrTx/>
              <a:buFont typeface="Symbol" panose="05050102010706020507" pitchFamily="18" charset="2"/>
              <a:buNone/>
            </a:pPr>
            <a:endParaRPr kumimoji="0" lang="zh-CN" altLang="en-US" sz="1000"/>
          </a:p>
          <a:p>
            <a:pPr lvl="1">
              <a:buClrTx/>
              <a:buFont typeface="Symbol" panose="05050102010706020507" pitchFamily="18" charset="2"/>
              <a:buNone/>
            </a:pPr>
            <a:r>
              <a:rPr kumimoji="0" lang="zh-CN" altLang="en-US" sz="2800" b="1"/>
              <a:t>    </a:t>
            </a:r>
            <a:r>
              <a:rPr kumimoji="0" lang="zh-CN" altLang="en-US" b="1"/>
              <a:t>虽然是向前查看一个输入符号，但只要输入符号属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kumimoji="0" lang="zh-CN" altLang="en-US" b="1"/>
              <a:t>    于</a:t>
            </a:r>
            <a:r>
              <a:rPr lang="zh-CN" altLang="en-US" b="1"/>
              <a:t>所归约非终结符的 </a:t>
            </a:r>
            <a:r>
              <a:rPr lang="en-US" altLang="zh-CN"/>
              <a:t>Follow </a:t>
            </a:r>
            <a:r>
              <a:rPr lang="zh-CN" altLang="en-US" b="1"/>
              <a:t>集合，就可进行归约</a:t>
            </a:r>
            <a:endParaRPr lang="zh-CN" altLang="en-US" b="1">
              <a:sym typeface="Symbol" panose="05050102010706020507" pitchFamily="18" charset="2"/>
            </a:endParaRPr>
          </a:p>
          <a:p>
            <a:pPr lvl="1">
              <a:buClrTx/>
              <a:buFont typeface="Symbol" panose="05050102010706020507" pitchFamily="18" charset="2"/>
              <a:buNone/>
            </a:pPr>
            <a:endParaRPr kumimoji="0" lang="zh-CN" altLang="en-US" sz="1000" b="1"/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kumimoji="0" lang="zh-CN" altLang="en-US" sz="2800" b="1">
                <a:solidFill>
                  <a:srgbClr val="800080"/>
                </a:solidFill>
              </a:rPr>
              <a:t>  未考虑非终结符 </a:t>
            </a:r>
            <a:r>
              <a:rPr lang="en-US" altLang="zh-CN" sz="2800">
                <a:solidFill>
                  <a:srgbClr val="800080"/>
                </a:solidFill>
              </a:rPr>
              <a:t>Follow </a:t>
            </a:r>
            <a:r>
              <a:rPr lang="zh-CN" altLang="en-US" sz="2800" b="1">
                <a:solidFill>
                  <a:srgbClr val="800080"/>
                </a:solidFill>
              </a:rPr>
              <a:t>集中的符号是否也是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lang="zh-CN" altLang="en-US" sz="2800" b="1">
                <a:solidFill>
                  <a:srgbClr val="800080"/>
                </a:solidFill>
              </a:rPr>
              <a:t>    句柄的 </a:t>
            </a:r>
            <a:r>
              <a:rPr lang="en-US" altLang="zh-CN" sz="2800">
                <a:solidFill>
                  <a:srgbClr val="800080"/>
                </a:solidFill>
              </a:rPr>
              <a:t>Follow </a:t>
            </a:r>
            <a:r>
              <a:rPr lang="zh-CN" altLang="en-US" sz="2800" b="1">
                <a:solidFill>
                  <a:srgbClr val="800080"/>
                </a:solidFill>
              </a:rPr>
              <a:t>符号</a:t>
            </a:r>
            <a:endParaRPr kumimoji="0" lang="zh-CN" altLang="en-US" sz="2800" b="1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None/>
            </a:pPr>
            <a:endParaRPr kumimoji="0" lang="zh-CN" altLang="en-US" sz="1000" b="1"/>
          </a:p>
          <a:p>
            <a:pPr lvl="1">
              <a:buClrTx/>
              <a:buFont typeface="Symbol" panose="05050102010706020507" pitchFamily="18" charset="2"/>
              <a:buNone/>
            </a:pPr>
            <a:r>
              <a:rPr kumimoji="0" lang="zh-CN" altLang="en-US" sz="2800" b="1"/>
              <a:t>    </a:t>
            </a:r>
            <a:r>
              <a:rPr kumimoji="0" lang="zh-CN" altLang="en-US" b="1"/>
              <a:t>一个输入符号属于</a:t>
            </a:r>
            <a:r>
              <a:rPr lang="zh-CN" altLang="en-US" b="1"/>
              <a:t>所归约非终结符的 </a:t>
            </a:r>
            <a:r>
              <a:rPr lang="en-US" altLang="zh-CN"/>
              <a:t>Follow </a:t>
            </a:r>
            <a:r>
              <a:rPr lang="zh-CN" altLang="en-US" b="1"/>
              <a:t>集合，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lang="zh-CN" altLang="en-US" b="1"/>
              <a:t>    未必就是句柄可以后跟的符号</a:t>
            </a:r>
            <a:endParaRPr kumimoji="0" lang="zh-CN" altLang="en-US" b="1"/>
          </a:p>
        </p:txBody>
      </p:sp>
    </p:spTree>
  </p:cSld>
  <p:clrMapOvr>
    <a:masterClrMapping/>
  </p:clrMapOvr>
  <p:transition spd="med">
    <p:wipe dir="r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98" name="Rectangle 26"/>
          <p:cNvSpPr>
            <a:spLocks noChangeArrowheads="1"/>
          </p:cNvSpPr>
          <p:nvPr/>
        </p:nvSpPr>
        <p:spPr bwMode="auto">
          <a:xfrm>
            <a:off x="35496" y="188913"/>
            <a:ext cx="3167063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489499" name="AutoShape 2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9500" name="AutoShape 2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9501" name="AutoShape 2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9502" name="AutoShape 3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9503" name="Text Box 31"/>
          <p:cNvSpPr txBox="1">
            <a:spLocks noChangeArrowheads="1"/>
          </p:cNvSpPr>
          <p:nvPr/>
        </p:nvSpPr>
        <p:spPr bwMode="auto">
          <a:xfrm>
            <a:off x="755650" y="1196975"/>
            <a:ext cx="7993063" cy="1158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 </a:t>
            </a:r>
            <a:r>
              <a:rPr lang="en-US" altLang="zh-CN" sz="3200"/>
              <a:t>S</a:t>
            </a:r>
            <a:r>
              <a:rPr kumimoji="0" lang="en-US" altLang="zh-CN" sz="3200"/>
              <a:t>LR</a:t>
            </a:r>
            <a:r>
              <a:rPr kumimoji="0" lang="zh-CN" altLang="en-US" sz="3200" b="1"/>
              <a:t>（</a:t>
            </a:r>
            <a:r>
              <a:rPr kumimoji="0" lang="en-US" altLang="zh-CN" sz="3200"/>
              <a:t>1</a:t>
            </a:r>
            <a:r>
              <a:rPr kumimoji="0" lang="zh-CN" altLang="en-US" sz="3200" b="1"/>
              <a:t>）分析的局限性</a:t>
            </a:r>
            <a:r>
              <a:rPr kumimoji="0" lang="zh-CN" altLang="en-US" sz="3200" b="1">
                <a:solidFill>
                  <a:srgbClr val="800080"/>
                </a:solidFill>
              </a:rPr>
              <a:t>举例</a:t>
            </a:r>
            <a:endParaRPr lang="zh-CN" altLang="en-US" sz="3200" b="1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 b="1">
                <a:solidFill>
                  <a:srgbClr val="800080"/>
                </a:solidFill>
              </a:rPr>
              <a:t>  验证如下文法不是 </a:t>
            </a:r>
            <a:r>
              <a:rPr lang="en-US" altLang="zh-CN" sz="2800">
                <a:solidFill>
                  <a:srgbClr val="800080"/>
                </a:solidFill>
              </a:rPr>
              <a:t>S</a:t>
            </a:r>
            <a:r>
              <a:rPr kumimoji="0" lang="en-US" altLang="zh-CN" sz="2800">
                <a:solidFill>
                  <a:srgbClr val="800080"/>
                </a:solidFill>
              </a:rPr>
              <a:t>LR</a:t>
            </a:r>
            <a:r>
              <a:rPr kumimoji="0" lang="zh-CN" altLang="en-US" sz="2800" b="1">
                <a:solidFill>
                  <a:srgbClr val="800080"/>
                </a:solidFill>
              </a:rPr>
              <a:t>（</a:t>
            </a:r>
            <a:r>
              <a:rPr kumimoji="0" lang="en-US" altLang="zh-CN" sz="2800">
                <a:solidFill>
                  <a:srgbClr val="800080"/>
                </a:solidFill>
              </a:rPr>
              <a:t>1</a:t>
            </a:r>
            <a:r>
              <a:rPr kumimoji="0" lang="zh-CN" altLang="en-US" sz="2800" b="1">
                <a:solidFill>
                  <a:srgbClr val="800080"/>
                </a:solidFill>
              </a:rPr>
              <a:t>）</a:t>
            </a:r>
            <a:r>
              <a:rPr lang="zh-CN" altLang="en-US" sz="2800" b="1">
                <a:solidFill>
                  <a:srgbClr val="800080"/>
                </a:solidFill>
              </a:rPr>
              <a:t>的</a:t>
            </a:r>
          </a:p>
        </p:txBody>
      </p:sp>
      <p:sp>
        <p:nvSpPr>
          <p:cNvPr id="489505" name="Text Box 33"/>
          <p:cNvSpPr txBox="1">
            <a:spLocks noChangeArrowheads="1"/>
          </p:cNvSpPr>
          <p:nvPr/>
        </p:nvSpPr>
        <p:spPr bwMode="auto">
          <a:xfrm>
            <a:off x="1547813" y="2781300"/>
            <a:ext cx="2447925" cy="27701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zh-CN" altLang="en-US" b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文法 </a:t>
            </a:r>
            <a:r>
              <a:rPr kumimoji="0" lang="en-US" altLang="zh-CN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en-US" altLang="zh-CN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kumimoji="0" lang="en-US" altLang="zh-CN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0" lang="en-US" altLang="zh-CN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]: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kumimoji="0" lang="en-US" altLang="zh-CN" sz="80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 (1) 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>
                <a:sym typeface="Symbol" panose="05050102010706020507" pitchFamily="18" charset="2"/>
              </a:rPr>
              <a:t>(L </a:t>
            </a:r>
            <a:r>
              <a:rPr lang="en-US" altLang="zh-CN" b="1" i="1">
                <a:sym typeface="Symbol" panose="05050102010706020507" pitchFamily="18" charset="2"/>
              </a:rPr>
              <a:t>, </a:t>
            </a:r>
            <a:r>
              <a:rPr lang="en-US" altLang="zh-CN" i="1">
                <a:sym typeface="Symbol" panose="05050102010706020507" pitchFamily="18" charset="2"/>
              </a:rPr>
              <a:t>E )</a:t>
            </a:r>
            <a:endParaRPr lang="en-US" altLang="zh-CN" i="1">
              <a:ea typeface="华文行楷" pitchFamily="2" charset="-122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 (2) </a:t>
            </a:r>
            <a:r>
              <a:rPr lang="en-US" altLang="zh-CN" i="1">
                <a:sym typeface="Symbol" panose="05050102010706020507" pitchFamily="18" charset="2"/>
              </a:rPr>
              <a:t>E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 i="1">
                <a:sym typeface="Symbol" panose="05050102010706020507" pitchFamily="18" charset="2"/>
              </a:rPr>
              <a:t> F</a:t>
            </a:r>
            <a:r>
              <a:rPr lang="en-US" altLang="zh-CN" i="1">
                <a:ea typeface="华文行楷" pitchFamily="2" charset="-122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 (3) </a:t>
            </a:r>
            <a:r>
              <a:rPr lang="en-US" altLang="zh-CN" i="1">
                <a:sym typeface="Symbol" panose="05050102010706020507" pitchFamily="18" charset="2"/>
              </a:rPr>
              <a:t>L </a:t>
            </a:r>
            <a:r>
              <a:rPr lang="en-US" altLang="zh-CN">
                <a:ea typeface="华文行楷" pitchFamily="2" charset="-122"/>
                <a:sym typeface="Symbol" panose="05050102010706020507" pitchFamily="18" charset="2"/>
              </a:rPr>
              <a:t></a:t>
            </a:r>
            <a:r>
              <a:rPr lang="en-US" altLang="zh-CN" i="1">
                <a:ea typeface="华文行楷" pitchFamily="2" charset="-122"/>
                <a:sym typeface="Symbol" panose="05050102010706020507" pitchFamily="18" charset="2"/>
              </a:rPr>
              <a:t> </a:t>
            </a:r>
            <a:r>
              <a:rPr lang="en-US" altLang="zh-CN" i="1">
                <a:sym typeface="Symbol" panose="05050102010706020507" pitchFamily="18" charset="2"/>
              </a:rPr>
              <a:t>L </a:t>
            </a:r>
            <a:r>
              <a:rPr lang="en-US" altLang="zh-CN" b="1" i="1">
                <a:sym typeface="Symbol" panose="05050102010706020507" pitchFamily="18" charset="2"/>
              </a:rPr>
              <a:t>, </a:t>
            </a:r>
            <a:r>
              <a:rPr lang="en-US" altLang="zh-CN" i="1">
                <a:sym typeface="Symbol" panose="05050102010706020507" pitchFamily="18" charset="2"/>
              </a:rPr>
              <a:t>E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endParaRPr lang="en-US" altLang="zh-CN" i="1"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 (4) </a:t>
            </a:r>
            <a:r>
              <a:rPr lang="en-US" altLang="zh-CN" i="1">
                <a:sym typeface="Symbol" panose="05050102010706020507" pitchFamily="18" charset="2"/>
              </a:rPr>
              <a:t>L </a:t>
            </a:r>
            <a:r>
              <a:rPr lang="en-US" altLang="zh-CN">
                <a:sym typeface="Symbol" panose="05050102010706020507" pitchFamily="18" charset="2"/>
              </a:rPr>
              <a:t> </a:t>
            </a:r>
            <a:r>
              <a:rPr lang="en-US" altLang="zh-CN" i="1">
                <a:sym typeface="Symbol" panose="05050102010706020507" pitchFamily="18" charset="2"/>
              </a:rPr>
              <a:t>E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 (5) </a:t>
            </a:r>
            <a:r>
              <a:rPr lang="en-US" altLang="zh-CN" i="1">
                <a:sym typeface="Symbol" panose="05050102010706020507" pitchFamily="18" charset="2"/>
              </a:rPr>
              <a:t>F </a:t>
            </a:r>
            <a:r>
              <a:rPr lang="en-US" altLang="zh-CN">
                <a:ea typeface="华文行楷" pitchFamily="2" charset="-122"/>
                <a:sym typeface="Symbol" panose="05050102010706020507" pitchFamily="18" charset="2"/>
              </a:rPr>
              <a:t></a:t>
            </a:r>
            <a:r>
              <a:rPr lang="en-US" altLang="zh-CN" i="1">
                <a:ea typeface="华文行楷" pitchFamily="2" charset="-122"/>
                <a:sym typeface="Symbol" panose="05050102010706020507" pitchFamily="18" charset="2"/>
              </a:rPr>
              <a:t> ( F 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 (6) </a:t>
            </a:r>
            <a:r>
              <a:rPr lang="en-US" altLang="zh-CN" i="1">
                <a:sym typeface="Symbol" panose="05050102010706020507" pitchFamily="18" charset="2"/>
              </a:rPr>
              <a:t>F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 i="1">
                <a:sym typeface="Symbol" panose="05050102010706020507" pitchFamily="18" charset="2"/>
              </a:rPr>
              <a:t> d</a:t>
            </a:r>
          </a:p>
        </p:txBody>
      </p:sp>
      <p:sp>
        <p:nvSpPr>
          <p:cNvPr id="489506" name="Text Box 34"/>
          <p:cNvSpPr txBox="1">
            <a:spLocks noChangeArrowheads="1"/>
          </p:cNvSpPr>
          <p:nvPr/>
        </p:nvSpPr>
        <p:spPr bwMode="auto">
          <a:xfrm>
            <a:off x="4716463" y="2814638"/>
            <a:ext cx="3384550" cy="31353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i="1">
                <a:solidFill>
                  <a:srgbClr val="800080"/>
                </a:solidFill>
                <a:sym typeface="Symbol" panose="05050102010706020507" pitchFamily="18" charset="2"/>
              </a:rPr>
              <a:t>G</a:t>
            </a:r>
            <a:r>
              <a:rPr kumimoji="0" lang="en-US" altLang="zh-CN">
                <a:solidFill>
                  <a:srgbClr val="800080"/>
                </a:solidFill>
                <a:sym typeface="Symbol" panose="05050102010706020507" pitchFamily="18" charset="2"/>
              </a:rPr>
              <a:t>[</a:t>
            </a:r>
            <a:r>
              <a:rPr kumimoji="0" lang="en-US" altLang="zh-CN" i="1">
                <a:solidFill>
                  <a:srgbClr val="800080"/>
                </a:solidFill>
                <a:sym typeface="Symbol" panose="05050102010706020507" pitchFamily="18" charset="2"/>
              </a:rPr>
              <a:t>E</a:t>
            </a:r>
            <a:r>
              <a:rPr kumimoji="0" lang="en-US" altLang="zh-CN">
                <a:solidFill>
                  <a:srgbClr val="800080"/>
                </a:solidFill>
                <a:sym typeface="Symbol" panose="05050102010706020507" pitchFamily="18" charset="2"/>
              </a:rPr>
              <a:t>] </a:t>
            </a:r>
            <a:r>
              <a:rPr kumimoji="0" lang="zh-CN" altLang="en-US" b="1">
                <a:solidFill>
                  <a:srgbClr val="800080"/>
                </a:solidFill>
                <a:sym typeface="Symbol" panose="05050102010706020507" pitchFamily="18" charset="2"/>
              </a:rPr>
              <a:t>的增广</a:t>
            </a:r>
            <a:r>
              <a:rPr kumimoji="0" lang="zh-CN" altLang="en-US" b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文法 </a:t>
            </a:r>
            <a:r>
              <a:rPr kumimoji="0" lang="en-US" altLang="zh-CN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G’ </a:t>
            </a:r>
            <a:r>
              <a:rPr kumimoji="0" lang="en-US" altLang="zh-CN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kumimoji="0" lang="en-US" altLang="zh-CN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kumimoji="0" lang="en-US" altLang="zh-CN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]: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kumimoji="0" lang="en-US" altLang="zh-CN" sz="80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 (0)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 S </a:t>
            </a: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 E</a:t>
            </a:r>
            <a:endParaRPr kumimoji="0" lang="en-US" altLang="zh-CN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>
                <a:sym typeface="Symbol" panose="05050102010706020507" pitchFamily="18" charset="2"/>
              </a:rPr>
              <a:t>(1) </a:t>
            </a:r>
            <a:r>
              <a:rPr lang="en-US" altLang="zh-CN" i="1">
                <a:sym typeface="Symbol" panose="05050102010706020507" pitchFamily="18" charset="2"/>
              </a:rPr>
              <a:t>E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 i="1">
                <a:sym typeface="Symbol" panose="05050102010706020507" pitchFamily="18" charset="2"/>
              </a:rPr>
              <a:t> (L </a:t>
            </a:r>
            <a:r>
              <a:rPr lang="en-US" altLang="zh-CN" b="1" i="1">
                <a:sym typeface="Symbol" panose="05050102010706020507" pitchFamily="18" charset="2"/>
              </a:rPr>
              <a:t>, </a:t>
            </a:r>
            <a:r>
              <a:rPr lang="en-US" altLang="zh-CN" i="1">
                <a:sym typeface="Symbol" panose="05050102010706020507" pitchFamily="18" charset="2"/>
              </a:rPr>
              <a:t>E 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 (2) </a:t>
            </a:r>
            <a:r>
              <a:rPr lang="en-US" altLang="zh-CN" i="1">
                <a:sym typeface="Symbol" panose="05050102010706020507" pitchFamily="18" charset="2"/>
              </a:rPr>
              <a:t>E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 i="1">
                <a:sym typeface="Symbol" panose="05050102010706020507" pitchFamily="18" charset="2"/>
              </a:rPr>
              <a:t> F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 (3) </a:t>
            </a:r>
            <a:r>
              <a:rPr lang="en-US" altLang="zh-CN" i="1">
                <a:sym typeface="Symbol" panose="05050102010706020507" pitchFamily="18" charset="2"/>
              </a:rPr>
              <a:t>L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 i="1">
                <a:sym typeface="Symbol" panose="05050102010706020507" pitchFamily="18" charset="2"/>
              </a:rPr>
              <a:t> L </a:t>
            </a:r>
            <a:r>
              <a:rPr lang="en-US" altLang="zh-CN" b="1" i="1">
                <a:sym typeface="Symbol" panose="05050102010706020507" pitchFamily="18" charset="2"/>
              </a:rPr>
              <a:t>, </a:t>
            </a:r>
            <a:r>
              <a:rPr lang="en-US" altLang="zh-CN" i="1">
                <a:sym typeface="Symbol" panose="05050102010706020507" pitchFamily="18" charset="2"/>
              </a:rPr>
              <a:t>E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endParaRPr lang="en-US" altLang="zh-CN" i="1"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 (4) </a:t>
            </a:r>
            <a:r>
              <a:rPr lang="en-US" altLang="zh-CN" i="1">
                <a:sym typeface="Symbol" panose="05050102010706020507" pitchFamily="18" charset="2"/>
              </a:rPr>
              <a:t>L </a:t>
            </a:r>
            <a:r>
              <a:rPr lang="en-US" altLang="zh-CN">
                <a:sym typeface="Symbol" panose="05050102010706020507" pitchFamily="18" charset="2"/>
              </a:rPr>
              <a:t> </a:t>
            </a:r>
            <a:r>
              <a:rPr lang="en-US" altLang="zh-CN" i="1">
                <a:sym typeface="Symbol" panose="05050102010706020507" pitchFamily="18" charset="2"/>
              </a:rPr>
              <a:t>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 (5) </a:t>
            </a:r>
            <a:r>
              <a:rPr lang="en-US" altLang="zh-CN" i="1">
                <a:sym typeface="Symbol" panose="05050102010706020507" pitchFamily="18" charset="2"/>
              </a:rPr>
              <a:t>F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 i="1">
                <a:sym typeface="Symbol" panose="05050102010706020507" pitchFamily="18" charset="2"/>
              </a:rPr>
              <a:t> ( F 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 (6) </a:t>
            </a:r>
            <a:r>
              <a:rPr lang="en-US" altLang="zh-CN" i="1">
                <a:sym typeface="Symbol" panose="05050102010706020507" pitchFamily="18" charset="2"/>
              </a:rPr>
              <a:t>F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 i="1">
                <a:sym typeface="Symbol" panose="05050102010706020507" pitchFamily="18" charset="2"/>
              </a:rPr>
              <a:t> d</a:t>
            </a:r>
          </a:p>
        </p:txBody>
      </p:sp>
    </p:spTree>
  </p:cSld>
  <p:clrMapOvr>
    <a:masterClrMapping/>
  </p:clrMapOvr>
  <p:transition spd="med">
    <p:wipe dir="r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524" name="Text Box 28"/>
          <p:cNvSpPr txBox="1">
            <a:spLocks noChangeArrowheads="1"/>
          </p:cNvSpPr>
          <p:nvPr/>
        </p:nvSpPr>
        <p:spPr bwMode="auto">
          <a:xfrm>
            <a:off x="468313" y="1262063"/>
            <a:ext cx="6696075" cy="1158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/>
              <a:t>S</a:t>
            </a:r>
            <a:r>
              <a:rPr kumimoji="0" lang="en-US" altLang="zh-CN" sz="3200"/>
              <a:t>LR</a:t>
            </a:r>
            <a:r>
              <a:rPr kumimoji="0" lang="zh-CN" altLang="en-US" sz="3200" b="1"/>
              <a:t>（</a:t>
            </a:r>
            <a:r>
              <a:rPr kumimoji="0" lang="en-US" altLang="zh-CN" sz="3200"/>
              <a:t>1</a:t>
            </a:r>
            <a:r>
              <a:rPr kumimoji="0" lang="zh-CN" altLang="en-US" sz="3200" b="1"/>
              <a:t>）分析的局限性</a:t>
            </a:r>
            <a:r>
              <a:rPr kumimoji="0" lang="zh-CN" altLang="en-US" sz="3200" b="1">
                <a:solidFill>
                  <a:srgbClr val="800080"/>
                </a:solidFill>
              </a:rPr>
              <a:t>举例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zh-CN" altLang="en-US" sz="2800"/>
              <a:t> </a:t>
            </a:r>
            <a:r>
              <a:rPr lang="zh-CN" altLang="en-US" sz="2800" b="1"/>
              <a:t>构造增广文法</a:t>
            </a:r>
            <a:r>
              <a:rPr lang="en-US" altLang="zh-CN" sz="2800" i="1">
                <a:solidFill>
                  <a:srgbClr val="800080"/>
                </a:solidFill>
              </a:rPr>
              <a:t>G’</a:t>
            </a:r>
            <a:r>
              <a:rPr lang="en-US" altLang="zh-CN" sz="2800" b="1">
                <a:solidFill>
                  <a:srgbClr val="800080"/>
                </a:solidFill>
              </a:rPr>
              <a:t> </a:t>
            </a:r>
            <a:r>
              <a:rPr lang="en-US" altLang="zh-CN" sz="2800">
                <a:solidFill>
                  <a:srgbClr val="800080"/>
                </a:solidFill>
              </a:rPr>
              <a:t>[</a:t>
            </a:r>
            <a:r>
              <a:rPr lang="en-US" altLang="zh-CN" sz="2800" i="1">
                <a:solidFill>
                  <a:srgbClr val="800080"/>
                </a:solidFill>
                <a:sym typeface="Symbol" panose="05050102010706020507" pitchFamily="18" charset="2"/>
              </a:rPr>
              <a:t>S</a:t>
            </a:r>
            <a:r>
              <a:rPr lang="en-US" altLang="zh-CN" sz="2800">
                <a:solidFill>
                  <a:srgbClr val="800080"/>
                </a:solidFill>
              </a:rPr>
              <a:t>]</a:t>
            </a:r>
            <a:r>
              <a:rPr kumimoji="0" lang="en-US" altLang="zh-CN" sz="2800">
                <a:sym typeface="Symbol" panose="05050102010706020507" pitchFamily="18" charset="2"/>
              </a:rPr>
              <a:t> </a:t>
            </a:r>
            <a:r>
              <a:rPr kumimoji="0" lang="zh-CN" altLang="en-US" sz="2800" b="1">
                <a:solidFill>
                  <a:srgbClr val="800080"/>
                </a:solidFill>
                <a:sym typeface="Symbol" panose="05050102010706020507" pitchFamily="18" charset="2"/>
              </a:rPr>
              <a:t>的 </a:t>
            </a:r>
            <a:r>
              <a:rPr lang="en-US" altLang="zh-CN" sz="2800">
                <a:solidFill>
                  <a:srgbClr val="800080"/>
                </a:solidFill>
              </a:rPr>
              <a:t>LR</a:t>
            </a:r>
            <a:r>
              <a:rPr lang="zh-CN" altLang="en-US" sz="2800">
                <a:solidFill>
                  <a:srgbClr val="800080"/>
                </a:solidFill>
              </a:rPr>
              <a:t>（</a:t>
            </a:r>
            <a:r>
              <a:rPr lang="en-US" altLang="zh-CN" sz="2800">
                <a:solidFill>
                  <a:srgbClr val="800080"/>
                </a:solidFill>
              </a:rPr>
              <a:t>0</a:t>
            </a:r>
            <a:r>
              <a:rPr lang="zh-CN" altLang="en-US" sz="2800">
                <a:solidFill>
                  <a:srgbClr val="800080"/>
                </a:solidFill>
              </a:rPr>
              <a:t>）</a:t>
            </a:r>
            <a:r>
              <a:rPr lang="en-US" altLang="zh-CN" sz="2800">
                <a:solidFill>
                  <a:srgbClr val="800080"/>
                </a:solidFill>
              </a:rPr>
              <a:t>FSM</a:t>
            </a:r>
            <a:endParaRPr lang="en-US" altLang="zh-CN" sz="2800" b="1">
              <a:solidFill>
                <a:srgbClr val="800080"/>
              </a:solidFill>
            </a:endParaRPr>
          </a:p>
        </p:txBody>
      </p:sp>
      <p:sp>
        <p:nvSpPr>
          <p:cNvPr id="490525" name="Text Box 29"/>
          <p:cNvSpPr txBox="1">
            <a:spLocks noChangeArrowheads="1"/>
          </p:cNvSpPr>
          <p:nvPr/>
        </p:nvSpPr>
        <p:spPr bwMode="auto">
          <a:xfrm>
            <a:off x="7092950" y="1125538"/>
            <a:ext cx="1979613" cy="2451100"/>
          </a:xfrm>
          <a:prstGeom prst="rect">
            <a:avLst/>
          </a:prstGeom>
          <a:noFill/>
          <a:ln w="9525" cap="rnd">
            <a:solidFill>
              <a:srgbClr val="990099"/>
            </a:solidFill>
            <a:prstDash val="sysDot"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zh-CN" altLang="en-US" sz="2000" b="1">
                <a:solidFill>
                  <a:srgbClr val="800080"/>
                </a:solidFill>
                <a:sym typeface="Symbol" panose="05050102010706020507" pitchFamily="18" charset="2"/>
              </a:rPr>
              <a:t>增广</a:t>
            </a:r>
            <a:r>
              <a:rPr kumimoji="0" lang="zh-CN" altLang="en-US" sz="2000" b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文法</a:t>
            </a:r>
            <a:r>
              <a:rPr kumimoji="0" lang="en-US" altLang="zh-CN" sz="20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G’ </a:t>
            </a:r>
            <a:r>
              <a:rPr kumimoji="0" lang="en-US" altLang="zh-CN" sz="20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kumimoji="0" lang="en-US" altLang="zh-CN" sz="20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kumimoji="0" lang="en-US" altLang="zh-CN" sz="20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]: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kumimoji="0" lang="en-US" altLang="zh-CN" sz="800">
              <a:solidFill>
                <a:srgbClr val="80008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(0)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S 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E</a:t>
            </a:r>
            <a:endParaRPr kumimoji="0" lang="en-US" altLang="zh-CN" sz="1800">
              <a:solidFill>
                <a:srgbClr val="80008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(1)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(L </a:t>
            </a:r>
            <a:r>
              <a:rPr lang="en-US" altLang="zh-CN" sz="1800" b="1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 )</a:t>
            </a:r>
            <a:endParaRPr lang="en-US" altLang="zh-CN" sz="1800" i="1">
              <a:solidFill>
                <a:srgbClr val="800080"/>
              </a:solidFill>
              <a:ea typeface="华文行楷" pitchFamily="2" charset="-122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 (2)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E </a:t>
            </a: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 F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 (3)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L </a:t>
            </a:r>
            <a:r>
              <a:rPr lang="en-US" altLang="zh-CN" sz="1800">
                <a:solidFill>
                  <a:srgbClr val="800080"/>
                </a:solidFill>
                <a:ea typeface="华文行楷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sym typeface="Symbol" panose="05050102010706020507" pitchFamily="18" charset="2"/>
              </a:rPr>
              <a:t>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L </a:t>
            </a:r>
            <a:r>
              <a:rPr lang="en-US" altLang="zh-CN" sz="1800" b="1" i="1">
                <a:solidFill>
                  <a:srgbClr val="800080"/>
                </a:solidFill>
                <a:sym typeface="Symbol" panose="05050102010706020507" pitchFamily="18" charset="2"/>
              </a:rPr>
              <a:t>,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E</a:t>
            </a: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 </a:t>
            </a:r>
            <a:endParaRPr lang="en-US" altLang="zh-CN" sz="1800" i="1">
              <a:solidFill>
                <a:srgbClr val="800080"/>
              </a:solidFill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 (4)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L </a:t>
            </a: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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E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 (5)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F </a:t>
            </a:r>
            <a:r>
              <a:rPr lang="en-US" altLang="zh-CN" sz="1800">
                <a:solidFill>
                  <a:srgbClr val="800080"/>
                </a:solidFill>
                <a:ea typeface="华文行楷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sym typeface="Symbol" panose="05050102010706020507" pitchFamily="18" charset="2"/>
              </a:rPr>
              <a:t>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( F )</a:t>
            </a:r>
            <a:endParaRPr lang="en-US" altLang="zh-CN" sz="1800" i="1">
              <a:solidFill>
                <a:srgbClr val="800080"/>
              </a:solidFill>
              <a:ea typeface="华文行楷" pitchFamily="2" charset="-122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 (6)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F </a:t>
            </a: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 d</a:t>
            </a:r>
          </a:p>
        </p:txBody>
      </p:sp>
      <p:sp>
        <p:nvSpPr>
          <p:cNvPr id="490526" name="Text Box 30"/>
          <p:cNvSpPr txBox="1">
            <a:spLocks noChangeArrowheads="1"/>
          </p:cNvSpPr>
          <p:nvPr/>
        </p:nvSpPr>
        <p:spPr bwMode="auto">
          <a:xfrm>
            <a:off x="682625" y="2728913"/>
            <a:ext cx="1512888" cy="1474787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kumimoji="0"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.E</a:t>
            </a:r>
            <a:endParaRPr kumimoji="0" lang="en-US" altLang="zh-CN" sz="1800" b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E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.(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L,E)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    </a:t>
            </a:r>
            <a:r>
              <a:rPr lang="en-US" altLang="zh-CN" sz="1800" b="1" i="1">
                <a:sym typeface="Symbol" panose="05050102010706020507" pitchFamily="18" charset="2"/>
              </a:rPr>
              <a:t>E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.F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F </a:t>
            </a:r>
            <a:r>
              <a:rPr lang="en-US" altLang="zh-CN" sz="1800" b="1">
                <a:ea typeface="华文行楷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 .(F)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F </a:t>
            </a:r>
            <a:r>
              <a:rPr lang="en-US" altLang="zh-CN" sz="1800" b="1"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490527" name="Text Box 31"/>
          <p:cNvSpPr txBox="1">
            <a:spLocks noChangeArrowheads="1"/>
          </p:cNvSpPr>
          <p:nvPr/>
        </p:nvSpPr>
        <p:spPr bwMode="auto">
          <a:xfrm>
            <a:off x="898525" y="5140325"/>
            <a:ext cx="1512888" cy="376238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S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E.</a:t>
            </a:r>
          </a:p>
        </p:txBody>
      </p:sp>
      <p:sp>
        <p:nvSpPr>
          <p:cNvPr id="490529" name="Text Box 33"/>
          <p:cNvSpPr txBox="1">
            <a:spLocks noChangeArrowheads="1"/>
          </p:cNvSpPr>
          <p:nvPr/>
        </p:nvSpPr>
        <p:spPr bwMode="auto">
          <a:xfrm>
            <a:off x="2339975" y="5949950"/>
            <a:ext cx="1152525" cy="376238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d.</a:t>
            </a:r>
            <a:endParaRPr kumimoji="0" lang="en-US" altLang="zh-CN" sz="1800" b="1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90532" name="Line 36"/>
          <p:cNvSpPr>
            <a:spLocks noChangeShapeType="1"/>
          </p:cNvSpPr>
          <p:nvPr/>
        </p:nvSpPr>
        <p:spPr bwMode="auto">
          <a:xfrm>
            <a:off x="2195513" y="3556000"/>
            <a:ext cx="647700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90533" name="Rectangle 37"/>
          <p:cNvSpPr>
            <a:spLocks noChangeArrowheads="1"/>
          </p:cNvSpPr>
          <p:nvPr/>
        </p:nvSpPr>
        <p:spPr bwMode="auto">
          <a:xfrm>
            <a:off x="1403350" y="4557713"/>
            <a:ext cx="287338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E</a:t>
            </a:r>
          </a:p>
        </p:txBody>
      </p:sp>
      <p:sp>
        <p:nvSpPr>
          <p:cNvPr id="490534" name="Arc 38"/>
          <p:cNvSpPr/>
          <p:nvPr/>
        </p:nvSpPr>
        <p:spPr bwMode="auto">
          <a:xfrm flipH="1">
            <a:off x="2555875" y="4778375"/>
            <a:ext cx="288925" cy="2889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000080"/>
            </a:solidFill>
            <a:rou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90535" name="Arc 39"/>
          <p:cNvSpPr/>
          <p:nvPr/>
        </p:nvSpPr>
        <p:spPr bwMode="auto">
          <a:xfrm rot="16200000" flipH="1">
            <a:off x="2555875" y="5067300"/>
            <a:ext cx="288925" cy="2889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000080"/>
            </a:solidFill>
            <a:rou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90536" name="Arc 40"/>
          <p:cNvSpPr/>
          <p:nvPr/>
        </p:nvSpPr>
        <p:spPr bwMode="auto">
          <a:xfrm rot="10800000" flipH="1">
            <a:off x="2843213" y="5067300"/>
            <a:ext cx="288925" cy="2889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90537" name="Rectangle 41"/>
          <p:cNvSpPr>
            <a:spLocks noChangeArrowheads="1"/>
          </p:cNvSpPr>
          <p:nvPr/>
        </p:nvSpPr>
        <p:spPr bwMode="auto">
          <a:xfrm>
            <a:off x="2555875" y="4924425"/>
            <a:ext cx="260350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(</a:t>
            </a:r>
          </a:p>
        </p:txBody>
      </p:sp>
      <p:sp>
        <p:nvSpPr>
          <p:cNvPr id="490539" name="Line 43"/>
          <p:cNvSpPr>
            <a:spLocks noChangeShapeType="1"/>
          </p:cNvSpPr>
          <p:nvPr/>
        </p:nvSpPr>
        <p:spPr bwMode="auto">
          <a:xfrm>
            <a:off x="1474788" y="4203700"/>
            <a:ext cx="1587" cy="936625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90540" name="Text Box 44"/>
          <p:cNvSpPr txBox="1">
            <a:spLocks noChangeArrowheads="1"/>
          </p:cNvSpPr>
          <p:nvPr/>
        </p:nvSpPr>
        <p:spPr bwMode="auto">
          <a:xfrm>
            <a:off x="2843213" y="2751138"/>
            <a:ext cx="1655762" cy="2298700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(.L,E)</a:t>
            </a:r>
            <a:endParaRPr kumimoji="0" lang="en-US" altLang="zh-CN" sz="1800" b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(.F)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.L,E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.E</a:t>
            </a:r>
            <a:endParaRPr lang="en-US" altLang="zh-CN" sz="1800" b="1" i="1">
              <a:ea typeface="华文行楷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.(F)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.(L,E)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.F</a:t>
            </a:r>
          </a:p>
        </p:txBody>
      </p:sp>
      <p:sp>
        <p:nvSpPr>
          <p:cNvPr id="490541" name="Text Box 45"/>
          <p:cNvSpPr txBox="1">
            <a:spLocks noChangeArrowheads="1"/>
          </p:cNvSpPr>
          <p:nvPr/>
        </p:nvSpPr>
        <p:spPr bwMode="auto">
          <a:xfrm>
            <a:off x="5435600" y="2760663"/>
            <a:ext cx="1441450" cy="376237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E.</a:t>
            </a:r>
            <a:endParaRPr lang="en-US" altLang="zh-CN" sz="1800" b="1" i="1">
              <a:ea typeface="华文行楷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90544" name="Text Box 48"/>
          <p:cNvSpPr txBox="1">
            <a:spLocks noChangeArrowheads="1"/>
          </p:cNvSpPr>
          <p:nvPr/>
        </p:nvSpPr>
        <p:spPr bwMode="auto">
          <a:xfrm>
            <a:off x="611188" y="5949950"/>
            <a:ext cx="1512887" cy="376238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F.</a:t>
            </a:r>
            <a:endParaRPr lang="en-US" altLang="zh-CN" sz="1800" b="1" i="1">
              <a:ea typeface="华文行楷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90545" name="Text Box 49"/>
          <p:cNvSpPr txBox="1">
            <a:spLocks noChangeArrowheads="1"/>
          </p:cNvSpPr>
          <p:nvPr/>
        </p:nvSpPr>
        <p:spPr bwMode="auto">
          <a:xfrm>
            <a:off x="3924300" y="5229225"/>
            <a:ext cx="1511300" cy="65087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7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(F.)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F.</a:t>
            </a:r>
          </a:p>
        </p:txBody>
      </p:sp>
      <p:sp>
        <p:nvSpPr>
          <p:cNvPr id="490546" name="Text Box 50"/>
          <p:cNvSpPr txBox="1">
            <a:spLocks noChangeArrowheads="1"/>
          </p:cNvSpPr>
          <p:nvPr/>
        </p:nvSpPr>
        <p:spPr bwMode="auto">
          <a:xfrm>
            <a:off x="5292725" y="3354388"/>
            <a:ext cx="1584325" cy="65087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6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(L.,E)</a:t>
            </a:r>
            <a:endParaRPr lang="en-US" altLang="zh-CN" sz="1800" b="1" i="1">
              <a:ea typeface="华文行楷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altLang="zh-CN" sz="1800" b="1" i="1">
                <a:sym typeface="Symbol" panose="05050102010706020507" pitchFamily="18" charset="2"/>
              </a:rPr>
              <a:t>L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L.,E</a:t>
            </a:r>
          </a:p>
        </p:txBody>
      </p:sp>
      <p:sp>
        <p:nvSpPr>
          <p:cNvPr id="490549" name="Line 53"/>
          <p:cNvSpPr>
            <a:spLocks noChangeShapeType="1"/>
          </p:cNvSpPr>
          <p:nvPr/>
        </p:nvSpPr>
        <p:spPr bwMode="auto">
          <a:xfrm>
            <a:off x="2124075" y="4203700"/>
            <a:ext cx="647700" cy="174625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90550" name="Rectangle 54"/>
          <p:cNvSpPr>
            <a:spLocks noChangeArrowheads="1"/>
          </p:cNvSpPr>
          <p:nvPr/>
        </p:nvSpPr>
        <p:spPr bwMode="auto">
          <a:xfrm>
            <a:off x="684213" y="4484688"/>
            <a:ext cx="287337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F</a:t>
            </a:r>
          </a:p>
        </p:txBody>
      </p:sp>
      <p:sp>
        <p:nvSpPr>
          <p:cNvPr id="490551" name="Rectangle 55"/>
          <p:cNvSpPr>
            <a:spLocks noChangeArrowheads="1"/>
          </p:cNvSpPr>
          <p:nvPr/>
        </p:nvSpPr>
        <p:spPr bwMode="auto">
          <a:xfrm>
            <a:off x="2411413" y="3189288"/>
            <a:ext cx="287337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(</a:t>
            </a:r>
          </a:p>
        </p:txBody>
      </p:sp>
      <p:sp>
        <p:nvSpPr>
          <p:cNvPr id="490556" name="Line 60"/>
          <p:cNvSpPr>
            <a:spLocks noChangeShapeType="1"/>
          </p:cNvSpPr>
          <p:nvPr/>
        </p:nvSpPr>
        <p:spPr bwMode="auto">
          <a:xfrm>
            <a:off x="757238" y="4203700"/>
            <a:ext cx="0" cy="172720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90557" name="Rectangle 61"/>
          <p:cNvSpPr>
            <a:spLocks noChangeArrowheads="1"/>
          </p:cNvSpPr>
          <p:nvPr/>
        </p:nvSpPr>
        <p:spPr bwMode="auto">
          <a:xfrm>
            <a:off x="2197100" y="4292600"/>
            <a:ext cx="287338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490560" name="Line 64"/>
          <p:cNvSpPr>
            <a:spLocks noChangeShapeType="1"/>
          </p:cNvSpPr>
          <p:nvPr/>
        </p:nvSpPr>
        <p:spPr bwMode="auto">
          <a:xfrm>
            <a:off x="4500563" y="2987675"/>
            <a:ext cx="935037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90561" name="Rectangle 65"/>
          <p:cNvSpPr>
            <a:spLocks noChangeArrowheads="1"/>
          </p:cNvSpPr>
          <p:nvPr/>
        </p:nvSpPr>
        <p:spPr bwMode="auto">
          <a:xfrm>
            <a:off x="4787900" y="2692400"/>
            <a:ext cx="360363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E</a:t>
            </a:r>
          </a:p>
        </p:txBody>
      </p:sp>
      <p:sp>
        <p:nvSpPr>
          <p:cNvPr id="490563" name="Line 67"/>
          <p:cNvSpPr>
            <a:spLocks noChangeShapeType="1"/>
          </p:cNvSpPr>
          <p:nvPr/>
        </p:nvSpPr>
        <p:spPr bwMode="auto">
          <a:xfrm flipH="1">
            <a:off x="3348038" y="5084763"/>
            <a:ext cx="0" cy="865187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90564" name="Rectangle 68"/>
          <p:cNvSpPr>
            <a:spLocks noChangeArrowheads="1"/>
          </p:cNvSpPr>
          <p:nvPr/>
        </p:nvSpPr>
        <p:spPr bwMode="auto">
          <a:xfrm>
            <a:off x="3276600" y="5222875"/>
            <a:ext cx="360363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490566" name="Line 70"/>
          <p:cNvSpPr>
            <a:spLocks noChangeShapeType="1"/>
          </p:cNvSpPr>
          <p:nvPr/>
        </p:nvSpPr>
        <p:spPr bwMode="auto">
          <a:xfrm>
            <a:off x="4500563" y="3708400"/>
            <a:ext cx="792162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90567" name="Rectangle 71"/>
          <p:cNvSpPr>
            <a:spLocks noChangeArrowheads="1"/>
          </p:cNvSpPr>
          <p:nvPr/>
        </p:nvSpPr>
        <p:spPr bwMode="auto">
          <a:xfrm>
            <a:off x="4716463" y="3419475"/>
            <a:ext cx="360362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L</a:t>
            </a:r>
          </a:p>
        </p:txBody>
      </p:sp>
      <p:sp>
        <p:nvSpPr>
          <p:cNvPr id="490579" name="Line 83"/>
          <p:cNvSpPr>
            <a:spLocks noChangeShapeType="1"/>
          </p:cNvSpPr>
          <p:nvPr/>
        </p:nvSpPr>
        <p:spPr bwMode="auto">
          <a:xfrm flipH="1" flipV="1">
            <a:off x="4500563" y="4581525"/>
            <a:ext cx="503237" cy="64770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head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90580" name="Rectangle 84"/>
          <p:cNvSpPr>
            <a:spLocks noChangeArrowheads="1"/>
          </p:cNvSpPr>
          <p:nvPr/>
        </p:nvSpPr>
        <p:spPr bwMode="auto">
          <a:xfrm>
            <a:off x="4714875" y="4652963"/>
            <a:ext cx="288925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F</a:t>
            </a:r>
          </a:p>
        </p:txBody>
      </p:sp>
      <p:sp>
        <p:nvSpPr>
          <p:cNvPr id="490590" name="Line 94"/>
          <p:cNvSpPr>
            <a:spLocks noChangeShapeType="1"/>
          </p:cNvSpPr>
          <p:nvPr/>
        </p:nvSpPr>
        <p:spPr bwMode="auto">
          <a:xfrm flipH="1">
            <a:off x="6877050" y="3859213"/>
            <a:ext cx="503238" cy="1587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head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90591" name="Rectangle 95"/>
          <p:cNvSpPr>
            <a:spLocks noChangeArrowheads="1"/>
          </p:cNvSpPr>
          <p:nvPr/>
        </p:nvSpPr>
        <p:spPr bwMode="auto">
          <a:xfrm>
            <a:off x="7019925" y="3492500"/>
            <a:ext cx="288925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,</a:t>
            </a:r>
          </a:p>
        </p:txBody>
      </p:sp>
      <p:sp>
        <p:nvSpPr>
          <p:cNvPr id="490607" name="Text Box 111"/>
          <p:cNvSpPr txBox="1">
            <a:spLocks noChangeArrowheads="1"/>
          </p:cNvSpPr>
          <p:nvPr/>
        </p:nvSpPr>
        <p:spPr bwMode="auto">
          <a:xfrm>
            <a:off x="7381875" y="3700463"/>
            <a:ext cx="1584325" cy="174942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8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(L,.E)</a:t>
            </a:r>
            <a:endParaRPr lang="en-US" altLang="zh-CN" sz="1800" b="1" i="1">
              <a:ea typeface="华文行楷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altLang="zh-CN" sz="1800" b="1" i="1">
                <a:sym typeface="Symbol" panose="05050102010706020507" pitchFamily="18" charset="2"/>
              </a:rPr>
              <a:t>L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L,.E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.(L,E)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.F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F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.(F)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F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.d</a:t>
            </a:r>
          </a:p>
        </p:txBody>
      </p:sp>
      <p:sp>
        <p:nvSpPr>
          <p:cNvPr id="490608" name="Text Box 112"/>
          <p:cNvSpPr txBox="1">
            <a:spLocks noChangeArrowheads="1"/>
          </p:cNvSpPr>
          <p:nvPr/>
        </p:nvSpPr>
        <p:spPr bwMode="auto">
          <a:xfrm>
            <a:off x="5003800" y="6021388"/>
            <a:ext cx="1511300" cy="376237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9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(F).</a:t>
            </a:r>
          </a:p>
        </p:txBody>
      </p:sp>
      <p:sp>
        <p:nvSpPr>
          <p:cNvPr id="490609" name="Rectangle 113"/>
          <p:cNvSpPr>
            <a:spLocks noChangeArrowheads="1"/>
          </p:cNvSpPr>
          <p:nvPr/>
        </p:nvSpPr>
        <p:spPr bwMode="auto">
          <a:xfrm>
            <a:off x="5580063" y="5373688"/>
            <a:ext cx="287337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490610" name="Line 114"/>
          <p:cNvSpPr>
            <a:spLocks noChangeShapeType="1"/>
          </p:cNvSpPr>
          <p:nvPr/>
        </p:nvSpPr>
        <p:spPr bwMode="auto">
          <a:xfrm>
            <a:off x="5435600" y="5516563"/>
            <a:ext cx="576263" cy="504825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90612" name="Line 116"/>
          <p:cNvSpPr>
            <a:spLocks noChangeShapeType="1"/>
          </p:cNvSpPr>
          <p:nvPr/>
        </p:nvSpPr>
        <p:spPr bwMode="auto">
          <a:xfrm flipH="1">
            <a:off x="6877050" y="4799013"/>
            <a:ext cx="503238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90613" name="Rectangle 117"/>
          <p:cNvSpPr>
            <a:spLocks noChangeArrowheads="1"/>
          </p:cNvSpPr>
          <p:nvPr/>
        </p:nvSpPr>
        <p:spPr bwMode="auto">
          <a:xfrm>
            <a:off x="6948488" y="4505325"/>
            <a:ext cx="360362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E</a:t>
            </a:r>
          </a:p>
        </p:txBody>
      </p:sp>
      <p:sp>
        <p:nvSpPr>
          <p:cNvPr id="490614" name="Text Box 118"/>
          <p:cNvSpPr txBox="1">
            <a:spLocks noChangeArrowheads="1"/>
          </p:cNvSpPr>
          <p:nvPr/>
        </p:nvSpPr>
        <p:spPr bwMode="auto">
          <a:xfrm>
            <a:off x="5148263" y="4437063"/>
            <a:ext cx="1728787" cy="65087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10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(L,E.)</a:t>
            </a:r>
            <a:endParaRPr lang="en-US" altLang="zh-CN" sz="1800" b="1" i="1">
              <a:ea typeface="华文行楷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lang="en-US" altLang="zh-CN" sz="1800" b="1" i="1">
                <a:sym typeface="Symbol" panose="05050102010706020507" pitchFamily="18" charset="2"/>
              </a:rPr>
              <a:t>L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L,E.</a:t>
            </a:r>
          </a:p>
        </p:txBody>
      </p:sp>
      <p:sp>
        <p:nvSpPr>
          <p:cNvPr id="490615" name="Text Box 119"/>
          <p:cNvSpPr txBox="1">
            <a:spLocks noChangeArrowheads="1"/>
          </p:cNvSpPr>
          <p:nvPr/>
        </p:nvSpPr>
        <p:spPr bwMode="auto">
          <a:xfrm>
            <a:off x="6731000" y="6021388"/>
            <a:ext cx="1657350" cy="376237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11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(L,E)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490616" name="Rectangle 120"/>
          <p:cNvSpPr>
            <a:spLocks noChangeArrowheads="1"/>
          </p:cNvSpPr>
          <p:nvPr/>
        </p:nvSpPr>
        <p:spPr bwMode="auto">
          <a:xfrm>
            <a:off x="6445250" y="5367338"/>
            <a:ext cx="287338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490617" name="Line 121"/>
          <p:cNvSpPr>
            <a:spLocks noChangeShapeType="1"/>
          </p:cNvSpPr>
          <p:nvPr/>
        </p:nvSpPr>
        <p:spPr bwMode="auto">
          <a:xfrm>
            <a:off x="6227763" y="5084763"/>
            <a:ext cx="1081087" cy="936625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90618" name="AutoShape 12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0619" name="AutoShape 12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0620" name="AutoShape 12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0621" name="AutoShape 12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0622" name="Rectangle 126"/>
          <p:cNvSpPr>
            <a:spLocks noChangeArrowheads="1"/>
          </p:cNvSpPr>
          <p:nvPr/>
        </p:nvSpPr>
        <p:spPr bwMode="auto">
          <a:xfrm>
            <a:off x="36785" y="188913"/>
            <a:ext cx="3167063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490623" name="Line 127"/>
          <p:cNvSpPr>
            <a:spLocks noChangeShapeType="1"/>
          </p:cNvSpPr>
          <p:nvPr/>
        </p:nvSpPr>
        <p:spPr bwMode="auto">
          <a:xfrm flipH="1">
            <a:off x="4500563" y="4221163"/>
            <a:ext cx="2879725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90624" name="Rectangle 128"/>
          <p:cNvSpPr>
            <a:spLocks noChangeArrowheads="1"/>
          </p:cNvSpPr>
          <p:nvPr/>
        </p:nvSpPr>
        <p:spPr bwMode="auto">
          <a:xfrm>
            <a:off x="4716463" y="3854450"/>
            <a:ext cx="287337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(</a:t>
            </a:r>
          </a:p>
        </p:txBody>
      </p:sp>
      <p:sp>
        <p:nvSpPr>
          <p:cNvPr id="490625" name="Line 129"/>
          <p:cNvSpPr>
            <a:spLocks noChangeShapeType="1"/>
          </p:cNvSpPr>
          <p:nvPr/>
        </p:nvSpPr>
        <p:spPr bwMode="auto">
          <a:xfrm flipH="1">
            <a:off x="8747125" y="5443538"/>
            <a:ext cx="0" cy="649287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90626" name="Rectangle 130"/>
          <p:cNvSpPr>
            <a:spLocks noChangeArrowheads="1"/>
          </p:cNvSpPr>
          <p:nvPr/>
        </p:nvSpPr>
        <p:spPr bwMode="auto">
          <a:xfrm>
            <a:off x="8675688" y="5581650"/>
            <a:ext cx="360362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490627" name="Text Box 131"/>
          <p:cNvSpPr txBox="1">
            <a:spLocks noChangeArrowheads="1"/>
          </p:cNvSpPr>
          <p:nvPr/>
        </p:nvSpPr>
        <p:spPr bwMode="auto">
          <a:xfrm>
            <a:off x="8604250" y="6015038"/>
            <a:ext cx="360363" cy="3667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endParaRPr kumimoji="0" lang="en-US" altLang="zh-CN" sz="1800" b="1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90628" name="Line 132"/>
          <p:cNvSpPr>
            <a:spLocks noChangeShapeType="1"/>
          </p:cNvSpPr>
          <p:nvPr/>
        </p:nvSpPr>
        <p:spPr bwMode="auto">
          <a:xfrm>
            <a:off x="7667625" y="5445125"/>
            <a:ext cx="720725" cy="43180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90629" name="Text Box 133"/>
          <p:cNvSpPr txBox="1">
            <a:spLocks noChangeArrowheads="1"/>
          </p:cNvSpPr>
          <p:nvPr/>
        </p:nvSpPr>
        <p:spPr bwMode="auto">
          <a:xfrm>
            <a:off x="8315325" y="5654675"/>
            <a:ext cx="360363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endParaRPr kumimoji="0" lang="en-US" altLang="zh-CN" sz="1800" b="1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90630" name="Rectangle 134"/>
          <p:cNvSpPr>
            <a:spLocks noChangeArrowheads="1"/>
          </p:cNvSpPr>
          <p:nvPr/>
        </p:nvSpPr>
        <p:spPr bwMode="auto">
          <a:xfrm>
            <a:off x="7812088" y="5583238"/>
            <a:ext cx="287337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F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0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90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90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90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90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90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90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90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90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90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90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490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490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490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490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90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90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490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490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490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490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490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490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490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490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490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490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490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490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490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490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490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490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490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490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490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490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490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490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490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490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490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500"/>
                                        <p:tgtEl>
                                          <p:spTgt spid="490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4" dur="500"/>
                                        <p:tgtEl>
                                          <p:spTgt spid="490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490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0" dur="500"/>
                                        <p:tgtEl>
                                          <p:spTgt spid="490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500"/>
                                        <p:tgtEl>
                                          <p:spTgt spid="490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490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526" grpId="0" animBg="1"/>
      <p:bldP spid="490527" grpId="0" animBg="1"/>
      <p:bldP spid="490529" grpId="0" animBg="1"/>
      <p:bldP spid="490532" grpId="0" animBg="1"/>
      <p:bldP spid="490533" grpId="0"/>
      <p:bldP spid="490534" grpId="0" animBg="1"/>
      <p:bldP spid="490535" grpId="0" animBg="1"/>
      <p:bldP spid="490536" grpId="0" animBg="1"/>
      <p:bldP spid="490537" grpId="0"/>
      <p:bldP spid="490539" grpId="0" animBg="1"/>
      <p:bldP spid="490540" grpId="0" animBg="1"/>
      <p:bldP spid="490541" grpId="0" animBg="1"/>
      <p:bldP spid="490544" grpId="0" animBg="1"/>
      <p:bldP spid="490545" grpId="0" animBg="1"/>
      <p:bldP spid="490546" grpId="0" animBg="1"/>
      <p:bldP spid="490549" grpId="0" animBg="1"/>
      <p:bldP spid="490550" grpId="0"/>
      <p:bldP spid="490551" grpId="0"/>
      <p:bldP spid="490556" grpId="0" animBg="1"/>
      <p:bldP spid="490557" grpId="0"/>
      <p:bldP spid="490560" grpId="0" animBg="1"/>
      <p:bldP spid="490561" grpId="0"/>
      <p:bldP spid="490563" grpId="0" animBg="1"/>
      <p:bldP spid="490564" grpId="0"/>
      <p:bldP spid="490566" grpId="0" animBg="1"/>
      <p:bldP spid="490567" grpId="0"/>
      <p:bldP spid="490579" grpId="0" animBg="1"/>
      <p:bldP spid="490580" grpId="0"/>
      <p:bldP spid="490590" grpId="0" animBg="1"/>
      <p:bldP spid="490591" grpId="0"/>
      <p:bldP spid="490607" grpId="0" animBg="1"/>
      <p:bldP spid="490608" grpId="0" animBg="1"/>
      <p:bldP spid="490609" grpId="0"/>
      <p:bldP spid="490610" grpId="0" animBg="1"/>
      <p:bldP spid="490612" grpId="0" animBg="1"/>
      <p:bldP spid="490613" grpId="0"/>
      <p:bldP spid="490614" grpId="0" animBg="1"/>
      <p:bldP spid="490615" grpId="0" animBg="1"/>
      <p:bldP spid="490616" grpId="0"/>
      <p:bldP spid="490617" grpId="0" animBg="1"/>
      <p:bldP spid="490623" grpId="0" animBg="1"/>
      <p:bldP spid="490624" grpId="0"/>
      <p:bldP spid="490625" grpId="0" animBg="1"/>
      <p:bldP spid="490626" grpId="0"/>
      <p:bldP spid="490627" grpId="0"/>
      <p:bldP spid="490628" grpId="0" animBg="1"/>
      <p:bldP spid="490629" grpId="0"/>
      <p:bldP spid="490630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39" name="AutoShape 6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340" name="AutoShape 6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341" name="AutoShape 6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342" name="AutoShape 7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343" name="Text Box 71"/>
          <p:cNvSpPr txBox="1">
            <a:spLocks noChangeArrowheads="1"/>
          </p:cNvSpPr>
          <p:nvPr/>
        </p:nvSpPr>
        <p:spPr bwMode="auto">
          <a:xfrm>
            <a:off x="468313" y="1196975"/>
            <a:ext cx="6624637" cy="2103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/>
              <a:t>S</a:t>
            </a:r>
            <a:r>
              <a:rPr kumimoji="0" lang="en-US" altLang="zh-CN" sz="3200"/>
              <a:t>LR</a:t>
            </a:r>
            <a:r>
              <a:rPr kumimoji="0" lang="zh-CN" altLang="en-US" sz="3200" b="1"/>
              <a:t>（</a:t>
            </a:r>
            <a:r>
              <a:rPr kumimoji="0" lang="en-US" altLang="zh-CN" sz="3200"/>
              <a:t>1</a:t>
            </a:r>
            <a:r>
              <a:rPr kumimoji="0" lang="zh-CN" altLang="en-US" sz="3200" b="1"/>
              <a:t>）分析的局限性</a:t>
            </a:r>
            <a:r>
              <a:rPr kumimoji="0" lang="zh-CN" altLang="en-US" sz="3200" b="1">
                <a:solidFill>
                  <a:srgbClr val="800080"/>
                </a:solidFill>
              </a:rPr>
              <a:t>举例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zh-CN" altLang="en-US" sz="2800"/>
              <a:t> </a:t>
            </a:r>
            <a:r>
              <a:rPr lang="zh-CN" altLang="en-US" sz="2800" b="1"/>
              <a:t>文法</a:t>
            </a:r>
            <a:r>
              <a:rPr lang="en-US" altLang="zh-CN" sz="2800" i="1">
                <a:solidFill>
                  <a:srgbClr val="800080"/>
                </a:solidFill>
              </a:rPr>
              <a:t>G’</a:t>
            </a:r>
            <a:r>
              <a:rPr lang="en-US" altLang="zh-CN" sz="2800" b="1">
                <a:solidFill>
                  <a:srgbClr val="800080"/>
                </a:solidFill>
              </a:rPr>
              <a:t> </a:t>
            </a:r>
            <a:r>
              <a:rPr lang="en-US" altLang="zh-CN" sz="2800">
                <a:solidFill>
                  <a:srgbClr val="800080"/>
                </a:solidFill>
              </a:rPr>
              <a:t>[</a:t>
            </a:r>
            <a:r>
              <a:rPr lang="en-US" altLang="zh-CN" sz="2800" i="1">
                <a:solidFill>
                  <a:srgbClr val="800080"/>
                </a:solidFill>
                <a:sym typeface="Symbol" panose="05050102010706020507" pitchFamily="18" charset="2"/>
              </a:rPr>
              <a:t>S</a:t>
            </a:r>
            <a:r>
              <a:rPr lang="en-US" altLang="zh-CN" sz="2800">
                <a:solidFill>
                  <a:srgbClr val="800080"/>
                </a:solidFill>
              </a:rPr>
              <a:t>]</a:t>
            </a:r>
            <a:r>
              <a:rPr kumimoji="0" lang="en-US" altLang="zh-CN" sz="2800">
                <a:solidFill>
                  <a:srgbClr val="800080"/>
                </a:solidFill>
                <a:sym typeface="Symbol" panose="05050102010706020507" pitchFamily="18" charset="2"/>
              </a:rPr>
              <a:t> </a:t>
            </a:r>
            <a:r>
              <a:rPr kumimoji="0" lang="zh-CN" altLang="en-US" sz="2800" b="1">
                <a:solidFill>
                  <a:srgbClr val="800080"/>
                </a:solidFill>
                <a:sym typeface="Symbol" panose="05050102010706020507" pitchFamily="18" charset="2"/>
              </a:rPr>
              <a:t>不是</a:t>
            </a:r>
            <a:r>
              <a:rPr lang="en-US" altLang="zh-CN" sz="2800">
                <a:solidFill>
                  <a:srgbClr val="800080"/>
                </a:solidFill>
              </a:rPr>
              <a:t>S</a:t>
            </a:r>
            <a:r>
              <a:rPr kumimoji="0" lang="en-US" altLang="zh-CN" sz="2800">
                <a:solidFill>
                  <a:srgbClr val="800080"/>
                </a:solidFill>
              </a:rPr>
              <a:t>LR</a:t>
            </a:r>
            <a:r>
              <a:rPr kumimoji="0" lang="zh-CN" altLang="en-US" sz="2800" b="1">
                <a:solidFill>
                  <a:srgbClr val="800080"/>
                </a:solidFill>
              </a:rPr>
              <a:t>（</a:t>
            </a:r>
            <a:r>
              <a:rPr kumimoji="0" lang="en-US" altLang="zh-CN" sz="2800">
                <a:solidFill>
                  <a:srgbClr val="800080"/>
                </a:solidFill>
              </a:rPr>
              <a:t>1</a:t>
            </a:r>
            <a:r>
              <a:rPr kumimoji="0" lang="zh-CN" altLang="en-US" sz="2800" b="1">
                <a:solidFill>
                  <a:srgbClr val="800080"/>
                </a:solidFill>
              </a:rPr>
              <a:t>）</a:t>
            </a:r>
            <a:r>
              <a:rPr kumimoji="0" lang="zh-CN" altLang="en-US" sz="2800" b="1">
                <a:solidFill>
                  <a:srgbClr val="800080"/>
                </a:solidFill>
                <a:sym typeface="Symbol" panose="05050102010706020507" pitchFamily="18" charset="2"/>
              </a:rPr>
              <a:t>文法</a:t>
            </a:r>
          </a:p>
          <a:p>
            <a:pPr lvl="1">
              <a:buFont typeface="Symbol" panose="05050102010706020507" pitchFamily="18" charset="2"/>
              <a:buNone/>
            </a:pPr>
            <a:endParaRPr kumimoji="0" lang="zh-CN" altLang="en-US" sz="1000" b="1">
              <a:sym typeface="Symbol" panose="05050102010706020507" pitchFamily="18" charset="2"/>
            </a:endParaRPr>
          </a:p>
          <a:p>
            <a:pPr lvl="1">
              <a:buFont typeface="Symbol" panose="05050102010706020507" pitchFamily="18" charset="2"/>
              <a:buNone/>
            </a:pPr>
            <a:r>
              <a:rPr kumimoji="0" lang="zh-CN" altLang="en-US" sz="2800" b="1">
                <a:sym typeface="Symbol" panose="05050102010706020507" pitchFamily="18" charset="2"/>
              </a:rPr>
              <a:t>   </a:t>
            </a:r>
            <a:r>
              <a:rPr lang="zh-CN" altLang="en-US" b="1"/>
              <a:t>状态 </a:t>
            </a:r>
            <a:r>
              <a:rPr kumimoji="0" lang="en-US" altLang="zh-CN" b="1">
                <a:sym typeface="Symbol" panose="05050102010706020507" pitchFamily="18" charset="2"/>
              </a:rPr>
              <a:t>I</a:t>
            </a:r>
            <a:r>
              <a:rPr kumimoji="0" lang="en-US" altLang="zh-CN" b="1" baseline="-25000">
                <a:sym typeface="Symbol" panose="05050102010706020507" pitchFamily="18" charset="2"/>
              </a:rPr>
              <a:t>7 </a:t>
            </a:r>
            <a:r>
              <a:rPr lang="zh-CN" altLang="en-US" b="1"/>
              <a:t>的移进</a:t>
            </a:r>
            <a:r>
              <a:rPr lang="zh-CN" altLang="en-US" b="1">
                <a:sym typeface="Symbol" panose="05050102010706020507" pitchFamily="18" charset="2"/>
              </a:rPr>
              <a:t></a:t>
            </a:r>
            <a:r>
              <a:rPr lang="zh-CN" altLang="en-US" b="1"/>
              <a:t>归约冲突无法用 </a:t>
            </a:r>
            <a:r>
              <a:rPr lang="en-US" altLang="zh-CN"/>
              <a:t>S</a:t>
            </a:r>
            <a:r>
              <a:rPr kumimoji="0" lang="en-US" altLang="zh-CN"/>
              <a:t>LR</a:t>
            </a:r>
            <a:r>
              <a:rPr kumimoji="0" lang="zh-CN" altLang="en-US" b="1"/>
              <a:t>（</a:t>
            </a:r>
            <a:r>
              <a:rPr kumimoji="0" lang="en-US" altLang="zh-CN"/>
              <a:t>1</a:t>
            </a:r>
            <a:r>
              <a:rPr kumimoji="0" lang="zh-CN" altLang="en-US" b="1"/>
              <a:t>）</a:t>
            </a:r>
          </a:p>
          <a:p>
            <a:pPr lvl="1">
              <a:buFont typeface="Symbol" panose="05050102010706020507" pitchFamily="18" charset="2"/>
              <a:buNone/>
            </a:pPr>
            <a:r>
              <a:rPr kumimoji="0" lang="zh-CN" altLang="en-US" b="1"/>
              <a:t>   分析方法解决   注意： </a:t>
            </a:r>
            <a:r>
              <a:rPr lang="en-US" altLang="zh-CN" b="1" i="1">
                <a:solidFill>
                  <a:srgbClr val="800080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>
                <a:solidFill>
                  <a:srgbClr val="800080"/>
                </a:solidFill>
                <a:sym typeface="Symbol" panose="05050102010706020507" pitchFamily="18" charset="2"/>
              </a:rPr>
              <a:t></a:t>
            </a:r>
            <a:r>
              <a:rPr lang="en-US" altLang="zh-CN">
                <a:solidFill>
                  <a:srgbClr val="800080"/>
                </a:solidFill>
              </a:rPr>
              <a:t>Follow</a:t>
            </a:r>
            <a:r>
              <a:rPr lang="en-US" altLang="zh-CN">
                <a:solidFill>
                  <a:srgbClr val="800080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i="1">
                <a:solidFill>
                  <a:srgbClr val="800080"/>
                </a:solidFill>
              </a:rPr>
              <a:t>E</a:t>
            </a:r>
            <a:r>
              <a:rPr lang="en-US" altLang="zh-CN">
                <a:solidFill>
                  <a:srgbClr val="800080"/>
                </a:solidFill>
                <a:sym typeface="Symbol" panose="05050102010706020507" pitchFamily="18" charset="2"/>
              </a:rPr>
              <a:t>)</a:t>
            </a:r>
          </a:p>
        </p:txBody>
      </p:sp>
      <p:sp>
        <p:nvSpPr>
          <p:cNvPr id="182344" name="Text Box 72"/>
          <p:cNvSpPr txBox="1">
            <a:spLocks noChangeArrowheads="1"/>
          </p:cNvSpPr>
          <p:nvPr/>
        </p:nvSpPr>
        <p:spPr bwMode="auto">
          <a:xfrm>
            <a:off x="7092950" y="1125538"/>
            <a:ext cx="1979613" cy="2451100"/>
          </a:xfrm>
          <a:prstGeom prst="rect">
            <a:avLst/>
          </a:prstGeom>
          <a:noFill/>
          <a:ln w="9525" cap="rnd">
            <a:solidFill>
              <a:srgbClr val="990099"/>
            </a:solidFill>
            <a:prstDash val="sysDot"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zh-CN" altLang="en-US" sz="2000" b="1">
                <a:solidFill>
                  <a:srgbClr val="800080"/>
                </a:solidFill>
                <a:sym typeface="Symbol" panose="05050102010706020507" pitchFamily="18" charset="2"/>
              </a:rPr>
              <a:t>增广</a:t>
            </a:r>
            <a:r>
              <a:rPr kumimoji="0" lang="zh-CN" altLang="en-US" sz="2000" b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文法</a:t>
            </a:r>
            <a:r>
              <a:rPr kumimoji="0" lang="en-US" altLang="zh-CN" sz="20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G’ </a:t>
            </a:r>
            <a:r>
              <a:rPr kumimoji="0" lang="en-US" altLang="zh-CN" sz="20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kumimoji="0" lang="en-US" altLang="zh-CN" sz="20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kumimoji="0" lang="en-US" altLang="zh-CN" sz="20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]: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kumimoji="0" lang="en-US" altLang="zh-CN" sz="800">
              <a:solidFill>
                <a:srgbClr val="80008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(0)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S 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E</a:t>
            </a:r>
            <a:endParaRPr kumimoji="0" lang="en-US" altLang="zh-CN" sz="1800">
              <a:solidFill>
                <a:srgbClr val="80008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(1)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(L </a:t>
            </a:r>
            <a:r>
              <a:rPr lang="en-US" altLang="zh-CN" sz="1800" b="1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 )</a:t>
            </a:r>
            <a:endParaRPr lang="en-US" altLang="zh-CN" sz="1800" i="1">
              <a:solidFill>
                <a:srgbClr val="800080"/>
              </a:solidFill>
              <a:ea typeface="华文行楷" pitchFamily="2" charset="-122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 (2)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E </a:t>
            </a: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 F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 (3)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L </a:t>
            </a:r>
            <a:r>
              <a:rPr lang="en-US" altLang="zh-CN" sz="1800">
                <a:solidFill>
                  <a:srgbClr val="800080"/>
                </a:solidFill>
                <a:ea typeface="华文行楷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sym typeface="Symbol" panose="05050102010706020507" pitchFamily="18" charset="2"/>
              </a:rPr>
              <a:t>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L </a:t>
            </a:r>
            <a:r>
              <a:rPr lang="en-US" altLang="zh-CN" sz="1800" b="1" i="1">
                <a:solidFill>
                  <a:srgbClr val="800080"/>
                </a:solidFill>
                <a:sym typeface="Symbol" panose="05050102010706020507" pitchFamily="18" charset="2"/>
              </a:rPr>
              <a:t>,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E</a:t>
            </a: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 </a:t>
            </a:r>
            <a:endParaRPr lang="en-US" altLang="zh-CN" sz="1800" i="1">
              <a:solidFill>
                <a:srgbClr val="800080"/>
              </a:solidFill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 (4)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L </a:t>
            </a: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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E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 (5)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F </a:t>
            </a:r>
            <a:r>
              <a:rPr lang="en-US" altLang="zh-CN" sz="1800">
                <a:solidFill>
                  <a:srgbClr val="800080"/>
                </a:solidFill>
                <a:ea typeface="华文行楷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sym typeface="Symbol" panose="05050102010706020507" pitchFamily="18" charset="2"/>
              </a:rPr>
              <a:t>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( F )</a:t>
            </a:r>
            <a:endParaRPr lang="en-US" altLang="zh-CN" sz="1800" i="1">
              <a:solidFill>
                <a:srgbClr val="800080"/>
              </a:solidFill>
              <a:ea typeface="华文行楷" pitchFamily="2" charset="-122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 (6)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F </a:t>
            </a: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 d</a:t>
            </a:r>
          </a:p>
        </p:txBody>
      </p:sp>
      <p:sp>
        <p:nvSpPr>
          <p:cNvPr id="182345" name="Text Box 73"/>
          <p:cNvSpPr txBox="1">
            <a:spLocks noChangeArrowheads="1"/>
          </p:cNvSpPr>
          <p:nvPr/>
        </p:nvSpPr>
        <p:spPr bwMode="auto">
          <a:xfrm>
            <a:off x="1473200" y="3606800"/>
            <a:ext cx="1512888" cy="1474788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kumimoji="0"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.E</a:t>
            </a:r>
            <a:endParaRPr kumimoji="0" lang="en-US" altLang="zh-CN" sz="1800" b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E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.(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L,E)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    </a:t>
            </a:r>
            <a:r>
              <a:rPr lang="en-US" altLang="zh-CN" sz="1800" b="1" i="1">
                <a:sym typeface="Symbol" panose="05050102010706020507" pitchFamily="18" charset="2"/>
              </a:rPr>
              <a:t>E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.F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F </a:t>
            </a:r>
            <a:r>
              <a:rPr lang="en-US" altLang="zh-CN" sz="1800" b="1">
                <a:ea typeface="华文行楷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 .(F)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F </a:t>
            </a:r>
            <a:r>
              <a:rPr lang="en-US" altLang="zh-CN" sz="1800" b="1"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182346" name="Line 74"/>
          <p:cNvSpPr>
            <a:spLocks noChangeShapeType="1"/>
          </p:cNvSpPr>
          <p:nvPr/>
        </p:nvSpPr>
        <p:spPr bwMode="auto">
          <a:xfrm>
            <a:off x="2986088" y="4433888"/>
            <a:ext cx="647700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82347" name="Text Box 75"/>
          <p:cNvSpPr txBox="1">
            <a:spLocks noChangeArrowheads="1"/>
          </p:cNvSpPr>
          <p:nvPr/>
        </p:nvSpPr>
        <p:spPr bwMode="auto">
          <a:xfrm>
            <a:off x="3633788" y="3629025"/>
            <a:ext cx="1655762" cy="2298700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(.L,E)</a:t>
            </a:r>
            <a:endParaRPr kumimoji="0" lang="en-US" altLang="zh-CN" sz="1800" b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(.F)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.L,E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.E</a:t>
            </a:r>
            <a:endParaRPr lang="en-US" altLang="zh-CN" sz="1800" b="1" i="1">
              <a:ea typeface="华文行楷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.(F)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.(L,E)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.F</a:t>
            </a:r>
          </a:p>
        </p:txBody>
      </p:sp>
      <p:sp>
        <p:nvSpPr>
          <p:cNvPr id="182348" name="Text Box 76"/>
          <p:cNvSpPr txBox="1">
            <a:spLocks noChangeArrowheads="1"/>
          </p:cNvSpPr>
          <p:nvPr/>
        </p:nvSpPr>
        <p:spPr bwMode="auto">
          <a:xfrm>
            <a:off x="5722938" y="5727700"/>
            <a:ext cx="1511300" cy="650875"/>
          </a:xfrm>
          <a:prstGeom prst="rect">
            <a:avLst/>
          </a:prstGeom>
          <a:noFill/>
          <a:ln w="9525">
            <a:solidFill>
              <a:srgbClr val="8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7</a:t>
            </a:r>
            <a:r>
              <a:rPr kumimoji="0" lang="en-US" altLang="zh-CN" sz="1800" b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(F.)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F.</a:t>
            </a:r>
          </a:p>
        </p:txBody>
      </p:sp>
      <p:sp>
        <p:nvSpPr>
          <p:cNvPr id="182349" name="Text Box 77"/>
          <p:cNvSpPr txBox="1">
            <a:spLocks noChangeArrowheads="1"/>
          </p:cNvSpPr>
          <p:nvPr/>
        </p:nvSpPr>
        <p:spPr bwMode="auto">
          <a:xfrm>
            <a:off x="6083300" y="4578350"/>
            <a:ext cx="1584325" cy="65087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6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(L.,E)</a:t>
            </a:r>
            <a:endParaRPr lang="en-US" altLang="zh-CN" sz="1800" b="1" i="1">
              <a:ea typeface="华文行楷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altLang="zh-CN" sz="1800" b="1" i="1">
                <a:sym typeface="Symbol" panose="05050102010706020507" pitchFamily="18" charset="2"/>
              </a:rPr>
              <a:t>L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L.,E</a:t>
            </a:r>
          </a:p>
        </p:txBody>
      </p:sp>
      <p:sp>
        <p:nvSpPr>
          <p:cNvPr id="182350" name="Rectangle 78"/>
          <p:cNvSpPr>
            <a:spLocks noChangeArrowheads="1"/>
          </p:cNvSpPr>
          <p:nvPr/>
        </p:nvSpPr>
        <p:spPr bwMode="auto">
          <a:xfrm>
            <a:off x="3201988" y="4067175"/>
            <a:ext cx="287337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(</a:t>
            </a:r>
          </a:p>
        </p:txBody>
      </p:sp>
      <p:sp>
        <p:nvSpPr>
          <p:cNvPr id="182351" name="Line 79"/>
          <p:cNvSpPr>
            <a:spLocks noChangeShapeType="1"/>
          </p:cNvSpPr>
          <p:nvPr/>
        </p:nvSpPr>
        <p:spPr bwMode="auto">
          <a:xfrm>
            <a:off x="5291138" y="4932363"/>
            <a:ext cx="792162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82352" name="Rectangle 80"/>
          <p:cNvSpPr>
            <a:spLocks noChangeArrowheads="1"/>
          </p:cNvSpPr>
          <p:nvPr/>
        </p:nvSpPr>
        <p:spPr bwMode="auto">
          <a:xfrm>
            <a:off x="5507038" y="4643438"/>
            <a:ext cx="360362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L</a:t>
            </a:r>
          </a:p>
        </p:txBody>
      </p:sp>
      <p:sp>
        <p:nvSpPr>
          <p:cNvPr id="182353" name="Line 81"/>
          <p:cNvSpPr>
            <a:spLocks noChangeShapeType="1"/>
          </p:cNvSpPr>
          <p:nvPr/>
        </p:nvSpPr>
        <p:spPr bwMode="auto">
          <a:xfrm flipH="1" flipV="1">
            <a:off x="5291138" y="5153025"/>
            <a:ext cx="1008062" cy="576263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head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82354" name="Rectangle 82"/>
          <p:cNvSpPr>
            <a:spLocks noChangeArrowheads="1"/>
          </p:cNvSpPr>
          <p:nvPr/>
        </p:nvSpPr>
        <p:spPr bwMode="auto">
          <a:xfrm>
            <a:off x="5362575" y="5297488"/>
            <a:ext cx="288925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F</a:t>
            </a:r>
          </a:p>
        </p:txBody>
      </p:sp>
      <p:sp>
        <p:nvSpPr>
          <p:cNvPr id="182355" name="Line 83"/>
          <p:cNvSpPr>
            <a:spLocks noChangeShapeType="1"/>
          </p:cNvSpPr>
          <p:nvPr/>
        </p:nvSpPr>
        <p:spPr bwMode="auto">
          <a:xfrm flipH="1">
            <a:off x="7667625" y="4937125"/>
            <a:ext cx="503238" cy="1588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head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82356" name="Rectangle 84"/>
          <p:cNvSpPr>
            <a:spLocks noChangeArrowheads="1"/>
          </p:cNvSpPr>
          <p:nvPr/>
        </p:nvSpPr>
        <p:spPr bwMode="auto">
          <a:xfrm>
            <a:off x="7810500" y="4570413"/>
            <a:ext cx="288925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,</a:t>
            </a:r>
          </a:p>
        </p:txBody>
      </p:sp>
      <p:sp>
        <p:nvSpPr>
          <p:cNvPr id="182361" name="Rectangle 89"/>
          <p:cNvSpPr>
            <a:spLocks noChangeArrowheads="1"/>
          </p:cNvSpPr>
          <p:nvPr/>
        </p:nvSpPr>
        <p:spPr bwMode="auto">
          <a:xfrm>
            <a:off x="35496" y="188913"/>
            <a:ext cx="3167063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182362" name="Text Box 90"/>
          <p:cNvSpPr txBox="1">
            <a:spLocks noChangeArrowheads="1"/>
          </p:cNvSpPr>
          <p:nvPr/>
        </p:nvSpPr>
        <p:spPr bwMode="auto">
          <a:xfrm>
            <a:off x="8172450" y="4724400"/>
            <a:ext cx="360363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8</a:t>
            </a:r>
            <a:endParaRPr kumimoji="0" lang="en-US" altLang="zh-CN" sz="1800" b="1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2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362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52" name="AutoShape 1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5453" name="AutoShape 1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5454" name="AutoShape 1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5455" name="AutoShape 1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5456" name="Text Box 16"/>
          <p:cNvSpPr txBox="1">
            <a:spLocks noChangeArrowheads="1"/>
          </p:cNvSpPr>
          <p:nvPr/>
        </p:nvSpPr>
        <p:spPr bwMode="auto">
          <a:xfrm>
            <a:off x="468313" y="1052513"/>
            <a:ext cx="6624637" cy="2468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/>
              <a:t>S</a:t>
            </a:r>
            <a:r>
              <a:rPr kumimoji="0" lang="en-US" altLang="zh-CN" sz="3200"/>
              <a:t>LR</a:t>
            </a:r>
            <a:r>
              <a:rPr kumimoji="0" lang="zh-CN" altLang="en-US" sz="3200" b="1"/>
              <a:t>（</a:t>
            </a:r>
            <a:r>
              <a:rPr kumimoji="0" lang="en-US" altLang="zh-CN" sz="3200"/>
              <a:t>1</a:t>
            </a:r>
            <a:r>
              <a:rPr kumimoji="0" lang="zh-CN" altLang="en-US" sz="3200" b="1"/>
              <a:t>）分析的局限性</a:t>
            </a:r>
            <a:r>
              <a:rPr kumimoji="0" lang="zh-CN" altLang="en-US" sz="3200" b="1">
                <a:solidFill>
                  <a:srgbClr val="800080"/>
                </a:solidFill>
              </a:rPr>
              <a:t>举例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zh-CN" altLang="en-US" sz="2800"/>
              <a:t> </a:t>
            </a:r>
            <a:r>
              <a:rPr lang="zh-CN" altLang="en-US" sz="2800" b="1"/>
              <a:t>状态 </a:t>
            </a:r>
            <a:r>
              <a:rPr kumimoji="0" lang="en-US" altLang="zh-CN" sz="2800" b="1">
                <a:sym typeface="Symbol" panose="05050102010706020507" pitchFamily="18" charset="2"/>
              </a:rPr>
              <a:t>I</a:t>
            </a:r>
            <a:r>
              <a:rPr kumimoji="0" lang="en-US" altLang="zh-CN" sz="2800" b="1" baseline="-25000">
                <a:sym typeface="Symbol" panose="05050102010706020507" pitchFamily="18" charset="2"/>
              </a:rPr>
              <a:t>7</a:t>
            </a:r>
            <a:r>
              <a:rPr kumimoji="0" lang="en-US" altLang="zh-CN" sz="2800" b="1">
                <a:sym typeface="Symbol" panose="05050102010706020507" pitchFamily="18" charset="2"/>
              </a:rPr>
              <a:t> </a:t>
            </a:r>
            <a:r>
              <a:rPr lang="zh-CN" altLang="en-US" sz="2800" b="1"/>
              <a:t>的</a:t>
            </a:r>
            <a:r>
              <a:rPr lang="zh-CN" altLang="en-US" sz="2800" b="1">
                <a:solidFill>
                  <a:srgbClr val="800080"/>
                </a:solidFill>
              </a:rPr>
              <a:t>冲突</a:t>
            </a:r>
            <a:r>
              <a:rPr kumimoji="0" lang="zh-CN" altLang="en-US" sz="2800" b="1">
                <a:sym typeface="Symbol" panose="05050102010706020507" pitchFamily="18" charset="2"/>
              </a:rPr>
              <a:t>是</a:t>
            </a:r>
            <a:r>
              <a:rPr kumimoji="0" lang="zh-CN" altLang="en-US" sz="2800" b="1">
                <a:solidFill>
                  <a:srgbClr val="800080"/>
                </a:solidFill>
                <a:sym typeface="Symbol" panose="05050102010706020507" pitchFamily="18" charset="2"/>
              </a:rPr>
              <a:t>可以解决</a:t>
            </a:r>
            <a:r>
              <a:rPr kumimoji="0" lang="zh-CN" altLang="en-US" sz="2800" b="1">
                <a:sym typeface="Symbol" panose="05050102010706020507" pitchFamily="18" charset="2"/>
              </a:rPr>
              <a:t>的</a:t>
            </a:r>
          </a:p>
          <a:p>
            <a:pPr lvl="1">
              <a:buFont typeface="Symbol" panose="05050102010706020507" pitchFamily="18" charset="2"/>
              <a:buNone/>
            </a:pPr>
            <a:endParaRPr kumimoji="0" lang="zh-CN" altLang="en-US" sz="1000" b="1">
              <a:sym typeface="Symbol" panose="05050102010706020507" pitchFamily="18" charset="2"/>
            </a:endParaRPr>
          </a:p>
          <a:p>
            <a:pPr lvl="1">
              <a:buFont typeface="Symbol" panose="05050102010706020507" pitchFamily="18" charset="2"/>
              <a:buNone/>
            </a:pPr>
            <a:r>
              <a:rPr kumimoji="0" lang="zh-CN" altLang="en-US" sz="2800" b="1">
                <a:sym typeface="Symbol" panose="05050102010706020507" pitchFamily="18" charset="2"/>
              </a:rPr>
              <a:t>   </a:t>
            </a:r>
            <a:r>
              <a:rPr kumimoji="0" lang="zh-CN" altLang="en-US" b="1">
                <a:sym typeface="Symbol" panose="05050102010706020507" pitchFamily="18" charset="2"/>
              </a:rPr>
              <a:t>从 </a:t>
            </a:r>
            <a:r>
              <a:rPr kumimoji="0" lang="en-US" altLang="zh-CN" b="1">
                <a:sym typeface="Symbol" panose="05050102010706020507" pitchFamily="18" charset="2"/>
              </a:rPr>
              <a:t>I</a:t>
            </a:r>
            <a:r>
              <a:rPr kumimoji="0" lang="en-US" altLang="zh-CN" b="1" baseline="-25000">
                <a:sym typeface="Symbol" panose="05050102010706020507" pitchFamily="18" charset="2"/>
              </a:rPr>
              <a:t>3 </a:t>
            </a:r>
            <a:r>
              <a:rPr kumimoji="0" lang="zh-CN" altLang="en-US" b="1">
                <a:sym typeface="Symbol" panose="05050102010706020507" pitchFamily="18" charset="2"/>
              </a:rPr>
              <a:t>，</a:t>
            </a:r>
            <a:r>
              <a:rPr kumimoji="0" lang="en-US" altLang="zh-CN" b="1">
                <a:sym typeface="Symbol" panose="05050102010706020507" pitchFamily="18" charset="2"/>
              </a:rPr>
              <a:t>I</a:t>
            </a:r>
            <a:r>
              <a:rPr kumimoji="0" lang="en-US" altLang="zh-CN" b="1" baseline="-25000">
                <a:sym typeface="Symbol" panose="05050102010706020507" pitchFamily="18" charset="2"/>
              </a:rPr>
              <a:t>5</a:t>
            </a:r>
            <a:r>
              <a:rPr kumimoji="0" lang="zh-CN" altLang="en-US" b="1">
                <a:sym typeface="Symbol" panose="05050102010706020507" pitchFamily="18" charset="2"/>
              </a:rPr>
              <a:t>和 </a:t>
            </a:r>
            <a:r>
              <a:rPr kumimoji="0" lang="en-US" altLang="zh-CN" b="1">
                <a:sym typeface="Symbol" panose="05050102010706020507" pitchFamily="18" charset="2"/>
              </a:rPr>
              <a:t>I</a:t>
            </a:r>
            <a:r>
              <a:rPr kumimoji="0" lang="en-US" altLang="zh-CN" b="1" baseline="-25000">
                <a:sym typeface="Symbol" panose="05050102010706020507" pitchFamily="18" charset="2"/>
              </a:rPr>
              <a:t>6 </a:t>
            </a:r>
            <a:r>
              <a:rPr kumimoji="0" lang="zh-CN" altLang="en-US" b="1">
                <a:sym typeface="Symbol" panose="05050102010706020507" pitchFamily="18" charset="2"/>
              </a:rPr>
              <a:t>容易看出，到达</a:t>
            </a:r>
            <a:r>
              <a:rPr lang="zh-CN" altLang="en-US" b="1"/>
              <a:t>状态 </a:t>
            </a:r>
            <a:r>
              <a:rPr kumimoji="0" lang="en-US" altLang="zh-CN" b="1">
                <a:sym typeface="Symbol" panose="05050102010706020507" pitchFamily="18" charset="2"/>
              </a:rPr>
              <a:t>I</a:t>
            </a:r>
            <a:r>
              <a:rPr kumimoji="0" lang="en-US" altLang="zh-CN" b="1" baseline="-25000">
                <a:sym typeface="Symbol" panose="05050102010706020507" pitchFamily="18" charset="2"/>
              </a:rPr>
              <a:t>7 </a:t>
            </a:r>
            <a:r>
              <a:rPr lang="zh-CN" altLang="en-US" b="1"/>
              <a:t>时，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zh-CN" altLang="en-US" b="1"/>
              <a:t>   句柄 </a:t>
            </a:r>
            <a:r>
              <a:rPr lang="en-US" altLang="zh-CN" b="1" i="1">
                <a:solidFill>
                  <a:srgbClr val="800080"/>
                </a:solidFill>
                <a:sym typeface="Symbol" panose="05050102010706020507" pitchFamily="18" charset="2"/>
              </a:rPr>
              <a:t>F </a:t>
            </a:r>
            <a:r>
              <a:rPr lang="zh-CN" altLang="en-US" b="1"/>
              <a:t>所期望的下一个 输入符号实际上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zh-CN" altLang="en-US" b="1"/>
              <a:t>   是 </a:t>
            </a:r>
            <a:r>
              <a:rPr lang="en-US" altLang="zh-CN" b="1" i="1">
                <a:solidFill>
                  <a:srgbClr val="800080"/>
                </a:solidFill>
                <a:sym typeface="Symbol" panose="05050102010706020507" pitchFamily="18" charset="2"/>
              </a:rPr>
              <a:t>,</a:t>
            </a:r>
            <a:r>
              <a:rPr lang="en-US" altLang="zh-CN" b="1" i="1">
                <a:sym typeface="Symbol" panose="05050102010706020507" pitchFamily="18" charset="2"/>
              </a:rPr>
              <a:t> </a:t>
            </a:r>
            <a:r>
              <a:rPr lang="zh-CN" altLang="en-US" b="1"/>
              <a:t>，而不是 </a:t>
            </a:r>
            <a:r>
              <a:rPr lang="en-US" altLang="zh-CN" b="1" i="1">
                <a:solidFill>
                  <a:srgbClr val="800080"/>
                </a:solidFill>
                <a:sym typeface="Symbol" panose="05050102010706020507" pitchFamily="18" charset="2"/>
              </a:rPr>
              <a:t>)</a:t>
            </a:r>
          </a:p>
        </p:txBody>
      </p:sp>
      <p:sp>
        <p:nvSpPr>
          <p:cNvPr id="445457" name="Text Box 17"/>
          <p:cNvSpPr txBox="1">
            <a:spLocks noChangeArrowheads="1"/>
          </p:cNvSpPr>
          <p:nvPr/>
        </p:nvSpPr>
        <p:spPr bwMode="auto">
          <a:xfrm>
            <a:off x="7092950" y="1125538"/>
            <a:ext cx="1979613" cy="2451100"/>
          </a:xfrm>
          <a:prstGeom prst="rect">
            <a:avLst/>
          </a:prstGeom>
          <a:noFill/>
          <a:ln w="9525" cap="rnd">
            <a:solidFill>
              <a:srgbClr val="990099"/>
            </a:solidFill>
            <a:prstDash val="sysDot"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zh-CN" altLang="en-US" sz="2000" b="1">
                <a:solidFill>
                  <a:srgbClr val="800080"/>
                </a:solidFill>
                <a:sym typeface="Symbol" panose="05050102010706020507" pitchFamily="18" charset="2"/>
              </a:rPr>
              <a:t>增广</a:t>
            </a:r>
            <a:r>
              <a:rPr kumimoji="0" lang="zh-CN" altLang="en-US" sz="2000" b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文法</a:t>
            </a:r>
            <a:r>
              <a:rPr kumimoji="0" lang="en-US" altLang="zh-CN" sz="20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G’ </a:t>
            </a:r>
            <a:r>
              <a:rPr kumimoji="0" lang="en-US" altLang="zh-CN" sz="20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kumimoji="0" lang="en-US" altLang="zh-CN" sz="20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kumimoji="0" lang="en-US" altLang="zh-CN" sz="20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]: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kumimoji="0" lang="en-US" altLang="zh-CN" sz="800">
              <a:solidFill>
                <a:srgbClr val="80008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(0)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S 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E</a:t>
            </a:r>
            <a:endParaRPr kumimoji="0" lang="en-US" altLang="zh-CN" sz="1800">
              <a:solidFill>
                <a:srgbClr val="80008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(1)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(L </a:t>
            </a:r>
            <a:r>
              <a:rPr lang="en-US" altLang="zh-CN" sz="1800" b="1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 )</a:t>
            </a:r>
            <a:endParaRPr lang="en-US" altLang="zh-CN" sz="1800" i="1">
              <a:solidFill>
                <a:srgbClr val="800080"/>
              </a:solidFill>
              <a:ea typeface="华文行楷" pitchFamily="2" charset="-122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 (2)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E </a:t>
            </a: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 F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 (3)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L </a:t>
            </a:r>
            <a:r>
              <a:rPr lang="en-US" altLang="zh-CN" sz="1800">
                <a:solidFill>
                  <a:srgbClr val="800080"/>
                </a:solidFill>
                <a:ea typeface="华文行楷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sym typeface="Symbol" panose="05050102010706020507" pitchFamily="18" charset="2"/>
              </a:rPr>
              <a:t>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L </a:t>
            </a:r>
            <a:r>
              <a:rPr lang="en-US" altLang="zh-CN" sz="1800" b="1" i="1">
                <a:solidFill>
                  <a:srgbClr val="800080"/>
                </a:solidFill>
                <a:sym typeface="Symbol" panose="05050102010706020507" pitchFamily="18" charset="2"/>
              </a:rPr>
              <a:t>,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E</a:t>
            </a: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 </a:t>
            </a:r>
            <a:endParaRPr lang="en-US" altLang="zh-CN" sz="1800" i="1">
              <a:solidFill>
                <a:srgbClr val="800080"/>
              </a:solidFill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 (4)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L </a:t>
            </a: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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E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 (5)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F </a:t>
            </a:r>
            <a:r>
              <a:rPr lang="en-US" altLang="zh-CN" sz="1800">
                <a:solidFill>
                  <a:srgbClr val="800080"/>
                </a:solidFill>
                <a:ea typeface="华文行楷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sym typeface="Symbol" panose="05050102010706020507" pitchFamily="18" charset="2"/>
              </a:rPr>
              <a:t>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( F )</a:t>
            </a:r>
            <a:endParaRPr lang="en-US" altLang="zh-CN" sz="1800" i="1">
              <a:solidFill>
                <a:srgbClr val="800080"/>
              </a:solidFill>
              <a:ea typeface="华文行楷" pitchFamily="2" charset="-122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 (6)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F </a:t>
            </a: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 d</a:t>
            </a:r>
          </a:p>
        </p:txBody>
      </p:sp>
      <p:sp>
        <p:nvSpPr>
          <p:cNvPr id="445458" name="Text Box 18"/>
          <p:cNvSpPr txBox="1">
            <a:spLocks noChangeArrowheads="1"/>
          </p:cNvSpPr>
          <p:nvPr/>
        </p:nvSpPr>
        <p:spPr bwMode="auto">
          <a:xfrm>
            <a:off x="1328738" y="3825875"/>
            <a:ext cx="1512887" cy="1474788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kumimoji="0"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.E</a:t>
            </a:r>
            <a:endParaRPr kumimoji="0" lang="en-US" altLang="zh-CN" sz="1800" b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E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.(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L,E)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    </a:t>
            </a:r>
            <a:r>
              <a:rPr lang="en-US" altLang="zh-CN" sz="1800" b="1" i="1">
                <a:sym typeface="Symbol" panose="05050102010706020507" pitchFamily="18" charset="2"/>
              </a:rPr>
              <a:t>E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.F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F </a:t>
            </a:r>
            <a:r>
              <a:rPr lang="en-US" altLang="zh-CN" sz="1800" b="1">
                <a:ea typeface="华文行楷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 .(F)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F </a:t>
            </a:r>
            <a:r>
              <a:rPr lang="en-US" altLang="zh-CN" sz="1800" b="1"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445459" name="Line 19"/>
          <p:cNvSpPr>
            <a:spLocks noChangeShapeType="1"/>
          </p:cNvSpPr>
          <p:nvPr/>
        </p:nvSpPr>
        <p:spPr bwMode="auto">
          <a:xfrm>
            <a:off x="2841625" y="4652963"/>
            <a:ext cx="647700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45460" name="Text Box 20"/>
          <p:cNvSpPr txBox="1">
            <a:spLocks noChangeArrowheads="1"/>
          </p:cNvSpPr>
          <p:nvPr/>
        </p:nvSpPr>
        <p:spPr bwMode="auto">
          <a:xfrm>
            <a:off x="3489325" y="3848100"/>
            <a:ext cx="1655763" cy="2298700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(.L,E)</a:t>
            </a:r>
            <a:endParaRPr kumimoji="0" lang="en-US" altLang="zh-CN" sz="1800" b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(.F)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.L,E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.E</a:t>
            </a:r>
            <a:endParaRPr lang="en-US" altLang="zh-CN" sz="1800" b="1" i="1">
              <a:ea typeface="华文行楷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.(F)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.(L,E)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.F</a:t>
            </a:r>
          </a:p>
        </p:txBody>
      </p:sp>
      <p:sp>
        <p:nvSpPr>
          <p:cNvPr id="445461" name="Text Box 21"/>
          <p:cNvSpPr txBox="1">
            <a:spLocks noChangeArrowheads="1"/>
          </p:cNvSpPr>
          <p:nvPr/>
        </p:nvSpPr>
        <p:spPr bwMode="auto">
          <a:xfrm>
            <a:off x="5578475" y="5946775"/>
            <a:ext cx="1511300" cy="650875"/>
          </a:xfrm>
          <a:prstGeom prst="rect">
            <a:avLst/>
          </a:prstGeom>
          <a:noFill/>
          <a:ln w="9525">
            <a:solidFill>
              <a:srgbClr val="8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7</a:t>
            </a:r>
            <a:r>
              <a:rPr kumimoji="0" lang="en-US" altLang="zh-CN" sz="1800" b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(F.)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F.</a:t>
            </a:r>
          </a:p>
        </p:txBody>
      </p:sp>
      <p:sp>
        <p:nvSpPr>
          <p:cNvPr id="445462" name="Text Box 22"/>
          <p:cNvSpPr txBox="1">
            <a:spLocks noChangeArrowheads="1"/>
          </p:cNvSpPr>
          <p:nvPr/>
        </p:nvSpPr>
        <p:spPr bwMode="auto">
          <a:xfrm>
            <a:off x="5938838" y="4797425"/>
            <a:ext cx="1584325" cy="65087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6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(L.,E)</a:t>
            </a:r>
            <a:endParaRPr lang="en-US" altLang="zh-CN" sz="1800" b="1" i="1">
              <a:ea typeface="华文行楷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altLang="zh-CN" sz="1800" b="1" i="1">
                <a:sym typeface="Symbol" panose="05050102010706020507" pitchFamily="18" charset="2"/>
              </a:rPr>
              <a:t>L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L.,E</a:t>
            </a:r>
          </a:p>
        </p:txBody>
      </p:sp>
      <p:sp>
        <p:nvSpPr>
          <p:cNvPr id="445463" name="Rectangle 23"/>
          <p:cNvSpPr>
            <a:spLocks noChangeArrowheads="1"/>
          </p:cNvSpPr>
          <p:nvPr/>
        </p:nvSpPr>
        <p:spPr bwMode="auto">
          <a:xfrm>
            <a:off x="3057525" y="4286250"/>
            <a:ext cx="287338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(</a:t>
            </a:r>
          </a:p>
        </p:txBody>
      </p:sp>
      <p:sp>
        <p:nvSpPr>
          <p:cNvPr id="445464" name="Line 24"/>
          <p:cNvSpPr>
            <a:spLocks noChangeShapeType="1"/>
          </p:cNvSpPr>
          <p:nvPr/>
        </p:nvSpPr>
        <p:spPr bwMode="auto">
          <a:xfrm>
            <a:off x="5146675" y="5151438"/>
            <a:ext cx="792163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45465" name="Rectangle 25"/>
          <p:cNvSpPr>
            <a:spLocks noChangeArrowheads="1"/>
          </p:cNvSpPr>
          <p:nvPr/>
        </p:nvSpPr>
        <p:spPr bwMode="auto">
          <a:xfrm>
            <a:off x="5362575" y="4862513"/>
            <a:ext cx="360363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L</a:t>
            </a:r>
          </a:p>
        </p:txBody>
      </p:sp>
      <p:sp>
        <p:nvSpPr>
          <p:cNvPr id="445466" name="Line 26"/>
          <p:cNvSpPr>
            <a:spLocks noChangeShapeType="1"/>
          </p:cNvSpPr>
          <p:nvPr/>
        </p:nvSpPr>
        <p:spPr bwMode="auto">
          <a:xfrm flipH="1" flipV="1">
            <a:off x="5146675" y="5372100"/>
            <a:ext cx="1008063" cy="576263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head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45467" name="Rectangle 27"/>
          <p:cNvSpPr>
            <a:spLocks noChangeArrowheads="1"/>
          </p:cNvSpPr>
          <p:nvPr/>
        </p:nvSpPr>
        <p:spPr bwMode="auto">
          <a:xfrm>
            <a:off x="5218113" y="5516563"/>
            <a:ext cx="288925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F</a:t>
            </a:r>
          </a:p>
        </p:txBody>
      </p:sp>
      <p:sp>
        <p:nvSpPr>
          <p:cNvPr id="445468" name="Line 28"/>
          <p:cNvSpPr>
            <a:spLocks noChangeShapeType="1"/>
          </p:cNvSpPr>
          <p:nvPr/>
        </p:nvSpPr>
        <p:spPr bwMode="auto">
          <a:xfrm flipH="1">
            <a:off x="7523163" y="5156200"/>
            <a:ext cx="503237" cy="1588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head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45469" name="Rectangle 29"/>
          <p:cNvSpPr>
            <a:spLocks noChangeArrowheads="1"/>
          </p:cNvSpPr>
          <p:nvPr/>
        </p:nvSpPr>
        <p:spPr bwMode="auto">
          <a:xfrm>
            <a:off x="7666038" y="4789488"/>
            <a:ext cx="288925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,</a:t>
            </a:r>
          </a:p>
        </p:txBody>
      </p:sp>
      <p:sp>
        <p:nvSpPr>
          <p:cNvPr id="445475" name="Text Box 35"/>
          <p:cNvSpPr txBox="1">
            <a:spLocks noChangeArrowheads="1"/>
          </p:cNvSpPr>
          <p:nvPr/>
        </p:nvSpPr>
        <p:spPr bwMode="auto">
          <a:xfrm>
            <a:off x="6083300" y="3894138"/>
            <a:ext cx="1441450" cy="376237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E.</a:t>
            </a:r>
            <a:endParaRPr lang="en-US" altLang="zh-CN" sz="1800" b="1" i="1">
              <a:ea typeface="华文行楷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45476" name="Line 36"/>
          <p:cNvSpPr>
            <a:spLocks noChangeShapeType="1"/>
          </p:cNvSpPr>
          <p:nvPr/>
        </p:nvSpPr>
        <p:spPr bwMode="auto">
          <a:xfrm>
            <a:off x="5148263" y="4121150"/>
            <a:ext cx="935037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45477" name="Rectangle 37"/>
          <p:cNvSpPr>
            <a:spLocks noChangeArrowheads="1"/>
          </p:cNvSpPr>
          <p:nvPr/>
        </p:nvSpPr>
        <p:spPr bwMode="auto">
          <a:xfrm>
            <a:off x="5435600" y="3825875"/>
            <a:ext cx="360363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E</a:t>
            </a:r>
          </a:p>
        </p:txBody>
      </p:sp>
      <p:sp>
        <p:nvSpPr>
          <p:cNvPr id="445478" name="Rectangle 38"/>
          <p:cNvSpPr>
            <a:spLocks noChangeArrowheads="1"/>
          </p:cNvSpPr>
          <p:nvPr/>
        </p:nvSpPr>
        <p:spPr bwMode="auto">
          <a:xfrm>
            <a:off x="35496" y="188913"/>
            <a:ext cx="3167063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445479" name="Text Box 39"/>
          <p:cNvSpPr txBox="1">
            <a:spLocks noChangeArrowheads="1"/>
          </p:cNvSpPr>
          <p:nvPr/>
        </p:nvSpPr>
        <p:spPr bwMode="auto">
          <a:xfrm>
            <a:off x="7956550" y="4972050"/>
            <a:ext cx="360363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8</a:t>
            </a:r>
            <a:endParaRPr kumimoji="0" lang="en-US" altLang="zh-CN" sz="1800" b="1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5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479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81" name="Rectangle 37"/>
          <p:cNvSpPr>
            <a:spLocks noChangeArrowheads="1"/>
          </p:cNvSpPr>
          <p:nvPr/>
        </p:nvSpPr>
        <p:spPr bwMode="auto">
          <a:xfrm>
            <a:off x="35496" y="188913"/>
            <a:ext cx="3167063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492582" name="Text Box 38"/>
          <p:cNvSpPr txBox="1">
            <a:spLocks noChangeArrowheads="1"/>
          </p:cNvSpPr>
          <p:nvPr/>
        </p:nvSpPr>
        <p:spPr bwMode="auto">
          <a:xfrm>
            <a:off x="611188" y="1341438"/>
            <a:ext cx="8388350" cy="49101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 </a:t>
            </a:r>
            <a:r>
              <a:rPr lang="en-US" altLang="zh-CN" sz="3200">
                <a:solidFill>
                  <a:srgbClr val="800080"/>
                </a:solidFill>
              </a:rPr>
              <a:t>LR</a:t>
            </a:r>
            <a:r>
              <a:rPr lang="zh-CN" altLang="en-US" sz="3200">
                <a:solidFill>
                  <a:srgbClr val="800080"/>
                </a:solidFill>
              </a:rPr>
              <a:t>（</a:t>
            </a:r>
            <a:r>
              <a:rPr lang="en-US" altLang="zh-CN" sz="3200">
                <a:solidFill>
                  <a:srgbClr val="800080"/>
                </a:solidFill>
              </a:rPr>
              <a:t>1</a:t>
            </a:r>
            <a:r>
              <a:rPr lang="zh-CN" altLang="en-US" sz="3200">
                <a:solidFill>
                  <a:srgbClr val="800080"/>
                </a:solidFill>
              </a:rPr>
              <a:t>）</a:t>
            </a:r>
            <a:r>
              <a:rPr kumimoji="0" lang="zh-CN" altLang="en-US" sz="3200" b="1">
                <a:solidFill>
                  <a:srgbClr val="800080"/>
                </a:solidFill>
              </a:rPr>
              <a:t>项目</a:t>
            </a:r>
            <a:endParaRPr lang="zh-CN" altLang="en-US" sz="3200" b="1">
              <a:solidFill>
                <a:srgbClr val="800080"/>
              </a:solidFill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zh-CN" altLang="en-US" sz="2800"/>
              <a:t> </a:t>
            </a:r>
            <a:r>
              <a:rPr kumimoji="0" lang="zh-CN" altLang="en-US" sz="2800" b="1"/>
              <a:t>在 </a:t>
            </a:r>
            <a:r>
              <a:rPr kumimoji="0" lang="en-US" altLang="zh-CN" sz="2800"/>
              <a:t>LR</a:t>
            </a:r>
            <a:r>
              <a:rPr kumimoji="0" lang="zh-CN" altLang="en-US" sz="2800" b="1"/>
              <a:t>（</a:t>
            </a:r>
            <a:r>
              <a:rPr kumimoji="0" lang="en-US" altLang="zh-CN" sz="2800"/>
              <a:t>0</a:t>
            </a:r>
            <a:r>
              <a:rPr kumimoji="0" lang="zh-CN" altLang="en-US" sz="2800" b="1"/>
              <a:t>）</a:t>
            </a:r>
            <a:r>
              <a:rPr lang="zh-CN" altLang="en-US" sz="2800" b="1"/>
              <a:t>项目基础上</a:t>
            </a:r>
            <a:r>
              <a:rPr lang="zh-CN" altLang="en-US" sz="2800" b="1">
                <a:solidFill>
                  <a:srgbClr val="800080"/>
                </a:solidFill>
              </a:rPr>
              <a:t>增加一个终结符</a:t>
            </a:r>
          </a:p>
          <a:p>
            <a:pPr lvl="1">
              <a:buFont typeface="Symbol" panose="05050102010706020507" pitchFamily="18" charset="2"/>
              <a:buNone/>
            </a:pPr>
            <a:endParaRPr lang="zh-CN" altLang="en-US" sz="1000" b="1"/>
          </a:p>
          <a:p>
            <a:pPr lvl="1">
              <a:buFont typeface="Symbol" panose="05050102010706020507" pitchFamily="18" charset="2"/>
              <a:buNone/>
            </a:pPr>
            <a:r>
              <a:rPr lang="zh-CN" altLang="en-US" sz="2800" b="1"/>
              <a:t>   所增加的终结符称为</a:t>
            </a:r>
            <a:r>
              <a:rPr lang="zh-CN" altLang="en-US" sz="2800" b="1">
                <a:solidFill>
                  <a:srgbClr val="800080"/>
                </a:solidFill>
              </a:rPr>
              <a:t>向前搜索符</a:t>
            </a:r>
            <a:r>
              <a:rPr lang="zh-CN" altLang="en-US" sz="2800" b="1"/>
              <a:t>（</a:t>
            </a:r>
            <a:r>
              <a:rPr lang="en-US" altLang="zh-CN" sz="2800" i="1"/>
              <a:t>lookahead</a:t>
            </a:r>
            <a:r>
              <a:rPr lang="zh-CN" altLang="en-US" sz="2800" b="1"/>
              <a:t>）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zh-CN" altLang="en-US" sz="2800" b="1"/>
              <a:t>   表示</a:t>
            </a:r>
            <a:r>
              <a:rPr lang="zh-CN" altLang="en-US" sz="2800" b="1">
                <a:solidFill>
                  <a:srgbClr val="800080"/>
                </a:solidFill>
              </a:rPr>
              <a:t>产生式右端完整匹配</a:t>
            </a:r>
            <a:r>
              <a:rPr lang="zh-CN" altLang="en-US" sz="2800" b="1"/>
              <a:t>后所允许在余留符号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zh-CN" altLang="en-US" sz="2800" b="1"/>
              <a:t>   串中的下一个终结符</a:t>
            </a:r>
          </a:p>
          <a:p>
            <a:pPr lvl="1">
              <a:buFont typeface="Symbol" panose="05050102010706020507" pitchFamily="18" charset="2"/>
              <a:buNone/>
            </a:pPr>
            <a:endParaRPr lang="zh-CN" altLang="en-US" sz="1000" b="1">
              <a:sym typeface="Symbol" panose="05050102010706020507" pitchFamily="18" charset="2"/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kumimoji="0" lang="zh-CN" altLang="en-US" sz="2800"/>
              <a:t> </a:t>
            </a:r>
            <a:r>
              <a:rPr kumimoji="0" lang="en-US" altLang="zh-CN" sz="2800"/>
              <a:t>LR</a:t>
            </a:r>
            <a:r>
              <a:rPr kumimoji="0" lang="zh-CN" altLang="en-US" sz="2800" b="1"/>
              <a:t>（</a:t>
            </a:r>
            <a:r>
              <a:rPr kumimoji="0" lang="en-US" altLang="zh-CN" sz="2800"/>
              <a:t>1</a:t>
            </a:r>
            <a:r>
              <a:rPr kumimoji="0" lang="zh-CN" altLang="en-US" sz="2800" b="1"/>
              <a:t>）</a:t>
            </a:r>
            <a:r>
              <a:rPr lang="zh-CN" altLang="en-US" sz="2800" b="1"/>
              <a:t>项目形如：</a:t>
            </a:r>
          </a:p>
          <a:p>
            <a:pPr lvl="1">
              <a:buFont typeface="Symbol" panose="05050102010706020507" pitchFamily="18" charset="2"/>
              <a:buNone/>
            </a:pPr>
            <a:endParaRPr lang="zh-CN" altLang="en-US" sz="1000" b="1"/>
          </a:p>
          <a:p>
            <a:pPr lvl="1">
              <a:buFont typeface="Symbol" panose="05050102010706020507" pitchFamily="18" charset="2"/>
              <a:buNone/>
            </a:pPr>
            <a:r>
              <a:rPr lang="zh-CN" altLang="en-US" b="1"/>
              <a:t>                 </a:t>
            </a:r>
            <a:r>
              <a:rPr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A </a:t>
            </a:r>
            <a:r>
              <a:rPr kumimoji="0" lang="en-US" altLang="zh-CN" sz="2800">
                <a:solidFill>
                  <a:srgbClr val="80008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>
                <a:solidFill>
                  <a:srgbClr val="800080"/>
                </a:solidFill>
              </a:rPr>
              <a:t> </a:t>
            </a:r>
            <a:r>
              <a:rPr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 </a:t>
            </a:r>
            <a:r>
              <a:rPr lang="en-US" altLang="zh-CN" sz="2800" b="1">
                <a:solidFill>
                  <a:srgbClr val="800080"/>
                </a:solidFill>
              </a:rPr>
              <a:t>. </a:t>
            </a:r>
            <a:r>
              <a:rPr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 ,  </a:t>
            </a:r>
            <a:r>
              <a:rPr kumimoji="0"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a</a:t>
            </a:r>
          </a:p>
          <a:p>
            <a:pPr lvl="1">
              <a:buFont typeface="Symbol" panose="05050102010706020507" pitchFamily="18" charset="2"/>
              <a:buNone/>
            </a:pPr>
            <a:endParaRPr lang="en-US" altLang="zh-CN" sz="1000" b="1"/>
          </a:p>
          <a:p>
            <a:pPr lvl="1">
              <a:buFont typeface="Symbol" panose="05050102010706020507" pitchFamily="18" charset="2"/>
              <a:buNone/>
            </a:pPr>
            <a:r>
              <a:rPr lang="en-US" altLang="zh-CN" sz="2800" b="1"/>
              <a:t>   </a:t>
            </a:r>
            <a:r>
              <a:rPr lang="en-US" altLang="zh-CN" sz="2800" b="1">
                <a:sym typeface="Symbol" panose="05050102010706020507" pitchFamily="18" charset="2"/>
              </a:rPr>
              <a:t>A </a:t>
            </a:r>
            <a:r>
              <a:rPr kumimoji="0" lang="en-US" altLang="zh-CN" sz="2800">
                <a:sym typeface="Symbol" panose="05050102010706020507" pitchFamily="18" charset="2"/>
              </a:rPr>
              <a:t></a:t>
            </a:r>
            <a:r>
              <a:rPr lang="en-US" altLang="zh-CN" sz="2800"/>
              <a:t> </a:t>
            </a:r>
            <a:r>
              <a:rPr lang="en-US" altLang="zh-CN" sz="2800" b="1">
                <a:sym typeface="Symbol" panose="05050102010706020507" pitchFamily="18" charset="2"/>
              </a:rPr>
              <a:t> </a:t>
            </a:r>
            <a:r>
              <a:rPr lang="en-US" altLang="zh-CN" sz="2800" b="1"/>
              <a:t>. </a:t>
            </a:r>
            <a:r>
              <a:rPr lang="en-US" altLang="zh-CN" sz="2800" b="1">
                <a:sym typeface="Symbol" panose="05050102010706020507" pitchFamily="18" charset="2"/>
              </a:rPr>
              <a:t> </a:t>
            </a:r>
            <a:r>
              <a:rPr lang="zh-CN" altLang="en-US" sz="2800" b="1">
                <a:sym typeface="Symbol" panose="05050102010706020507" pitchFamily="18" charset="2"/>
              </a:rPr>
              <a:t>同 </a:t>
            </a:r>
            <a:r>
              <a:rPr kumimoji="0" lang="en-US" altLang="zh-CN" sz="2800"/>
              <a:t>LR</a:t>
            </a:r>
            <a:r>
              <a:rPr kumimoji="0" lang="zh-CN" altLang="en-US" sz="2800" b="1"/>
              <a:t>（</a:t>
            </a:r>
            <a:r>
              <a:rPr kumimoji="0" lang="en-US" altLang="zh-CN" sz="2800"/>
              <a:t>0</a:t>
            </a:r>
            <a:r>
              <a:rPr kumimoji="0" lang="zh-CN" altLang="en-US" sz="2800" b="1"/>
              <a:t>）</a:t>
            </a:r>
            <a:r>
              <a:rPr lang="zh-CN" altLang="en-US" sz="2800" b="1"/>
              <a:t>项目， </a:t>
            </a:r>
            <a:r>
              <a:rPr kumimoji="0" lang="en-US" altLang="zh-CN" sz="2800" b="1">
                <a:sym typeface="Symbol" panose="05050102010706020507" pitchFamily="18" charset="2"/>
              </a:rPr>
              <a:t>a </a:t>
            </a:r>
            <a:r>
              <a:rPr lang="zh-CN" altLang="en-US" sz="2800" b="1"/>
              <a:t>为向前搜索符</a:t>
            </a:r>
          </a:p>
          <a:p>
            <a:pPr lvl="1">
              <a:buFont typeface="Symbol" panose="05050102010706020507" pitchFamily="18" charset="2"/>
              <a:buNone/>
            </a:pPr>
            <a:endParaRPr lang="zh-CN" altLang="en-US" sz="1000" b="1"/>
          </a:p>
          <a:p>
            <a:pPr lvl="1">
              <a:buFont typeface="Symbol" panose="05050102010706020507" pitchFamily="18" charset="2"/>
              <a:buNone/>
            </a:pPr>
            <a:r>
              <a:rPr lang="zh-CN" altLang="en-US" sz="2800" b="1"/>
              <a:t>   这里，</a:t>
            </a:r>
            <a:r>
              <a:rPr kumimoji="0"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800">
                <a:sym typeface="Symbol" panose="05050102010706020507" pitchFamily="18" charset="2"/>
              </a:rPr>
              <a:t> </a:t>
            </a:r>
            <a:r>
              <a:rPr kumimoji="0" lang="zh-CN" altLang="en-US" sz="2800" b="1">
                <a:sym typeface="Symbol" panose="05050102010706020507" pitchFamily="18" charset="2"/>
              </a:rPr>
              <a:t>或为</a:t>
            </a:r>
            <a:r>
              <a:rPr kumimoji="0" lang="zh-CN" altLang="en-US" sz="2800" b="1">
                <a:solidFill>
                  <a:srgbClr val="800080"/>
                </a:solidFill>
                <a:sym typeface="Symbol" panose="05050102010706020507" pitchFamily="18" charset="2"/>
              </a:rPr>
              <a:t>终结符</a:t>
            </a:r>
            <a:r>
              <a:rPr kumimoji="0" lang="zh-CN" altLang="en-US" sz="2800" b="1">
                <a:sym typeface="Symbol" panose="05050102010706020507" pitchFamily="18" charset="2"/>
              </a:rPr>
              <a:t>，或为输入结束标志符 </a:t>
            </a:r>
            <a:r>
              <a:rPr kumimoji="0"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#</a:t>
            </a:r>
          </a:p>
        </p:txBody>
      </p:sp>
      <p:sp>
        <p:nvSpPr>
          <p:cNvPr id="492583" name="AutoShape 3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2584" name="AutoShape 4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2585" name="AutoShape 4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2586" name="AutoShape 4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80" name="Rectangle 12"/>
          <p:cNvSpPr>
            <a:spLocks noChangeArrowheads="1"/>
          </p:cNvSpPr>
          <p:nvPr/>
        </p:nvSpPr>
        <p:spPr bwMode="auto">
          <a:xfrm>
            <a:off x="35496" y="188913"/>
            <a:ext cx="3167063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493581" name="Text Box 13"/>
          <p:cNvSpPr txBox="1">
            <a:spLocks noChangeArrowheads="1"/>
          </p:cNvSpPr>
          <p:nvPr/>
        </p:nvSpPr>
        <p:spPr bwMode="auto">
          <a:xfrm>
            <a:off x="611188" y="1325563"/>
            <a:ext cx="8388350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 </a:t>
            </a:r>
            <a:r>
              <a:rPr lang="en-US" altLang="zh-CN" sz="3200">
                <a:solidFill>
                  <a:srgbClr val="800080"/>
                </a:solidFill>
              </a:rPr>
              <a:t>LR</a:t>
            </a:r>
            <a:r>
              <a:rPr lang="zh-CN" altLang="en-US" sz="3200">
                <a:solidFill>
                  <a:srgbClr val="800080"/>
                </a:solidFill>
              </a:rPr>
              <a:t>（</a:t>
            </a:r>
            <a:r>
              <a:rPr lang="en-US" altLang="zh-CN" sz="3200">
                <a:solidFill>
                  <a:srgbClr val="800080"/>
                </a:solidFill>
              </a:rPr>
              <a:t>1</a:t>
            </a:r>
            <a:r>
              <a:rPr lang="zh-CN" altLang="en-US" sz="3200">
                <a:solidFill>
                  <a:srgbClr val="800080"/>
                </a:solidFill>
              </a:rPr>
              <a:t>）</a:t>
            </a:r>
            <a:r>
              <a:rPr kumimoji="0" lang="zh-CN" altLang="en-US" sz="3200" b="1">
                <a:solidFill>
                  <a:srgbClr val="800080"/>
                </a:solidFill>
              </a:rPr>
              <a:t>项目解析</a:t>
            </a:r>
            <a:endParaRPr lang="zh-CN" altLang="en-US" sz="2800" b="1"/>
          </a:p>
          <a:p>
            <a:pPr lvl="1">
              <a:buFont typeface="Symbol" panose="05050102010706020507" pitchFamily="18" charset="2"/>
              <a:buNone/>
            </a:pPr>
            <a:endParaRPr lang="zh-CN" altLang="en-US" sz="1000" b="1">
              <a:sym typeface="Symbol" panose="05050102010706020507" pitchFamily="18" charset="2"/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kumimoji="0" lang="zh-CN" altLang="en-US" sz="2800"/>
              <a:t> </a:t>
            </a:r>
            <a:r>
              <a:rPr kumimoji="0" lang="zh-CN" altLang="en-US" sz="2800" b="1"/>
              <a:t>对于</a:t>
            </a:r>
            <a:r>
              <a:rPr lang="zh-CN" altLang="en-US" sz="2800" b="1"/>
              <a:t>形如：</a:t>
            </a:r>
          </a:p>
          <a:p>
            <a:pPr lvl="1">
              <a:buFont typeface="Symbol" panose="05050102010706020507" pitchFamily="18" charset="2"/>
              <a:buNone/>
            </a:pPr>
            <a:endParaRPr lang="zh-CN" altLang="en-US" sz="1000" b="1"/>
          </a:p>
          <a:p>
            <a:pPr lvl="1">
              <a:buFont typeface="Symbol" panose="05050102010706020507" pitchFamily="18" charset="2"/>
              <a:buNone/>
            </a:pPr>
            <a:r>
              <a:rPr lang="zh-CN" altLang="en-US" b="1"/>
              <a:t>                 </a:t>
            </a:r>
            <a:r>
              <a:rPr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A </a:t>
            </a:r>
            <a:r>
              <a:rPr kumimoji="0" lang="en-US" altLang="zh-CN" sz="2800">
                <a:solidFill>
                  <a:srgbClr val="80008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>
                <a:solidFill>
                  <a:srgbClr val="800080"/>
                </a:solidFill>
              </a:rPr>
              <a:t> </a:t>
            </a:r>
            <a:r>
              <a:rPr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 </a:t>
            </a:r>
            <a:r>
              <a:rPr lang="en-US" altLang="zh-CN" b="1">
                <a:solidFill>
                  <a:srgbClr val="800080"/>
                </a:solidFill>
              </a:rPr>
              <a:t>. </a:t>
            </a:r>
            <a:r>
              <a:rPr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,  </a:t>
            </a:r>
            <a:r>
              <a:rPr kumimoji="0"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a</a:t>
            </a:r>
          </a:p>
          <a:p>
            <a:pPr lvl="1">
              <a:buFont typeface="Symbol" panose="05050102010706020507" pitchFamily="18" charset="2"/>
              <a:buNone/>
            </a:pPr>
            <a:endParaRPr lang="en-US" altLang="zh-CN" sz="1000" b="1"/>
          </a:p>
          <a:p>
            <a:pPr lvl="1">
              <a:buFont typeface="Symbol" panose="05050102010706020507" pitchFamily="18" charset="2"/>
              <a:buNone/>
            </a:pPr>
            <a:r>
              <a:rPr lang="en-US" altLang="zh-CN" sz="2800" b="1"/>
              <a:t>   </a:t>
            </a:r>
            <a:r>
              <a:rPr lang="zh-CN" altLang="en-US" sz="2800" b="1"/>
              <a:t>的 </a:t>
            </a:r>
            <a:r>
              <a:rPr kumimoji="0" lang="en-US" altLang="zh-CN" sz="2800"/>
              <a:t>LR</a:t>
            </a:r>
            <a:r>
              <a:rPr kumimoji="0" lang="zh-CN" altLang="en-US" sz="2800" b="1"/>
              <a:t>（</a:t>
            </a:r>
            <a:r>
              <a:rPr kumimoji="0" lang="en-US" altLang="zh-CN" sz="2800"/>
              <a:t>1</a:t>
            </a:r>
            <a:r>
              <a:rPr kumimoji="0" lang="zh-CN" altLang="en-US" sz="2800" b="1"/>
              <a:t>）</a:t>
            </a:r>
            <a:r>
              <a:rPr lang="zh-CN" altLang="en-US" sz="2800" b="1"/>
              <a:t>项目，</a:t>
            </a:r>
            <a:r>
              <a:rPr lang="zh-CN" altLang="en-US" sz="2800" b="1">
                <a:sym typeface="Symbol" panose="05050102010706020507" pitchFamily="18" charset="2"/>
              </a:rPr>
              <a:t>对应 </a:t>
            </a:r>
            <a:r>
              <a:rPr kumimoji="0" lang="en-US" altLang="zh-CN" sz="2800"/>
              <a:t>LR</a:t>
            </a:r>
            <a:r>
              <a:rPr kumimoji="0" lang="zh-CN" altLang="en-US" sz="2800" b="1"/>
              <a:t>（</a:t>
            </a:r>
            <a:r>
              <a:rPr kumimoji="0" lang="en-US" altLang="zh-CN" sz="2800"/>
              <a:t>0</a:t>
            </a:r>
            <a:r>
              <a:rPr kumimoji="0" lang="zh-CN" altLang="en-US" sz="2800" b="1"/>
              <a:t>）的归约</a:t>
            </a:r>
            <a:r>
              <a:rPr lang="zh-CN" altLang="en-US" sz="2800" b="1"/>
              <a:t>项目，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zh-CN" altLang="en-US" sz="2800" b="1"/>
              <a:t>   但只有</a:t>
            </a:r>
            <a:r>
              <a:rPr kumimoji="0" lang="zh-CN" altLang="en-US" sz="2800" b="1">
                <a:sym typeface="Symbol" panose="05050102010706020507" pitchFamily="18" charset="2"/>
              </a:rPr>
              <a:t>当下一个输入符是</a:t>
            </a:r>
            <a:r>
              <a:rPr kumimoji="0" lang="zh-CN" altLang="en-US" sz="2800">
                <a:sym typeface="Symbol" panose="05050102010706020507" pitchFamily="18" charset="2"/>
              </a:rPr>
              <a:t> </a:t>
            </a:r>
            <a:r>
              <a:rPr kumimoji="0" lang="en-US" altLang="zh-CN" sz="2800" b="1">
                <a:sym typeface="Symbol" panose="05050102010706020507" pitchFamily="18" charset="2"/>
              </a:rPr>
              <a:t>a </a:t>
            </a:r>
            <a:r>
              <a:rPr kumimoji="0" lang="zh-CN" altLang="en-US" sz="2800" b="1">
                <a:sym typeface="Symbol" panose="05050102010706020507" pitchFamily="18" charset="2"/>
              </a:rPr>
              <a:t>时才能进行归约</a:t>
            </a:r>
          </a:p>
          <a:p>
            <a:pPr lvl="1">
              <a:buFont typeface="Symbol" panose="05050102010706020507" pitchFamily="18" charset="2"/>
              <a:buNone/>
            </a:pPr>
            <a:endParaRPr kumimoji="0" lang="zh-CN" altLang="en-US" sz="2800" b="1">
              <a:sym typeface="Symbol" panose="05050102010706020507" pitchFamily="18" charset="2"/>
            </a:endParaRPr>
          </a:p>
          <a:p>
            <a:pPr lvl="1">
              <a:buFont typeface="Symbol" panose="05050102010706020507" pitchFamily="18" charset="2"/>
              <a:buNone/>
            </a:pPr>
            <a:r>
              <a:rPr kumimoji="0" lang="zh-CN" altLang="en-US" sz="2800" b="1">
                <a:sym typeface="Symbol" panose="05050102010706020507" pitchFamily="18" charset="2"/>
              </a:rPr>
              <a:t>   对于其它形式的</a:t>
            </a:r>
            <a:r>
              <a:rPr kumimoji="0" lang="en-US" altLang="zh-CN" sz="2800"/>
              <a:t>LR</a:t>
            </a:r>
            <a:r>
              <a:rPr kumimoji="0" lang="zh-CN" altLang="en-US" sz="2800" b="1"/>
              <a:t>（</a:t>
            </a:r>
            <a:r>
              <a:rPr kumimoji="0" lang="en-US" altLang="zh-CN" sz="2800"/>
              <a:t>1</a:t>
            </a:r>
            <a:r>
              <a:rPr kumimoji="0" lang="zh-CN" altLang="en-US" sz="2800" b="1"/>
              <a:t>）</a:t>
            </a:r>
            <a:r>
              <a:rPr lang="zh-CN" altLang="en-US" sz="2800" b="1"/>
              <a:t>项目， </a:t>
            </a:r>
            <a:r>
              <a:rPr kumimoji="0" lang="en-US" altLang="zh-CN" sz="2800" b="1">
                <a:sym typeface="Symbol" panose="05050102010706020507" pitchFamily="18" charset="2"/>
              </a:rPr>
              <a:t>a </a:t>
            </a:r>
            <a:r>
              <a:rPr kumimoji="0" lang="zh-CN" altLang="en-US" sz="2800" b="1">
                <a:sym typeface="Symbol" panose="05050102010706020507" pitchFamily="18" charset="2"/>
              </a:rPr>
              <a:t>只起到信息</a:t>
            </a:r>
          </a:p>
          <a:p>
            <a:pPr lvl="1">
              <a:buFont typeface="Symbol" panose="05050102010706020507" pitchFamily="18" charset="2"/>
              <a:buNone/>
            </a:pPr>
            <a:r>
              <a:rPr kumimoji="0" lang="zh-CN" altLang="en-US" sz="2800" b="1">
                <a:sym typeface="Symbol" panose="05050102010706020507" pitchFamily="18" charset="2"/>
              </a:rPr>
              <a:t>   传承的作用</a:t>
            </a:r>
          </a:p>
          <a:p>
            <a:pPr lvl="1">
              <a:buFont typeface="Symbol" panose="05050102010706020507" pitchFamily="18" charset="2"/>
              <a:buNone/>
            </a:pPr>
            <a:endParaRPr kumimoji="0" lang="zh-CN" altLang="en-US" sz="1000" b="1">
              <a:sym typeface="Symbol" panose="05050102010706020507" pitchFamily="18" charset="2"/>
            </a:endParaRPr>
          </a:p>
          <a:p>
            <a:pPr lvl="1">
              <a:buFont typeface="Symbol" panose="05050102010706020507" pitchFamily="18" charset="2"/>
              <a:buNone/>
            </a:pPr>
            <a:r>
              <a:rPr kumimoji="0" lang="zh-CN" altLang="en-US" sz="2800" b="1">
                <a:sym typeface="Symbol" panose="05050102010706020507" pitchFamily="18" charset="2"/>
              </a:rPr>
              <a:t>  （参见随后的 </a:t>
            </a:r>
            <a:r>
              <a:rPr kumimoji="0" lang="en-US" altLang="zh-CN" sz="2800"/>
              <a:t>LR</a:t>
            </a:r>
            <a:r>
              <a:rPr kumimoji="0" lang="zh-CN" altLang="en-US" sz="2800" b="1"/>
              <a:t>（</a:t>
            </a:r>
            <a:r>
              <a:rPr kumimoji="0" lang="en-US" altLang="zh-CN" sz="2800"/>
              <a:t>1</a:t>
            </a:r>
            <a:r>
              <a:rPr kumimoji="0" lang="zh-CN" altLang="en-US" sz="2800" b="1"/>
              <a:t>）</a:t>
            </a:r>
            <a:r>
              <a:rPr kumimoji="0" lang="zh-CN" altLang="en-US" sz="2800">
                <a:sym typeface="Symbol" panose="05050102010706020507" pitchFamily="18" charset="2"/>
              </a:rPr>
              <a:t> </a:t>
            </a:r>
            <a:r>
              <a:rPr kumimoji="0" lang="en-US" altLang="zh-CN" sz="2800">
                <a:sym typeface="Symbol" panose="05050102010706020507" pitchFamily="18" charset="2"/>
              </a:rPr>
              <a:t>FSM </a:t>
            </a:r>
            <a:r>
              <a:rPr kumimoji="0" lang="zh-CN" altLang="en-US" sz="2800" b="1">
                <a:sym typeface="Symbol" panose="05050102010706020507" pitchFamily="18" charset="2"/>
              </a:rPr>
              <a:t>构造过程）</a:t>
            </a:r>
          </a:p>
        </p:txBody>
      </p:sp>
      <p:sp>
        <p:nvSpPr>
          <p:cNvPr id="493582" name="AutoShape 1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3583" name="AutoShape 1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3584" name="AutoShape 1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3585" name="AutoShape 1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6" name="Rectangle 4"/>
          <p:cNvSpPr>
            <a:spLocks noChangeArrowheads="1"/>
          </p:cNvSpPr>
          <p:nvPr/>
        </p:nvSpPr>
        <p:spPr bwMode="auto">
          <a:xfrm>
            <a:off x="35496" y="188913"/>
            <a:ext cx="3167063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535557" name="Text Box 5"/>
          <p:cNvSpPr txBox="1">
            <a:spLocks noChangeArrowheads="1"/>
          </p:cNvSpPr>
          <p:nvPr/>
        </p:nvSpPr>
        <p:spPr bwMode="auto">
          <a:xfrm>
            <a:off x="611188" y="1325563"/>
            <a:ext cx="8388350" cy="47117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 </a:t>
            </a:r>
            <a:r>
              <a:rPr kumimoji="0" lang="zh-CN" altLang="en-US" sz="3200" b="1">
                <a:solidFill>
                  <a:srgbClr val="800080"/>
                </a:solidFill>
              </a:rPr>
              <a:t>记号</a:t>
            </a:r>
            <a:endParaRPr lang="zh-CN" altLang="en-US" sz="2800" b="1"/>
          </a:p>
          <a:p>
            <a:pPr lvl="1">
              <a:buFont typeface="Symbol" panose="05050102010706020507" pitchFamily="18" charset="2"/>
              <a:buNone/>
            </a:pPr>
            <a:endParaRPr lang="zh-CN" altLang="en-US" sz="1000" b="1">
              <a:sym typeface="Symbol" panose="05050102010706020507" pitchFamily="18" charset="2"/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kumimoji="0" lang="zh-CN" altLang="en-US" sz="2800"/>
              <a:t> </a:t>
            </a:r>
            <a:r>
              <a:rPr kumimoji="0" lang="zh-CN" altLang="en-US" sz="2800" b="1"/>
              <a:t>若</a:t>
            </a:r>
            <a:r>
              <a:rPr lang="zh-CN" altLang="en-US" sz="2800" b="1"/>
              <a:t>形如</a:t>
            </a:r>
          </a:p>
          <a:p>
            <a:pPr lvl="1">
              <a:buFont typeface="Symbol" panose="05050102010706020507" pitchFamily="18" charset="2"/>
              <a:buNone/>
            </a:pPr>
            <a:endParaRPr lang="zh-CN" altLang="en-US" sz="1000" b="1"/>
          </a:p>
          <a:p>
            <a:pPr lvl="1">
              <a:buFont typeface="Symbol" panose="05050102010706020507" pitchFamily="18" charset="2"/>
              <a:buNone/>
            </a:pPr>
            <a:r>
              <a:rPr lang="zh-CN" altLang="en-US" sz="2800" b="1"/>
              <a:t>                 </a:t>
            </a:r>
            <a:r>
              <a:rPr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A </a:t>
            </a:r>
            <a:r>
              <a:rPr kumimoji="0" lang="en-US" altLang="zh-CN" sz="2800">
                <a:solidFill>
                  <a:srgbClr val="80008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>
                <a:solidFill>
                  <a:srgbClr val="800080"/>
                </a:solidFill>
              </a:rPr>
              <a:t> </a:t>
            </a:r>
            <a:r>
              <a:rPr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 </a:t>
            </a:r>
            <a:r>
              <a:rPr lang="en-US" altLang="zh-CN" sz="2800" b="1">
                <a:solidFill>
                  <a:srgbClr val="800080"/>
                </a:solidFill>
              </a:rPr>
              <a:t>. </a:t>
            </a:r>
            <a:r>
              <a:rPr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,  </a:t>
            </a:r>
            <a:r>
              <a:rPr kumimoji="0"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800" b="1" i="1" baseline="-25000">
                <a:solidFill>
                  <a:srgbClr val="800080"/>
                </a:solidFill>
                <a:sym typeface="Symbol" panose="05050102010706020507" pitchFamily="18" charset="2"/>
              </a:rPr>
              <a:t>1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                 A </a:t>
            </a:r>
            <a:r>
              <a:rPr kumimoji="0" lang="en-US" altLang="zh-CN" sz="2800">
                <a:solidFill>
                  <a:srgbClr val="80008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>
                <a:solidFill>
                  <a:srgbClr val="800080"/>
                </a:solidFill>
              </a:rPr>
              <a:t> </a:t>
            </a:r>
            <a:r>
              <a:rPr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 </a:t>
            </a:r>
            <a:r>
              <a:rPr lang="en-US" altLang="zh-CN" sz="2800" b="1">
                <a:solidFill>
                  <a:srgbClr val="800080"/>
                </a:solidFill>
              </a:rPr>
              <a:t>. </a:t>
            </a:r>
            <a:r>
              <a:rPr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,  </a:t>
            </a:r>
            <a:r>
              <a:rPr kumimoji="0"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800" b="1" i="1" baseline="-25000">
                <a:solidFill>
                  <a:srgbClr val="800080"/>
                </a:solidFill>
                <a:sym typeface="Symbol" panose="05050102010706020507" pitchFamily="18" charset="2"/>
              </a:rPr>
              <a:t>2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                 …</a:t>
            </a:r>
          </a:p>
          <a:p>
            <a:pPr lvl="1">
              <a:buFont typeface="Symbol" panose="05050102010706020507" pitchFamily="18" charset="2"/>
              <a:buNone/>
            </a:pPr>
            <a:endParaRPr kumimoji="0" lang="en-US" altLang="zh-CN" sz="1000" b="1">
              <a:solidFill>
                <a:srgbClr val="800080"/>
              </a:solidFill>
              <a:sym typeface="Symbol" panose="05050102010706020507" pitchFamily="18" charset="2"/>
            </a:endParaRPr>
          </a:p>
          <a:p>
            <a:pPr lvl="1">
              <a:buFont typeface="Symbol" panose="05050102010706020507" pitchFamily="18" charset="2"/>
              <a:buNone/>
            </a:pPr>
            <a:r>
              <a:rPr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                 A </a:t>
            </a:r>
            <a:r>
              <a:rPr kumimoji="0" lang="en-US" altLang="zh-CN" sz="2800">
                <a:solidFill>
                  <a:srgbClr val="80008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>
                <a:solidFill>
                  <a:srgbClr val="800080"/>
                </a:solidFill>
              </a:rPr>
              <a:t> </a:t>
            </a:r>
            <a:r>
              <a:rPr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 </a:t>
            </a:r>
            <a:r>
              <a:rPr lang="en-US" altLang="zh-CN" sz="2800" b="1">
                <a:solidFill>
                  <a:srgbClr val="800080"/>
                </a:solidFill>
              </a:rPr>
              <a:t>. </a:t>
            </a:r>
            <a:r>
              <a:rPr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,  </a:t>
            </a:r>
            <a:r>
              <a:rPr kumimoji="0"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800" b="1" i="1" baseline="-25000">
                <a:solidFill>
                  <a:srgbClr val="800080"/>
                </a:solidFill>
                <a:sym typeface="Symbol" panose="05050102010706020507" pitchFamily="18" charset="2"/>
              </a:rPr>
              <a:t>m</a:t>
            </a:r>
          </a:p>
          <a:p>
            <a:pPr lvl="1">
              <a:buFont typeface="Symbol" panose="05050102010706020507" pitchFamily="18" charset="2"/>
              <a:buNone/>
            </a:pPr>
            <a:endParaRPr kumimoji="0" lang="en-US" altLang="zh-CN" sz="1000" b="1" i="1" baseline="-25000">
              <a:solidFill>
                <a:srgbClr val="800080"/>
              </a:solidFill>
              <a:sym typeface="Symbol" panose="05050102010706020507" pitchFamily="18" charset="2"/>
            </a:endParaRPr>
          </a:p>
          <a:p>
            <a:pPr lvl="1">
              <a:buFont typeface="Symbol" panose="05050102010706020507" pitchFamily="18" charset="2"/>
              <a:buNone/>
            </a:pPr>
            <a:r>
              <a:rPr kumimoji="0"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  </a:t>
            </a:r>
            <a:r>
              <a:rPr lang="en-US" altLang="zh-CN" sz="2800" b="1"/>
              <a:t> </a:t>
            </a:r>
            <a:r>
              <a:rPr lang="zh-CN" altLang="en-US" sz="2800" b="1"/>
              <a:t>的 </a:t>
            </a:r>
            <a:r>
              <a:rPr kumimoji="0" lang="en-US" altLang="zh-CN" sz="2800"/>
              <a:t>LR</a:t>
            </a:r>
            <a:r>
              <a:rPr kumimoji="0" lang="zh-CN" altLang="en-US" sz="2800" b="1"/>
              <a:t>（</a:t>
            </a:r>
            <a:r>
              <a:rPr kumimoji="0" lang="en-US" altLang="zh-CN" sz="2800"/>
              <a:t>1</a:t>
            </a:r>
            <a:r>
              <a:rPr kumimoji="0" lang="zh-CN" altLang="en-US" sz="2800" b="1"/>
              <a:t>）</a:t>
            </a:r>
            <a:r>
              <a:rPr lang="zh-CN" altLang="en-US" sz="2800" b="1"/>
              <a:t>项目序列需要出现在同一个项目集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zh-CN" altLang="en-US" sz="2800" b="1"/>
              <a:t>   中时，</a:t>
            </a:r>
            <a:r>
              <a:rPr kumimoji="0" lang="zh-CN" altLang="en-US" sz="2800" b="1">
                <a:sym typeface="Symbol" panose="05050102010706020507" pitchFamily="18" charset="2"/>
              </a:rPr>
              <a:t>将</a:t>
            </a:r>
            <a:r>
              <a:rPr lang="zh-CN" altLang="en-US" sz="2800" b="1"/>
              <a:t>其简记为</a:t>
            </a:r>
          </a:p>
          <a:p>
            <a:pPr lvl="1">
              <a:buFont typeface="Symbol" panose="05050102010706020507" pitchFamily="18" charset="2"/>
              <a:buNone/>
            </a:pPr>
            <a:endParaRPr lang="zh-CN" altLang="en-US" sz="1000" b="1"/>
          </a:p>
          <a:p>
            <a:pPr lvl="1">
              <a:buFont typeface="Symbol" panose="05050102010706020507" pitchFamily="18" charset="2"/>
              <a:buNone/>
            </a:pPr>
            <a:r>
              <a:rPr lang="zh-CN" altLang="en-US" sz="2800" b="1"/>
              <a:t>                 </a:t>
            </a:r>
            <a:r>
              <a:rPr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A </a:t>
            </a:r>
            <a:r>
              <a:rPr kumimoji="0" lang="en-US" altLang="zh-CN" sz="2800">
                <a:solidFill>
                  <a:srgbClr val="80008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>
                <a:solidFill>
                  <a:srgbClr val="800080"/>
                </a:solidFill>
              </a:rPr>
              <a:t> </a:t>
            </a:r>
            <a:r>
              <a:rPr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 </a:t>
            </a:r>
            <a:r>
              <a:rPr lang="en-US" altLang="zh-CN" sz="2800" b="1">
                <a:solidFill>
                  <a:srgbClr val="800080"/>
                </a:solidFill>
              </a:rPr>
              <a:t>. </a:t>
            </a:r>
            <a:r>
              <a:rPr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, </a:t>
            </a:r>
            <a:r>
              <a:rPr kumimoji="0"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800" b="1" i="1" baseline="-25000">
                <a:solidFill>
                  <a:srgbClr val="800080"/>
                </a:solidFill>
                <a:sym typeface="Symbol" panose="05050102010706020507" pitchFamily="18" charset="2"/>
              </a:rPr>
              <a:t>1</a:t>
            </a:r>
            <a:r>
              <a:rPr lang="en-US" altLang="zh-CN" sz="2800">
                <a:sym typeface="Symbol" panose="05050102010706020507" pitchFamily="18" charset="2"/>
              </a:rPr>
              <a:t> </a:t>
            </a:r>
            <a:r>
              <a:rPr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/ </a:t>
            </a:r>
            <a:r>
              <a:rPr kumimoji="0"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800" b="1" i="1" baseline="-25000">
                <a:solidFill>
                  <a:srgbClr val="800080"/>
                </a:solidFill>
                <a:sym typeface="Symbol" panose="05050102010706020507" pitchFamily="18" charset="2"/>
              </a:rPr>
              <a:t>2</a:t>
            </a:r>
            <a:r>
              <a:rPr lang="en-US" altLang="zh-CN" sz="2800">
                <a:sym typeface="Symbol" panose="05050102010706020507" pitchFamily="18" charset="2"/>
              </a:rPr>
              <a:t> </a:t>
            </a:r>
            <a:r>
              <a:rPr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/ … / </a:t>
            </a:r>
            <a:r>
              <a:rPr kumimoji="0"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800" b="1" i="1" baseline="-25000">
                <a:solidFill>
                  <a:srgbClr val="800080"/>
                </a:solidFill>
                <a:sym typeface="Symbol" panose="05050102010706020507" pitchFamily="18" charset="2"/>
              </a:rPr>
              <a:t>m</a:t>
            </a:r>
          </a:p>
        </p:txBody>
      </p:sp>
      <p:sp>
        <p:nvSpPr>
          <p:cNvPr id="535558" name="AutoShape 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5559" name="AutoShape 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5560" name="AutoShape 8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5561" name="AutoShape 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2" name="Rectangle 4"/>
          <p:cNvSpPr>
            <a:spLocks noChangeArrowheads="1"/>
          </p:cNvSpPr>
          <p:nvPr/>
        </p:nvSpPr>
        <p:spPr bwMode="auto">
          <a:xfrm>
            <a:off x="35496" y="188913"/>
            <a:ext cx="3167063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534534" name="AutoShape 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4535" name="AutoShape 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4536" name="AutoShape 8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4537" name="AutoShape 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4538" name="Text Box 10"/>
          <p:cNvSpPr txBox="1">
            <a:spLocks noChangeArrowheads="1"/>
          </p:cNvSpPr>
          <p:nvPr/>
        </p:nvSpPr>
        <p:spPr bwMode="auto">
          <a:xfrm>
            <a:off x="611188" y="1412875"/>
            <a:ext cx="8243887" cy="2012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>
                <a:solidFill>
                  <a:srgbClr val="800080"/>
                </a:solidFill>
              </a:rPr>
              <a:t>LR</a:t>
            </a:r>
            <a:r>
              <a:rPr lang="zh-CN" altLang="en-US" sz="3200">
                <a:solidFill>
                  <a:srgbClr val="800080"/>
                </a:solidFill>
              </a:rPr>
              <a:t>（</a:t>
            </a:r>
            <a:r>
              <a:rPr lang="en-US" altLang="zh-CN" sz="3200">
                <a:solidFill>
                  <a:srgbClr val="800080"/>
                </a:solidFill>
              </a:rPr>
              <a:t>1</a:t>
            </a:r>
            <a:r>
              <a:rPr lang="zh-CN" altLang="en-US" sz="3200">
                <a:solidFill>
                  <a:srgbClr val="800080"/>
                </a:solidFill>
              </a:rPr>
              <a:t>）</a:t>
            </a:r>
            <a:r>
              <a:rPr lang="en-US" altLang="zh-CN" sz="3200">
                <a:solidFill>
                  <a:srgbClr val="800080"/>
                </a:solidFill>
              </a:rPr>
              <a:t>FSM</a:t>
            </a:r>
            <a:endParaRPr lang="en-US" altLang="zh-CN" sz="3200" b="1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en-US" altLang="zh-CN" sz="1000" b="1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en-US" altLang="zh-CN" sz="2800">
                <a:solidFill>
                  <a:srgbClr val="800080"/>
                </a:solidFill>
              </a:rPr>
              <a:t> </a:t>
            </a:r>
            <a:r>
              <a:rPr lang="zh-CN" altLang="en-US" sz="2800" b="1"/>
              <a:t>类似于</a:t>
            </a:r>
            <a:r>
              <a:rPr lang="zh-CN" altLang="en-US" sz="2800"/>
              <a:t> </a:t>
            </a:r>
            <a:r>
              <a:rPr lang="en-US" altLang="zh-CN" sz="2800"/>
              <a:t>LR</a:t>
            </a:r>
            <a:r>
              <a:rPr lang="zh-CN" altLang="en-US" sz="2800"/>
              <a:t>（</a:t>
            </a:r>
            <a:r>
              <a:rPr lang="en-US" altLang="zh-CN" sz="2800"/>
              <a:t>0</a:t>
            </a:r>
            <a:r>
              <a:rPr lang="zh-CN" altLang="en-US" sz="2800"/>
              <a:t>）</a:t>
            </a:r>
            <a:r>
              <a:rPr lang="en-US" altLang="zh-CN" sz="2800"/>
              <a:t>FSM</a:t>
            </a:r>
            <a:r>
              <a:rPr lang="zh-CN" altLang="en-US" sz="2800" b="1"/>
              <a:t>，可以在 </a:t>
            </a:r>
            <a:r>
              <a:rPr lang="en-US" altLang="zh-CN" sz="2800"/>
              <a:t>LR</a:t>
            </a:r>
            <a:r>
              <a:rPr lang="zh-CN" altLang="en-US" sz="2800"/>
              <a:t>（</a:t>
            </a:r>
            <a:r>
              <a:rPr lang="en-US" altLang="zh-CN" sz="2800"/>
              <a:t>1</a:t>
            </a:r>
            <a:r>
              <a:rPr lang="zh-CN" altLang="en-US" sz="2800"/>
              <a:t>）</a:t>
            </a:r>
            <a:r>
              <a:rPr lang="zh-CN" altLang="en-US" sz="2800" b="1"/>
              <a:t>项目的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lang="zh-CN" altLang="en-US" sz="2800" b="1"/>
              <a:t>   基础上为</a:t>
            </a:r>
            <a:r>
              <a:rPr kumimoji="0" lang="zh-CN" altLang="en-US" sz="2800" b="1"/>
              <a:t>上下文无关文法 </a:t>
            </a:r>
            <a:r>
              <a:rPr kumimoji="0" lang="en-US" altLang="zh-CN" sz="2800" i="1"/>
              <a:t>G </a:t>
            </a:r>
            <a:r>
              <a:rPr kumimoji="0" lang="zh-CN" altLang="en-US" sz="2800" b="1"/>
              <a:t>构造一个类似的有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kumimoji="0" lang="zh-CN" altLang="en-US" sz="2800" b="1"/>
              <a:t>   限状态机，称为 </a:t>
            </a:r>
            <a:r>
              <a:rPr lang="en-US" altLang="zh-CN" sz="2800">
                <a:solidFill>
                  <a:srgbClr val="800080"/>
                </a:solidFill>
              </a:rPr>
              <a:t>LR</a:t>
            </a:r>
            <a:r>
              <a:rPr lang="zh-CN" altLang="en-US" sz="2800">
                <a:solidFill>
                  <a:srgbClr val="800080"/>
                </a:solidFill>
              </a:rPr>
              <a:t>（</a:t>
            </a:r>
            <a:r>
              <a:rPr lang="en-US" altLang="zh-CN" sz="2800">
                <a:solidFill>
                  <a:srgbClr val="800080"/>
                </a:solidFill>
              </a:rPr>
              <a:t>1</a:t>
            </a:r>
            <a:r>
              <a:rPr lang="zh-CN" altLang="en-US" sz="2800">
                <a:solidFill>
                  <a:srgbClr val="800080"/>
                </a:solidFill>
              </a:rPr>
              <a:t>）</a:t>
            </a:r>
            <a:r>
              <a:rPr lang="en-US" altLang="zh-CN" sz="2800">
                <a:solidFill>
                  <a:srgbClr val="800080"/>
                </a:solidFill>
              </a:rPr>
              <a:t>FSM</a:t>
            </a:r>
            <a:endParaRPr lang="en-US" altLang="zh-CN" sz="1000" b="1">
              <a:solidFill>
                <a:srgbClr val="800080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6579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6580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6581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6583" name="Text Box 7"/>
          <p:cNvSpPr txBox="1">
            <a:spLocks noChangeArrowheads="1"/>
          </p:cNvSpPr>
          <p:nvPr/>
        </p:nvSpPr>
        <p:spPr bwMode="auto">
          <a:xfrm>
            <a:off x="539750" y="1243013"/>
            <a:ext cx="8424863" cy="5210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>
                <a:solidFill>
                  <a:srgbClr val="800080"/>
                </a:solidFill>
              </a:rPr>
              <a:t>LR</a:t>
            </a:r>
            <a:r>
              <a:rPr lang="zh-CN" altLang="en-US" sz="3200">
                <a:solidFill>
                  <a:srgbClr val="800080"/>
                </a:solidFill>
              </a:rPr>
              <a:t>（</a:t>
            </a:r>
            <a:r>
              <a:rPr lang="en-US" altLang="zh-CN" sz="3200">
                <a:solidFill>
                  <a:srgbClr val="800080"/>
                </a:solidFill>
              </a:rPr>
              <a:t>1</a:t>
            </a:r>
            <a:r>
              <a:rPr lang="zh-CN" altLang="en-US" sz="3200">
                <a:solidFill>
                  <a:srgbClr val="800080"/>
                </a:solidFill>
              </a:rPr>
              <a:t>）</a:t>
            </a:r>
            <a:r>
              <a:rPr lang="en-US" altLang="zh-CN" sz="3200">
                <a:solidFill>
                  <a:srgbClr val="800080"/>
                </a:solidFill>
              </a:rPr>
              <a:t>FSM</a:t>
            </a:r>
            <a:r>
              <a:rPr lang="zh-CN" altLang="en-US" sz="3200" b="1">
                <a:solidFill>
                  <a:srgbClr val="800080"/>
                </a:solidFill>
              </a:rPr>
              <a:t>的构造</a:t>
            </a:r>
            <a:endParaRPr lang="zh-CN" altLang="en-US" sz="3200" b="1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>
                <a:solidFill>
                  <a:srgbClr val="800080"/>
                </a:solidFill>
              </a:rPr>
              <a:t> </a:t>
            </a:r>
            <a:r>
              <a:rPr lang="en-US" altLang="zh-CN" sz="2800">
                <a:solidFill>
                  <a:srgbClr val="800080"/>
                </a:solidFill>
              </a:rPr>
              <a:t>LR</a:t>
            </a:r>
            <a:r>
              <a:rPr lang="zh-CN" altLang="en-US" sz="2800">
                <a:solidFill>
                  <a:srgbClr val="800080"/>
                </a:solidFill>
              </a:rPr>
              <a:t>（</a:t>
            </a:r>
            <a:r>
              <a:rPr lang="en-US" altLang="zh-CN" sz="2800">
                <a:solidFill>
                  <a:srgbClr val="800080"/>
                </a:solidFill>
              </a:rPr>
              <a:t>1</a:t>
            </a:r>
            <a:r>
              <a:rPr lang="zh-CN" altLang="en-US" sz="2800">
                <a:solidFill>
                  <a:srgbClr val="800080"/>
                </a:solidFill>
              </a:rPr>
              <a:t>）</a:t>
            </a:r>
            <a:r>
              <a:rPr lang="en-US" altLang="zh-CN" sz="2800">
                <a:solidFill>
                  <a:srgbClr val="800080"/>
                </a:solidFill>
              </a:rPr>
              <a:t>FSM</a:t>
            </a:r>
            <a:r>
              <a:rPr lang="zh-CN" altLang="en-US" sz="2800" b="1">
                <a:solidFill>
                  <a:srgbClr val="800080"/>
                </a:solidFill>
              </a:rPr>
              <a:t>的状态</a:t>
            </a:r>
            <a:endParaRPr lang="zh-CN" altLang="en-US" sz="2800" b="1"/>
          </a:p>
          <a:p>
            <a:pPr lvl="1">
              <a:buClrTx/>
              <a:buFont typeface="Symbol" panose="05050102010706020507" pitchFamily="18" charset="2"/>
              <a:buNone/>
            </a:pPr>
            <a:endParaRPr lang="zh-CN" altLang="en-US" sz="1000" b="1"/>
          </a:p>
          <a:p>
            <a:pPr lvl="2">
              <a:buFontTx/>
              <a:buChar char="•"/>
            </a:pPr>
            <a:r>
              <a:rPr kumimoji="0" lang="zh-CN" altLang="en-US" i="1"/>
              <a:t>  </a:t>
            </a:r>
            <a:r>
              <a:rPr lang="en-US" altLang="zh-CN"/>
              <a:t>LR</a:t>
            </a: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 </a:t>
            </a:r>
            <a:r>
              <a:rPr lang="en-US" altLang="zh-CN"/>
              <a:t>FSM</a:t>
            </a:r>
            <a:r>
              <a:rPr kumimoji="0" lang="en-US" altLang="zh-CN"/>
              <a:t> </a:t>
            </a:r>
            <a:r>
              <a:rPr kumimoji="0" lang="zh-CN" altLang="en-US" b="1"/>
              <a:t>的状态是 </a:t>
            </a:r>
            <a:r>
              <a:rPr kumimoji="0" lang="en-US" altLang="zh-CN">
                <a:solidFill>
                  <a:srgbClr val="800080"/>
                </a:solidFill>
              </a:rPr>
              <a:t>LR</a:t>
            </a:r>
            <a:r>
              <a:rPr kumimoji="0" lang="zh-CN" altLang="en-US">
                <a:solidFill>
                  <a:srgbClr val="800080"/>
                </a:solidFill>
              </a:rPr>
              <a:t>（</a:t>
            </a:r>
            <a:r>
              <a:rPr kumimoji="0" lang="en-US" altLang="zh-CN">
                <a:solidFill>
                  <a:srgbClr val="800080"/>
                </a:solidFill>
              </a:rPr>
              <a:t>1</a:t>
            </a:r>
            <a:r>
              <a:rPr kumimoji="0" lang="zh-CN" altLang="en-US">
                <a:solidFill>
                  <a:srgbClr val="800080"/>
                </a:solidFill>
              </a:rPr>
              <a:t>）</a:t>
            </a:r>
            <a:r>
              <a:rPr kumimoji="0" lang="zh-CN" altLang="en-US" b="1">
                <a:solidFill>
                  <a:srgbClr val="800080"/>
                </a:solidFill>
              </a:rPr>
              <a:t>项目集的闭包</a:t>
            </a:r>
          </a:p>
          <a:p>
            <a:pPr lvl="2">
              <a:buFontTx/>
              <a:buNone/>
            </a:pPr>
            <a:r>
              <a:rPr kumimoji="0" lang="zh-CN" altLang="en-US" b="1"/>
              <a:t>  （</a:t>
            </a:r>
            <a:r>
              <a:rPr kumimoji="0" lang="en-US" altLang="en-US" i="1"/>
              <a:t>closure</a:t>
            </a:r>
            <a:r>
              <a:rPr kumimoji="0" lang="zh-CN" altLang="en-US" b="1"/>
              <a:t>）</a:t>
            </a:r>
            <a:endParaRPr kumimoji="0" lang="zh-CN" altLang="en-US" b="1">
              <a:solidFill>
                <a:srgbClr val="800080"/>
              </a:solidFill>
            </a:endParaRPr>
          </a:p>
          <a:p>
            <a:pPr lvl="2">
              <a:buFontTx/>
              <a:buNone/>
            </a:pPr>
            <a:endParaRPr kumimoji="0" lang="zh-CN" altLang="en-US" sz="1000" b="1"/>
          </a:p>
          <a:p>
            <a:pPr lvl="2">
              <a:buFontTx/>
              <a:buChar char="•"/>
            </a:pPr>
            <a:r>
              <a:rPr kumimoji="0" lang="zh-CN" altLang="en-US" b="1"/>
              <a:t>  </a:t>
            </a:r>
            <a:r>
              <a:rPr kumimoji="0" lang="zh-CN" altLang="en-US" b="1">
                <a:solidFill>
                  <a:srgbClr val="800080"/>
                </a:solidFill>
              </a:rPr>
              <a:t>计算</a:t>
            </a:r>
            <a:r>
              <a:rPr kumimoji="0" lang="en-US" altLang="zh-CN"/>
              <a:t>LR</a:t>
            </a:r>
            <a:r>
              <a:rPr kumimoji="0" lang="zh-CN" altLang="en-US"/>
              <a:t>（</a:t>
            </a:r>
            <a:r>
              <a:rPr kumimoji="0" lang="en-US" altLang="zh-CN"/>
              <a:t>1</a:t>
            </a:r>
            <a:r>
              <a:rPr kumimoji="0" lang="zh-CN" altLang="en-US"/>
              <a:t>）</a:t>
            </a:r>
            <a:r>
              <a:rPr kumimoji="0" lang="zh-CN" altLang="en-US" b="1"/>
              <a:t>项目集 </a:t>
            </a:r>
            <a:r>
              <a:rPr kumimoji="0" lang="en-US" altLang="zh-CN" b="1"/>
              <a:t>I</a:t>
            </a:r>
            <a:r>
              <a:rPr kumimoji="0" lang="en-US" altLang="zh-CN" b="1">
                <a:latin typeface="Times New Roman" panose="02020603050405020304" pitchFamily="18" charset="0"/>
              </a:rPr>
              <a:t> </a:t>
            </a:r>
            <a:r>
              <a:rPr kumimoji="0" lang="zh-CN" altLang="en-US" b="1"/>
              <a:t>的闭包 </a:t>
            </a:r>
            <a:r>
              <a:rPr kumimoji="0" lang="en-US" altLang="zh-CN">
                <a:solidFill>
                  <a:srgbClr val="800080"/>
                </a:solidFill>
              </a:rPr>
              <a:t>CLOSURE</a:t>
            </a:r>
            <a:r>
              <a:rPr kumimoji="0" lang="en-US" altLang="zh-CN" b="1">
                <a:solidFill>
                  <a:srgbClr val="800080"/>
                </a:solidFill>
                <a:latin typeface="楷体_GB2312" pitchFamily="49" charset="-122"/>
              </a:rPr>
              <a:t>(</a:t>
            </a:r>
            <a:r>
              <a:rPr kumimoji="0" lang="en-US" altLang="zh-CN" b="1">
                <a:solidFill>
                  <a:srgbClr val="800080"/>
                </a:solidFill>
              </a:rPr>
              <a:t>I</a:t>
            </a:r>
            <a:r>
              <a:rPr kumimoji="0" lang="en-US" altLang="zh-CN" b="1">
                <a:solidFill>
                  <a:srgbClr val="800080"/>
                </a:solidFill>
                <a:latin typeface="楷体_GB2312" pitchFamily="49" charset="-122"/>
              </a:rPr>
              <a:t>)</a:t>
            </a:r>
            <a:r>
              <a:rPr kumimoji="0" lang="zh-CN" altLang="en-US" b="1"/>
              <a:t>的算法：</a:t>
            </a:r>
          </a:p>
          <a:p>
            <a:pPr lvl="2">
              <a:buFontTx/>
              <a:buNone/>
            </a:pPr>
            <a:endParaRPr kumimoji="0" lang="zh-CN" altLang="en-US" sz="1000" b="1"/>
          </a:p>
          <a:p>
            <a:pPr lvl="2">
              <a:buFont typeface="Wingdings" panose="05000000000000000000" pitchFamily="2" charset="2"/>
              <a:buNone/>
            </a:pPr>
            <a:r>
              <a:rPr kumimoji="0" lang="zh-CN" altLang="en-US" b="1">
                <a:solidFill>
                  <a:schemeClr val="tx1"/>
                </a:solidFill>
              </a:rPr>
              <a:t>   </a:t>
            </a:r>
            <a:r>
              <a:rPr kumimoji="0" lang="en-US" altLang="zh-CN" sz="2000"/>
              <a:t>function  CLOSURE</a:t>
            </a:r>
            <a:r>
              <a:rPr kumimoji="0" lang="en-US" altLang="zh-CN" sz="2000" b="1">
                <a:latin typeface="楷体_GB2312" pitchFamily="49" charset="-122"/>
              </a:rPr>
              <a:t>(</a:t>
            </a:r>
            <a:r>
              <a:rPr kumimoji="0" lang="en-US" altLang="zh-CN" sz="2000" b="1"/>
              <a:t>I</a:t>
            </a:r>
            <a:r>
              <a:rPr kumimoji="0" lang="zh-CN" altLang="en-US" sz="2000" b="1"/>
              <a:t>）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0" lang="zh-CN" altLang="en-US" sz="2000"/>
              <a:t>                 </a:t>
            </a:r>
            <a:r>
              <a:rPr kumimoji="0" lang="en-US" altLang="zh-CN" sz="2000"/>
              <a:t>{</a:t>
            </a:r>
            <a:r>
              <a:rPr kumimoji="0" lang="en-US" altLang="zh-CN" sz="2000" b="1"/>
              <a:t>   J:= I;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0" lang="en-US" altLang="zh-CN" sz="2000" b="1"/>
              <a:t>                      </a:t>
            </a:r>
            <a:r>
              <a:rPr kumimoji="0" lang="en-US" altLang="zh-CN" sz="2000"/>
              <a:t>repeat  for</a:t>
            </a:r>
            <a:r>
              <a:rPr kumimoji="0" lang="en-US" altLang="zh-CN" sz="2000" b="1"/>
              <a:t>  J </a:t>
            </a:r>
            <a:r>
              <a:rPr kumimoji="0" lang="zh-CN" altLang="en-US" sz="2000" b="1"/>
              <a:t>中的每个项目 </a:t>
            </a:r>
            <a:r>
              <a:rPr kumimoji="0" lang="en-US" altLang="zh-CN" sz="2000" b="1"/>
              <a:t>[A</a:t>
            </a:r>
            <a:r>
              <a:rPr kumimoji="0" lang="en-US" altLang="zh-CN" sz="2000" b="1">
                <a:sym typeface="Symbol" panose="05050102010706020507" pitchFamily="18" charset="2"/>
              </a:rPr>
              <a:t> </a:t>
            </a:r>
            <a:r>
              <a:rPr kumimoji="0" lang="en-US" altLang="zh-CN" sz="2000" b="1"/>
              <a:t>. B</a:t>
            </a:r>
            <a:r>
              <a:rPr kumimoji="0" lang="en-US" altLang="zh-CN" sz="2000" b="1">
                <a:sym typeface="Symbol" panose="05050102010706020507" pitchFamily="18" charset="2"/>
              </a:rPr>
              <a:t> </a:t>
            </a:r>
            <a:r>
              <a:rPr kumimoji="0" lang="zh-CN" altLang="en-US" sz="2000" b="1">
                <a:sym typeface="Symbol" panose="05050102010706020507" pitchFamily="18" charset="2"/>
              </a:rPr>
              <a:t>，</a:t>
            </a:r>
            <a:r>
              <a:rPr kumimoji="0" lang="en-US" altLang="zh-CN" sz="2000" b="1">
                <a:sym typeface="Symbol" panose="05050102010706020507" pitchFamily="18" charset="2"/>
              </a:rPr>
              <a:t>a]</a:t>
            </a:r>
            <a:r>
              <a:rPr kumimoji="0" lang="en-US" altLang="zh-CN" sz="2000" b="1"/>
              <a:t> </a:t>
            </a:r>
            <a:r>
              <a:rPr kumimoji="0" lang="zh-CN" altLang="en-US" sz="2000" b="1"/>
              <a:t>和产生式 </a:t>
            </a:r>
            <a:r>
              <a:rPr kumimoji="0" lang="en-US" altLang="zh-CN" sz="2000" b="1"/>
              <a:t>B</a:t>
            </a:r>
            <a:r>
              <a:rPr kumimoji="0" lang="en-US" altLang="zh-CN" sz="2000" b="1">
                <a:sym typeface="Symbol" panose="05050102010706020507" pitchFamily="18" charset="2"/>
              </a:rPr>
              <a:t></a:t>
            </a:r>
            <a:r>
              <a:rPr kumimoji="0" lang="en-US" altLang="zh-CN" sz="2000" b="1"/>
              <a:t> </a:t>
            </a:r>
            <a:r>
              <a:rPr kumimoji="0" lang="en-US" altLang="zh-CN" sz="2000" b="1">
                <a:sym typeface="Symbol" panose="05050102010706020507" pitchFamily="18" charset="2"/>
              </a:rPr>
              <a:t></a:t>
            </a:r>
            <a:r>
              <a:rPr kumimoji="0" lang="en-US" altLang="zh-CN" sz="2000" b="1"/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0" lang="en-US" altLang="zh-CN" sz="2000" b="1"/>
              <a:t>                                  </a:t>
            </a:r>
            <a:r>
              <a:rPr kumimoji="0" lang="en-US" altLang="zh-CN" sz="2000"/>
              <a:t>do </a:t>
            </a:r>
            <a:r>
              <a:rPr kumimoji="0" lang="zh-CN" altLang="en-US" sz="2000" b="1"/>
              <a:t>将所有形如 </a:t>
            </a:r>
            <a:r>
              <a:rPr kumimoji="0" lang="en-US" altLang="zh-CN" sz="2000" b="1"/>
              <a:t>[B</a:t>
            </a:r>
            <a:r>
              <a:rPr kumimoji="0" lang="en-US" altLang="zh-CN" sz="2000" b="1">
                <a:sym typeface="Symbol" panose="05050102010706020507" pitchFamily="18" charset="2"/>
              </a:rPr>
              <a:t></a:t>
            </a:r>
            <a:r>
              <a:rPr kumimoji="0" lang="en-US" altLang="zh-CN" sz="2000" b="1"/>
              <a:t> .</a:t>
            </a:r>
            <a:r>
              <a:rPr kumimoji="0" lang="en-US" altLang="zh-CN" sz="2000" b="1">
                <a:sym typeface="Symbol" panose="05050102010706020507" pitchFamily="18" charset="2"/>
              </a:rPr>
              <a:t> , b]</a:t>
            </a:r>
            <a:r>
              <a:rPr kumimoji="0" lang="en-US" altLang="zh-CN" sz="2000" b="1"/>
              <a:t>  </a:t>
            </a:r>
            <a:r>
              <a:rPr kumimoji="0" lang="zh-CN" altLang="en-US" sz="2000" b="1"/>
              <a:t>的项目加到 </a:t>
            </a:r>
            <a:r>
              <a:rPr kumimoji="0" lang="en-US" altLang="zh-CN" sz="2000" b="1"/>
              <a:t>J </a:t>
            </a:r>
            <a:r>
              <a:rPr kumimoji="0" lang="zh-CN" altLang="en-US" sz="2000" b="1"/>
              <a:t>中</a:t>
            </a:r>
            <a:r>
              <a:rPr kumimoji="0" lang="en-US" altLang="zh-CN" sz="2000" b="1"/>
              <a:t>, </a:t>
            </a:r>
            <a:r>
              <a:rPr kumimoji="0" lang="zh-CN" altLang="en-US" sz="2000" b="1"/>
              <a:t>这里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0" lang="zh-CN" altLang="en-US" sz="2000" b="1"/>
              <a:t>                                        </a:t>
            </a:r>
            <a:r>
              <a:rPr kumimoji="0" lang="en-US" altLang="zh-CN" sz="2000" b="1">
                <a:sym typeface="Symbol" panose="05050102010706020507" pitchFamily="18" charset="2"/>
              </a:rPr>
              <a:t>b</a:t>
            </a:r>
            <a:r>
              <a:rPr kumimoji="0" lang="en-US" altLang="zh-CN" sz="2000" b="1"/>
              <a:t> </a:t>
            </a:r>
            <a:r>
              <a:rPr kumimoji="0" lang="en-US" altLang="zh-CN" sz="2000" b="1">
                <a:sym typeface="Symbol" panose="05050102010706020507" pitchFamily="18" charset="2"/>
              </a:rPr>
              <a:t> </a:t>
            </a:r>
            <a:r>
              <a:rPr lang="en-US" altLang="zh-CN" sz="2000" b="1"/>
              <a:t>First</a:t>
            </a:r>
            <a:r>
              <a:rPr lang="zh-CN" altLang="en-US" sz="2000" b="1">
                <a:sym typeface="Symbol" panose="05050102010706020507" pitchFamily="18" charset="2"/>
              </a:rPr>
              <a:t>（</a:t>
            </a:r>
            <a:r>
              <a:rPr kumimoji="0" lang="zh-CN" altLang="en-US" sz="2000" b="1">
                <a:sym typeface="Symbol" panose="05050102010706020507" pitchFamily="18" charset="2"/>
              </a:rPr>
              <a:t></a:t>
            </a:r>
            <a:r>
              <a:rPr kumimoji="0" lang="en-US" altLang="zh-CN" sz="2000" b="1">
                <a:sym typeface="Symbol" panose="05050102010706020507" pitchFamily="18" charset="2"/>
              </a:rPr>
              <a:t>a</a:t>
            </a:r>
            <a:r>
              <a:rPr lang="zh-CN" altLang="en-US" sz="2000" b="1">
                <a:sym typeface="Symbol" panose="05050102010706020507" pitchFamily="18" charset="2"/>
              </a:rPr>
              <a:t>）</a:t>
            </a:r>
            <a:endParaRPr kumimoji="0" lang="zh-CN" altLang="en-US" sz="2000" b="1"/>
          </a:p>
          <a:p>
            <a:pPr>
              <a:buFont typeface="Wingdings" panose="05000000000000000000" pitchFamily="2" charset="2"/>
              <a:buNone/>
            </a:pPr>
            <a:r>
              <a:rPr kumimoji="0" lang="zh-CN" altLang="en-US" sz="2000" b="1"/>
              <a:t>                      </a:t>
            </a:r>
            <a:r>
              <a:rPr kumimoji="0" lang="en-US" altLang="zh-CN" sz="2000"/>
              <a:t>until</a:t>
            </a:r>
            <a:r>
              <a:rPr kumimoji="0" lang="en-US" altLang="zh-CN" sz="2000" b="1"/>
              <a:t>   </a:t>
            </a:r>
            <a:r>
              <a:rPr kumimoji="0" lang="zh-CN" altLang="en-US" sz="2000" b="1"/>
              <a:t>上一次循环不再有新项目加到 </a:t>
            </a:r>
            <a:r>
              <a:rPr kumimoji="0" lang="en-US" altLang="zh-CN" sz="2000" b="1"/>
              <a:t>J </a:t>
            </a:r>
            <a:r>
              <a:rPr kumimoji="0" lang="zh-CN" altLang="en-US" sz="2000" b="1"/>
              <a:t>中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0" lang="zh-CN" altLang="en-US" sz="2000" b="1"/>
              <a:t>                      </a:t>
            </a:r>
            <a:r>
              <a:rPr kumimoji="0" lang="en-US" altLang="zh-CN" sz="2000"/>
              <a:t>return</a:t>
            </a:r>
            <a:r>
              <a:rPr kumimoji="0" lang="en-US" altLang="zh-CN" sz="2000" b="1"/>
              <a:t>  J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0" lang="en-US" altLang="zh-CN" sz="2000" b="1"/>
              <a:t>                </a:t>
            </a:r>
            <a:r>
              <a:rPr kumimoji="0" lang="en-US" altLang="zh-CN" sz="2000"/>
              <a:t>};</a:t>
            </a:r>
          </a:p>
        </p:txBody>
      </p:sp>
      <p:sp>
        <p:nvSpPr>
          <p:cNvPr id="536584" name="Rectangle 8"/>
          <p:cNvSpPr>
            <a:spLocks noChangeArrowheads="1"/>
          </p:cNvSpPr>
          <p:nvPr/>
        </p:nvSpPr>
        <p:spPr bwMode="auto">
          <a:xfrm>
            <a:off x="35496" y="188913"/>
            <a:ext cx="3167063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</p:spTree>
  </p:cSld>
  <p:clrMapOvr>
    <a:masterClrMapping/>
  </p:clrMapOvr>
  <p:transition spd="med">
    <p:wipe dir="r"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2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4773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4774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4775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4776" name="Text Box 8"/>
          <p:cNvSpPr txBox="1">
            <a:spLocks noChangeArrowheads="1"/>
          </p:cNvSpPr>
          <p:nvPr/>
        </p:nvSpPr>
        <p:spPr bwMode="auto">
          <a:xfrm>
            <a:off x="468313" y="1243013"/>
            <a:ext cx="8497887" cy="21939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>
                <a:solidFill>
                  <a:srgbClr val="800080"/>
                </a:solidFill>
              </a:rPr>
              <a:t>LR</a:t>
            </a:r>
            <a:r>
              <a:rPr lang="zh-CN" altLang="en-US" sz="3200">
                <a:solidFill>
                  <a:srgbClr val="800080"/>
                </a:solidFill>
              </a:rPr>
              <a:t>（</a:t>
            </a:r>
            <a:r>
              <a:rPr lang="en-US" altLang="zh-CN" sz="3200">
                <a:solidFill>
                  <a:srgbClr val="800080"/>
                </a:solidFill>
              </a:rPr>
              <a:t>1</a:t>
            </a:r>
            <a:r>
              <a:rPr lang="zh-CN" altLang="en-US" sz="3200">
                <a:solidFill>
                  <a:srgbClr val="800080"/>
                </a:solidFill>
              </a:rPr>
              <a:t>）</a:t>
            </a:r>
            <a:r>
              <a:rPr lang="en-US" altLang="zh-CN" sz="3200">
                <a:solidFill>
                  <a:srgbClr val="800080"/>
                </a:solidFill>
              </a:rPr>
              <a:t>FSM</a:t>
            </a:r>
            <a:r>
              <a:rPr lang="zh-CN" altLang="en-US" sz="3200" b="1">
                <a:solidFill>
                  <a:srgbClr val="800080"/>
                </a:solidFill>
              </a:rPr>
              <a:t>的构造</a:t>
            </a:r>
            <a:endParaRPr lang="zh-CN" altLang="en-US" sz="3200" b="1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>
                <a:solidFill>
                  <a:srgbClr val="800080"/>
                </a:solidFill>
              </a:rPr>
              <a:t> </a:t>
            </a:r>
            <a:r>
              <a:rPr lang="en-US" altLang="zh-CN" sz="2800">
                <a:solidFill>
                  <a:srgbClr val="800080"/>
                </a:solidFill>
              </a:rPr>
              <a:t>LR</a:t>
            </a:r>
            <a:r>
              <a:rPr lang="zh-CN" altLang="en-US" sz="2800">
                <a:solidFill>
                  <a:srgbClr val="800080"/>
                </a:solidFill>
              </a:rPr>
              <a:t>（</a:t>
            </a:r>
            <a:r>
              <a:rPr lang="en-US" altLang="zh-CN" sz="2800">
                <a:solidFill>
                  <a:srgbClr val="800080"/>
                </a:solidFill>
              </a:rPr>
              <a:t>1</a:t>
            </a:r>
            <a:r>
              <a:rPr lang="zh-CN" altLang="en-US" sz="2800">
                <a:solidFill>
                  <a:srgbClr val="800080"/>
                </a:solidFill>
              </a:rPr>
              <a:t>）</a:t>
            </a:r>
            <a:r>
              <a:rPr lang="en-US" altLang="zh-CN" sz="2800">
                <a:solidFill>
                  <a:srgbClr val="800080"/>
                </a:solidFill>
              </a:rPr>
              <a:t>FSM</a:t>
            </a:r>
            <a:r>
              <a:rPr lang="zh-CN" altLang="en-US" sz="2800" b="1">
                <a:solidFill>
                  <a:srgbClr val="800080"/>
                </a:solidFill>
              </a:rPr>
              <a:t>的初态</a:t>
            </a:r>
            <a:endParaRPr lang="zh-CN" altLang="en-US" sz="2800" b="1"/>
          </a:p>
          <a:p>
            <a:pPr lvl="1">
              <a:buClrTx/>
              <a:buFont typeface="Symbol" panose="05050102010706020507" pitchFamily="18" charset="2"/>
              <a:buNone/>
            </a:pPr>
            <a:endParaRPr lang="zh-CN" altLang="en-US" sz="1000" b="1"/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b="1"/>
              <a:t>   设文法 </a:t>
            </a:r>
            <a:r>
              <a:rPr lang="en-US" altLang="zh-CN" i="1"/>
              <a:t>G</a:t>
            </a:r>
            <a:r>
              <a:rPr lang="en-US" altLang="zh-CN"/>
              <a:t>[</a:t>
            </a:r>
            <a:r>
              <a:rPr lang="en-US" altLang="zh-CN" i="1"/>
              <a:t>S</a:t>
            </a:r>
            <a:r>
              <a:rPr lang="en-US" altLang="zh-CN"/>
              <a:t>]</a:t>
            </a:r>
            <a:r>
              <a:rPr lang="en-US" altLang="zh-CN" b="1"/>
              <a:t> </a:t>
            </a:r>
            <a:r>
              <a:rPr lang="zh-CN" altLang="en-US" b="1"/>
              <a:t>的增广文法为</a:t>
            </a:r>
            <a:r>
              <a:rPr kumimoji="0" lang="zh-CN" altLang="en-US" b="1">
                <a:solidFill>
                  <a:srgbClr val="800080"/>
                </a:solidFill>
              </a:rPr>
              <a:t> </a:t>
            </a:r>
            <a:r>
              <a:rPr lang="en-US" altLang="zh-CN" i="1"/>
              <a:t>G’</a:t>
            </a:r>
            <a:r>
              <a:rPr lang="en-US" altLang="zh-CN" b="1"/>
              <a:t> </a:t>
            </a:r>
            <a:r>
              <a:rPr lang="en-US" altLang="zh-CN"/>
              <a:t>[</a:t>
            </a:r>
            <a:r>
              <a:rPr lang="en-US" altLang="zh-CN" i="1"/>
              <a:t>S’</a:t>
            </a:r>
            <a:r>
              <a:rPr lang="en-US" altLang="zh-CN"/>
              <a:t>], </a:t>
            </a:r>
            <a:r>
              <a:rPr lang="zh-CN" altLang="en-US" b="1"/>
              <a:t>则 </a:t>
            </a:r>
            <a:r>
              <a:rPr lang="en-US" altLang="zh-CN" i="1"/>
              <a:t>G’</a:t>
            </a:r>
            <a:r>
              <a:rPr lang="zh-CN" altLang="en-US" b="1"/>
              <a:t>的 </a:t>
            </a:r>
            <a:r>
              <a:rPr lang="en-US" altLang="zh-CN">
                <a:solidFill>
                  <a:srgbClr val="800080"/>
                </a:solidFill>
              </a:rPr>
              <a:t>LR</a:t>
            </a:r>
            <a:r>
              <a:rPr lang="zh-CN" altLang="en-US">
                <a:solidFill>
                  <a:srgbClr val="800080"/>
                </a:solidFill>
              </a:rPr>
              <a:t>（</a:t>
            </a:r>
            <a:r>
              <a:rPr lang="en-US" altLang="zh-CN">
                <a:solidFill>
                  <a:srgbClr val="800080"/>
                </a:solidFill>
              </a:rPr>
              <a:t>1</a:t>
            </a:r>
            <a:r>
              <a:rPr lang="zh-CN" altLang="en-US">
                <a:solidFill>
                  <a:srgbClr val="800080"/>
                </a:solidFill>
              </a:rPr>
              <a:t>）</a:t>
            </a:r>
            <a:r>
              <a:rPr lang="en-US" altLang="zh-CN">
                <a:solidFill>
                  <a:srgbClr val="800080"/>
                </a:solidFill>
              </a:rPr>
              <a:t>FSM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800080"/>
                </a:solidFill>
              </a:rPr>
              <a:t>   </a:t>
            </a:r>
            <a:r>
              <a:rPr lang="zh-CN" altLang="en-US" b="1"/>
              <a:t>的初态       </a:t>
            </a:r>
            <a:r>
              <a:rPr lang="en-US" altLang="zh-CN" b="1">
                <a:solidFill>
                  <a:srgbClr val="800080"/>
                </a:solidFill>
              </a:rPr>
              <a:t>I</a:t>
            </a:r>
            <a:r>
              <a:rPr lang="en-US" altLang="zh-CN" b="1" baseline="-25000">
                <a:solidFill>
                  <a:srgbClr val="800080"/>
                </a:solidFill>
              </a:rPr>
              <a:t>0</a:t>
            </a:r>
            <a:r>
              <a:rPr lang="en-US" altLang="zh-CN" b="1">
                <a:solidFill>
                  <a:srgbClr val="800080"/>
                </a:solidFill>
              </a:rPr>
              <a:t> = </a:t>
            </a:r>
            <a:r>
              <a:rPr kumimoji="0" lang="en-US" altLang="zh-CN">
                <a:solidFill>
                  <a:srgbClr val="800080"/>
                </a:solidFill>
              </a:rPr>
              <a:t>CLOSURE</a:t>
            </a:r>
            <a:r>
              <a:rPr kumimoji="0" lang="en-US" altLang="zh-CN" b="1">
                <a:solidFill>
                  <a:srgbClr val="800080"/>
                </a:solidFill>
              </a:rPr>
              <a:t>( { [S’</a:t>
            </a:r>
            <a:r>
              <a:rPr kumimoji="0" lang="en-US" altLang="zh-CN" b="1">
                <a:solidFill>
                  <a:srgbClr val="800080"/>
                </a:solidFill>
                <a:sym typeface="Symbol" panose="05050102010706020507" pitchFamily="18" charset="2"/>
              </a:rPr>
              <a:t>.</a:t>
            </a:r>
            <a:r>
              <a:rPr kumimoji="0" lang="en-US" altLang="zh-CN" b="1">
                <a:solidFill>
                  <a:srgbClr val="800080"/>
                </a:solidFill>
              </a:rPr>
              <a:t>S</a:t>
            </a:r>
            <a:r>
              <a:rPr kumimoji="0" lang="zh-CN" altLang="en-US" b="1">
                <a:solidFill>
                  <a:srgbClr val="800080"/>
                </a:solidFill>
              </a:rPr>
              <a:t>，</a:t>
            </a:r>
            <a:r>
              <a:rPr kumimoji="0" lang="en-US" altLang="zh-CN" b="1">
                <a:solidFill>
                  <a:srgbClr val="800080"/>
                </a:solidFill>
              </a:rPr>
              <a:t>#] } )</a:t>
            </a:r>
          </a:p>
          <a:p>
            <a:pPr lvl="1">
              <a:buFont typeface="Wingdings" panose="05000000000000000000" pitchFamily="2" charset="2"/>
              <a:buNone/>
            </a:pPr>
            <a:endParaRPr kumimoji="0" lang="en-US" altLang="zh-CN" sz="1000" b="1">
              <a:solidFill>
                <a:srgbClr val="800080"/>
              </a:solidFill>
            </a:endParaRPr>
          </a:p>
        </p:txBody>
      </p:sp>
      <p:sp>
        <p:nvSpPr>
          <p:cNvPr id="544777" name="Rectangle 9"/>
          <p:cNvSpPr>
            <a:spLocks noChangeArrowheads="1"/>
          </p:cNvSpPr>
          <p:nvPr/>
        </p:nvSpPr>
        <p:spPr bwMode="auto">
          <a:xfrm>
            <a:off x="35496" y="188913"/>
            <a:ext cx="3167063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544779" name="Text Box 11"/>
          <p:cNvSpPr txBox="1">
            <a:spLocks noChangeArrowheads="1"/>
          </p:cNvSpPr>
          <p:nvPr/>
        </p:nvSpPr>
        <p:spPr bwMode="auto">
          <a:xfrm>
            <a:off x="755650" y="3500438"/>
            <a:ext cx="5545138" cy="2771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lvl="1"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800080"/>
                </a:solidFill>
              </a:rPr>
              <a:t>例 </a:t>
            </a:r>
            <a:r>
              <a:rPr lang="zh-CN" altLang="en-US" b="1"/>
              <a:t>设右边文法</a:t>
            </a:r>
            <a:r>
              <a:rPr kumimoji="0" lang="en-US" altLang="zh-CN" i="1">
                <a:sym typeface="Symbol" panose="05050102010706020507" pitchFamily="18" charset="2"/>
              </a:rPr>
              <a:t>G</a:t>
            </a:r>
            <a:r>
              <a:rPr kumimoji="0" lang="en-US" altLang="zh-CN">
                <a:sym typeface="Symbol" panose="05050102010706020507" pitchFamily="18" charset="2"/>
              </a:rPr>
              <a:t>[</a:t>
            </a:r>
            <a:r>
              <a:rPr kumimoji="0" lang="en-US" altLang="zh-CN" i="1">
                <a:sym typeface="Symbol" panose="05050102010706020507" pitchFamily="18" charset="2"/>
              </a:rPr>
              <a:t>S</a:t>
            </a:r>
            <a:r>
              <a:rPr kumimoji="0" lang="en-US" altLang="zh-CN">
                <a:sym typeface="Symbol" panose="05050102010706020507" pitchFamily="18" charset="2"/>
              </a:rPr>
              <a:t>]</a:t>
            </a:r>
            <a:r>
              <a:rPr kumimoji="0" lang="zh-CN" altLang="en-US" b="1">
                <a:sym typeface="Symbol" panose="05050102010706020507" pitchFamily="18" charset="2"/>
              </a:rPr>
              <a:t>的增广文法为</a:t>
            </a:r>
          </a:p>
          <a:p>
            <a:pPr lvl="1">
              <a:buFont typeface="Wingdings" panose="05000000000000000000" pitchFamily="2" charset="2"/>
              <a:buNone/>
            </a:pPr>
            <a:r>
              <a:rPr kumimoji="0" lang="zh-CN" altLang="en-US" b="1">
                <a:sym typeface="Symbol" panose="05050102010706020507" pitchFamily="18" charset="2"/>
              </a:rPr>
              <a:t>     </a:t>
            </a:r>
            <a:r>
              <a:rPr lang="zh-CN" altLang="en-US" i="1"/>
              <a:t> </a:t>
            </a:r>
            <a:r>
              <a:rPr lang="en-US" altLang="zh-CN" i="1"/>
              <a:t>G’</a:t>
            </a:r>
            <a:r>
              <a:rPr lang="en-US" altLang="zh-CN" b="1"/>
              <a:t> </a:t>
            </a:r>
            <a:r>
              <a:rPr lang="en-US" altLang="zh-CN"/>
              <a:t>[</a:t>
            </a:r>
            <a:r>
              <a:rPr lang="en-US" altLang="zh-CN" i="1"/>
              <a:t>S</a:t>
            </a:r>
            <a:r>
              <a:rPr lang="en-US" altLang="zh-CN"/>
              <a:t>]</a:t>
            </a:r>
            <a:r>
              <a:rPr kumimoji="0" lang="en-US" altLang="zh-CN">
                <a:sym typeface="Symbol" panose="05050102010706020507" pitchFamily="18" charset="2"/>
              </a:rPr>
              <a:t> </a:t>
            </a:r>
            <a:r>
              <a:rPr kumimoji="0" lang="zh-CN" altLang="en-US">
                <a:sym typeface="Symbol" panose="05050102010706020507" pitchFamily="18" charset="2"/>
              </a:rPr>
              <a:t>，</a:t>
            </a:r>
            <a:r>
              <a:rPr kumimoji="0" lang="zh-CN" altLang="en-US" b="1">
                <a:sym typeface="Symbol" panose="05050102010706020507" pitchFamily="18" charset="2"/>
              </a:rPr>
              <a:t>其 </a:t>
            </a:r>
            <a:r>
              <a:rPr lang="en-US" altLang="zh-CN"/>
              <a:t>LR</a:t>
            </a: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/>
              <a:t>FSM </a:t>
            </a:r>
            <a:r>
              <a:rPr lang="zh-CN" altLang="en-US" b="1"/>
              <a:t>的初态</a:t>
            </a:r>
            <a:endParaRPr lang="zh-CN" altLang="en-US" sz="2800" b="1"/>
          </a:p>
          <a:p>
            <a:pPr lvl="1">
              <a:buFont typeface="Wingdings" panose="05000000000000000000" pitchFamily="2" charset="2"/>
              <a:buNone/>
            </a:pPr>
            <a:r>
              <a:rPr kumimoji="0" lang="zh-CN" altLang="en-US" sz="2800" b="1">
                <a:solidFill>
                  <a:srgbClr val="800080"/>
                </a:solidFill>
              </a:rPr>
              <a:t>     </a:t>
            </a:r>
            <a:r>
              <a:rPr lang="en-US" altLang="zh-CN" b="1"/>
              <a:t>I</a:t>
            </a:r>
            <a:r>
              <a:rPr lang="en-US" altLang="zh-CN" b="1" baseline="-25000"/>
              <a:t>0</a:t>
            </a:r>
            <a:r>
              <a:rPr lang="en-US" altLang="zh-CN"/>
              <a:t> :     </a:t>
            </a:r>
            <a:r>
              <a:rPr lang="en-US" altLang="zh-CN" i="1"/>
              <a:t>S</a:t>
            </a:r>
            <a:r>
              <a:rPr kumimoji="0" lang="en-US" altLang="zh-CN" i="1"/>
              <a:t> </a:t>
            </a:r>
            <a:r>
              <a:rPr kumimoji="0" lang="en-US" altLang="zh-CN">
                <a:sym typeface="Symbol" panose="05050102010706020507" pitchFamily="18" charset="2"/>
              </a:rPr>
              <a:t> </a:t>
            </a:r>
            <a:r>
              <a:rPr kumimoji="0" lang="en-US" altLang="zh-CN" b="1">
                <a:sym typeface="Symbol" panose="05050102010706020507" pitchFamily="18" charset="2"/>
              </a:rPr>
              <a:t>.</a:t>
            </a:r>
            <a:r>
              <a:rPr kumimoji="0" lang="en-US" altLang="zh-CN" i="1"/>
              <a:t>E </a:t>
            </a:r>
            <a:r>
              <a:rPr kumimoji="0" lang="zh-CN" altLang="en-US" b="1" i="1">
                <a:solidFill>
                  <a:srgbClr val="993366"/>
                </a:solidFill>
              </a:rPr>
              <a:t>，</a:t>
            </a:r>
            <a:r>
              <a:rPr kumimoji="0" lang="en-US" altLang="zh-CN" i="1"/>
              <a:t>#</a:t>
            </a:r>
          </a:p>
          <a:p>
            <a:pPr lvl="1">
              <a:buFont typeface="Wingdings" panose="05000000000000000000" pitchFamily="2" charset="2"/>
              <a:buNone/>
            </a:pPr>
            <a:r>
              <a:rPr kumimoji="0" lang="en-US" altLang="zh-CN" i="1"/>
              <a:t>               E </a:t>
            </a:r>
            <a:r>
              <a:rPr kumimoji="0" lang="en-US" altLang="zh-CN">
                <a:sym typeface="Symbol" panose="05050102010706020507" pitchFamily="18" charset="2"/>
              </a:rPr>
              <a:t> </a:t>
            </a:r>
            <a:r>
              <a:rPr kumimoji="0" lang="en-US" altLang="zh-CN" b="1">
                <a:sym typeface="Symbol" panose="05050102010706020507" pitchFamily="18" charset="2"/>
              </a:rPr>
              <a:t>.</a:t>
            </a:r>
            <a:r>
              <a:rPr lang="en-US" altLang="zh-CN" i="1">
                <a:sym typeface="Symbol" panose="05050102010706020507" pitchFamily="18" charset="2"/>
              </a:rPr>
              <a:t>(L </a:t>
            </a:r>
            <a:r>
              <a:rPr lang="en-US" altLang="zh-CN" b="1" i="1">
                <a:sym typeface="Symbol" panose="05050102010706020507" pitchFamily="18" charset="2"/>
              </a:rPr>
              <a:t>, </a:t>
            </a:r>
            <a:r>
              <a:rPr lang="en-US" altLang="zh-CN" i="1">
                <a:sym typeface="Symbol" panose="05050102010706020507" pitchFamily="18" charset="2"/>
              </a:rPr>
              <a:t>E )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zh-CN" altLang="en-US" b="1">
                <a:solidFill>
                  <a:srgbClr val="993366"/>
                </a:solidFill>
                <a:sym typeface="Symbol" panose="05050102010706020507" pitchFamily="18" charset="2"/>
              </a:rPr>
              <a:t>，</a:t>
            </a:r>
            <a:r>
              <a:rPr lang="en-US" altLang="zh-CN">
                <a:sym typeface="Symbol" panose="05050102010706020507" pitchFamily="18" charset="2"/>
              </a:rPr>
              <a:t>#</a:t>
            </a:r>
          </a:p>
          <a:p>
            <a:pPr lvl="1">
              <a:buFont typeface="Wingdings" panose="05000000000000000000" pitchFamily="2" charset="2"/>
              <a:buNone/>
            </a:pPr>
            <a:r>
              <a:rPr kumimoji="0" lang="en-US" altLang="zh-CN" i="1"/>
              <a:t>               E </a:t>
            </a:r>
            <a:r>
              <a:rPr kumimoji="0" lang="en-US" altLang="zh-CN">
                <a:sym typeface="Symbol" panose="05050102010706020507" pitchFamily="18" charset="2"/>
              </a:rPr>
              <a:t> </a:t>
            </a:r>
            <a:r>
              <a:rPr kumimoji="0" lang="en-US" altLang="zh-CN" b="1">
                <a:sym typeface="Symbol" panose="05050102010706020507" pitchFamily="18" charset="2"/>
              </a:rPr>
              <a:t>.</a:t>
            </a:r>
            <a:r>
              <a:rPr lang="en-US" altLang="zh-CN" i="1">
                <a:sym typeface="Symbol" panose="05050102010706020507" pitchFamily="18" charset="2"/>
              </a:rPr>
              <a:t>F </a:t>
            </a:r>
            <a:r>
              <a:rPr lang="zh-CN" altLang="en-US" b="1">
                <a:solidFill>
                  <a:srgbClr val="993366"/>
                </a:solidFill>
                <a:sym typeface="Symbol" panose="05050102010706020507" pitchFamily="18" charset="2"/>
              </a:rPr>
              <a:t>，</a:t>
            </a:r>
            <a:r>
              <a:rPr lang="en-US" altLang="zh-CN">
                <a:sym typeface="Symbol" panose="05050102010706020507" pitchFamily="18" charset="2"/>
              </a:rPr>
              <a:t>#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i="1">
                <a:sym typeface="Symbol" panose="05050102010706020507" pitchFamily="18" charset="2"/>
              </a:rPr>
              <a:t>               F </a:t>
            </a:r>
            <a:r>
              <a:rPr lang="en-US" altLang="zh-CN">
                <a:sym typeface="Symbol" panose="05050102010706020507" pitchFamily="18" charset="2"/>
              </a:rPr>
              <a:t> </a:t>
            </a:r>
            <a:r>
              <a:rPr kumimoji="0" lang="en-US" altLang="zh-CN" b="1">
                <a:sym typeface="Symbol" panose="05050102010706020507" pitchFamily="18" charset="2"/>
              </a:rPr>
              <a:t>.</a:t>
            </a:r>
            <a:r>
              <a:rPr lang="en-US" altLang="zh-CN" i="1">
                <a:sym typeface="Symbol" panose="05050102010706020507" pitchFamily="18" charset="2"/>
              </a:rPr>
              <a:t>( F ) </a:t>
            </a:r>
            <a:r>
              <a:rPr lang="zh-CN" altLang="en-US" b="1">
                <a:solidFill>
                  <a:srgbClr val="993366"/>
                </a:solidFill>
                <a:sym typeface="Symbol" panose="05050102010706020507" pitchFamily="18" charset="2"/>
              </a:rPr>
              <a:t>，</a:t>
            </a:r>
            <a:r>
              <a:rPr lang="en-US" altLang="zh-CN">
                <a:sym typeface="Symbol" panose="05050102010706020507" pitchFamily="18" charset="2"/>
              </a:rPr>
              <a:t>#</a:t>
            </a:r>
            <a:endParaRPr lang="en-US" altLang="zh-CN" i="1">
              <a:sym typeface="Symbol" panose="05050102010706020507" pitchFamily="18" charset="2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               </a:t>
            </a:r>
            <a:r>
              <a:rPr lang="en-US" altLang="zh-CN" i="1">
                <a:sym typeface="Symbol" panose="05050102010706020507" pitchFamily="18" charset="2"/>
              </a:rPr>
              <a:t>F </a:t>
            </a:r>
            <a:r>
              <a:rPr lang="en-US" altLang="zh-CN">
                <a:sym typeface="Symbol" panose="05050102010706020507" pitchFamily="18" charset="2"/>
              </a:rPr>
              <a:t> </a:t>
            </a:r>
            <a:r>
              <a:rPr kumimoji="0" lang="en-US" altLang="zh-CN" b="1">
                <a:sym typeface="Symbol" panose="05050102010706020507" pitchFamily="18" charset="2"/>
              </a:rPr>
              <a:t>. </a:t>
            </a:r>
            <a:r>
              <a:rPr lang="en-US" altLang="zh-CN" i="1">
                <a:sym typeface="Symbol" panose="05050102010706020507" pitchFamily="18" charset="2"/>
              </a:rPr>
              <a:t>d </a:t>
            </a:r>
            <a:r>
              <a:rPr lang="zh-CN" altLang="en-US" b="1">
                <a:solidFill>
                  <a:srgbClr val="993366"/>
                </a:solidFill>
                <a:sym typeface="Symbol" panose="05050102010706020507" pitchFamily="18" charset="2"/>
              </a:rPr>
              <a:t>，</a:t>
            </a:r>
            <a:r>
              <a:rPr lang="en-US" altLang="zh-CN">
                <a:sym typeface="Symbol" panose="05050102010706020507" pitchFamily="18" charset="2"/>
              </a:rPr>
              <a:t>#</a:t>
            </a:r>
            <a:endParaRPr lang="en-US" altLang="zh-CN" i="1">
              <a:sym typeface="Symbol" panose="05050102010706020507" pitchFamily="18" charset="2"/>
            </a:endParaRPr>
          </a:p>
        </p:txBody>
      </p:sp>
      <p:sp>
        <p:nvSpPr>
          <p:cNvPr id="544780" name="Text Box 12"/>
          <p:cNvSpPr txBox="1">
            <a:spLocks noChangeArrowheads="1"/>
          </p:cNvSpPr>
          <p:nvPr/>
        </p:nvSpPr>
        <p:spPr bwMode="auto">
          <a:xfrm>
            <a:off x="6443663" y="3500438"/>
            <a:ext cx="2447925" cy="2770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zh-CN" altLang="en-US" b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文法 </a:t>
            </a:r>
            <a:r>
              <a:rPr kumimoji="0" lang="en-US" altLang="zh-CN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en-US" altLang="zh-CN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kumimoji="0" lang="en-US" altLang="zh-CN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0" lang="en-US" altLang="zh-CN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]: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kumimoji="0" lang="en-US" altLang="zh-CN" sz="80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 (1) </a:t>
            </a:r>
            <a:r>
              <a:rPr lang="en-US" altLang="zh-CN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>
                <a:sym typeface="Symbol" panose="05050102010706020507" pitchFamily="18" charset="2"/>
              </a:rPr>
              <a:t>(L </a:t>
            </a:r>
            <a:r>
              <a:rPr lang="en-US" altLang="zh-CN" b="1" i="1">
                <a:sym typeface="Symbol" panose="05050102010706020507" pitchFamily="18" charset="2"/>
              </a:rPr>
              <a:t>, </a:t>
            </a:r>
            <a:r>
              <a:rPr lang="en-US" altLang="zh-CN" i="1">
                <a:sym typeface="Symbol" panose="05050102010706020507" pitchFamily="18" charset="2"/>
              </a:rPr>
              <a:t>E )</a:t>
            </a:r>
            <a:endParaRPr lang="en-US" altLang="zh-CN" i="1">
              <a:ea typeface="华文行楷" pitchFamily="2" charset="-122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 (2) </a:t>
            </a:r>
            <a:r>
              <a:rPr lang="en-US" altLang="zh-CN" i="1">
                <a:sym typeface="Symbol" panose="05050102010706020507" pitchFamily="18" charset="2"/>
              </a:rPr>
              <a:t>E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 i="1">
                <a:sym typeface="Symbol" panose="05050102010706020507" pitchFamily="18" charset="2"/>
              </a:rPr>
              <a:t> F</a:t>
            </a:r>
            <a:r>
              <a:rPr lang="en-US" altLang="zh-CN" i="1">
                <a:ea typeface="华文行楷" pitchFamily="2" charset="-122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 (3) </a:t>
            </a:r>
            <a:r>
              <a:rPr lang="en-US" altLang="zh-CN" i="1">
                <a:sym typeface="Symbol" panose="05050102010706020507" pitchFamily="18" charset="2"/>
              </a:rPr>
              <a:t>L </a:t>
            </a:r>
            <a:r>
              <a:rPr lang="en-US" altLang="zh-CN">
                <a:ea typeface="华文行楷" pitchFamily="2" charset="-122"/>
                <a:sym typeface="Symbol" panose="05050102010706020507" pitchFamily="18" charset="2"/>
              </a:rPr>
              <a:t></a:t>
            </a:r>
            <a:r>
              <a:rPr lang="en-US" altLang="zh-CN" i="1">
                <a:ea typeface="华文行楷" pitchFamily="2" charset="-122"/>
                <a:sym typeface="Symbol" panose="05050102010706020507" pitchFamily="18" charset="2"/>
              </a:rPr>
              <a:t> </a:t>
            </a:r>
            <a:r>
              <a:rPr lang="en-US" altLang="zh-CN" i="1">
                <a:sym typeface="Symbol" panose="05050102010706020507" pitchFamily="18" charset="2"/>
              </a:rPr>
              <a:t>L </a:t>
            </a:r>
            <a:r>
              <a:rPr lang="en-US" altLang="zh-CN" b="1" i="1">
                <a:sym typeface="Symbol" panose="05050102010706020507" pitchFamily="18" charset="2"/>
              </a:rPr>
              <a:t>, </a:t>
            </a:r>
            <a:r>
              <a:rPr lang="en-US" altLang="zh-CN" i="1">
                <a:sym typeface="Symbol" panose="05050102010706020507" pitchFamily="18" charset="2"/>
              </a:rPr>
              <a:t>E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endParaRPr lang="en-US" altLang="zh-CN" i="1"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 (4) </a:t>
            </a:r>
            <a:r>
              <a:rPr lang="en-US" altLang="zh-CN" i="1">
                <a:sym typeface="Symbol" panose="05050102010706020507" pitchFamily="18" charset="2"/>
              </a:rPr>
              <a:t>L </a:t>
            </a:r>
            <a:r>
              <a:rPr lang="en-US" altLang="zh-CN">
                <a:sym typeface="Symbol" panose="05050102010706020507" pitchFamily="18" charset="2"/>
              </a:rPr>
              <a:t> </a:t>
            </a:r>
            <a:r>
              <a:rPr lang="en-US" altLang="zh-CN" i="1">
                <a:sym typeface="Symbol" panose="05050102010706020507" pitchFamily="18" charset="2"/>
              </a:rPr>
              <a:t>E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 (5) </a:t>
            </a:r>
            <a:r>
              <a:rPr lang="en-US" altLang="zh-CN" i="1">
                <a:sym typeface="Symbol" panose="05050102010706020507" pitchFamily="18" charset="2"/>
              </a:rPr>
              <a:t>F </a:t>
            </a:r>
            <a:r>
              <a:rPr lang="en-US" altLang="zh-CN">
                <a:ea typeface="华文行楷" pitchFamily="2" charset="-122"/>
                <a:sym typeface="Symbol" panose="05050102010706020507" pitchFamily="18" charset="2"/>
              </a:rPr>
              <a:t></a:t>
            </a:r>
            <a:r>
              <a:rPr lang="en-US" altLang="zh-CN" i="1">
                <a:ea typeface="华文行楷" pitchFamily="2" charset="-122"/>
                <a:sym typeface="Symbol" panose="05050102010706020507" pitchFamily="18" charset="2"/>
              </a:rPr>
              <a:t> ( F 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 (6) </a:t>
            </a:r>
            <a:r>
              <a:rPr lang="en-US" altLang="zh-CN" i="1">
                <a:sym typeface="Symbol" panose="05050102010706020507" pitchFamily="18" charset="2"/>
              </a:rPr>
              <a:t>F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 i="1">
                <a:sym typeface="Symbol" panose="05050102010706020507" pitchFamily="18" charset="2"/>
              </a:rPr>
              <a:t> d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44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544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4779" grpId="0" autoUpdateAnimBg="0"/>
      <p:bldP spid="544780" grpId="0" autoUpdateAnimBg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10" name="AutoShape 1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7611" name="AutoShape 1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7612" name="AutoShape 12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7613" name="AutoShape 13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7614" name="Text Box 14"/>
          <p:cNvSpPr txBox="1">
            <a:spLocks noChangeArrowheads="1"/>
          </p:cNvSpPr>
          <p:nvPr/>
        </p:nvSpPr>
        <p:spPr bwMode="auto">
          <a:xfrm>
            <a:off x="539750" y="1628775"/>
            <a:ext cx="8424863" cy="3565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>
                <a:solidFill>
                  <a:srgbClr val="800080"/>
                </a:solidFill>
              </a:rPr>
              <a:t>LR</a:t>
            </a:r>
            <a:r>
              <a:rPr lang="zh-CN" altLang="en-US" sz="3200">
                <a:solidFill>
                  <a:srgbClr val="800080"/>
                </a:solidFill>
              </a:rPr>
              <a:t>（</a:t>
            </a:r>
            <a:r>
              <a:rPr lang="en-US" altLang="zh-CN" sz="3200">
                <a:solidFill>
                  <a:srgbClr val="800080"/>
                </a:solidFill>
              </a:rPr>
              <a:t>1</a:t>
            </a:r>
            <a:r>
              <a:rPr lang="zh-CN" altLang="en-US" sz="3200">
                <a:solidFill>
                  <a:srgbClr val="800080"/>
                </a:solidFill>
              </a:rPr>
              <a:t>）</a:t>
            </a:r>
            <a:r>
              <a:rPr lang="en-US" altLang="zh-CN" sz="3200">
                <a:solidFill>
                  <a:srgbClr val="800080"/>
                </a:solidFill>
              </a:rPr>
              <a:t>FSM</a:t>
            </a:r>
            <a:r>
              <a:rPr lang="zh-CN" altLang="en-US" sz="3200" b="1">
                <a:solidFill>
                  <a:srgbClr val="800080"/>
                </a:solidFill>
              </a:rPr>
              <a:t>的构造</a:t>
            </a:r>
            <a:endParaRPr lang="zh-CN" altLang="en-US" sz="3200" b="1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>
                <a:solidFill>
                  <a:srgbClr val="800080"/>
                </a:solidFill>
              </a:rPr>
              <a:t> </a:t>
            </a:r>
            <a:r>
              <a:rPr lang="en-US" altLang="zh-CN" sz="2800">
                <a:solidFill>
                  <a:srgbClr val="800080"/>
                </a:solidFill>
              </a:rPr>
              <a:t>LR</a:t>
            </a:r>
            <a:r>
              <a:rPr lang="zh-CN" altLang="en-US" sz="2800">
                <a:solidFill>
                  <a:srgbClr val="800080"/>
                </a:solidFill>
              </a:rPr>
              <a:t>（</a:t>
            </a:r>
            <a:r>
              <a:rPr lang="en-US" altLang="zh-CN" sz="2800">
                <a:solidFill>
                  <a:srgbClr val="800080"/>
                </a:solidFill>
              </a:rPr>
              <a:t>1</a:t>
            </a:r>
            <a:r>
              <a:rPr lang="zh-CN" altLang="en-US" sz="2800">
                <a:solidFill>
                  <a:srgbClr val="800080"/>
                </a:solidFill>
              </a:rPr>
              <a:t>）</a:t>
            </a:r>
            <a:r>
              <a:rPr lang="en-US" altLang="zh-CN" sz="2800">
                <a:solidFill>
                  <a:srgbClr val="800080"/>
                </a:solidFill>
              </a:rPr>
              <a:t>FSM</a:t>
            </a:r>
            <a:r>
              <a:rPr lang="zh-CN" altLang="en-US" sz="2800" b="1">
                <a:solidFill>
                  <a:srgbClr val="800080"/>
                </a:solidFill>
              </a:rPr>
              <a:t>的状态转移函数</a:t>
            </a:r>
            <a:endParaRPr lang="zh-CN" altLang="en-US" sz="2800" b="1"/>
          </a:p>
          <a:p>
            <a:pPr lvl="1">
              <a:buClrTx/>
              <a:buFont typeface="Symbol" panose="05050102010706020507" pitchFamily="18" charset="2"/>
              <a:buNone/>
            </a:pPr>
            <a:endParaRPr lang="zh-CN" altLang="en-US" sz="1000" b="1"/>
          </a:p>
          <a:p>
            <a:pPr lvl="1">
              <a:buFont typeface="Wingdings" panose="05000000000000000000" pitchFamily="2" charset="2"/>
              <a:buNone/>
            </a:pPr>
            <a:r>
              <a:rPr kumimoji="0" lang="zh-CN" altLang="en-US" b="1">
                <a:solidFill>
                  <a:srgbClr val="800080"/>
                </a:solidFill>
              </a:rPr>
              <a:t>                       </a:t>
            </a:r>
            <a:r>
              <a:rPr kumimoji="0" lang="en-US" altLang="zh-CN" b="1">
                <a:solidFill>
                  <a:srgbClr val="800080"/>
                </a:solidFill>
              </a:rPr>
              <a:t>GO (I,X) = CLOSURE(J)</a:t>
            </a:r>
          </a:p>
          <a:p>
            <a:pPr lvl="1">
              <a:buFont typeface="Wingdings" panose="05000000000000000000" pitchFamily="2" charset="2"/>
              <a:buNone/>
            </a:pPr>
            <a:endParaRPr kumimoji="0" lang="en-US" altLang="zh-CN" sz="1000" b="1">
              <a:solidFill>
                <a:srgbClr val="800080"/>
              </a:solidFill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kumimoji="0" lang="en-US" altLang="zh-CN" b="1"/>
              <a:t>   </a:t>
            </a:r>
            <a:r>
              <a:rPr kumimoji="0" lang="zh-CN" altLang="en-US" b="1"/>
              <a:t>其中，</a:t>
            </a:r>
            <a:r>
              <a:rPr kumimoji="0" lang="en-US" altLang="zh-CN" b="1"/>
              <a:t>I</a:t>
            </a:r>
            <a:r>
              <a:rPr kumimoji="0" lang="zh-CN" altLang="en-US" b="1"/>
              <a:t>为</a:t>
            </a:r>
            <a:r>
              <a:rPr lang="en-US" altLang="zh-CN"/>
              <a:t>LR</a:t>
            </a: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/>
              <a:t>FSM</a:t>
            </a:r>
            <a:r>
              <a:rPr lang="zh-CN" altLang="en-US" b="1"/>
              <a:t>的状态（闭包的</a:t>
            </a:r>
            <a:r>
              <a:rPr kumimoji="0" lang="zh-CN" altLang="en-US" b="1"/>
              <a:t>项目集），</a:t>
            </a:r>
            <a:r>
              <a:rPr kumimoji="0" lang="en-US" altLang="zh-CN" b="1"/>
              <a:t>X </a:t>
            </a:r>
            <a:r>
              <a:rPr kumimoji="0" lang="zh-CN" altLang="en-US" b="1"/>
              <a:t>为</a:t>
            </a:r>
          </a:p>
          <a:p>
            <a:pPr lvl="1">
              <a:buFont typeface="Wingdings" panose="05000000000000000000" pitchFamily="2" charset="2"/>
              <a:buNone/>
            </a:pPr>
            <a:r>
              <a:rPr kumimoji="0" lang="zh-CN" altLang="en-US" b="1"/>
              <a:t>   文法符号，</a:t>
            </a:r>
            <a:r>
              <a:rPr kumimoji="0" lang="en-US" altLang="zh-CN" b="1"/>
              <a:t>J={</a:t>
            </a:r>
            <a:r>
              <a:rPr kumimoji="0" lang="en-US" altLang="zh-CN"/>
              <a:t> [</a:t>
            </a:r>
            <a:r>
              <a:rPr kumimoji="0" lang="en-US" altLang="zh-CN" b="1"/>
              <a:t>A</a:t>
            </a:r>
            <a:r>
              <a:rPr kumimoji="0" lang="en-US" altLang="zh-CN" b="1">
                <a:sym typeface="Symbol" panose="05050102010706020507" pitchFamily="18" charset="2"/>
              </a:rPr>
              <a:t></a:t>
            </a:r>
            <a:r>
              <a:rPr kumimoji="0" lang="en-US" altLang="zh-CN" b="1"/>
              <a:t>X . </a:t>
            </a:r>
            <a:r>
              <a:rPr kumimoji="0" lang="en-US" altLang="zh-CN" b="1">
                <a:sym typeface="Symbol" panose="05050102010706020507" pitchFamily="18" charset="2"/>
              </a:rPr>
              <a:t> , a</a:t>
            </a:r>
            <a:r>
              <a:rPr kumimoji="0" lang="en-US" altLang="zh-CN">
                <a:sym typeface="Symbol" panose="05050102010706020507" pitchFamily="18" charset="2"/>
              </a:rPr>
              <a:t>] </a:t>
            </a:r>
            <a:r>
              <a:rPr kumimoji="0" lang="en-US" altLang="zh-CN" b="1"/>
              <a:t> </a:t>
            </a:r>
            <a:r>
              <a:rPr lang="en-US" altLang="zh-CN">
                <a:sym typeface="Symbol" panose="05050102010706020507" pitchFamily="18" charset="2"/>
              </a:rPr>
              <a:t></a:t>
            </a:r>
            <a:r>
              <a:rPr kumimoji="0" lang="en-US" altLang="zh-CN"/>
              <a:t>  [</a:t>
            </a:r>
            <a:r>
              <a:rPr kumimoji="0" lang="en-US" altLang="zh-CN" b="1"/>
              <a:t>A</a:t>
            </a:r>
            <a:r>
              <a:rPr kumimoji="0" lang="en-US" altLang="zh-CN" b="1">
                <a:sym typeface="Symbol" panose="05050102010706020507" pitchFamily="18" charset="2"/>
              </a:rPr>
              <a:t> </a:t>
            </a:r>
            <a:r>
              <a:rPr kumimoji="0" lang="en-US" altLang="zh-CN" b="1"/>
              <a:t>. X</a:t>
            </a:r>
            <a:r>
              <a:rPr kumimoji="0" lang="en-US" altLang="zh-CN" b="1">
                <a:sym typeface="Symbol" panose="05050102010706020507" pitchFamily="18" charset="2"/>
              </a:rPr>
              <a:t> , a</a:t>
            </a:r>
            <a:r>
              <a:rPr kumimoji="0" lang="en-US" altLang="zh-CN">
                <a:sym typeface="Symbol" panose="05050102010706020507" pitchFamily="18" charset="2"/>
              </a:rPr>
              <a:t>]</a:t>
            </a:r>
            <a:r>
              <a:rPr kumimoji="0" lang="en-US" altLang="zh-CN" b="1"/>
              <a:t> </a:t>
            </a:r>
            <a:r>
              <a:rPr kumimoji="0" lang="en-US" altLang="zh-CN" b="1">
                <a:sym typeface="Symbol" panose="05050102010706020507" pitchFamily="18" charset="2"/>
              </a:rPr>
              <a:t> I</a:t>
            </a:r>
            <a:r>
              <a:rPr kumimoji="0" lang="en-US" altLang="zh-CN" b="1"/>
              <a:t>}</a:t>
            </a:r>
          </a:p>
          <a:p>
            <a:pPr lvl="1">
              <a:buFont typeface="Wingdings" panose="05000000000000000000" pitchFamily="2" charset="2"/>
              <a:buNone/>
            </a:pPr>
            <a:endParaRPr kumimoji="0" lang="en-US" altLang="zh-CN" sz="1000" b="1"/>
          </a:p>
          <a:p>
            <a:pPr lvl="1">
              <a:buFont typeface="Symbol" panose="05050102010706020507" pitchFamily="18" charset="2"/>
              <a:buChar char="-"/>
            </a:pPr>
            <a:r>
              <a:rPr lang="en-US" altLang="zh-CN" sz="2800"/>
              <a:t> </a:t>
            </a:r>
            <a:r>
              <a:rPr lang="zh-CN" altLang="en-US" sz="2800" b="1"/>
              <a:t>从 </a:t>
            </a:r>
            <a:r>
              <a:rPr lang="en-US" altLang="zh-CN" sz="2800"/>
              <a:t>LR</a:t>
            </a:r>
            <a:r>
              <a:rPr lang="zh-CN" altLang="en-US" sz="2800"/>
              <a:t>（</a:t>
            </a:r>
            <a:r>
              <a:rPr lang="en-US" altLang="zh-CN" sz="2800"/>
              <a:t>1</a:t>
            </a:r>
            <a:r>
              <a:rPr lang="zh-CN" altLang="en-US" sz="2800"/>
              <a:t>）</a:t>
            </a:r>
            <a:r>
              <a:rPr lang="en-US" altLang="zh-CN" sz="2800"/>
              <a:t>FSM </a:t>
            </a:r>
            <a:r>
              <a:rPr lang="zh-CN" altLang="en-US" sz="2800" b="1"/>
              <a:t>的初态出发，应用上述转移函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zh-CN" altLang="en-US" sz="2800" b="1"/>
              <a:t>   数，可逐步构造出完整的 </a:t>
            </a:r>
            <a:r>
              <a:rPr lang="en-US" altLang="zh-CN" sz="2800"/>
              <a:t>LR</a:t>
            </a:r>
            <a:r>
              <a:rPr lang="zh-CN" altLang="en-US" sz="2800"/>
              <a:t>（</a:t>
            </a:r>
            <a:r>
              <a:rPr lang="en-US" altLang="zh-CN" sz="2800"/>
              <a:t>1</a:t>
            </a:r>
            <a:r>
              <a:rPr lang="zh-CN" altLang="en-US" sz="2800"/>
              <a:t>）</a:t>
            </a:r>
            <a:r>
              <a:rPr lang="en-US" altLang="zh-CN" sz="2800"/>
              <a:t>FSM</a:t>
            </a:r>
            <a:endParaRPr kumimoji="0" lang="en-US" altLang="zh-CN" b="1">
              <a:solidFill>
                <a:srgbClr val="800080"/>
              </a:solidFill>
            </a:endParaRPr>
          </a:p>
        </p:txBody>
      </p:sp>
      <p:sp>
        <p:nvSpPr>
          <p:cNvPr id="537615" name="Rectangle 15"/>
          <p:cNvSpPr>
            <a:spLocks noChangeArrowheads="1"/>
          </p:cNvSpPr>
          <p:nvPr/>
        </p:nvSpPr>
        <p:spPr bwMode="auto">
          <a:xfrm>
            <a:off x="35496" y="188913"/>
            <a:ext cx="3167063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</p:spTree>
  </p:cSld>
  <p:clrMapOvr>
    <a:masterClrMapping/>
  </p:clrMapOvr>
  <p:transition spd="med">
    <p:wipe dir="r"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32" name="AutoShape 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8633" name="AutoShape 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8634" name="AutoShape 1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8635" name="AutoShape 1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8637" name="Rectangle 13"/>
          <p:cNvSpPr>
            <a:spLocks noChangeArrowheads="1"/>
          </p:cNvSpPr>
          <p:nvPr/>
        </p:nvSpPr>
        <p:spPr bwMode="auto">
          <a:xfrm>
            <a:off x="35496" y="188913"/>
            <a:ext cx="3167063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538638" name="Text Box 14"/>
          <p:cNvSpPr txBox="1">
            <a:spLocks noChangeArrowheads="1"/>
          </p:cNvSpPr>
          <p:nvPr/>
        </p:nvSpPr>
        <p:spPr bwMode="auto">
          <a:xfrm>
            <a:off x="611188" y="1412875"/>
            <a:ext cx="8424862" cy="45704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>
                <a:solidFill>
                  <a:srgbClr val="800080"/>
                </a:solidFill>
              </a:rPr>
              <a:t>LR</a:t>
            </a:r>
            <a:r>
              <a:rPr lang="zh-CN" altLang="en-US" sz="3200">
                <a:solidFill>
                  <a:srgbClr val="800080"/>
                </a:solidFill>
              </a:rPr>
              <a:t>（</a:t>
            </a:r>
            <a:r>
              <a:rPr lang="en-US" altLang="zh-CN" sz="3200">
                <a:solidFill>
                  <a:srgbClr val="800080"/>
                </a:solidFill>
              </a:rPr>
              <a:t>1</a:t>
            </a:r>
            <a:r>
              <a:rPr lang="zh-CN" altLang="en-US" sz="3200">
                <a:solidFill>
                  <a:srgbClr val="800080"/>
                </a:solidFill>
              </a:rPr>
              <a:t>）</a:t>
            </a:r>
            <a:r>
              <a:rPr lang="en-US" altLang="zh-CN" sz="3200">
                <a:solidFill>
                  <a:srgbClr val="800080"/>
                </a:solidFill>
              </a:rPr>
              <a:t>FSM</a:t>
            </a:r>
            <a:r>
              <a:rPr lang="zh-CN" altLang="en-US" sz="3200" b="1">
                <a:solidFill>
                  <a:srgbClr val="800080"/>
                </a:solidFill>
              </a:rPr>
              <a:t>的构造</a:t>
            </a:r>
            <a:endParaRPr lang="zh-CN" altLang="en-US" sz="3200" b="1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>
                <a:solidFill>
                  <a:srgbClr val="800080"/>
                </a:solidFill>
              </a:rPr>
              <a:t> </a:t>
            </a:r>
            <a:r>
              <a:rPr lang="zh-CN" altLang="en-US" sz="2800" b="1">
                <a:solidFill>
                  <a:srgbClr val="800080"/>
                </a:solidFill>
              </a:rPr>
              <a:t>计算 </a:t>
            </a:r>
            <a:r>
              <a:rPr lang="en-US" altLang="zh-CN" sz="2800">
                <a:solidFill>
                  <a:srgbClr val="800080"/>
                </a:solidFill>
              </a:rPr>
              <a:t>LR</a:t>
            </a:r>
            <a:r>
              <a:rPr lang="zh-CN" altLang="en-US" sz="2800">
                <a:solidFill>
                  <a:srgbClr val="800080"/>
                </a:solidFill>
              </a:rPr>
              <a:t>（</a:t>
            </a:r>
            <a:r>
              <a:rPr lang="en-US" altLang="zh-CN" sz="2800">
                <a:solidFill>
                  <a:srgbClr val="800080"/>
                </a:solidFill>
              </a:rPr>
              <a:t>1</a:t>
            </a:r>
            <a:r>
              <a:rPr lang="zh-CN" altLang="en-US" sz="2800">
                <a:solidFill>
                  <a:srgbClr val="800080"/>
                </a:solidFill>
              </a:rPr>
              <a:t>）</a:t>
            </a:r>
            <a:r>
              <a:rPr lang="zh-CN" altLang="en-US" sz="2800" b="1">
                <a:solidFill>
                  <a:srgbClr val="800080"/>
                </a:solidFill>
              </a:rPr>
              <a:t>项目集规范族</a:t>
            </a:r>
          </a:p>
          <a:p>
            <a:pPr lvl="1">
              <a:buClrTx/>
              <a:buFont typeface="Symbol" panose="05050102010706020507" pitchFamily="18" charset="2"/>
              <a:buNone/>
            </a:pPr>
            <a:endParaRPr kumimoji="0" lang="zh-CN" altLang="en-US" sz="1000" b="1"/>
          </a:p>
          <a:p>
            <a:pPr lvl="1">
              <a:buClrTx/>
              <a:buFont typeface="Symbol" panose="05050102010706020507" pitchFamily="18" charset="2"/>
              <a:buNone/>
            </a:pPr>
            <a:r>
              <a:rPr lang="zh-CN" altLang="en-US" sz="2800" b="1"/>
              <a:t>   </a:t>
            </a:r>
            <a:r>
              <a:rPr lang="zh-CN" altLang="en-US" b="1"/>
              <a:t>设文法 </a:t>
            </a:r>
            <a:r>
              <a:rPr lang="en-US" altLang="zh-CN" i="1"/>
              <a:t>G</a:t>
            </a:r>
            <a:r>
              <a:rPr lang="en-US" altLang="zh-CN"/>
              <a:t>[</a:t>
            </a:r>
            <a:r>
              <a:rPr lang="en-US" altLang="zh-CN" i="1"/>
              <a:t>S</a:t>
            </a:r>
            <a:r>
              <a:rPr lang="en-US" altLang="zh-CN"/>
              <a:t>]</a:t>
            </a:r>
            <a:r>
              <a:rPr lang="en-US" altLang="zh-CN" b="1"/>
              <a:t> </a:t>
            </a:r>
            <a:r>
              <a:rPr lang="zh-CN" altLang="en-US" b="1"/>
              <a:t>的增广文法为</a:t>
            </a:r>
            <a:r>
              <a:rPr kumimoji="0" lang="zh-CN" altLang="en-US" b="1"/>
              <a:t> </a:t>
            </a:r>
            <a:r>
              <a:rPr lang="en-US" altLang="zh-CN" i="1"/>
              <a:t>G’</a:t>
            </a:r>
            <a:r>
              <a:rPr lang="en-US" altLang="zh-CN" b="1"/>
              <a:t> </a:t>
            </a:r>
            <a:r>
              <a:rPr lang="en-US" altLang="zh-CN"/>
              <a:t>[</a:t>
            </a:r>
            <a:r>
              <a:rPr lang="en-US" altLang="zh-CN" i="1"/>
              <a:t>S’</a:t>
            </a:r>
            <a:r>
              <a:rPr lang="en-US" altLang="zh-CN"/>
              <a:t>], </a:t>
            </a:r>
            <a:r>
              <a:rPr lang="zh-CN" altLang="en-US" b="1"/>
              <a:t>则 </a:t>
            </a:r>
            <a:r>
              <a:rPr lang="en-US" altLang="zh-CN" i="1"/>
              <a:t>G’ </a:t>
            </a:r>
            <a:r>
              <a:rPr lang="zh-CN" altLang="en-US" b="1"/>
              <a:t>的</a:t>
            </a:r>
            <a:r>
              <a:rPr lang="en-US" altLang="zh-CN"/>
              <a:t>LR</a:t>
            </a: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zh-CN" altLang="en-US" b="1"/>
              <a:t>项目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lang="zh-CN" altLang="en-US" b="1"/>
              <a:t>   集规范族 </a:t>
            </a:r>
            <a:r>
              <a:rPr lang="en-US" altLang="zh-CN" b="1"/>
              <a:t>C</a:t>
            </a:r>
            <a:r>
              <a:rPr lang="en-US" altLang="zh-CN"/>
              <a:t> </a:t>
            </a:r>
            <a:r>
              <a:rPr lang="zh-CN" altLang="en-US" b="1"/>
              <a:t>可由如下算法计算：</a:t>
            </a:r>
          </a:p>
          <a:p>
            <a:pPr lvl="1">
              <a:buClrTx/>
              <a:buFont typeface="Symbol" panose="05050102010706020507" pitchFamily="18" charset="2"/>
              <a:buNone/>
            </a:pPr>
            <a:endParaRPr lang="zh-CN" altLang="en-US" sz="1000" b="1"/>
          </a:p>
          <a:p>
            <a:pPr lvl="1">
              <a:buClrTx/>
              <a:buFont typeface="Symbol" panose="05050102010706020507" pitchFamily="18" charset="2"/>
              <a:buNone/>
            </a:pPr>
            <a:r>
              <a:rPr lang="zh-CN" altLang="en-US" sz="2800" b="1"/>
              <a:t>           </a:t>
            </a:r>
            <a:r>
              <a:rPr lang="en-US" altLang="zh-CN" b="1"/>
              <a:t>C</a:t>
            </a:r>
            <a:r>
              <a:rPr lang="en-US" altLang="zh-CN"/>
              <a:t>:= { CLOSURE ( { [S’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 b="1">
                <a:sym typeface="Symbol" panose="05050102010706020507" pitchFamily="18" charset="2"/>
              </a:rPr>
              <a:t>.</a:t>
            </a:r>
            <a:r>
              <a:rPr lang="en-US" altLang="zh-CN"/>
              <a:t>S, #] } ) }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lang="en-US" altLang="zh-CN" sz="2800"/>
              <a:t>           </a:t>
            </a:r>
            <a:r>
              <a:rPr lang="en-US" altLang="zh-CN"/>
              <a:t>Repeat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/>
              <a:t>                       For </a:t>
            </a:r>
            <a:r>
              <a:rPr lang="en-US" altLang="zh-CN" b="1"/>
              <a:t>C</a:t>
            </a:r>
            <a:r>
              <a:rPr lang="en-US" altLang="zh-CN"/>
              <a:t> </a:t>
            </a:r>
            <a:r>
              <a:rPr lang="zh-CN" altLang="en-US" b="1"/>
              <a:t>中每一项目集 </a:t>
            </a:r>
            <a:r>
              <a:rPr lang="en-US" altLang="zh-CN" b="1"/>
              <a:t>I </a:t>
            </a:r>
            <a:r>
              <a:rPr lang="zh-CN" altLang="en-US" b="1"/>
              <a:t>和每一文法符号</a:t>
            </a:r>
            <a:r>
              <a:rPr lang="en-US" altLang="zh-CN" b="1"/>
              <a:t>X</a:t>
            </a:r>
            <a:r>
              <a:rPr lang="en-US" altLang="zh-CN"/>
              <a:t>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/>
              <a:t>                       Do  if   </a:t>
            </a:r>
            <a:r>
              <a:rPr lang="en-US" altLang="zh-CN" b="1"/>
              <a:t>GO(I,X) </a:t>
            </a:r>
            <a:r>
              <a:rPr lang="zh-CN" altLang="en-US" b="1"/>
              <a:t>非空且不属于 </a:t>
            </a:r>
            <a:r>
              <a:rPr lang="en-US" altLang="zh-CN" b="1"/>
              <a:t>C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/>
              <a:t>                             Then   </a:t>
            </a:r>
            <a:r>
              <a:rPr lang="zh-CN" altLang="en-US" b="1"/>
              <a:t>把 </a:t>
            </a:r>
            <a:r>
              <a:rPr lang="en-US" altLang="zh-CN" b="1"/>
              <a:t>GO(I,X) </a:t>
            </a:r>
            <a:r>
              <a:rPr lang="zh-CN" altLang="en-US" b="1"/>
              <a:t>放入 </a:t>
            </a:r>
            <a:r>
              <a:rPr lang="en-US" altLang="zh-CN" b="1"/>
              <a:t>C</a:t>
            </a:r>
            <a:r>
              <a:rPr lang="en-US" altLang="zh-CN"/>
              <a:t> </a:t>
            </a:r>
            <a:r>
              <a:rPr lang="zh-CN" altLang="en-US" b="1"/>
              <a:t>中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                  </a:t>
            </a:r>
            <a:r>
              <a:rPr lang="en-US" altLang="zh-CN"/>
              <a:t>Until  </a:t>
            </a:r>
            <a:r>
              <a:rPr lang="en-US" altLang="zh-CN" b="1"/>
              <a:t>C </a:t>
            </a:r>
            <a:r>
              <a:rPr lang="zh-CN" altLang="en-US" b="1"/>
              <a:t>不再增大</a:t>
            </a:r>
          </a:p>
        </p:txBody>
      </p:sp>
    </p:spTree>
  </p:cSld>
  <p:clrMapOvr>
    <a:masterClrMapping/>
  </p:clrMapOvr>
  <p:transition spd="med">
    <p:wipe dir="r"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666" name="Rectangle 18"/>
          <p:cNvSpPr>
            <a:spLocks noChangeArrowheads="1"/>
          </p:cNvSpPr>
          <p:nvPr/>
        </p:nvSpPr>
        <p:spPr bwMode="auto">
          <a:xfrm>
            <a:off x="107504" y="188913"/>
            <a:ext cx="3167063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539667" name="Text Box 19"/>
          <p:cNvSpPr txBox="1">
            <a:spLocks noChangeArrowheads="1"/>
          </p:cNvSpPr>
          <p:nvPr/>
        </p:nvSpPr>
        <p:spPr bwMode="auto">
          <a:xfrm>
            <a:off x="611188" y="1196975"/>
            <a:ext cx="6192837" cy="1096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/>
              <a:t>LR</a:t>
            </a:r>
            <a:r>
              <a:rPr lang="zh-CN" altLang="en-US" sz="3200"/>
              <a:t>（</a:t>
            </a:r>
            <a:r>
              <a:rPr lang="en-US" altLang="zh-CN" sz="3200"/>
              <a:t>1</a:t>
            </a:r>
            <a:r>
              <a:rPr lang="zh-CN" altLang="en-US" sz="3200"/>
              <a:t>）</a:t>
            </a:r>
            <a:r>
              <a:rPr lang="en-US" altLang="zh-CN" sz="3200"/>
              <a:t>FSM</a:t>
            </a:r>
            <a:r>
              <a:rPr lang="zh-CN" altLang="en-US" sz="3200" b="1"/>
              <a:t>的构造</a:t>
            </a:r>
            <a:r>
              <a:rPr lang="zh-CN" altLang="en-US" sz="3200" b="1">
                <a:solidFill>
                  <a:srgbClr val="800080"/>
                </a:solidFill>
              </a:rPr>
              <a:t>举例</a:t>
            </a:r>
            <a:endParaRPr lang="zh-CN" altLang="en-US" sz="3200" b="1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zh-CN" altLang="en-US"/>
              <a:t> </a:t>
            </a:r>
            <a:r>
              <a:rPr lang="zh-CN" altLang="en-US" b="1"/>
              <a:t>构造增广文法</a:t>
            </a:r>
            <a:r>
              <a:rPr lang="en-US" altLang="zh-CN" i="1"/>
              <a:t>G’</a:t>
            </a:r>
            <a:r>
              <a:rPr lang="en-US" altLang="zh-CN" b="1"/>
              <a:t> </a:t>
            </a:r>
            <a:r>
              <a:rPr lang="en-US" altLang="zh-CN"/>
              <a:t>[</a:t>
            </a:r>
            <a:r>
              <a:rPr lang="en-US" altLang="zh-CN" i="1"/>
              <a:t>S</a:t>
            </a:r>
            <a:r>
              <a:rPr lang="en-US" altLang="zh-CN"/>
              <a:t>]</a:t>
            </a:r>
            <a:r>
              <a:rPr kumimoji="0" lang="en-US" altLang="zh-CN">
                <a:sym typeface="Symbol" panose="05050102010706020507" pitchFamily="18" charset="2"/>
              </a:rPr>
              <a:t> </a:t>
            </a:r>
            <a:r>
              <a:rPr kumimoji="0" lang="zh-CN" altLang="en-US" b="1">
                <a:sym typeface="Symbol" panose="05050102010706020507" pitchFamily="18" charset="2"/>
              </a:rPr>
              <a:t>的 </a:t>
            </a:r>
            <a:r>
              <a:rPr lang="en-US" altLang="zh-CN"/>
              <a:t>LR</a:t>
            </a: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/>
              <a:t>FSM</a:t>
            </a:r>
          </a:p>
        </p:txBody>
      </p:sp>
      <p:sp>
        <p:nvSpPr>
          <p:cNvPr id="539668" name="Text Box 20"/>
          <p:cNvSpPr txBox="1">
            <a:spLocks noChangeArrowheads="1"/>
          </p:cNvSpPr>
          <p:nvPr/>
        </p:nvSpPr>
        <p:spPr bwMode="auto">
          <a:xfrm>
            <a:off x="7164388" y="1125538"/>
            <a:ext cx="1908175" cy="2451100"/>
          </a:xfrm>
          <a:prstGeom prst="rect">
            <a:avLst/>
          </a:prstGeom>
          <a:noFill/>
          <a:ln w="9525" cap="rnd">
            <a:solidFill>
              <a:srgbClr val="990099"/>
            </a:solidFill>
            <a:prstDash val="sysDot"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zh-CN" altLang="en-US" sz="2000" b="1">
                <a:solidFill>
                  <a:srgbClr val="800080"/>
                </a:solidFill>
                <a:sym typeface="Symbol" panose="05050102010706020507" pitchFamily="18" charset="2"/>
              </a:rPr>
              <a:t>增广</a:t>
            </a:r>
            <a:r>
              <a:rPr kumimoji="0" lang="zh-CN" altLang="en-US" sz="2000" b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文法</a:t>
            </a:r>
            <a:r>
              <a:rPr kumimoji="0" lang="en-US" altLang="zh-CN" sz="20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G’ </a:t>
            </a:r>
            <a:r>
              <a:rPr kumimoji="0" lang="en-US" altLang="zh-CN" sz="20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kumimoji="0" lang="en-US" altLang="zh-CN" sz="20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kumimoji="0" lang="en-US" altLang="zh-CN" sz="20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]: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kumimoji="0" lang="en-US" altLang="zh-CN" sz="800">
              <a:solidFill>
                <a:srgbClr val="80008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(0)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S 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E</a:t>
            </a:r>
            <a:endParaRPr kumimoji="0" lang="en-US" altLang="zh-CN" sz="1800">
              <a:solidFill>
                <a:srgbClr val="80008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(1)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(L </a:t>
            </a:r>
            <a:r>
              <a:rPr lang="en-US" altLang="zh-CN" sz="1800" b="1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 )</a:t>
            </a:r>
            <a:endParaRPr lang="en-US" altLang="zh-CN" sz="1800" i="1">
              <a:solidFill>
                <a:srgbClr val="800080"/>
              </a:solidFill>
              <a:ea typeface="华文行楷" pitchFamily="2" charset="-122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 (2)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E </a:t>
            </a: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 F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 (3)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L </a:t>
            </a:r>
            <a:r>
              <a:rPr lang="en-US" altLang="zh-CN" sz="1800">
                <a:solidFill>
                  <a:srgbClr val="800080"/>
                </a:solidFill>
                <a:ea typeface="华文行楷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sym typeface="Symbol" panose="05050102010706020507" pitchFamily="18" charset="2"/>
              </a:rPr>
              <a:t>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L </a:t>
            </a:r>
            <a:r>
              <a:rPr lang="en-US" altLang="zh-CN" sz="1800" b="1" i="1">
                <a:solidFill>
                  <a:srgbClr val="800080"/>
                </a:solidFill>
                <a:sym typeface="Symbol" panose="05050102010706020507" pitchFamily="18" charset="2"/>
              </a:rPr>
              <a:t>,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E</a:t>
            </a: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 </a:t>
            </a:r>
            <a:endParaRPr lang="en-US" altLang="zh-CN" sz="1800" i="1">
              <a:solidFill>
                <a:srgbClr val="800080"/>
              </a:solidFill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 (4)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L </a:t>
            </a: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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E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 (5)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F </a:t>
            </a:r>
            <a:r>
              <a:rPr lang="en-US" altLang="zh-CN" sz="1800">
                <a:solidFill>
                  <a:srgbClr val="800080"/>
                </a:solidFill>
                <a:ea typeface="华文行楷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sym typeface="Symbol" panose="05050102010706020507" pitchFamily="18" charset="2"/>
              </a:rPr>
              <a:t>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( F )</a:t>
            </a:r>
            <a:endParaRPr lang="en-US" altLang="zh-CN" sz="1800" i="1">
              <a:solidFill>
                <a:srgbClr val="800080"/>
              </a:solidFill>
              <a:ea typeface="华文行楷" pitchFamily="2" charset="-122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 (6)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F </a:t>
            </a: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 d</a:t>
            </a:r>
          </a:p>
        </p:txBody>
      </p:sp>
      <p:sp>
        <p:nvSpPr>
          <p:cNvPr id="539669" name="Text Box 21"/>
          <p:cNvSpPr txBox="1">
            <a:spLocks noChangeArrowheads="1"/>
          </p:cNvSpPr>
          <p:nvPr/>
        </p:nvSpPr>
        <p:spPr bwMode="auto">
          <a:xfrm>
            <a:off x="682625" y="2441575"/>
            <a:ext cx="1873250" cy="1474788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kumimoji="0"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.E 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#</a:t>
            </a:r>
            <a:endParaRPr kumimoji="0" lang="en-US" altLang="zh-CN" sz="1800" b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E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.(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L,E) </a:t>
            </a:r>
            <a:r>
              <a:rPr lang="en-US" altLang="zh-CN" sz="1800" b="1" i="1">
                <a:solidFill>
                  <a:srgbClr val="993366"/>
                </a:solidFill>
                <a:ea typeface="华文行楷" pitchFamily="2" charset="-122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 #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    </a:t>
            </a:r>
            <a:r>
              <a:rPr lang="en-US" altLang="zh-CN" sz="1800" b="1" i="1">
                <a:sym typeface="Symbol" panose="05050102010706020507" pitchFamily="18" charset="2"/>
              </a:rPr>
              <a:t>E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.F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#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F </a:t>
            </a:r>
            <a:r>
              <a:rPr lang="en-US" altLang="zh-CN" sz="1800" b="1">
                <a:ea typeface="华文行楷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 .(F)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#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F </a:t>
            </a:r>
            <a:r>
              <a:rPr lang="en-US" altLang="zh-CN" sz="1800" b="1"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sym typeface="Symbol" panose="05050102010706020507" pitchFamily="18" charset="2"/>
              </a:rPr>
              <a:t>d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#</a:t>
            </a:r>
          </a:p>
        </p:txBody>
      </p:sp>
      <p:sp>
        <p:nvSpPr>
          <p:cNvPr id="539670" name="Text Box 22"/>
          <p:cNvSpPr txBox="1">
            <a:spLocks noChangeArrowheads="1"/>
          </p:cNvSpPr>
          <p:nvPr/>
        </p:nvSpPr>
        <p:spPr bwMode="auto">
          <a:xfrm>
            <a:off x="1330325" y="4852988"/>
            <a:ext cx="1585913" cy="376237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S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E.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#</a:t>
            </a:r>
          </a:p>
        </p:txBody>
      </p:sp>
      <p:sp>
        <p:nvSpPr>
          <p:cNvPr id="539671" name="Text Box 23"/>
          <p:cNvSpPr txBox="1">
            <a:spLocks noChangeArrowheads="1"/>
          </p:cNvSpPr>
          <p:nvPr/>
        </p:nvSpPr>
        <p:spPr bwMode="auto">
          <a:xfrm>
            <a:off x="611188" y="6003925"/>
            <a:ext cx="1512887" cy="376238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d.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#</a:t>
            </a:r>
          </a:p>
        </p:txBody>
      </p:sp>
      <p:sp>
        <p:nvSpPr>
          <p:cNvPr id="539672" name="Line 24"/>
          <p:cNvSpPr>
            <a:spLocks noChangeShapeType="1"/>
          </p:cNvSpPr>
          <p:nvPr/>
        </p:nvSpPr>
        <p:spPr bwMode="auto">
          <a:xfrm>
            <a:off x="2554288" y="3268663"/>
            <a:ext cx="504825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9673" name="Rectangle 25"/>
          <p:cNvSpPr>
            <a:spLocks noChangeArrowheads="1"/>
          </p:cNvSpPr>
          <p:nvPr/>
        </p:nvSpPr>
        <p:spPr bwMode="auto">
          <a:xfrm>
            <a:off x="2052638" y="4149725"/>
            <a:ext cx="287337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E</a:t>
            </a:r>
          </a:p>
        </p:txBody>
      </p:sp>
      <p:sp>
        <p:nvSpPr>
          <p:cNvPr id="539678" name="Line 30"/>
          <p:cNvSpPr>
            <a:spLocks noChangeShapeType="1"/>
          </p:cNvSpPr>
          <p:nvPr/>
        </p:nvSpPr>
        <p:spPr bwMode="auto">
          <a:xfrm>
            <a:off x="2052638" y="3932238"/>
            <a:ext cx="1587" cy="936625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9679" name="Text Box 31"/>
          <p:cNvSpPr txBox="1">
            <a:spLocks noChangeArrowheads="1"/>
          </p:cNvSpPr>
          <p:nvPr/>
        </p:nvSpPr>
        <p:spPr bwMode="auto">
          <a:xfrm>
            <a:off x="3059113" y="2482850"/>
            <a:ext cx="1946275" cy="2298700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(.L,E)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#</a:t>
            </a:r>
            <a:endParaRPr kumimoji="0" lang="en-US" altLang="zh-CN" sz="1800" b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(.F)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#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.L,E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.E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endParaRPr lang="en-US" altLang="zh-CN" sz="1800" b="1" i="1">
              <a:ea typeface="华文行楷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.(F) </a:t>
            </a:r>
            <a:r>
              <a:rPr lang="en-US" altLang="zh-CN" sz="1800" b="1" i="1">
                <a:solidFill>
                  <a:srgbClr val="993366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d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.(L,E)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.F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</a:t>
            </a:r>
          </a:p>
        </p:txBody>
      </p:sp>
      <p:sp>
        <p:nvSpPr>
          <p:cNvPr id="539680" name="Text Box 32"/>
          <p:cNvSpPr txBox="1">
            <a:spLocks noChangeArrowheads="1"/>
          </p:cNvSpPr>
          <p:nvPr/>
        </p:nvSpPr>
        <p:spPr bwMode="auto">
          <a:xfrm>
            <a:off x="5580063" y="2776538"/>
            <a:ext cx="1441450" cy="376237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E.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endParaRPr lang="en-US" altLang="zh-CN" sz="1800" b="1" i="1">
              <a:ea typeface="华文行楷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39681" name="Text Box 33"/>
          <p:cNvSpPr txBox="1">
            <a:spLocks noChangeArrowheads="1"/>
          </p:cNvSpPr>
          <p:nvPr/>
        </p:nvSpPr>
        <p:spPr bwMode="auto">
          <a:xfrm>
            <a:off x="971550" y="5373688"/>
            <a:ext cx="1512888" cy="376237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F.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#</a:t>
            </a:r>
            <a:endParaRPr lang="en-US" altLang="zh-CN" sz="1800" b="1" i="1">
              <a:ea typeface="华文行楷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39682" name="Text Box 34"/>
          <p:cNvSpPr txBox="1">
            <a:spLocks noChangeArrowheads="1"/>
          </p:cNvSpPr>
          <p:nvPr/>
        </p:nvSpPr>
        <p:spPr bwMode="auto">
          <a:xfrm>
            <a:off x="3059113" y="5734050"/>
            <a:ext cx="1655762" cy="65087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7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(F.) </a:t>
            </a:r>
            <a:r>
              <a:rPr lang="en-US" altLang="zh-CN" sz="1800" b="1" i="1">
                <a:solidFill>
                  <a:srgbClr val="993366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#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F.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</a:p>
        </p:txBody>
      </p:sp>
      <p:sp>
        <p:nvSpPr>
          <p:cNvPr id="539683" name="Text Box 35"/>
          <p:cNvSpPr txBox="1">
            <a:spLocks noChangeArrowheads="1"/>
          </p:cNvSpPr>
          <p:nvPr/>
        </p:nvSpPr>
        <p:spPr bwMode="auto">
          <a:xfrm>
            <a:off x="5148263" y="5010150"/>
            <a:ext cx="1873250" cy="65087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6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(L.,E)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#</a:t>
            </a:r>
            <a:endParaRPr lang="en-US" altLang="zh-CN" sz="1800" b="1" i="1">
              <a:ea typeface="华文行楷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L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L.,E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539684" name="Line 36"/>
          <p:cNvSpPr>
            <a:spLocks noChangeShapeType="1"/>
          </p:cNvSpPr>
          <p:nvPr/>
        </p:nvSpPr>
        <p:spPr bwMode="auto">
          <a:xfrm flipH="1">
            <a:off x="1187450" y="3933825"/>
            <a:ext cx="1588" cy="1439863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9685" name="Rectangle 37"/>
          <p:cNvSpPr>
            <a:spLocks noChangeArrowheads="1"/>
          </p:cNvSpPr>
          <p:nvPr/>
        </p:nvSpPr>
        <p:spPr bwMode="auto">
          <a:xfrm>
            <a:off x="1189038" y="4149725"/>
            <a:ext cx="287337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F</a:t>
            </a:r>
          </a:p>
        </p:txBody>
      </p:sp>
      <p:sp>
        <p:nvSpPr>
          <p:cNvPr id="539686" name="Rectangle 38"/>
          <p:cNvSpPr>
            <a:spLocks noChangeArrowheads="1"/>
          </p:cNvSpPr>
          <p:nvPr/>
        </p:nvSpPr>
        <p:spPr bwMode="auto">
          <a:xfrm>
            <a:off x="2627313" y="2901950"/>
            <a:ext cx="287337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(</a:t>
            </a:r>
          </a:p>
        </p:txBody>
      </p:sp>
      <p:sp>
        <p:nvSpPr>
          <p:cNvPr id="539687" name="Line 39"/>
          <p:cNvSpPr>
            <a:spLocks noChangeShapeType="1"/>
          </p:cNvSpPr>
          <p:nvPr/>
        </p:nvSpPr>
        <p:spPr bwMode="auto">
          <a:xfrm>
            <a:off x="757238" y="3933825"/>
            <a:ext cx="0" cy="201295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9688" name="Rectangle 40"/>
          <p:cNvSpPr>
            <a:spLocks noChangeArrowheads="1"/>
          </p:cNvSpPr>
          <p:nvPr/>
        </p:nvSpPr>
        <p:spPr bwMode="auto">
          <a:xfrm>
            <a:off x="684213" y="4125913"/>
            <a:ext cx="287337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539689" name="Line 41"/>
          <p:cNvSpPr>
            <a:spLocks noChangeShapeType="1"/>
          </p:cNvSpPr>
          <p:nvPr/>
        </p:nvSpPr>
        <p:spPr bwMode="auto">
          <a:xfrm>
            <a:off x="5003800" y="3003550"/>
            <a:ext cx="576263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9690" name="Rectangle 42"/>
          <p:cNvSpPr>
            <a:spLocks noChangeArrowheads="1"/>
          </p:cNvSpPr>
          <p:nvPr/>
        </p:nvSpPr>
        <p:spPr bwMode="auto">
          <a:xfrm>
            <a:off x="5076825" y="2708275"/>
            <a:ext cx="360363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E</a:t>
            </a:r>
          </a:p>
        </p:txBody>
      </p:sp>
      <p:sp>
        <p:nvSpPr>
          <p:cNvPr id="539692" name="Line 44"/>
          <p:cNvSpPr>
            <a:spLocks noChangeShapeType="1"/>
          </p:cNvSpPr>
          <p:nvPr/>
        </p:nvSpPr>
        <p:spPr bwMode="auto">
          <a:xfrm>
            <a:off x="5003800" y="3629025"/>
            <a:ext cx="576263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9693" name="Rectangle 45"/>
          <p:cNvSpPr>
            <a:spLocks noChangeArrowheads="1"/>
          </p:cNvSpPr>
          <p:nvPr/>
        </p:nvSpPr>
        <p:spPr bwMode="auto">
          <a:xfrm>
            <a:off x="5075238" y="3333750"/>
            <a:ext cx="360362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539694" name="Line 46"/>
          <p:cNvSpPr>
            <a:spLocks noChangeShapeType="1"/>
          </p:cNvSpPr>
          <p:nvPr/>
        </p:nvSpPr>
        <p:spPr bwMode="auto">
          <a:xfrm>
            <a:off x="5003800" y="4437063"/>
            <a:ext cx="1008063" cy="576262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9695" name="Rectangle 47"/>
          <p:cNvSpPr>
            <a:spLocks noChangeArrowheads="1"/>
          </p:cNvSpPr>
          <p:nvPr/>
        </p:nvSpPr>
        <p:spPr bwMode="auto">
          <a:xfrm>
            <a:off x="5435600" y="4430713"/>
            <a:ext cx="360363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L</a:t>
            </a:r>
          </a:p>
        </p:txBody>
      </p:sp>
      <p:sp>
        <p:nvSpPr>
          <p:cNvPr id="539696" name="Line 48"/>
          <p:cNvSpPr>
            <a:spLocks noChangeShapeType="1"/>
          </p:cNvSpPr>
          <p:nvPr/>
        </p:nvSpPr>
        <p:spPr bwMode="auto">
          <a:xfrm flipH="1" flipV="1">
            <a:off x="3779838" y="4797425"/>
            <a:ext cx="0" cy="936625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head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9697" name="Rectangle 49"/>
          <p:cNvSpPr>
            <a:spLocks noChangeArrowheads="1"/>
          </p:cNvSpPr>
          <p:nvPr/>
        </p:nvSpPr>
        <p:spPr bwMode="auto">
          <a:xfrm>
            <a:off x="3778250" y="5080000"/>
            <a:ext cx="288925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F</a:t>
            </a:r>
          </a:p>
        </p:txBody>
      </p:sp>
      <p:sp>
        <p:nvSpPr>
          <p:cNvPr id="539710" name="Line 62"/>
          <p:cNvSpPr>
            <a:spLocks noChangeShapeType="1"/>
          </p:cNvSpPr>
          <p:nvPr/>
        </p:nvSpPr>
        <p:spPr bwMode="auto">
          <a:xfrm flipH="1" flipV="1">
            <a:off x="5003800" y="4214813"/>
            <a:ext cx="2305050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head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9711" name="Rectangle 63"/>
          <p:cNvSpPr>
            <a:spLocks noChangeArrowheads="1"/>
          </p:cNvSpPr>
          <p:nvPr/>
        </p:nvSpPr>
        <p:spPr bwMode="auto">
          <a:xfrm>
            <a:off x="5148263" y="3854450"/>
            <a:ext cx="287337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(</a:t>
            </a:r>
          </a:p>
        </p:txBody>
      </p:sp>
      <p:sp>
        <p:nvSpPr>
          <p:cNvPr id="539712" name="Text Box 64"/>
          <p:cNvSpPr txBox="1">
            <a:spLocks noChangeArrowheads="1"/>
          </p:cNvSpPr>
          <p:nvPr/>
        </p:nvSpPr>
        <p:spPr bwMode="auto">
          <a:xfrm>
            <a:off x="5580063" y="3413125"/>
            <a:ext cx="1512887" cy="376238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9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d.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539713" name="Text Box 65"/>
          <p:cNvSpPr txBox="1">
            <a:spLocks noChangeArrowheads="1"/>
          </p:cNvSpPr>
          <p:nvPr/>
        </p:nvSpPr>
        <p:spPr bwMode="auto">
          <a:xfrm>
            <a:off x="7308850" y="3808413"/>
            <a:ext cx="1511300" cy="2573337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8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(.L,E)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endParaRPr kumimoji="0" lang="en-US" altLang="zh-CN" sz="1800" b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(.F)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.L,E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.E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endParaRPr lang="en-US" altLang="zh-CN" sz="1800" b="1" i="1">
              <a:ea typeface="华文行楷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.(F) </a:t>
            </a:r>
            <a:r>
              <a:rPr lang="en-US" altLang="zh-CN" sz="1800" b="1" i="1">
                <a:solidFill>
                  <a:srgbClr val="993366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d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E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.(L,E)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E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.F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</a:t>
            </a:r>
          </a:p>
        </p:txBody>
      </p:sp>
      <p:sp>
        <p:nvSpPr>
          <p:cNvPr id="539714" name="AutoShape 6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9715" name="AutoShape 6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9716" name="AutoShape 68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9717" name="AutoShape 6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9718" name="Text Box 70"/>
          <p:cNvSpPr txBox="1">
            <a:spLocks noChangeArrowheads="1"/>
          </p:cNvSpPr>
          <p:nvPr/>
        </p:nvSpPr>
        <p:spPr bwMode="auto">
          <a:xfrm>
            <a:off x="5219700" y="6005513"/>
            <a:ext cx="1800225" cy="376237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16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(F). </a:t>
            </a:r>
            <a:r>
              <a:rPr lang="en-US" altLang="zh-CN" sz="1800" b="1" i="1">
                <a:solidFill>
                  <a:srgbClr val="993366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#</a:t>
            </a:r>
            <a:endParaRPr lang="en-US" altLang="zh-CN" sz="1800" b="1" i="1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39719" name="Line 71"/>
          <p:cNvSpPr>
            <a:spLocks noChangeShapeType="1"/>
          </p:cNvSpPr>
          <p:nvPr/>
        </p:nvSpPr>
        <p:spPr bwMode="auto">
          <a:xfrm>
            <a:off x="4714875" y="6237288"/>
            <a:ext cx="504825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9720" name="Rectangle 72"/>
          <p:cNvSpPr>
            <a:spLocks noChangeArrowheads="1"/>
          </p:cNvSpPr>
          <p:nvPr/>
        </p:nvSpPr>
        <p:spPr bwMode="auto">
          <a:xfrm>
            <a:off x="4787900" y="5870575"/>
            <a:ext cx="287338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9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39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39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39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39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39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39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39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39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39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539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539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539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539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539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539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539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539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539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539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539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539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53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539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539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539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539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539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539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539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539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9669" grpId="0" animBg="1"/>
      <p:bldP spid="539670" grpId="0" animBg="1"/>
      <p:bldP spid="539672" grpId="0" animBg="1"/>
      <p:bldP spid="539673" grpId="0"/>
      <p:bldP spid="539678" grpId="0" animBg="1"/>
      <p:bldP spid="539680" grpId="0" animBg="1"/>
      <p:bldP spid="539681" grpId="0" animBg="1"/>
      <p:bldP spid="539682" grpId="0" animBg="1"/>
      <p:bldP spid="539683" grpId="0" animBg="1"/>
      <p:bldP spid="539684" grpId="0" animBg="1"/>
      <p:bldP spid="539685" grpId="0"/>
      <p:bldP spid="539686" grpId="0"/>
      <p:bldP spid="539687" grpId="0" animBg="1"/>
      <p:bldP spid="539689" grpId="0" animBg="1"/>
      <p:bldP spid="539690" grpId="0"/>
      <p:bldP spid="539692" grpId="0" animBg="1"/>
      <p:bldP spid="539693" grpId="0"/>
      <p:bldP spid="539694" grpId="0" animBg="1"/>
      <p:bldP spid="539695" grpId="0"/>
      <p:bldP spid="539696" grpId="0" animBg="1"/>
      <p:bldP spid="539697" grpId="0"/>
      <p:bldP spid="539710" grpId="0" animBg="1"/>
      <p:bldP spid="539711" grpId="0"/>
      <p:bldP spid="539712" grpId="0" animBg="1"/>
      <p:bldP spid="539713" grpId="0" animBg="1"/>
      <p:bldP spid="539718" grpId="0" animBg="1"/>
      <p:bldP spid="539719" grpId="0" animBg="1"/>
      <p:bldP spid="539720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725" name="Rectangle 53"/>
          <p:cNvSpPr>
            <a:spLocks noChangeArrowheads="1"/>
          </p:cNvSpPr>
          <p:nvPr/>
        </p:nvSpPr>
        <p:spPr bwMode="auto">
          <a:xfrm>
            <a:off x="36785" y="188913"/>
            <a:ext cx="3167063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540726" name="Text Box 54"/>
          <p:cNvSpPr txBox="1">
            <a:spLocks noChangeArrowheads="1"/>
          </p:cNvSpPr>
          <p:nvPr/>
        </p:nvSpPr>
        <p:spPr bwMode="auto">
          <a:xfrm>
            <a:off x="611188" y="1108075"/>
            <a:ext cx="6192837" cy="1096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/>
              <a:t>LR</a:t>
            </a:r>
            <a:r>
              <a:rPr lang="zh-CN" altLang="en-US" sz="3200"/>
              <a:t>（</a:t>
            </a:r>
            <a:r>
              <a:rPr lang="en-US" altLang="zh-CN" sz="3200"/>
              <a:t>1</a:t>
            </a:r>
            <a:r>
              <a:rPr lang="zh-CN" altLang="en-US" sz="3200"/>
              <a:t>）</a:t>
            </a:r>
            <a:r>
              <a:rPr lang="en-US" altLang="zh-CN" sz="3200"/>
              <a:t>FSM</a:t>
            </a:r>
            <a:r>
              <a:rPr lang="zh-CN" altLang="en-US" sz="3200" b="1"/>
              <a:t>的构造</a:t>
            </a:r>
            <a:r>
              <a:rPr lang="zh-CN" altLang="en-US" sz="3200" b="1">
                <a:solidFill>
                  <a:srgbClr val="800080"/>
                </a:solidFill>
              </a:rPr>
              <a:t>举例</a:t>
            </a:r>
            <a:endParaRPr lang="zh-CN" altLang="en-US" sz="3200" b="1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zh-CN" altLang="en-US"/>
              <a:t> </a:t>
            </a:r>
            <a:r>
              <a:rPr lang="zh-CN" altLang="en-US" b="1"/>
              <a:t>构造增广文法</a:t>
            </a:r>
            <a:r>
              <a:rPr lang="en-US" altLang="zh-CN" i="1"/>
              <a:t>G’</a:t>
            </a:r>
            <a:r>
              <a:rPr lang="en-US" altLang="zh-CN" b="1"/>
              <a:t> </a:t>
            </a:r>
            <a:r>
              <a:rPr lang="en-US" altLang="zh-CN"/>
              <a:t>[</a:t>
            </a:r>
            <a:r>
              <a:rPr lang="en-US" altLang="zh-CN" i="1"/>
              <a:t>S</a:t>
            </a:r>
            <a:r>
              <a:rPr lang="en-US" altLang="zh-CN"/>
              <a:t>]</a:t>
            </a:r>
            <a:r>
              <a:rPr kumimoji="0" lang="en-US" altLang="zh-CN">
                <a:sym typeface="Symbol" panose="05050102010706020507" pitchFamily="18" charset="2"/>
              </a:rPr>
              <a:t> </a:t>
            </a:r>
            <a:r>
              <a:rPr kumimoji="0" lang="zh-CN" altLang="en-US" b="1">
                <a:sym typeface="Symbol" panose="05050102010706020507" pitchFamily="18" charset="2"/>
              </a:rPr>
              <a:t>的 </a:t>
            </a:r>
            <a:r>
              <a:rPr lang="en-US" altLang="zh-CN"/>
              <a:t>LR</a:t>
            </a: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/>
              <a:t>FSM</a:t>
            </a:r>
          </a:p>
        </p:txBody>
      </p:sp>
      <p:sp>
        <p:nvSpPr>
          <p:cNvPr id="540729" name="Text Box 57"/>
          <p:cNvSpPr txBox="1">
            <a:spLocks noChangeArrowheads="1"/>
          </p:cNvSpPr>
          <p:nvPr/>
        </p:nvSpPr>
        <p:spPr bwMode="auto">
          <a:xfrm>
            <a:off x="898525" y="5716588"/>
            <a:ext cx="1728788" cy="376237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12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F.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540731" name="Line 59"/>
          <p:cNvSpPr>
            <a:spLocks noChangeShapeType="1"/>
          </p:cNvSpPr>
          <p:nvPr/>
        </p:nvSpPr>
        <p:spPr bwMode="auto">
          <a:xfrm>
            <a:off x="2700338" y="4011613"/>
            <a:ext cx="504825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0732" name="Rectangle 60"/>
          <p:cNvSpPr>
            <a:spLocks noChangeArrowheads="1"/>
          </p:cNvSpPr>
          <p:nvPr/>
        </p:nvSpPr>
        <p:spPr bwMode="auto">
          <a:xfrm>
            <a:off x="2628900" y="5300663"/>
            <a:ext cx="287338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E</a:t>
            </a:r>
          </a:p>
        </p:txBody>
      </p:sp>
      <p:sp>
        <p:nvSpPr>
          <p:cNvPr id="540733" name="Line 61"/>
          <p:cNvSpPr>
            <a:spLocks noChangeShapeType="1"/>
          </p:cNvSpPr>
          <p:nvPr/>
        </p:nvSpPr>
        <p:spPr bwMode="auto">
          <a:xfrm>
            <a:off x="1476375" y="5229225"/>
            <a:ext cx="0" cy="504825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0736" name="Text Box 64"/>
          <p:cNvSpPr txBox="1">
            <a:spLocks noChangeArrowheads="1"/>
          </p:cNvSpPr>
          <p:nvPr/>
        </p:nvSpPr>
        <p:spPr bwMode="auto">
          <a:xfrm>
            <a:off x="2843213" y="6091238"/>
            <a:ext cx="2160587" cy="65087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kumimoji="0" lang="en-US" altLang="zh-CN" sz="1800" b="1"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sym typeface="Symbol" panose="05050102010706020507" pitchFamily="18" charset="2"/>
              </a:rPr>
              <a:t>11</a:t>
            </a:r>
            <a:r>
              <a:rPr kumimoji="0" lang="en-US" altLang="zh-CN" sz="1800" b="1"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sym typeface="Symbol" panose="05050102010706020507" pitchFamily="18" charset="2"/>
              </a:rPr>
              <a:t>E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(L,E.)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 </a:t>
            </a:r>
            <a:r>
              <a:rPr lang="en-US" altLang="zh-CN" sz="1800" b="1" i="1">
                <a:sym typeface="Symbol" panose="05050102010706020507" pitchFamily="18" charset="2"/>
              </a:rPr>
              <a:t>#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 L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L,E.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540738" name="Text Box 66"/>
          <p:cNvSpPr txBox="1">
            <a:spLocks noChangeArrowheads="1"/>
          </p:cNvSpPr>
          <p:nvPr/>
        </p:nvSpPr>
        <p:spPr bwMode="auto">
          <a:xfrm>
            <a:off x="611188" y="2349500"/>
            <a:ext cx="1944687" cy="65087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6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(L.,E)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#</a:t>
            </a:r>
            <a:endParaRPr lang="en-US" altLang="zh-CN" sz="1800" b="1" i="1">
              <a:ea typeface="华文行楷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L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L.,E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540739" name="Line 67"/>
          <p:cNvSpPr>
            <a:spLocks noChangeShapeType="1"/>
          </p:cNvSpPr>
          <p:nvPr/>
        </p:nvSpPr>
        <p:spPr bwMode="auto">
          <a:xfrm>
            <a:off x="2411413" y="5229225"/>
            <a:ext cx="633412" cy="86360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0740" name="Rectangle 68"/>
          <p:cNvSpPr>
            <a:spLocks noChangeArrowheads="1"/>
          </p:cNvSpPr>
          <p:nvPr/>
        </p:nvSpPr>
        <p:spPr bwMode="auto">
          <a:xfrm>
            <a:off x="1403350" y="5300663"/>
            <a:ext cx="287338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F</a:t>
            </a:r>
          </a:p>
        </p:txBody>
      </p:sp>
      <p:sp>
        <p:nvSpPr>
          <p:cNvPr id="540741" name="Rectangle 69"/>
          <p:cNvSpPr>
            <a:spLocks noChangeArrowheads="1"/>
          </p:cNvSpPr>
          <p:nvPr/>
        </p:nvSpPr>
        <p:spPr bwMode="auto">
          <a:xfrm>
            <a:off x="2773363" y="3644900"/>
            <a:ext cx="287337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(</a:t>
            </a:r>
          </a:p>
        </p:txBody>
      </p:sp>
      <p:sp>
        <p:nvSpPr>
          <p:cNvPr id="540742" name="Line 70"/>
          <p:cNvSpPr>
            <a:spLocks noChangeShapeType="1"/>
          </p:cNvSpPr>
          <p:nvPr/>
        </p:nvSpPr>
        <p:spPr bwMode="auto">
          <a:xfrm>
            <a:off x="757238" y="5229225"/>
            <a:ext cx="0" cy="1008063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0743" name="Rectangle 71"/>
          <p:cNvSpPr>
            <a:spLocks noChangeArrowheads="1"/>
          </p:cNvSpPr>
          <p:nvPr/>
        </p:nvSpPr>
        <p:spPr bwMode="auto">
          <a:xfrm>
            <a:off x="684213" y="5294313"/>
            <a:ext cx="287337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540756" name="AutoShape 8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0757" name="AutoShape 8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0758" name="AutoShape 8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0759" name="AutoShape 8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0760" name="Text Box 88"/>
          <p:cNvSpPr txBox="1">
            <a:spLocks noChangeArrowheads="1"/>
          </p:cNvSpPr>
          <p:nvPr/>
        </p:nvSpPr>
        <p:spPr bwMode="auto">
          <a:xfrm>
            <a:off x="611188" y="3479800"/>
            <a:ext cx="2089150" cy="174942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10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(L,.E)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#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L,.E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E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.(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L,E) </a:t>
            </a:r>
            <a:r>
              <a:rPr lang="en-US" altLang="zh-CN" sz="1800" b="1" i="1">
                <a:solidFill>
                  <a:srgbClr val="993366"/>
                </a:solidFill>
                <a:ea typeface="华文行楷" pitchFamily="2" charset="-122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endParaRPr lang="en-US" altLang="zh-CN" sz="1800" b="1" i="1">
              <a:ea typeface="华文行楷" pitchFamily="2" charset="-122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    </a:t>
            </a:r>
            <a:r>
              <a:rPr lang="en-US" altLang="zh-CN" sz="1800" b="1" i="1">
                <a:sym typeface="Symbol" panose="05050102010706020507" pitchFamily="18" charset="2"/>
              </a:rPr>
              <a:t>E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.F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endParaRPr lang="en-US" altLang="zh-CN" sz="1800" b="1" i="1"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F </a:t>
            </a:r>
            <a:r>
              <a:rPr lang="en-US" altLang="zh-CN" sz="1800" b="1">
                <a:ea typeface="华文行楷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 .(F)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F </a:t>
            </a:r>
            <a:r>
              <a:rPr lang="en-US" altLang="zh-CN" sz="1800" b="1"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sym typeface="Symbol" panose="05050102010706020507" pitchFamily="18" charset="2"/>
              </a:rPr>
              <a:t>d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 </a:t>
            </a:r>
            <a:r>
              <a:rPr lang="en-US" altLang="zh-CN" sz="1800" b="1" i="1"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540761" name="Rectangle 89"/>
          <p:cNvSpPr>
            <a:spLocks noChangeArrowheads="1"/>
          </p:cNvSpPr>
          <p:nvPr/>
        </p:nvSpPr>
        <p:spPr bwMode="auto">
          <a:xfrm>
            <a:off x="1258888" y="2997200"/>
            <a:ext cx="287337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,</a:t>
            </a:r>
          </a:p>
        </p:txBody>
      </p:sp>
      <p:sp>
        <p:nvSpPr>
          <p:cNvPr id="540762" name="Line 90"/>
          <p:cNvSpPr>
            <a:spLocks noChangeShapeType="1"/>
          </p:cNvSpPr>
          <p:nvPr/>
        </p:nvSpPr>
        <p:spPr bwMode="auto">
          <a:xfrm>
            <a:off x="1474788" y="2997200"/>
            <a:ext cx="1587" cy="503238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0763" name="Text Box 91"/>
          <p:cNvSpPr txBox="1">
            <a:spLocks noChangeArrowheads="1"/>
          </p:cNvSpPr>
          <p:nvPr/>
        </p:nvSpPr>
        <p:spPr bwMode="auto">
          <a:xfrm>
            <a:off x="3201988" y="2354263"/>
            <a:ext cx="2162175" cy="2298700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13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(.L,E)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kumimoji="0" lang="en-US" altLang="zh-CN" sz="1800" b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(.F)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.L,E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.E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endParaRPr lang="en-US" altLang="zh-CN" sz="1800" b="1" i="1">
              <a:ea typeface="华文行楷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.(F) </a:t>
            </a:r>
            <a:r>
              <a:rPr lang="en-US" altLang="zh-CN" sz="1800" b="1" i="1">
                <a:solidFill>
                  <a:srgbClr val="993366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d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.(L,E)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.F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</a:p>
        </p:txBody>
      </p:sp>
      <p:sp>
        <p:nvSpPr>
          <p:cNvPr id="540766" name="Rectangle 94"/>
          <p:cNvSpPr>
            <a:spLocks noChangeArrowheads="1"/>
          </p:cNvSpPr>
          <p:nvPr/>
        </p:nvSpPr>
        <p:spPr bwMode="auto">
          <a:xfrm>
            <a:off x="5508625" y="2205038"/>
            <a:ext cx="360363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E</a:t>
            </a:r>
          </a:p>
        </p:txBody>
      </p:sp>
      <p:sp>
        <p:nvSpPr>
          <p:cNvPr id="540767" name="Rectangle 95"/>
          <p:cNvSpPr>
            <a:spLocks noChangeArrowheads="1"/>
          </p:cNvSpPr>
          <p:nvPr/>
        </p:nvSpPr>
        <p:spPr bwMode="auto">
          <a:xfrm>
            <a:off x="6011863" y="2276475"/>
            <a:ext cx="360362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I</a:t>
            </a:r>
            <a:r>
              <a:rPr lang="en-US" altLang="zh-CN" sz="1800" b="1" baseline="-25000">
                <a:sym typeface="Symbol" panose="05050102010706020507" pitchFamily="18" charset="2"/>
              </a:rPr>
              <a:t>5</a:t>
            </a:r>
          </a:p>
        </p:txBody>
      </p:sp>
      <p:sp>
        <p:nvSpPr>
          <p:cNvPr id="540768" name="Text Box 96"/>
          <p:cNvSpPr txBox="1">
            <a:spLocks noChangeArrowheads="1"/>
          </p:cNvSpPr>
          <p:nvPr/>
        </p:nvSpPr>
        <p:spPr bwMode="auto">
          <a:xfrm>
            <a:off x="3203575" y="5154613"/>
            <a:ext cx="2160588" cy="65087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14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(L.,E)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1800" b="1" i="1">
              <a:ea typeface="华文行楷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L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L.,E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540769" name="Line 97"/>
          <p:cNvSpPr>
            <a:spLocks noChangeShapeType="1"/>
          </p:cNvSpPr>
          <p:nvPr/>
        </p:nvSpPr>
        <p:spPr bwMode="auto">
          <a:xfrm>
            <a:off x="4427538" y="4652963"/>
            <a:ext cx="0" cy="504825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0770" name="Rectangle 98"/>
          <p:cNvSpPr>
            <a:spLocks noChangeArrowheads="1"/>
          </p:cNvSpPr>
          <p:nvPr/>
        </p:nvSpPr>
        <p:spPr bwMode="auto">
          <a:xfrm>
            <a:off x="4140200" y="4718050"/>
            <a:ext cx="360363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L</a:t>
            </a:r>
          </a:p>
        </p:txBody>
      </p:sp>
      <p:sp>
        <p:nvSpPr>
          <p:cNvPr id="540773" name="Line 101"/>
          <p:cNvSpPr>
            <a:spLocks noChangeShapeType="1"/>
          </p:cNvSpPr>
          <p:nvPr/>
        </p:nvSpPr>
        <p:spPr bwMode="auto">
          <a:xfrm flipH="1" flipV="1">
            <a:off x="5364163" y="4006850"/>
            <a:ext cx="647700" cy="1588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head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0774" name="Rectangle 102"/>
          <p:cNvSpPr>
            <a:spLocks noChangeArrowheads="1"/>
          </p:cNvSpPr>
          <p:nvPr/>
        </p:nvSpPr>
        <p:spPr bwMode="auto">
          <a:xfrm>
            <a:off x="5508625" y="3713163"/>
            <a:ext cx="288925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F</a:t>
            </a:r>
          </a:p>
        </p:txBody>
      </p:sp>
      <p:sp>
        <p:nvSpPr>
          <p:cNvPr id="540775" name="Line 103"/>
          <p:cNvSpPr>
            <a:spLocks noChangeShapeType="1"/>
          </p:cNvSpPr>
          <p:nvPr/>
        </p:nvSpPr>
        <p:spPr bwMode="auto">
          <a:xfrm>
            <a:off x="5362575" y="3003550"/>
            <a:ext cx="649288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0776" name="Rectangle 104"/>
          <p:cNvSpPr>
            <a:spLocks noChangeArrowheads="1"/>
          </p:cNvSpPr>
          <p:nvPr/>
        </p:nvSpPr>
        <p:spPr bwMode="auto">
          <a:xfrm>
            <a:off x="5508625" y="2708275"/>
            <a:ext cx="360363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540778" name="Line 106"/>
          <p:cNvSpPr>
            <a:spLocks noChangeShapeType="1"/>
          </p:cNvSpPr>
          <p:nvPr/>
        </p:nvSpPr>
        <p:spPr bwMode="auto">
          <a:xfrm>
            <a:off x="5364163" y="2498725"/>
            <a:ext cx="647700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0779" name="Rectangle 107"/>
          <p:cNvSpPr>
            <a:spLocks noChangeArrowheads="1"/>
          </p:cNvSpPr>
          <p:nvPr/>
        </p:nvSpPr>
        <p:spPr bwMode="auto">
          <a:xfrm>
            <a:off x="6011863" y="2787650"/>
            <a:ext cx="360362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I</a:t>
            </a:r>
            <a:r>
              <a:rPr lang="en-US" altLang="zh-CN" sz="1800" b="1" baseline="-25000">
                <a:sym typeface="Symbol" panose="05050102010706020507" pitchFamily="18" charset="2"/>
              </a:rPr>
              <a:t>9</a:t>
            </a:r>
          </a:p>
        </p:txBody>
      </p:sp>
      <p:sp>
        <p:nvSpPr>
          <p:cNvPr id="540781" name="Rectangle 109"/>
          <p:cNvSpPr>
            <a:spLocks noChangeArrowheads="1"/>
          </p:cNvSpPr>
          <p:nvPr/>
        </p:nvSpPr>
        <p:spPr bwMode="auto">
          <a:xfrm>
            <a:off x="5508625" y="3141663"/>
            <a:ext cx="287338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(</a:t>
            </a:r>
          </a:p>
        </p:txBody>
      </p:sp>
      <p:sp>
        <p:nvSpPr>
          <p:cNvPr id="540783" name="Line 111"/>
          <p:cNvSpPr>
            <a:spLocks noChangeShapeType="1"/>
          </p:cNvSpPr>
          <p:nvPr/>
        </p:nvSpPr>
        <p:spPr bwMode="auto">
          <a:xfrm>
            <a:off x="5364163" y="3494088"/>
            <a:ext cx="649287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0784" name="Rectangle 112"/>
          <p:cNvSpPr>
            <a:spLocks noChangeArrowheads="1"/>
          </p:cNvSpPr>
          <p:nvPr/>
        </p:nvSpPr>
        <p:spPr bwMode="auto">
          <a:xfrm>
            <a:off x="6013450" y="3278188"/>
            <a:ext cx="360363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I</a:t>
            </a:r>
            <a:r>
              <a:rPr lang="en-US" altLang="zh-CN" sz="1800" b="1" baseline="-25000">
                <a:sym typeface="Symbol" panose="05050102010706020507" pitchFamily="18" charset="2"/>
              </a:rPr>
              <a:t>8</a:t>
            </a:r>
          </a:p>
        </p:txBody>
      </p:sp>
      <p:sp>
        <p:nvSpPr>
          <p:cNvPr id="540786" name="Text Box 114"/>
          <p:cNvSpPr txBox="1">
            <a:spLocks noChangeArrowheads="1"/>
          </p:cNvSpPr>
          <p:nvPr/>
        </p:nvSpPr>
        <p:spPr bwMode="auto">
          <a:xfrm>
            <a:off x="6011863" y="4292600"/>
            <a:ext cx="2160587" cy="174942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18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(L,.E)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1800" b="1" i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 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L,.E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 E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.(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L,E) </a:t>
            </a:r>
            <a:r>
              <a:rPr lang="en-US" altLang="zh-CN" sz="1800" b="1" i="1">
                <a:solidFill>
                  <a:srgbClr val="993366"/>
                </a:solidFill>
                <a:ea typeface="华文行楷" pitchFamily="2" charset="-122"/>
                <a:sym typeface="Symbol" panose="05050102010706020507" pitchFamily="18" charset="2"/>
              </a:rPr>
              <a:t>,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  <a:r>
              <a:rPr lang="en-US" altLang="zh-CN" sz="1800" b="1"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      </a:t>
            </a:r>
            <a:r>
              <a:rPr lang="en-US" altLang="zh-CN" sz="1800" b="1" i="1">
                <a:sym typeface="Symbol" panose="05050102010706020507" pitchFamily="18" charset="2"/>
              </a:rPr>
              <a:t>E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.F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endParaRPr lang="en-US" altLang="zh-CN" sz="1800" b="1" i="1"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 F </a:t>
            </a:r>
            <a:r>
              <a:rPr lang="en-US" altLang="zh-CN" sz="1800" b="1">
                <a:ea typeface="华文行楷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 .(F)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endParaRPr lang="en-US" altLang="zh-CN" sz="1800" b="1" i="1"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 F </a:t>
            </a:r>
            <a:r>
              <a:rPr lang="en-US" altLang="zh-CN" sz="1800" b="1"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sym typeface="Symbol" panose="05050102010706020507" pitchFamily="18" charset="2"/>
              </a:rPr>
              <a:t>d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540787" name="Line 115"/>
          <p:cNvSpPr>
            <a:spLocks noChangeShapeType="1"/>
          </p:cNvSpPr>
          <p:nvPr/>
        </p:nvSpPr>
        <p:spPr bwMode="auto">
          <a:xfrm flipH="1" flipV="1">
            <a:off x="5364163" y="5457825"/>
            <a:ext cx="647700" cy="1588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head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0789" name="Rectangle 117"/>
          <p:cNvSpPr>
            <a:spLocks noChangeArrowheads="1"/>
          </p:cNvSpPr>
          <p:nvPr/>
        </p:nvSpPr>
        <p:spPr bwMode="auto">
          <a:xfrm>
            <a:off x="5580063" y="5084763"/>
            <a:ext cx="287337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,</a:t>
            </a:r>
          </a:p>
        </p:txBody>
      </p:sp>
      <p:sp>
        <p:nvSpPr>
          <p:cNvPr id="540790" name="Rectangle 118"/>
          <p:cNvSpPr>
            <a:spLocks noChangeArrowheads="1"/>
          </p:cNvSpPr>
          <p:nvPr/>
        </p:nvSpPr>
        <p:spPr bwMode="auto">
          <a:xfrm>
            <a:off x="682625" y="6165850"/>
            <a:ext cx="360363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I</a:t>
            </a:r>
            <a:r>
              <a:rPr lang="en-US" altLang="zh-CN" sz="1800" b="1" baseline="-25000">
                <a:sym typeface="Symbol" panose="05050102010706020507" pitchFamily="18" charset="2"/>
              </a:rPr>
              <a:t>9</a:t>
            </a:r>
          </a:p>
        </p:txBody>
      </p:sp>
      <p:sp>
        <p:nvSpPr>
          <p:cNvPr id="540791" name="Text Box 119"/>
          <p:cNvSpPr txBox="1">
            <a:spLocks noChangeArrowheads="1"/>
          </p:cNvSpPr>
          <p:nvPr/>
        </p:nvSpPr>
        <p:spPr bwMode="auto">
          <a:xfrm>
            <a:off x="5508625" y="6237288"/>
            <a:ext cx="2017713" cy="376237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kumimoji="0" lang="en-US" altLang="zh-CN" sz="1800" b="1"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sym typeface="Symbol" panose="05050102010706020507" pitchFamily="18" charset="2"/>
              </a:rPr>
              <a:t>20</a:t>
            </a:r>
            <a:r>
              <a:rPr kumimoji="0" lang="en-US" altLang="zh-CN" sz="1800" b="1"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sym typeface="Symbol" panose="05050102010706020507" pitchFamily="18" charset="2"/>
              </a:rPr>
              <a:t>E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(L,E).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 </a:t>
            </a:r>
            <a:r>
              <a:rPr lang="en-US" altLang="zh-CN" sz="1800" b="1" i="1">
                <a:sym typeface="Symbol" panose="05050102010706020507" pitchFamily="18" charset="2"/>
              </a:rPr>
              <a:t>#</a:t>
            </a:r>
            <a:endParaRPr lang="en-US" altLang="zh-CN" sz="1800">
              <a:sym typeface="Symbol" panose="05050102010706020507" pitchFamily="18" charset="2"/>
            </a:endParaRPr>
          </a:p>
        </p:txBody>
      </p:sp>
      <p:sp>
        <p:nvSpPr>
          <p:cNvPr id="540792" name="Line 120"/>
          <p:cNvSpPr>
            <a:spLocks noChangeShapeType="1"/>
          </p:cNvSpPr>
          <p:nvPr/>
        </p:nvSpPr>
        <p:spPr bwMode="auto">
          <a:xfrm flipH="1" flipV="1">
            <a:off x="5003800" y="6459538"/>
            <a:ext cx="504825" cy="1587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head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0793" name="Rectangle 121"/>
          <p:cNvSpPr>
            <a:spLocks noChangeArrowheads="1"/>
          </p:cNvSpPr>
          <p:nvPr/>
        </p:nvSpPr>
        <p:spPr bwMode="auto">
          <a:xfrm>
            <a:off x="5146675" y="6092825"/>
            <a:ext cx="288925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540794" name="Rectangle 122"/>
          <p:cNvSpPr>
            <a:spLocks noChangeArrowheads="1"/>
          </p:cNvSpPr>
          <p:nvPr/>
        </p:nvSpPr>
        <p:spPr bwMode="auto">
          <a:xfrm>
            <a:off x="6011863" y="3783013"/>
            <a:ext cx="431800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I</a:t>
            </a:r>
            <a:r>
              <a:rPr lang="en-US" altLang="zh-CN" sz="1800" b="1" baseline="-25000">
                <a:sym typeface="Symbol" panose="05050102010706020507" pitchFamily="18" charset="2"/>
              </a:rPr>
              <a:t>15</a:t>
            </a:r>
          </a:p>
        </p:txBody>
      </p:sp>
      <p:sp>
        <p:nvSpPr>
          <p:cNvPr id="540795" name="Text Box 123"/>
          <p:cNvSpPr txBox="1">
            <a:spLocks noChangeArrowheads="1"/>
          </p:cNvSpPr>
          <p:nvPr/>
        </p:nvSpPr>
        <p:spPr bwMode="auto">
          <a:xfrm>
            <a:off x="6659563" y="3209925"/>
            <a:ext cx="2160587" cy="65087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24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(L,E.)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1800" b="1" i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 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L,E.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540796" name="Text Box 124"/>
          <p:cNvSpPr txBox="1">
            <a:spLocks noChangeArrowheads="1"/>
          </p:cNvSpPr>
          <p:nvPr/>
        </p:nvSpPr>
        <p:spPr bwMode="auto">
          <a:xfrm>
            <a:off x="6659563" y="2405063"/>
            <a:ext cx="2160587" cy="376237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25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(L,E).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540797" name="Line 125"/>
          <p:cNvSpPr>
            <a:spLocks noChangeShapeType="1"/>
          </p:cNvSpPr>
          <p:nvPr/>
        </p:nvSpPr>
        <p:spPr bwMode="auto">
          <a:xfrm>
            <a:off x="7523163" y="3860800"/>
            <a:ext cx="0" cy="43180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head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0798" name="Rectangle 126"/>
          <p:cNvSpPr>
            <a:spLocks noChangeArrowheads="1"/>
          </p:cNvSpPr>
          <p:nvPr/>
        </p:nvSpPr>
        <p:spPr bwMode="auto">
          <a:xfrm>
            <a:off x="7235825" y="3925888"/>
            <a:ext cx="360363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E</a:t>
            </a:r>
          </a:p>
        </p:txBody>
      </p:sp>
      <p:sp>
        <p:nvSpPr>
          <p:cNvPr id="540799" name="Line 127"/>
          <p:cNvSpPr>
            <a:spLocks noChangeShapeType="1"/>
          </p:cNvSpPr>
          <p:nvPr/>
        </p:nvSpPr>
        <p:spPr bwMode="auto">
          <a:xfrm>
            <a:off x="7523163" y="2781300"/>
            <a:ext cx="0" cy="43180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head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0800" name="Rectangle 128"/>
          <p:cNvSpPr>
            <a:spLocks noChangeArrowheads="1"/>
          </p:cNvSpPr>
          <p:nvPr/>
        </p:nvSpPr>
        <p:spPr bwMode="auto">
          <a:xfrm>
            <a:off x="7308850" y="2846388"/>
            <a:ext cx="360363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540801" name="Line 129"/>
          <p:cNvSpPr>
            <a:spLocks noChangeShapeType="1"/>
          </p:cNvSpPr>
          <p:nvPr/>
        </p:nvSpPr>
        <p:spPr bwMode="auto">
          <a:xfrm>
            <a:off x="8170863" y="4587875"/>
            <a:ext cx="577850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0802" name="Rectangle 130"/>
          <p:cNvSpPr>
            <a:spLocks noChangeArrowheads="1"/>
          </p:cNvSpPr>
          <p:nvPr/>
        </p:nvSpPr>
        <p:spPr bwMode="auto">
          <a:xfrm>
            <a:off x="8316913" y="4292600"/>
            <a:ext cx="360362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540803" name="Rectangle 131"/>
          <p:cNvSpPr>
            <a:spLocks noChangeArrowheads="1"/>
          </p:cNvSpPr>
          <p:nvPr/>
        </p:nvSpPr>
        <p:spPr bwMode="auto">
          <a:xfrm>
            <a:off x="8748713" y="4371975"/>
            <a:ext cx="360362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I</a:t>
            </a:r>
            <a:r>
              <a:rPr lang="en-US" altLang="zh-CN" sz="1800" b="1" baseline="-25000">
                <a:sym typeface="Symbol" panose="05050102010706020507" pitchFamily="18" charset="2"/>
              </a:rPr>
              <a:t>9</a:t>
            </a:r>
          </a:p>
        </p:txBody>
      </p:sp>
      <p:sp>
        <p:nvSpPr>
          <p:cNvPr id="540804" name="Line 132"/>
          <p:cNvSpPr>
            <a:spLocks noChangeShapeType="1"/>
          </p:cNvSpPr>
          <p:nvPr/>
        </p:nvSpPr>
        <p:spPr bwMode="auto">
          <a:xfrm>
            <a:off x="8170863" y="5157788"/>
            <a:ext cx="577850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0805" name="Rectangle 133"/>
          <p:cNvSpPr>
            <a:spLocks noChangeArrowheads="1"/>
          </p:cNvSpPr>
          <p:nvPr/>
        </p:nvSpPr>
        <p:spPr bwMode="auto">
          <a:xfrm>
            <a:off x="8712200" y="4941888"/>
            <a:ext cx="431800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I</a:t>
            </a:r>
            <a:r>
              <a:rPr lang="en-US" altLang="zh-CN" sz="1800" b="1" baseline="-25000">
                <a:sym typeface="Symbol" panose="05050102010706020507" pitchFamily="18" charset="2"/>
              </a:rPr>
              <a:t>13</a:t>
            </a:r>
          </a:p>
        </p:txBody>
      </p:sp>
      <p:sp>
        <p:nvSpPr>
          <p:cNvPr id="540806" name="Rectangle 134"/>
          <p:cNvSpPr>
            <a:spLocks noChangeArrowheads="1"/>
          </p:cNvSpPr>
          <p:nvPr/>
        </p:nvSpPr>
        <p:spPr bwMode="auto">
          <a:xfrm>
            <a:off x="8316913" y="4797425"/>
            <a:ext cx="287337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(</a:t>
            </a:r>
          </a:p>
        </p:txBody>
      </p:sp>
      <p:sp>
        <p:nvSpPr>
          <p:cNvPr id="540807" name="Line 135"/>
          <p:cNvSpPr>
            <a:spLocks noChangeShapeType="1"/>
          </p:cNvSpPr>
          <p:nvPr/>
        </p:nvSpPr>
        <p:spPr bwMode="auto">
          <a:xfrm flipH="1" flipV="1">
            <a:off x="8172450" y="5738813"/>
            <a:ext cx="576263" cy="1587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head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0808" name="Rectangle 136"/>
          <p:cNvSpPr>
            <a:spLocks noChangeArrowheads="1"/>
          </p:cNvSpPr>
          <p:nvPr/>
        </p:nvSpPr>
        <p:spPr bwMode="auto">
          <a:xfrm>
            <a:off x="8316913" y="5445125"/>
            <a:ext cx="288925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F</a:t>
            </a:r>
          </a:p>
        </p:txBody>
      </p:sp>
      <p:sp>
        <p:nvSpPr>
          <p:cNvPr id="540809" name="Rectangle 137"/>
          <p:cNvSpPr>
            <a:spLocks noChangeArrowheads="1"/>
          </p:cNvSpPr>
          <p:nvPr/>
        </p:nvSpPr>
        <p:spPr bwMode="auto">
          <a:xfrm>
            <a:off x="8677275" y="5514975"/>
            <a:ext cx="431800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I</a:t>
            </a:r>
            <a:r>
              <a:rPr lang="en-US" altLang="zh-CN" sz="1800" b="1" baseline="-25000">
                <a:sym typeface="Symbol" panose="05050102010706020507" pitchFamily="18" charset="2"/>
              </a:rPr>
              <a:t>12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40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40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40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40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40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40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4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40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40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40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40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540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540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540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540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540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540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540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540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540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540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540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540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540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540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540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540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540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540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540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540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540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540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540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540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54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540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540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540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540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540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540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500"/>
                                        <p:tgtEl>
                                          <p:spTgt spid="540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4" dur="500"/>
                                        <p:tgtEl>
                                          <p:spTgt spid="540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540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0"/>
                                        <p:tgtEl>
                                          <p:spTgt spid="540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5" dur="500"/>
                                        <p:tgtEl>
                                          <p:spTgt spid="540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8" dur="500"/>
                                        <p:tgtEl>
                                          <p:spTgt spid="540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500"/>
                                        <p:tgtEl>
                                          <p:spTgt spid="540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500"/>
                                        <p:tgtEl>
                                          <p:spTgt spid="540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9" dur="500"/>
                                        <p:tgtEl>
                                          <p:spTgt spid="540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0729" grpId="0" animBg="1"/>
      <p:bldP spid="540731" grpId="0" animBg="1"/>
      <p:bldP spid="540732" grpId="0"/>
      <p:bldP spid="540733" grpId="0" animBg="1"/>
      <p:bldP spid="540736" grpId="0" animBg="1"/>
      <p:bldP spid="540739" grpId="0" animBg="1"/>
      <p:bldP spid="540740" grpId="0"/>
      <p:bldP spid="540741" grpId="0"/>
      <p:bldP spid="540742" grpId="0" animBg="1"/>
      <p:bldP spid="540743" grpId="0"/>
      <p:bldP spid="540760" grpId="0" animBg="1"/>
      <p:bldP spid="540761" grpId="0"/>
      <p:bldP spid="540762" grpId="0" animBg="1"/>
      <p:bldP spid="540763" grpId="0" animBg="1"/>
      <p:bldP spid="540766" grpId="0"/>
      <p:bldP spid="540767" grpId="0"/>
      <p:bldP spid="540768" grpId="0" animBg="1"/>
      <p:bldP spid="540769" grpId="0" animBg="1"/>
      <p:bldP spid="540770" grpId="0"/>
      <p:bldP spid="540773" grpId="0" animBg="1"/>
      <p:bldP spid="540774" grpId="0"/>
      <p:bldP spid="540775" grpId="0" animBg="1"/>
      <p:bldP spid="540776" grpId="0"/>
      <p:bldP spid="540778" grpId="0" animBg="1"/>
      <p:bldP spid="540779" grpId="0"/>
      <p:bldP spid="540781" grpId="0"/>
      <p:bldP spid="540783" grpId="0" animBg="1"/>
      <p:bldP spid="540784" grpId="0"/>
      <p:bldP spid="540786" grpId="0" animBg="1"/>
      <p:bldP spid="540787" grpId="0" animBg="1"/>
      <p:bldP spid="540789" grpId="0"/>
      <p:bldP spid="540790" grpId="0"/>
      <p:bldP spid="540791" grpId="0" animBg="1"/>
      <p:bldP spid="540792" grpId="0" animBg="1"/>
      <p:bldP spid="540793" grpId="0"/>
      <p:bldP spid="540794" grpId="0"/>
      <p:bldP spid="540795" grpId="0" animBg="1"/>
      <p:bldP spid="540796" grpId="0" animBg="1"/>
      <p:bldP spid="540797" grpId="0" animBg="1"/>
      <p:bldP spid="540798" grpId="0"/>
      <p:bldP spid="540799" grpId="0" animBg="1"/>
      <p:bldP spid="540800" grpId="0"/>
      <p:bldP spid="540801" grpId="0" animBg="1"/>
      <p:bldP spid="540802" grpId="0"/>
      <p:bldP spid="540803" grpId="0"/>
      <p:bldP spid="540804" grpId="0" animBg="1"/>
      <p:bldP spid="540805" grpId="0"/>
      <p:bldP spid="540806" grpId="0"/>
      <p:bldP spid="540807" grpId="0" animBg="1"/>
      <p:bldP spid="540808" grpId="0"/>
      <p:bldP spid="540809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796" name="Rectangle 4"/>
          <p:cNvSpPr>
            <a:spLocks noChangeArrowheads="1"/>
          </p:cNvSpPr>
          <p:nvPr/>
        </p:nvSpPr>
        <p:spPr bwMode="auto">
          <a:xfrm>
            <a:off x="36785" y="188913"/>
            <a:ext cx="3167063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545797" name="Text Box 5"/>
          <p:cNvSpPr txBox="1">
            <a:spLocks noChangeArrowheads="1"/>
          </p:cNvSpPr>
          <p:nvPr/>
        </p:nvSpPr>
        <p:spPr bwMode="auto">
          <a:xfrm>
            <a:off x="611188" y="1196975"/>
            <a:ext cx="6192837" cy="1096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en-US" altLang="zh-CN" sz="3200"/>
              <a:t>LR</a:t>
            </a:r>
            <a:r>
              <a:rPr lang="zh-CN" altLang="en-US" sz="3200"/>
              <a:t>（</a:t>
            </a:r>
            <a:r>
              <a:rPr lang="en-US" altLang="zh-CN" sz="3200"/>
              <a:t>1</a:t>
            </a:r>
            <a:r>
              <a:rPr lang="zh-CN" altLang="en-US" sz="3200"/>
              <a:t>）</a:t>
            </a:r>
            <a:r>
              <a:rPr lang="en-US" altLang="zh-CN" sz="3200"/>
              <a:t>FSM</a:t>
            </a:r>
            <a:r>
              <a:rPr lang="zh-CN" altLang="en-US" sz="3200" b="1"/>
              <a:t>的构造</a:t>
            </a:r>
            <a:r>
              <a:rPr lang="zh-CN" altLang="en-US" sz="3200" b="1">
                <a:solidFill>
                  <a:srgbClr val="800080"/>
                </a:solidFill>
              </a:rPr>
              <a:t>举例</a:t>
            </a:r>
            <a:endParaRPr lang="zh-CN" altLang="en-US" sz="3200" b="1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zh-CN" altLang="en-US"/>
              <a:t> </a:t>
            </a:r>
            <a:r>
              <a:rPr lang="zh-CN" altLang="en-US" b="1"/>
              <a:t>构造增广文法</a:t>
            </a:r>
            <a:r>
              <a:rPr lang="en-US" altLang="zh-CN" i="1"/>
              <a:t>G’</a:t>
            </a:r>
            <a:r>
              <a:rPr lang="en-US" altLang="zh-CN" b="1"/>
              <a:t> </a:t>
            </a:r>
            <a:r>
              <a:rPr lang="en-US" altLang="zh-CN"/>
              <a:t>[</a:t>
            </a:r>
            <a:r>
              <a:rPr lang="en-US" altLang="zh-CN" i="1"/>
              <a:t>S</a:t>
            </a:r>
            <a:r>
              <a:rPr lang="en-US" altLang="zh-CN"/>
              <a:t>]</a:t>
            </a:r>
            <a:r>
              <a:rPr kumimoji="0" lang="en-US" altLang="zh-CN">
                <a:sym typeface="Symbol" panose="05050102010706020507" pitchFamily="18" charset="2"/>
              </a:rPr>
              <a:t> </a:t>
            </a:r>
            <a:r>
              <a:rPr kumimoji="0" lang="zh-CN" altLang="en-US" b="1">
                <a:sym typeface="Symbol" panose="05050102010706020507" pitchFamily="18" charset="2"/>
              </a:rPr>
              <a:t>的 </a:t>
            </a:r>
            <a:r>
              <a:rPr lang="en-US" altLang="zh-CN"/>
              <a:t>LR</a:t>
            </a: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/>
              <a:t>FSM</a:t>
            </a:r>
          </a:p>
        </p:txBody>
      </p:sp>
      <p:sp>
        <p:nvSpPr>
          <p:cNvPr id="545826" name="Text Box 34"/>
          <p:cNvSpPr txBox="1">
            <a:spLocks noChangeArrowheads="1"/>
          </p:cNvSpPr>
          <p:nvPr/>
        </p:nvSpPr>
        <p:spPr bwMode="auto">
          <a:xfrm>
            <a:off x="1116013" y="2700338"/>
            <a:ext cx="1873250" cy="2298700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8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(.L,E)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endParaRPr kumimoji="0" lang="en-US" altLang="zh-CN" sz="1800" b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(.F)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.L,E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.E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endParaRPr lang="en-US" altLang="zh-CN" sz="1800" b="1" i="1">
              <a:ea typeface="华文行楷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F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.(F) </a:t>
            </a:r>
            <a:r>
              <a:rPr lang="en-US" altLang="zh-CN" sz="1800" b="1" i="1">
                <a:solidFill>
                  <a:srgbClr val="993366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d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.(L,E)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.F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</a:t>
            </a:r>
          </a:p>
        </p:txBody>
      </p:sp>
      <p:sp>
        <p:nvSpPr>
          <p:cNvPr id="545827" name="AutoShape 3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5828" name="AutoShape 3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5829" name="AutoShape 3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5830" name="AutoShape 3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5831" name="Rectangle 39"/>
          <p:cNvSpPr>
            <a:spLocks noChangeArrowheads="1"/>
          </p:cNvSpPr>
          <p:nvPr/>
        </p:nvSpPr>
        <p:spPr bwMode="auto">
          <a:xfrm>
            <a:off x="3133725" y="2622550"/>
            <a:ext cx="360363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E</a:t>
            </a:r>
          </a:p>
        </p:txBody>
      </p:sp>
      <p:sp>
        <p:nvSpPr>
          <p:cNvPr id="545832" name="Rectangle 40"/>
          <p:cNvSpPr>
            <a:spLocks noChangeArrowheads="1"/>
          </p:cNvSpPr>
          <p:nvPr/>
        </p:nvSpPr>
        <p:spPr bwMode="auto">
          <a:xfrm>
            <a:off x="3636963" y="2693988"/>
            <a:ext cx="360362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I</a:t>
            </a:r>
            <a:r>
              <a:rPr lang="en-US" altLang="zh-CN" sz="1800" b="1" baseline="-25000">
                <a:sym typeface="Symbol" panose="05050102010706020507" pitchFamily="18" charset="2"/>
              </a:rPr>
              <a:t>5</a:t>
            </a:r>
          </a:p>
        </p:txBody>
      </p:sp>
      <p:sp>
        <p:nvSpPr>
          <p:cNvPr id="545833" name="Line 41"/>
          <p:cNvSpPr>
            <a:spLocks noChangeShapeType="1"/>
          </p:cNvSpPr>
          <p:nvPr/>
        </p:nvSpPr>
        <p:spPr bwMode="auto">
          <a:xfrm>
            <a:off x="2989263" y="2916238"/>
            <a:ext cx="647700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5834" name="Line 42"/>
          <p:cNvSpPr>
            <a:spLocks noChangeShapeType="1"/>
          </p:cNvSpPr>
          <p:nvPr/>
        </p:nvSpPr>
        <p:spPr bwMode="auto">
          <a:xfrm>
            <a:off x="2989263" y="3349625"/>
            <a:ext cx="649287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5835" name="Rectangle 43"/>
          <p:cNvSpPr>
            <a:spLocks noChangeArrowheads="1"/>
          </p:cNvSpPr>
          <p:nvPr/>
        </p:nvSpPr>
        <p:spPr bwMode="auto">
          <a:xfrm>
            <a:off x="3135313" y="3054350"/>
            <a:ext cx="360362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545836" name="Rectangle 44"/>
          <p:cNvSpPr>
            <a:spLocks noChangeArrowheads="1"/>
          </p:cNvSpPr>
          <p:nvPr/>
        </p:nvSpPr>
        <p:spPr bwMode="auto">
          <a:xfrm>
            <a:off x="3638550" y="3133725"/>
            <a:ext cx="360363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I</a:t>
            </a:r>
            <a:r>
              <a:rPr lang="en-US" altLang="zh-CN" sz="1800" b="1" baseline="-25000">
                <a:sym typeface="Symbol" panose="05050102010706020507" pitchFamily="18" charset="2"/>
              </a:rPr>
              <a:t>9</a:t>
            </a:r>
          </a:p>
        </p:txBody>
      </p:sp>
      <p:sp>
        <p:nvSpPr>
          <p:cNvPr id="545837" name="Text Box 45"/>
          <p:cNvSpPr txBox="1">
            <a:spLocks noChangeArrowheads="1"/>
          </p:cNvSpPr>
          <p:nvPr/>
        </p:nvSpPr>
        <p:spPr bwMode="auto">
          <a:xfrm>
            <a:off x="1116013" y="5503863"/>
            <a:ext cx="1943100" cy="65087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15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(F.) </a:t>
            </a:r>
            <a:r>
              <a:rPr lang="en-US" altLang="zh-CN" sz="1800" b="1" i="1">
                <a:solidFill>
                  <a:srgbClr val="993366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 E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F.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</a:t>
            </a:r>
          </a:p>
        </p:txBody>
      </p:sp>
      <p:sp>
        <p:nvSpPr>
          <p:cNvPr id="545838" name="Line 46"/>
          <p:cNvSpPr>
            <a:spLocks noChangeShapeType="1"/>
          </p:cNvSpPr>
          <p:nvPr/>
        </p:nvSpPr>
        <p:spPr bwMode="auto">
          <a:xfrm flipH="1" flipV="1">
            <a:off x="2989263" y="4852988"/>
            <a:ext cx="792162" cy="1587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head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5839" name="Rectangle 47"/>
          <p:cNvSpPr>
            <a:spLocks noChangeArrowheads="1"/>
          </p:cNvSpPr>
          <p:nvPr/>
        </p:nvSpPr>
        <p:spPr bwMode="auto">
          <a:xfrm>
            <a:off x="2051050" y="5064125"/>
            <a:ext cx="288925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F</a:t>
            </a:r>
          </a:p>
        </p:txBody>
      </p:sp>
      <p:sp>
        <p:nvSpPr>
          <p:cNvPr id="545843" name="Arc 51"/>
          <p:cNvSpPr/>
          <p:nvPr/>
        </p:nvSpPr>
        <p:spPr bwMode="auto">
          <a:xfrm flipH="1">
            <a:off x="827088" y="4711700"/>
            <a:ext cx="288925" cy="2889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000080"/>
            </a:solidFill>
            <a:rou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45844" name="Arc 52"/>
          <p:cNvSpPr/>
          <p:nvPr/>
        </p:nvSpPr>
        <p:spPr bwMode="auto">
          <a:xfrm rot="16200000" flipH="1">
            <a:off x="827088" y="5000625"/>
            <a:ext cx="288925" cy="2889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000080"/>
            </a:solidFill>
            <a:rou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45845" name="Arc 53"/>
          <p:cNvSpPr/>
          <p:nvPr/>
        </p:nvSpPr>
        <p:spPr bwMode="auto">
          <a:xfrm rot="10800000" flipH="1">
            <a:off x="1114425" y="5000625"/>
            <a:ext cx="288925" cy="2889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45846" name="Rectangle 54"/>
          <p:cNvSpPr>
            <a:spLocks noChangeArrowheads="1"/>
          </p:cNvSpPr>
          <p:nvPr/>
        </p:nvSpPr>
        <p:spPr bwMode="auto">
          <a:xfrm>
            <a:off x="827088" y="4857750"/>
            <a:ext cx="260350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(</a:t>
            </a:r>
          </a:p>
        </p:txBody>
      </p:sp>
      <p:sp>
        <p:nvSpPr>
          <p:cNvPr id="545847" name="Text Box 55"/>
          <p:cNvSpPr txBox="1">
            <a:spLocks noChangeArrowheads="1"/>
          </p:cNvSpPr>
          <p:nvPr/>
        </p:nvSpPr>
        <p:spPr bwMode="auto">
          <a:xfrm>
            <a:off x="3781425" y="4708525"/>
            <a:ext cx="1943100" cy="65087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17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(L.,E)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1800" b="1" i="1">
              <a:ea typeface="华文行楷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L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L.,E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545848" name="Line 56"/>
          <p:cNvSpPr>
            <a:spLocks noChangeShapeType="1"/>
          </p:cNvSpPr>
          <p:nvPr/>
        </p:nvSpPr>
        <p:spPr bwMode="auto">
          <a:xfrm>
            <a:off x="2339975" y="4999038"/>
            <a:ext cx="0" cy="504825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5849" name="Rectangle 57"/>
          <p:cNvSpPr>
            <a:spLocks noChangeArrowheads="1"/>
          </p:cNvSpPr>
          <p:nvPr/>
        </p:nvSpPr>
        <p:spPr bwMode="auto">
          <a:xfrm>
            <a:off x="3203575" y="4560888"/>
            <a:ext cx="360363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L</a:t>
            </a:r>
          </a:p>
        </p:txBody>
      </p:sp>
      <p:sp>
        <p:nvSpPr>
          <p:cNvPr id="545853" name="Text Box 61"/>
          <p:cNvSpPr txBox="1">
            <a:spLocks noChangeArrowheads="1"/>
          </p:cNvSpPr>
          <p:nvPr/>
        </p:nvSpPr>
        <p:spPr bwMode="auto">
          <a:xfrm>
            <a:off x="4716463" y="2457450"/>
            <a:ext cx="2160587" cy="174942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19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(L,.E)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1800" b="1" i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 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L,.E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 E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.(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L,E) </a:t>
            </a:r>
            <a:r>
              <a:rPr lang="en-US" altLang="zh-CN" sz="1800" b="1" i="1">
                <a:solidFill>
                  <a:srgbClr val="993366"/>
                </a:solidFill>
                <a:ea typeface="华文行楷" pitchFamily="2" charset="-122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      </a:t>
            </a:r>
            <a:r>
              <a:rPr lang="en-US" altLang="zh-CN" sz="1800" b="1" i="1">
                <a:sym typeface="Symbol" panose="05050102010706020507" pitchFamily="18" charset="2"/>
              </a:rPr>
              <a:t>E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.F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endParaRPr lang="en-US" altLang="zh-CN" sz="1800" b="1" i="1"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 F </a:t>
            </a:r>
            <a:r>
              <a:rPr lang="en-US" altLang="zh-CN" sz="1800" b="1">
                <a:ea typeface="华文行楷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 .(F)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endParaRPr lang="en-US" altLang="zh-CN" sz="1800" b="1" i="1"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 F </a:t>
            </a:r>
            <a:r>
              <a:rPr lang="en-US" altLang="zh-CN" sz="1800" b="1"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sym typeface="Symbol" panose="05050102010706020507" pitchFamily="18" charset="2"/>
              </a:rPr>
              <a:t>d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545854" name="Line 62"/>
          <p:cNvSpPr>
            <a:spLocks noChangeShapeType="1"/>
          </p:cNvSpPr>
          <p:nvPr/>
        </p:nvSpPr>
        <p:spPr bwMode="auto">
          <a:xfrm flipH="1">
            <a:off x="5222875" y="4206875"/>
            <a:ext cx="0" cy="504825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head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5855" name="Rectangle 63"/>
          <p:cNvSpPr>
            <a:spLocks noChangeArrowheads="1"/>
          </p:cNvSpPr>
          <p:nvPr/>
        </p:nvSpPr>
        <p:spPr bwMode="auto">
          <a:xfrm>
            <a:off x="5005388" y="4221163"/>
            <a:ext cx="287337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,</a:t>
            </a:r>
          </a:p>
        </p:txBody>
      </p:sp>
      <p:sp>
        <p:nvSpPr>
          <p:cNvPr id="545856" name="Text Box 64"/>
          <p:cNvSpPr txBox="1">
            <a:spLocks noChangeArrowheads="1"/>
          </p:cNvSpPr>
          <p:nvPr/>
        </p:nvSpPr>
        <p:spPr bwMode="auto">
          <a:xfrm>
            <a:off x="3708400" y="5703888"/>
            <a:ext cx="1943100" cy="376237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21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(F). </a:t>
            </a:r>
            <a:r>
              <a:rPr lang="en-US" altLang="zh-CN" sz="1800" b="1" i="1">
                <a:solidFill>
                  <a:srgbClr val="993366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 </a:t>
            </a:r>
          </a:p>
        </p:txBody>
      </p:sp>
      <p:sp>
        <p:nvSpPr>
          <p:cNvPr id="545857" name="Line 65"/>
          <p:cNvSpPr>
            <a:spLocks noChangeShapeType="1"/>
          </p:cNvSpPr>
          <p:nvPr/>
        </p:nvSpPr>
        <p:spPr bwMode="auto">
          <a:xfrm flipH="1" flipV="1">
            <a:off x="3059113" y="5934075"/>
            <a:ext cx="649287" cy="1588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head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5858" name="Rectangle 66"/>
          <p:cNvSpPr>
            <a:spLocks noChangeArrowheads="1"/>
          </p:cNvSpPr>
          <p:nvPr/>
        </p:nvSpPr>
        <p:spPr bwMode="auto">
          <a:xfrm>
            <a:off x="3275013" y="5575300"/>
            <a:ext cx="360362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545859" name="Rectangle 67"/>
          <p:cNvSpPr>
            <a:spLocks noChangeArrowheads="1"/>
          </p:cNvSpPr>
          <p:nvPr/>
        </p:nvSpPr>
        <p:spPr bwMode="auto">
          <a:xfrm>
            <a:off x="7021513" y="2479675"/>
            <a:ext cx="287337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(</a:t>
            </a:r>
          </a:p>
        </p:txBody>
      </p:sp>
      <p:sp>
        <p:nvSpPr>
          <p:cNvPr id="545860" name="Line 68"/>
          <p:cNvSpPr>
            <a:spLocks noChangeShapeType="1"/>
          </p:cNvSpPr>
          <p:nvPr/>
        </p:nvSpPr>
        <p:spPr bwMode="auto">
          <a:xfrm>
            <a:off x="6877050" y="2832100"/>
            <a:ext cx="649288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5861" name="Rectangle 69"/>
          <p:cNvSpPr>
            <a:spLocks noChangeArrowheads="1"/>
          </p:cNvSpPr>
          <p:nvPr/>
        </p:nvSpPr>
        <p:spPr bwMode="auto">
          <a:xfrm>
            <a:off x="7526338" y="2616200"/>
            <a:ext cx="430212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I</a:t>
            </a:r>
            <a:r>
              <a:rPr lang="en-US" altLang="zh-CN" sz="1800" b="1" baseline="-25000">
                <a:sym typeface="Symbol" panose="05050102010706020507" pitchFamily="18" charset="2"/>
              </a:rPr>
              <a:t>13</a:t>
            </a:r>
          </a:p>
        </p:txBody>
      </p:sp>
      <p:sp>
        <p:nvSpPr>
          <p:cNvPr id="545862" name="Line 70"/>
          <p:cNvSpPr>
            <a:spLocks noChangeShapeType="1"/>
          </p:cNvSpPr>
          <p:nvPr/>
        </p:nvSpPr>
        <p:spPr bwMode="auto">
          <a:xfrm>
            <a:off x="6877050" y="3559175"/>
            <a:ext cx="649288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5863" name="Rectangle 71"/>
          <p:cNvSpPr>
            <a:spLocks noChangeArrowheads="1"/>
          </p:cNvSpPr>
          <p:nvPr/>
        </p:nvSpPr>
        <p:spPr bwMode="auto">
          <a:xfrm>
            <a:off x="7023100" y="3263900"/>
            <a:ext cx="360363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545864" name="Rectangle 72"/>
          <p:cNvSpPr>
            <a:spLocks noChangeArrowheads="1"/>
          </p:cNvSpPr>
          <p:nvPr/>
        </p:nvSpPr>
        <p:spPr bwMode="auto">
          <a:xfrm>
            <a:off x="7596188" y="3408363"/>
            <a:ext cx="360362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I</a:t>
            </a:r>
            <a:r>
              <a:rPr lang="en-US" altLang="zh-CN" sz="1800" b="1" baseline="-25000">
                <a:sym typeface="Symbol" panose="05050102010706020507" pitchFamily="18" charset="2"/>
              </a:rPr>
              <a:t>9</a:t>
            </a:r>
          </a:p>
        </p:txBody>
      </p:sp>
      <p:sp>
        <p:nvSpPr>
          <p:cNvPr id="545865" name="Line 73"/>
          <p:cNvSpPr>
            <a:spLocks noChangeShapeType="1"/>
          </p:cNvSpPr>
          <p:nvPr/>
        </p:nvSpPr>
        <p:spPr bwMode="auto">
          <a:xfrm>
            <a:off x="6877050" y="3198813"/>
            <a:ext cx="649288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5866" name="Rectangle 74"/>
          <p:cNvSpPr>
            <a:spLocks noChangeArrowheads="1"/>
          </p:cNvSpPr>
          <p:nvPr/>
        </p:nvSpPr>
        <p:spPr bwMode="auto">
          <a:xfrm>
            <a:off x="7023100" y="2903538"/>
            <a:ext cx="360363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F</a:t>
            </a:r>
          </a:p>
        </p:txBody>
      </p:sp>
      <p:sp>
        <p:nvSpPr>
          <p:cNvPr id="545867" name="Rectangle 75"/>
          <p:cNvSpPr>
            <a:spLocks noChangeArrowheads="1"/>
          </p:cNvSpPr>
          <p:nvPr/>
        </p:nvSpPr>
        <p:spPr bwMode="auto">
          <a:xfrm>
            <a:off x="7524750" y="2982913"/>
            <a:ext cx="504825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I</a:t>
            </a:r>
            <a:r>
              <a:rPr lang="en-US" altLang="zh-CN" sz="1800" b="1" baseline="-25000">
                <a:sym typeface="Symbol" panose="05050102010706020507" pitchFamily="18" charset="2"/>
              </a:rPr>
              <a:t>12</a:t>
            </a:r>
          </a:p>
        </p:txBody>
      </p:sp>
      <p:sp>
        <p:nvSpPr>
          <p:cNvPr id="545868" name="Text Box 76"/>
          <p:cNvSpPr txBox="1">
            <a:spLocks noChangeArrowheads="1"/>
          </p:cNvSpPr>
          <p:nvPr/>
        </p:nvSpPr>
        <p:spPr bwMode="auto">
          <a:xfrm>
            <a:off x="6227763" y="4708525"/>
            <a:ext cx="2160587" cy="65087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22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(L,E.)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1800" b="1" i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 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L,E.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545869" name="Rectangle 77"/>
          <p:cNvSpPr>
            <a:spLocks noChangeArrowheads="1"/>
          </p:cNvSpPr>
          <p:nvPr/>
        </p:nvSpPr>
        <p:spPr bwMode="auto">
          <a:xfrm>
            <a:off x="6516688" y="4279900"/>
            <a:ext cx="287337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E</a:t>
            </a:r>
          </a:p>
        </p:txBody>
      </p:sp>
      <p:sp>
        <p:nvSpPr>
          <p:cNvPr id="545870" name="Line 78"/>
          <p:cNvSpPr>
            <a:spLocks noChangeShapeType="1"/>
          </p:cNvSpPr>
          <p:nvPr/>
        </p:nvSpPr>
        <p:spPr bwMode="auto">
          <a:xfrm>
            <a:off x="6588125" y="4206875"/>
            <a:ext cx="0" cy="504825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5871" name="Text Box 79"/>
          <p:cNvSpPr txBox="1">
            <a:spLocks noChangeArrowheads="1"/>
          </p:cNvSpPr>
          <p:nvPr/>
        </p:nvSpPr>
        <p:spPr bwMode="auto">
          <a:xfrm>
            <a:off x="6227763" y="5861050"/>
            <a:ext cx="2160587" cy="376238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23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(L,E).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545872" name="Rectangle 80"/>
          <p:cNvSpPr>
            <a:spLocks noChangeArrowheads="1"/>
          </p:cNvSpPr>
          <p:nvPr/>
        </p:nvSpPr>
        <p:spPr bwMode="auto">
          <a:xfrm>
            <a:off x="6877050" y="5432425"/>
            <a:ext cx="287338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545873" name="Line 81"/>
          <p:cNvSpPr>
            <a:spLocks noChangeShapeType="1"/>
          </p:cNvSpPr>
          <p:nvPr/>
        </p:nvSpPr>
        <p:spPr bwMode="auto">
          <a:xfrm>
            <a:off x="7164388" y="5359400"/>
            <a:ext cx="0" cy="504825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45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45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45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45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4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4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4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45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45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4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4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54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54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545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545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545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545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545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545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545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545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545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545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545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545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545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545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545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545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545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545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545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545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545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545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545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545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5831" grpId="0"/>
      <p:bldP spid="545832" grpId="0"/>
      <p:bldP spid="545833" grpId="0" animBg="1"/>
      <p:bldP spid="545834" grpId="0" animBg="1"/>
      <p:bldP spid="545835" grpId="0"/>
      <p:bldP spid="545836" grpId="0"/>
      <p:bldP spid="545837" grpId="0" animBg="1"/>
      <p:bldP spid="545838" grpId="0" animBg="1"/>
      <p:bldP spid="545839" grpId="0"/>
      <p:bldP spid="545843" grpId="0" animBg="1"/>
      <p:bldP spid="545844" grpId="0" animBg="1"/>
      <p:bldP spid="545845" grpId="0" animBg="1"/>
      <p:bldP spid="545846" grpId="0"/>
      <p:bldP spid="545847" grpId="0" animBg="1"/>
      <p:bldP spid="545848" grpId="0" animBg="1"/>
      <p:bldP spid="545849" grpId="0"/>
      <p:bldP spid="545853" grpId="0" animBg="1"/>
      <p:bldP spid="545854" grpId="0" animBg="1"/>
      <p:bldP spid="545855" grpId="0"/>
      <p:bldP spid="545856" grpId="0" animBg="1"/>
      <p:bldP spid="545857" grpId="0" animBg="1"/>
      <p:bldP spid="545858" grpId="0"/>
      <p:bldP spid="545859" grpId="0"/>
      <p:bldP spid="545860" grpId="0" animBg="1"/>
      <p:bldP spid="545861" grpId="0"/>
      <p:bldP spid="545862" grpId="0" animBg="1"/>
      <p:bldP spid="545863" grpId="0"/>
      <p:bldP spid="545864" grpId="0"/>
      <p:bldP spid="545865" grpId="0" animBg="1"/>
      <p:bldP spid="545866" grpId="0"/>
      <p:bldP spid="545867" grpId="0"/>
      <p:bldP spid="545868" grpId="0" animBg="1"/>
      <p:bldP spid="545869" grpId="0"/>
      <p:bldP spid="545870" grpId="0" animBg="1"/>
      <p:bldP spid="545871" grpId="0" animBg="1"/>
      <p:bldP spid="545872" grpId="0"/>
      <p:bldP spid="545873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844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7845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7846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7847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7848" name="Text Box 8"/>
          <p:cNvSpPr txBox="1">
            <a:spLocks noChangeArrowheads="1"/>
          </p:cNvSpPr>
          <p:nvPr/>
        </p:nvSpPr>
        <p:spPr bwMode="auto">
          <a:xfrm>
            <a:off x="395288" y="1125538"/>
            <a:ext cx="6840537" cy="30749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</a:t>
            </a:r>
            <a:r>
              <a:rPr lang="zh-CN" altLang="en-US" sz="3200" b="1">
                <a:solidFill>
                  <a:srgbClr val="800080"/>
                </a:solidFill>
              </a:rPr>
              <a:t>解决</a:t>
            </a:r>
            <a:r>
              <a:rPr lang="zh-CN" altLang="en-US" sz="3200" b="1"/>
              <a:t>前例</a:t>
            </a:r>
            <a:r>
              <a:rPr lang="en-US" altLang="zh-CN" sz="3200"/>
              <a:t>S</a:t>
            </a:r>
            <a:r>
              <a:rPr kumimoji="0" lang="en-US" altLang="zh-CN" sz="3200"/>
              <a:t>LR</a:t>
            </a:r>
            <a:r>
              <a:rPr kumimoji="0" lang="zh-CN" altLang="en-US" sz="3200" b="1"/>
              <a:t>（</a:t>
            </a:r>
            <a:r>
              <a:rPr kumimoji="0" lang="en-US" altLang="zh-CN" sz="3200"/>
              <a:t>1</a:t>
            </a:r>
            <a:r>
              <a:rPr kumimoji="0" lang="zh-CN" altLang="en-US" sz="3200" b="1"/>
              <a:t>）分析中的</a:t>
            </a:r>
            <a:r>
              <a:rPr kumimoji="0" lang="zh-CN" altLang="en-US" sz="3200" b="1">
                <a:solidFill>
                  <a:srgbClr val="800080"/>
                </a:solidFill>
              </a:rPr>
              <a:t>冲突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zh-CN" altLang="en-US"/>
              <a:t>  </a:t>
            </a:r>
            <a:r>
              <a:rPr kumimoji="0" lang="zh-CN" altLang="en-US" b="1">
                <a:sym typeface="Symbol" panose="05050102010706020507" pitchFamily="18" charset="2"/>
              </a:rPr>
              <a:t>当到达</a:t>
            </a:r>
            <a:r>
              <a:rPr lang="zh-CN" altLang="en-US" b="1"/>
              <a:t>状态 </a:t>
            </a:r>
            <a:r>
              <a:rPr kumimoji="0" lang="en-US" altLang="zh-CN" b="1">
                <a:sym typeface="Symbol" panose="05050102010706020507" pitchFamily="18" charset="2"/>
              </a:rPr>
              <a:t>I</a:t>
            </a:r>
            <a:r>
              <a:rPr kumimoji="0" lang="en-US" altLang="zh-CN" b="1" baseline="-25000">
                <a:sym typeface="Symbol" panose="05050102010706020507" pitchFamily="18" charset="2"/>
              </a:rPr>
              <a:t>7 </a:t>
            </a:r>
            <a:r>
              <a:rPr lang="zh-CN" altLang="en-US" b="1"/>
              <a:t>（栈上的</a:t>
            </a:r>
            <a:r>
              <a:rPr lang="zh-CN" altLang="en-US" b="1">
                <a:solidFill>
                  <a:srgbClr val="800080"/>
                </a:solidFill>
              </a:rPr>
              <a:t>活前缀为</a:t>
            </a:r>
            <a:r>
              <a:rPr lang="en-US" altLang="zh-CN" b="1" i="1">
                <a:solidFill>
                  <a:srgbClr val="800080"/>
                </a:solidFill>
                <a:sym typeface="Symbol" panose="05050102010706020507" pitchFamily="18" charset="2"/>
              </a:rPr>
              <a:t>(F</a:t>
            </a:r>
            <a:r>
              <a:rPr lang="zh-CN" altLang="en-US" b="1"/>
              <a:t>）时，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zh-CN" altLang="en-US" b="1"/>
              <a:t>    句柄 </a:t>
            </a:r>
            <a:r>
              <a:rPr lang="en-US" altLang="zh-CN" b="1" i="1">
                <a:solidFill>
                  <a:srgbClr val="800080"/>
                </a:solidFill>
                <a:sym typeface="Symbol" panose="05050102010706020507" pitchFamily="18" charset="2"/>
              </a:rPr>
              <a:t>F </a:t>
            </a:r>
            <a:r>
              <a:rPr lang="zh-CN" altLang="en-US" b="1"/>
              <a:t>所期望的下一个输入符号只有</a:t>
            </a:r>
            <a:r>
              <a:rPr lang="en-US" altLang="zh-CN" b="1" i="1">
                <a:solidFill>
                  <a:srgbClr val="800080"/>
                </a:solidFill>
                <a:sym typeface="Symbol" panose="05050102010706020507" pitchFamily="18" charset="2"/>
              </a:rPr>
              <a:t>,</a:t>
            </a:r>
            <a:r>
              <a:rPr lang="zh-CN" altLang="en-US" b="1"/>
              <a:t>，没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zh-CN" altLang="en-US" b="1"/>
              <a:t>    有 </a:t>
            </a:r>
            <a:r>
              <a:rPr lang="en-US" altLang="zh-CN" b="1" i="1">
                <a:solidFill>
                  <a:srgbClr val="800080"/>
                </a:solidFill>
                <a:sym typeface="Symbol" panose="05050102010706020507" pitchFamily="18" charset="2"/>
              </a:rPr>
              <a:t>)</a:t>
            </a:r>
            <a:r>
              <a:rPr lang="zh-CN" altLang="en-US" b="1" i="1">
                <a:sym typeface="Symbol" panose="05050102010706020507" pitchFamily="18" charset="2"/>
              </a:rPr>
              <a:t>，</a:t>
            </a:r>
            <a:r>
              <a:rPr lang="zh-CN" altLang="en-US" b="1">
                <a:sym typeface="Symbol" panose="05050102010706020507" pitchFamily="18" charset="2"/>
              </a:rPr>
              <a:t>因而该状态下不存在</a:t>
            </a:r>
            <a:r>
              <a:rPr lang="zh-CN" altLang="en-US" b="1"/>
              <a:t>移进</a:t>
            </a:r>
            <a:r>
              <a:rPr lang="zh-CN" altLang="en-US" b="1">
                <a:sym typeface="Symbol" panose="05050102010706020507" pitchFamily="18" charset="2"/>
              </a:rPr>
              <a:t></a:t>
            </a:r>
            <a:r>
              <a:rPr lang="zh-CN" altLang="en-US" b="1"/>
              <a:t>归约冲突</a:t>
            </a:r>
          </a:p>
          <a:p>
            <a:pPr lvl="1">
              <a:buFont typeface="Symbol" panose="05050102010706020507" pitchFamily="18" charset="2"/>
              <a:buNone/>
            </a:pPr>
            <a:endParaRPr lang="zh-CN" altLang="en-US" sz="1000" b="1"/>
          </a:p>
          <a:p>
            <a:pPr lvl="1">
              <a:buFont typeface="Symbol" panose="05050102010706020507" pitchFamily="18" charset="2"/>
              <a:buChar char="-"/>
            </a:pPr>
            <a:r>
              <a:rPr lang="zh-CN" altLang="en-US"/>
              <a:t>  </a:t>
            </a:r>
            <a:r>
              <a:rPr kumimoji="0" lang="zh-CN" altLang="en-US" b="1">
                <a:sym typeface="Symbol" panose="05050102010706020507" pitchFamily="18" charset="2"/>
              </a:rPr>
              <a:t>可以验证，对本例中</a:t>
            </a:r>
            <a:r>
              <a:rPr lang="en-US" altLang="zh-CN" i="1"/>
              <a:t>G’</a:t>
            </a:r>
            <a:r>
              <a:rPr lang="en-US" altLang="zh-CN" b="1"/>
              <a:t> </a:t>
            </a:r>
            <a:r>
              <a:rPr lang="en-US" altLang="zh-CN"/>
              <a:t>[</a:t>
            </a:r>
            <a:r>
              <a:rPr lang="en-US" altLang="zh-CN" i="1"/>
              <a:t>S</a:t>
            </a:r>
            <a:r>
              <a:rPr lang="en-US" altLang="zh-CN"/>
              <a:t>]</a:t>
            </a:r>
            <a:r>
              <a:rPr kumimoji="0" lang="en-US" altLang="zh-CN">
                <a:sym typeface="Symbol" panose="05050102010706020507" pitchFamily="18" charset="2"/>
              </a:rPr>
              <a:t> </a:t>
            </a:r>
            <a:r>
              <a:rPr kumimoji="0" lang="zh-CN" altLang="en-US" b="1">
                <a:sym typeface="Symbol" panose="05050102010706020507" pitchFamily="18" charset="2"/>
              </a:rPr>
              <a:t>的 </a:t>
            </a:r>
            <a:r>
              <a:rPr lang="en-US" altLang="zh-CN"/>
              <a:t>LR</a:t>
            </a: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zh-CN" altLang="en-US" b="1"/>
              <a:t>，</a:t>
            </a:r>
          </a:p>
          <a:p>
            <a:pPr lvl="1">
              <a:buFont typeface="Symbol" panose="05050102010706020507" pitchFamily="18" charset="2"/>
              <a:buNone/>
            </a:pPr>
            <a:r>
              <a:rPr kumimoji="0" lang="zh-CN" altLang="en-US" b="1">
                <a:sym typeface="Symbol" panose="05050102010706020507" pitchFamily="18" charset="2"/>
              </a:rPr>
              <a:t>    任何状态都不存在（</a:t>
            </a:r>
            <a:r>
              <a:rPr lang="zh-CN" altLang="en-US" b="1"/>
              <a:t>移进</a:t>
            </a:r>
            <a:r>
              <a:rPr lang="zh-CN" altLang="en-US" b="1">
                <a:sym typeface="Symbol" panose="05050102010706020507" pitchFamily="18" charset="2"/>
              </a:rPr>
              <a:t></a:t>
            </a:r>
            <a:r>
              <a:rPr lang="zh-CN" altLang="en-US" b="1"/>
              <a:t>归约或归约</a:t>
            </a:r>
            <a:r>
              <a:rPr lang="zh-CN" altLang="en-US" b="1">
                <a:sym typeface="Symbol" panose="05050102010706020507" pitchFamily="18" charset="2"/>
              </a:rPr>
              <a:t></a:t>
            </a:r>
            <a:r>
              <a:rPr lang="zh-CN" altLang="en-US" b="1"/>
              <a:t>归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zh-CN" altLang="en-US" b="1"/>
              <a:t>    约</a:t>
            </a:r>
            <a:r>
              <a:rPr kumimoji="0" lang="zh-CN" altLang="en-US" b="1">
                <a:sym typeface="Symbol" panose="05050102010706020507" pitchFamily="18" charset="2"/>
              </a:rPr>
              <a:t>）冲突</a:t>
            </a:r>
          </a:p>
        </p:txBody>
      </p:sp>
      <p:sp>
        <p:nvSpPr>
          <p:cNvPr id="547849" name="Text Box 9"/>
          <p:cNvSpPr txBox="1">
            <a:spLocks noChangeArrowheads="1"/>
          </p:cNvSpPr>
          <p:nvPr/>
        </p:nvSpPr>
        <p:spPr bwMode="auto">
          <a:xfrm>
            <a:off x="7092950" y="1196975"/>
            <a:ext cx="1979613" cy="2451100"/>
          </a:xfrm>
          <a:prstGeom prst="rect">
            <a:avLst/>
          </a:prstGeom>
          <a:noFill/>
          <a:ln w="9525" cap="rnd">
            <a:solidFill>
              <a:srgbClr val="990099"/>
            </a:solidFill>
            <a:prstDash val="sysDot"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zh-CN" altLang="en-US" sz="2000" b="1">
                <a:solidFill>
                  <a:srgbClr val="800080"/>
                </a:solidFill>
                <a:sym typeface="Symbol" panose="05050102010706020507" pitchFamily="18" charset="2"/>
              </a:rPr>
              <a:t>增广</a:t>
            </a:r>
            <a:r>
              <a:rPr kumimoji="0" lang="zh-CN" altLang="en-US" sz="2000" b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文法</a:t>
            </a:r>
            <a:r>
              <a:rPr kumimoji="0" lang="en-US" altLang="zh-CN" sz="20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G’ </a:t>
            </a:r>
            <a:r>
              <a:rPr kumimoji="0" lang="en-US" altLang="zh-CN" sz="20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kumimoji="0" lang="en-US" altLang="zh-CN" sz="20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kumimoji="0" lang="en-US" altLang="zh-CN" sz="20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]: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kumimoji="0" lang="en-US" altLang="zh-CN" sz="800">
              <a:solidFill>
                <a:srgbClr val="80008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(0)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S 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E</a:t>
            </a:r>
            <a:endParaRPr kumimoji="0" lang="en-US" altLang="zh-CN" sz="1800">
              <a:solidFill>
                <a:srgbClr val="80008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(1)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(L </a:t>
            </a:r>
            <a:r>
              <a:rPr lang="en-US" altLang="zh-CN" sz="1800" b="1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 )</a:t>
            </a:r>
            <a:endParaRPr lang="en-US" altLang="zh-CN" sz="1800" i="1">
              <a:solidFill>
                <a:srgbClr val="800080"/>
              </a:solidFill>
              <a:ea typeface="华文行楷" pitchFamily="2" charset="-122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 (2)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E </a:t>
            </a: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 F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 (3)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L </a:t>
            </a:r>
            <a:r>
              <a:rPr lang="en-US" altLang="zh-CN" sz="1800">
                <a:solidFill>
                  <a:srgbClr val="800080"/>
                </a:solidFill>
                <a:ea typeface="华文行楷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sym typeface="Symbol" panose="05050102010706020507" pitchFamily="18" charset="2"/>
              </a:rPr>
              <a:t>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L </a:t>
            </a:r>
            <a:r>
              <a:rPr lang="en-US" altLang="zh-CN" sz="1800" b="1" i="1">
                <a:solidFill>
                  <a:srgbClr val="800080"/>
                </a:solidFill>
                <a:sym typeface="Symbol" panose="05050102010706020507" pitchFamily="18" charset="2"/>
              </a:rPr>
              <a:t>,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E</a:t>
            </a: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 </a:t>
            </a:r>
            <a:endParaRPr lang="en-US" altLang="zh-CN" sz="1800" i="1">
              <a:solidFill>
                <a:srgbClr val="800080"/>
              </a:solidFill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 (4)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L </a:t>
            </a: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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E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 (5)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F </a:t>
            </a:r>
            <a:r>
              <a:rPr lang="en-US" altLang="zh-CN" sz="1800">
                <a:solidFill>
                  <a:srgbClr val="800080"/>
                </a:solidFill>
                <a:ea typeface="华文行楷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sym typeface="Symbol" panose="05050102010706020507" pitchFamily="18" charset="2"/>
              </a:rPr>
              <a:t>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( F )</a:t>
            </a:r>
            <a:endParaRPr lang="en-US" altLang="zh-CN" sz="1800" i="1">
              <a:solidFill>
                <a:srgbClr val="800080"/>
              </a:solidFill>
              <a:ea typeface="华文行楷" pitchFamily="2" charset="-122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 (6)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F </a:t>
            </a: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 d</a:t>
            </a:r>
          </a:p>
        </p:txBody>
      </p:sp>
      <p:sp>
        <p:nvSpPr>
          <p:cNvPr id="547869" name="Rectangle 29"/>
          <p:cNvSpPr>
            <a:spLocks noChangeArrowheads="1"/>
          </p:cNvSpPr>
          <p:nvPr/>
        </p:nvSpPr>
        <p:spPr bwMode="auto">
          <a:xfrm>
            <a:off x="35496" y="188913"/>
            <a:ext cx="3167063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547870" name="Text Box 30"/>
          <p:cNvSpPr txBox="1">
            <a:spLocks noChangeArrowheads="1"/>
          </p:cNvSpPr>
          <p:nvPr/>
        </p:nvSpPr>
        <p:spPr bwMode="auto">
          <a:xfrm>
            <a:off x="1619250" y="4292600"/>
            <a:ext cx="1873250" cy="1474788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kumimoji="0"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.E 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#</a:t>
            </a:r>
            <a:endParaRPr kumimoji="0" lang="en-US" altLang="zh-CN" sz="1800" b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E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.(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L,E) </a:t>
            </a:r>
            <a:r>
              <a:rPr lang="en-US" altLang="zh-CN" sz="1800" b="1" i="1">
                <a:solidFill>
                  <a:srgbClr val="993366"/>
                </a:solidFill>
                <a:ea typeface="华文行楷" pitchFamily="2" charset="-122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 #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    </a:t>
            </a:r>
            <a:r>
              <a:rPr lang="en-US" altLang="zh-CN" sz="1800" b="1" i="1">
                <a:sym typeface="Symbol" panose="05050102010706020507" pitchFamily="18" charset="2"/>
              </a:rPr>
              <a:t>E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.F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#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F </a:t>
            </a:r>
            <a:r>
              <a:rPr lang="en-US" altLang="zh-CN" sz="1800" b="1">
                <a:ea typeface="华文行楷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 .(F)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#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F </a:t>
            </a:r>
            <a:r>
              <a:rPr lang="en-US" altLang="zh-CN" sz="1800" b="1"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sym typeface="Symbol" panose="05050102010706020507" pitchFamily="18" charset="2"/>
              </a:rPr>
              <a:t>d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#</a:t>
            </a:r>
          </a:p>
        </p:txBody>
      </p:sp>
      <p:sp>
        <p:nvSpPr>
          <p:cNvPr id="547871" name="Line 31"/>
          <p:cNvSpPr>
            <a:spLocks noChangeShapeType="1"/>
          </p:cNvSpPr>
          <p:nvPr/>
        </p:nvSpPr>
        <p:spPr bwMode="auto">
          <a:xfrm>
            <a:off x="3492500" y="5157788"/>
            <a:ext cx="647700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7872" name="Text Box 32"/>
          <p:cNvSpPr txBox="1">
            <a:spLocks noChangeArrowheads="1"/>
          </p:cNvSpPr>
          <p:nvPr/>
        </p:nvSpPr>
        <p:spPr bwMode="auto">
          <a:xfrm>
            <a:off x="4140200" y="4333875"/>
            <a:ext cx="1946275" cy="2298700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(.L,E)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#</a:t>
            </a:r>
            <a:endParaRPr kumimoji="0" lang="en-US" altLang="zh-CN" sz="1800" b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(.F)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#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.L,E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.E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endParaRPr lang="en-US" altLang="zh-CN" sz="1800" b="1" i="1">
              <a:ea typeface="华文行楷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.(F) </a:t>
            </a:r>
            <a:r>
              <a:rPr lang="en-US" altLang="zh-CN" sz="1800" b="1" i="1">
                <a:solidFill>
                  <a:srgbClr val="993366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d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.(L,E)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.F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</a:t>
            </a:r>
          </a:p>
        </p:txBody>
      </p:sp>
      <p:sp>
        <p:nvSpPr>
          <p:cNvPr id="547873" name="Text Box 33"/>
          <p:cNvSpPr txBox="1">
            <a:spLocks noChangeArrowheads="1"/>
          </p:cNvSpPr>
          <p:nvPr/>
        </p:nvSpPr>
        <p:spPr bwMode="auto">
          <a:xfrm>
            <a:off x="6732588" y="5572125"/>
            <a:ext cx="1655762" cy="650875"/>
          </a:xfrm>
          <a:prstGeom prst="rect">
            <a:avLst/>
          </a:prstGeom>
          <a:noFill/>
          <a:ln w="9525">
            <a:solidFill>
              <a:srgbClr val="8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7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(F.) </a:t>
            </a:r>
            <a:r>
              <a:rPr lang="en-US" altLang="zh-CN" sz="1800" b="1" i="1">
                <a:solidFill>
                  <a:srgbClr val="993366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#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F.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</a:p>
        </p:txBody>
      </p:sp>
      <p:sp>
        <p:nvSpPr>
          <p:cNvPr id="547874" name="Rectangle 34"/>
          <p:cNvSpPr>
            <a:spLocks noChangeArrowheads="1"/>
          </p:cNvSpPr>
          <p:nvPr/>
        </p:nvSpPr>
        <p:spPr bwMode="auto">
          <a:xfrm>
            <a:off x="3636963" y="4791075"/>
            <a:ext cx="287337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(</a:t>
            </a:r>
          </a:p>
        </p:txBody>
      </p:sp>
      <p:sp>
        <p:nvSpPr>
          <p:cNvPr id="547875" name="Line 35"/>
          <p:cNvSpPr>
            <a:spLocks noChangeShapeType="1"/>
          </p:cNvSpPr>
          <p:nvPr/>
        </p:nvSpPr>
        <p:spPr bwMode="auto">
          <a:xfrm flipH="1" flipV="1">
            <a:off x="6084888" y="6003925"/>
            <a:ext cx="647700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head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7876" name="Rectangle 36"/>
          <p:cNvSpPr>
            <a:spLocks noChangeArrowheads="1"/>
          </p:cNvSpPr>
          <p:nvPr/>
        </p:nvSpPr>
        <p:spPr bwMode="auto">
          <a:xfrm>
            <a:off x="6300788" y="5710238"/>
            <a:ext cx="288925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F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47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47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47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47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47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47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47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7870" grpId="0" animBg="1"/>
      <p:bldP spid="547871" grpId="0" animBg="1"/>
      <p:bldP spid="547872" grpId="0" animBg="1"/>
      <p:bldP spid="547873" grpId="0" animBg="1"/>
      <p:bldP spid="547874" grpId="0"/>
      <p:bldP spid="547875" grpId="0" animBg="1"/>
      <p:bldP spid="547876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98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1699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1700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1701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1703" name="Text Box 7"/>
          <p:cNvSpPr txBox="1">
            <a:spLocks noChangeArrowheads="1"/>
          </p:cNvSpPr>
          <p:nvPr/>
        </p:nvSpPr>
        <p:spPr bwMode="auto">
          <a:xfrm>
            <a:off x="684212" y="1268413"/>
            <a:ext cx="8459787" cy="487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buClrTx/>
            </a:pPr>
            <a:r>
              <a:rPr lang="en-US" altLang="zh-CN" sz="2800" b="1" dirty="0">
                <a:solidFill>
                  <a:srgbClr val="800080"/>
                </a:solidFill>
              </a:rPr>
              <a:t> </a:t>
            </a:r>
            <a:r>
              <a:rPr kumimoji="0" lang="en-US" altLang="zh-CN" sz="2800" dirty="0">
                <a:solidFill>
                  <a:srgbClr val="800080"/>
                </a:solidFill>
              </a:rPr>
              <a:t>LR</a:t>
            </a:r>
            <a:r>
              <a:rPr kumimoji="0" lang="zh-CN" altLang="en-US" sz="2800" dirty="0">
                <a:solidFill>
                  <a:srgbClr val="800080"/>
                </a:solidFill>
              </a:rPr>
              <a:t>（</a:t>
            </a:r>
            <a:r>
              <a:rPr kumimoji="0" lang="en-US" altLang="zh-CN" sz="2800" dirty="0">
                <a:solidFill>
                  <a:srgbClr val="800080"/>
                </a:solidFill>
              </a:rPr>
              <a:t>1</a:t>
            </a:r>
            <a:r>
              <a:rPr kumimoji="0" lang="zh-CN" altLang="en-US" sz="2800" dirty="0">
                <a:solidFill>
                  <a:srgbClr val="800080"/>
                </a:solidFill>
              </a:rPr>
              <a:t>）</a:t>
            </a:r>
            <a:r>
              <a:rPr kumimoji="0" lang="zh-CN" altLang="en-US" sz="2800" b="1" dirty="0">
                <a:solidFill>
                  <a:srgbClr val="800080"/>
                </a:solidFill>
              </a:rPr>
              <a:t>分析表</a:t>
            </a:r>
            <a:r>
              <a:rPr lang="zh-CN" altLang="en-US" sz="2800" b="1" dirty="0">
                <a:solidFill>
                  <a:srgbClr val="800080"/>
                </a:solidFill>
              </a:rPr>
              <a:t>的构造</a:t>
            </a:r>
            <a:endParaRPr lang="zh-CN" altLang="en-US" sz="2800" b="1" dirty="0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 dirty="0">
              <a:solidFill>
                <a:srgbClr val="800080"/>
              </a:solidFill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zh-CN" altLang="en-US" dirty="0"/>
              <a:t> </a:t>
            </a:r>
            <a:r>
              <a:rPr kumimoji="0" lang="zh-CN" altLang="en-US" b="1" dirty="0"/>
              <a:t>假定</a:t>
            </a:r>
            <a:r>
              <a:rPr kumimoji="0" lang="en-US" altLang="zh-CN" b="1" dirty="0"/>
              <a:t>C</a:t>
            </a:r>
            <a:r>
              <a:rPr kumimoji="0" lang="en-US" altLang="zh-CN" dirty="0"/>
              <a:t>={I</a:t>
            </a:r>
            <a:r>
              <a:rPr kumimoji="0" lang="en-US" altLang="zh-CN" baseline="-25000" dirty="0"/>
              <a:t>0</a:t>
            </a:r>
            <a:r>
              <a:rPr kumimoji="0" lang="en-US" altLang="zh-CN" dirty="0"/>
              <a:t>, I</a:t>
            </a:r>
            <a:r>
              <a:rPr kumimoji="0" lang="en-US" altLang="zh-CN" baseline="-25000" dirty="0"/>
              <a:t>1</a:t>
            </a:r>
            <a:r>
              <a:rPr kumimoji="0" lang="en-US" altLang="zh-CN" dirty="0"/>
              <a:t>,…</a:t>
            </a:r>
            <a:r>
              <a:rPr kumimoji="0" lang="zh-CN" altLang="en-US" dirty="0"/>
              <a:t>，</a:t>
            </a:r>
            <a:r>
              <a:rPr kumimoji="0" lang="en-US" altLang="zh-CN" dirty="0"/>
              <a:t>I</a:t>
            </a:r>
            <a:r>
              <a:rPr kumimoji="0" lang="en-US" altLang="zh-CN" baseline="-25000" dirty="0"/>
              <a:t>n</a:t>
            </a:r>
            <a:r>
              <a:rPr kumimoji="0" lang="en-US" altLang="zh-CN" dirty="0"/>
              <a:t>}</a:t>
            </a:r>
            <a:r>
              <a:rPr kumimoji="0" lang="zh-CN" altLang="en-US" b="1" dirty="0"/>
              <a:t>，令状态</a:t>
            </a:r>
            <a:r>
              <a:rPr kumimoji="0" lang="en-US" altLang="zh-CN" dirty="0" err="1"/>
              <a:t>I</a:t>
            </a:r>
            <a:r>
              <a:rPr kumimoji="0" lang="en-US" altLang="zh-CN" baseline="-25000" dirty="0" err="1"/>
              <a:t>k</a:t>
            </a:r>
            <a:r>
              <a:rPr kumimoji="0" lang="zh-CN" altLang="en-US" b="1" dirty="0"/>
              <a:t>对应的 </a:t>
            </a:r>
            <a:r>
              <a:rPr kumimoji="0" lang="en-US" altLang="zh-CN" dirty="0"/>
              <a:t>LR</a:t>
            </a:r>
            <a:r>
              <a:rPr kumimoji="0" lang="zh-CN" altLang="en-US" dirty="0"/>
              <a:t>（</a:t>
            </a:r>
            <a:r>
              <a:rPr kumimoji="0" lang="en-US" altLang="zh-CN" dirty="0"/>
              <a:t>1</a:t>
            </a:r>
            <a:r>
              <a:rPr kumimoji="0" lang="zh-CN" altLang="en-US" dirty="0"/>
              <a:t>）</a:t>
            </a:r>
            <a:r>
              <a:rPr kumimoji="0" lang="zh-CN" altLang="en-US" b="1" dirty="0"/>
              <a:t>分析表</a:t>
            </a:r>
          </a:p>
          <a:p>
            <a:pPr lvl="1">
              <a:buFont typeface="Symbol" panose="05050102010706020507" pitchFamily="18" charset="2"/>
              <a:buNone/>
            </a:pPr>
            <a:r>
              <a:rPr kumimoji="0" lang="zh-CN" altLang="en-US" b="1" dirty="0"/>
              <a:t>   的栈顶状态为</a:t>
            </a:r>
            <a:r>
              <a:rPr kumimoji="0" lang="en-US" altLang="zh-CN" dirty="0"/>
              <a:t>k</a:t>
            </a:r>
            <a:r>
              <a:rPr kumimoji="0" lang="zh-CN" altLang="en-US" b="1" dirty="0"/>
              <a:t>；令含有项目</a:t>
            </a:r>
            <a:r>
              <a:rPr kumimoji="0" lang="en-US" altLang="zh-CN" dirty="0"/>
              <a:t>[</a:t>
            </a:r>
            <a:r>
              <a:rPr kumimoji="0" lang="en-US" altLang="zh-CN" i="1" dirty="0"/>
              <a:t>S’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kumimoji="0" lang="en-US" altLang="zh-CN" dirty="0"/>
              <a:t>.</a:t>
            </a:r>
            <a:r>
              <a:rPr kumimoji="0" lang="en-US" altLang="zh-CN" i="1" dirty="0"/>
              <a:t>S</a:t>
            </a:r>
            <a:r>
              <a:rPr kumimoji="0" lang="zh-CN" altLang="en-US" i="1" dirty="0"/>
              <a:t>，</a:t>
            </a:r>
            <a:r>
              <a:rPr kumimoji="0" lang="en-US" altLang="zh-CN" i="1" dirty="0"/>
              <a:t># </a:t>
            </a:r>
            <a:r>
              <a:rPr kumimoji="0" lang="en-US" altLang="zh-CN" dirty="0"/>
              <a:t>]</a:t>
            </a:r>
            <a:r>
              <a:rPr kumimoji="0" lang="zh-CN" altLang="en-US" b="1" dirty="0"/>
              <a:t>的状态为</a:t>
            </a:r>
            <a:r>
              <a:rPr kumimoji="0" lang="en-US" altLang="zh-CN" dirty="0"/>
              <a:t>I</a:t>
            </a:r>
            <a:r>
              <a:rPr kumimoji="0" lang="en-US" altLang="zh-CN" baseline="-25000" dirty="0"/>
              <a:t>0</a:t>
            </a:r>
            <a:r>
              <a:rPr kumimoji="0" lang="en-US" altLang="zh-CN" b="1" dirty="0"/>
              <a:t>, </a:t>
            </a:r>
            <a:r>
              <a:rPr kumimoji="0" lang="zh-CN" altLang="en-US" b="1" dirty="0"/>
              <a:t>因</a:t>
            </a:r>
          </a:p>
          <a:p>
            <a:pPr lvl="1">
              <a:buFont typeface="Symbol" panose="05050102010706020507" pitchFamily="18" charset="2"/>
              <a:buNone/>
            </a:pPr>
            <a:r>
              <a:rPr kumimoji="0" lang="zh-CN" altLang="en-US" b="1" dirty="0"/>
              <a:t>   此 </a:t>
            </a:r>
            <a:r>
              <a:rPr kumimoji="0" lang="en-US" altLang="zh-CN" dirty="0"/>
              <a:t>0 </a:t>
            </a:r>
            <a:r>
              <a:rPr kumimoji="0" lang="zh-CN" altLang="en-US" b="1" dirty="0"/>
              <a:t>为初态。</a:t>
            </a:r>
            <a:r>
              <a:rPr kumimoji="0" lang="en-US" altLang="zh-CN" dirty="0"/>
              <a:t>ACTION </a:t>
            </a:r>
            <a:r>
              <a:rPr kumimoji="0" lang="zh-CN" altLang="en-US" b="1" dirty="0"/>
              <a:t>表项和 </a:t>
            </a:r>
            <a:r>
              <a:rPr kumimoji="0" lang="en-US" altLang="zh-CN" dirty="0"/>
              <a:t>GOTO </a:t>
            </a:r>
            <a:r>
              <a:rPr kumimoji="0" lang="zh-CN" altLang="en-US" b="1" dirty="0"/>
              <a:t>表项可按如下方</a:t>
            </a:r>
          </a:p>
          <a:p>
            <a:pPr lvl="1">
              <a:buFont typeface="Symbol" panose="05050102010706020507" pitchFamily="18" charset="2"/>
              <a:buNone/>
            </a:pPr>
            <a:r>
              <a:rPr kumimoji="0" lang="zh-CN" altLang="en-US" b="1" dirty="0"/>
              <a:t>   法构造：</a:t>
            </a:r>
            <a:endParaRPr lang="zh-CN" altLang="en-US" b="1" dirty="0"/>
          </a:p>
          <a:p>
            <a:pPr lvl="1">
              <a:buClrTx/>
              <a:buFont typeface="Symbol" panose="05050102010706020507" pitchFamily="18" charset="2"/>
              <a:buNone/>
            </a:pPr>
            <a:endParaRPr lang="zh-CN" altLang="en-US" sz="800" b="1" dirty="0"/>
          </a:p>
          <a:p>
            <a:pPr lvl="1">
              <a:buFontTx/>
              <a:buChar char="•"/>
            </a:pPr>
            <a:r>
              <a:rPr kumimoji="0" lang="zh-CN" altLang="en-US" sz="2000" i="1" dirty="0"/>
              <a:t>  </a:t>
            </a:r>
            <a:r>
              <a:rPr kumimoji="0" lang="zh-CN" altLang="en-US" sz="2000" b="1" dirty="0"/>
              <a:t>若项目</a:t>
            </a:r>
            <a:r>
              <a:rPr kumimoji="0" lang="en-US" altLang="zh-CN" sz="2000" dirty="0"/>
              <a:t>[</a:t>
            </a:r>
            <a:r>
              <a:rPr kumimoji="0" lang="en-US" altLang="zh-CN" sz="2000" dirty="0" err="1"/>
              <a:t>A</a:t>
            </a:r>
            <a:r>
              <a:rPr lang="en-US" altLang="zh-CN" sz="2000" dirty="0" err="1">
                <a:sym typeface="Symbol" panose="05050102010706020507" pitchFamily="18" charset="2"/>
              </a:rPr>
              <a:t></a:t>
            </a:r>
            <a:r>
              <a:rPr kumimoji="0" lang="en-US" altLang="zh-CN" sz="2000" b="1" dirty="0" err="1"/>
              <a:t>α.</a:t>
            </a:r>
            <a:r>
              <a:rPr kumimoji="0" lang="en-US" altLang="zh-CN" sz="2000" dirty="0" err="1"/>
              <a:t>a</a:t>
            </a:r>
            <a:r>
              <a:rPr kumimoji="0" lang="en-US" altLang="zh-CN" sz="2000" b="1" dirty="0" err="1"/>
              <a:t>β</a:t>
            </a:r>
            <a:r>
              <a:rPr kumimoji="0" lang="en-US" altLang="zh-CN" sz="2000" b="1" dirty="0"/>
              <a:t>, </a:t>
            </a:r>
            <a:r>
              <a:rPr kumimoji="0" lang="en-US" altLang="zh-CN" sz="2000" dirty="0"/>
              <a:t>b]</a:t>
            </a:r>
            <a:r>
              <a:rPr kumimoji="0" lang="zh-CN" altLang="en-US" sz="2000" b="1" dirty="0"/>
              <a:t>属于 </a:t>
            </a:r>
            <a:r>
              <a:rPr kumimoji="0" lang="en-US" altLang="zh-CN" sz="2000" dirty="0" err="1"/>
              <a:t>I</a:t>
            </a:r>
            <a:r>
              <a:rPr kumimoji="0" lang="en-US" altLang="zh-CN" sz="2000" baseline="-25000" dirty="0" err="1"/>
              <a:t>k</a:t>
            </a:r>
            <a:r>
              <a:rPr kumimoji="0" lang="en-US" altLang="zh-CN" sz="2000" baseline="-25000" dirty="0"/>
              <a:t> </a:t>
            </a:r>
            <a:r>
              <a:rPr kumimoji="0" lang="zh-CN" altLang="en-US" sz="2000" b="1" dirty="0"/>
              <a:t>且 </a:t>
            </a:r>
            <a:r>
              <a:rPr kumimoji="0" lang="en-US" altLang="zh-CN" sz="2000" dirty="0"/>
              <a:t>GO (</a:t>
            </a:r>
            <a:r>
              <a:rPr kumimoji="0" lang="en-US" altLang="zh-CN" sz="2000" dirty="0" err="1"/>
              <a:t>I</a:t>
            </a:r>
            <a:r>
              <a:rPr kumimoji="0" lang="en-US" altLang="zh-CN" sz="2000" baseline="-25000" dirty="0" err="1"/>
              <a:t>k</a:t>
            </a:r>
            <a:r>
              <a:rPr kumimoji="0" lang="en-US" altLang="zh-CN" sz="2000" dirty="0"/>
              <a:t>, a)= </a:t>
            </a:r>
            <a:r>
              <a:rPr kumimoji="0" lang="en-US" altLang="zh-CN" sz="2000" dirty="0" err="1"/>
              <a:t>I</a:t>
            </a:r>
            <a:r>
              <a:rPr kumimoji="0" lang="en-US" altLang="zh-CN" sz="2000" baseline="-25000" dirty="0" err="1"/>
              <a:t>j</a:t>
            </a:r>
            <a:r>
              <a:rPr kumimoji="0" lang="en-US" altLang="zh-CN" sz="2000" dirty="0"/>
              <a:t>, a </a:t>
            </a:r>
            <a:r>
              <a:rPr kumimoji="0" lang="zh-CN" altLang="en-US" sz="2000" b="1" dirty="0"/>
              <a:t>为终结符，则置</a:t>
            </a:r>
          </a:p>
          <a:p>
            <a:pPr lvl="1">
              <a:buFontTx/>
              <a:buNone/>
            </a:pPr>
            <a:r>
              <a:rPr kumimoji="0" lang="zh-CN" altLang="en-US" sz="2000" dirty="0"/>
              <a:t>    </a:t>
            </a:r>
            <a:r>
              <a:rPr kumimoji="0" lang="en-US" altLang="zh-CN" sz="2000" dirty="0"/>
              <a:t>ACTION[k, a] </a:t>
            </a:r>
            <a:r>
              <a:rPr kumimoji="0" lang="zh-CN" altLang="en-US" sz="2000" b="1" dirty="0"/>
              <a:t>为“把状态</a:t>
            </a:r>
            <a:r>
              <a:rPr kumimoji="0" lang="en-US" altLang="zh-CN" sz="2000" dirty="0"/>
              <a:t>j</a:t>
            </a:r>
            <a:r>
              <a:rPr kumimoji="0" lang="zh-CN" altLang="en-US" sz="2000" b="1" dirty="0"/>
              <a:t>和符号</a:t>
            </a:r>
            <a:r>
              <a:rPr kumimoji="0" lang="en-US" altLang="zh-CN" sz="2000" dirty="0"/>
              <a:t>a</a:t>
            </a:r>
            <a:r>
              <a:rPr kumimoji="0" lang="zh-CN" altLang="en-US" sz="2000" b="1" dirty="0"/>
              <a:t>移进栈”，简记为“</a:t>
            </a:r>
            <a:r>
              <a:rPr kumimoji="0" lang="en-US" altLang="zh-CN" sz="2000" dirty="0" err="1"/>
              <a:t>sj</a:t>
            </a:r>
            <a:r>
              <a:rPr kumimoji="0" lang="en-US" altLang="zh-CN" sz="2000" b="1" dirty="0"/>
              <a:t>”</a:t>
            </a:r>
            <a:endParaRPr kumimoji="0" lang="en-US" altLang="zh-CN" sz="2000" b="1" dirty="0">
              <a:solidFill>
                <a:srgbClr val="800080"/>
              </a:solidFill>
            </a:endParaRPr>
          </a:p>
          <a:p>
            <a:pPr lvl="1">
              <a:buFontTx/>
              <a:buNone/>
            </a:pPr>
            <a:endParaRPr kumimoji="0" lang="en-US" altLang="zh-CN" sz="800" b="1" dirty="0"/>
          </a:p>
          <a:p>
            <a:pPr lvl="1">
              <a:buFontTx/>
              <a:buChar char="•"/>
            </a:pPr>
            <a:r>
              <a:rPr kumimoji="0" lang="en-US" altLang="zh-CN" sz="2000" b="1" dirty="0"/>
              <a:t>  </a:t>
            </a:r>
            <a:r>
              <a:rPr kumimoji="0" lang="zh-CN" altLang="en-US" sz="2000" b="1" dirty="0"/>
              <a:t>若项目</a:t>
            </a:r>
            <a:r>
              <a:rPr kumimoji="0" lang="en-US" altLang="zh-CN" sz="2000" dirty="0"/>
              <a:t>[</a:t>
            </a:r>
            <a:r>
              <a:rPr kumimoji="0" lang="en-US" altLang="zh-CN" sz="2000" dirty="0" err="1"/>
              <a:t>A</a:t>
            </a:r>
            <a:r>
              <a:rPr lang="en-US" altLang="zh-CN" sz="2000" dirty="0" err="1">
                <a:sym typeface="Symbol" panose="05050102010706020507" pitchFamily="18" charset="2"/>
              </a:rPr>
              <a:t></a:t>
            </a:r>
            <a:r>
              <a:rPr kumimoji="0" lang="en-US" altLang="zh-CN" sz="2000" b="1" dirty="0" err="1"/>
              <a:t>α</a:t>
            </a:r>
            <a:r>
              <a:rPr kumimoji="0" lang="en-US" altLang="zh-CN" sz="2000" b="1" dirty="0"/>
              <a:t>. , </a:t>
            </a:r>
            <a:r>
              <a:rPr kumimoji="0" lang="en-US" altLang="zh-CN" sz="2000" dirty="0"/>
              <a:t>b]</a:t>
            </a:r>
            <a:r>
              <a:rPr kumimoji="0" lang="en-US" altLang="zh-CN" sz="2000" b="1" dirty="0"/>
              <a:t> </a:t>
            </a:r>
            <a:r>
              <a:rPr kumimoji="0" lang="zh-CN" altLang="en-US" sz="2000" b="1" dirty="0"/>
              <a:t>属于</a:t>
            </a:r>
            <a:r>
              <a:rPr kumimoji="0" lang="en-US" altLang="zh-CN" sz="2000" dirty="0" err="1"/>
              <a:t>I</a:t>
            </a:r>
            <a:r>
              <a:rPr kumimoji="0" lang="en-US" altLang="zh-CN" sz="2000" baseline="-25000" dirty="0" err="1"/>
              <a:t>k</a:t>
            </a:r>
            <a:r>
              <a:rPr kumimoji="0" lang="en-US" altLang="zh-CN" sz="2000" b="1" dirty="0"/>
              <a:t>, </a:t>
            </a:r>
            <a:r>
              <a:rPr kumimoji="0" lang="zh-CN" altLang="en-US" sz="2000" b="1" dirty="0"/>
              <a:t>那么置</a:t>
            </a:r>
            <a:r>
              <a:rPr kumimoji="0" lang="en-US" altLang="zh-CN" sz="2000" dirty="0"/>
              <a:t>ACTION[k, b]</a:t>
            </a:r>
            <a:r>
              <a:rPr kumimoji="0" lang="zh-CN" altLang="en-US" sz="2000" b="1" dirty="0"/>
              <a:t>为“用产生式</a:t>
            </a:r>
            <a:r>
              <a:rPr kumimoji="0" lang="en-US" altLang="zh-CN" sz="2000" dirty="0" err="1"/>
              <a:t>A</a:t>
            </a:r>
            <a:r>
              <a:rPr lang="en-US" altLang="zh-CN" sz="2000" dirty="0" err="1">
                <a:sym typeface="Symbol" panose="05050102010706020507" pitchFamily="18" charset="2"/>
              </a:rPr>
              <a:t></a:t>
            </a:r>
            <a:r>
              <a:rPr kumimoji="0" lang="en-US" altLang="zh-CN" sz="2000" b="1" dirty="0" err="1"/>
              <a:t>α</a:t>
            </a:r>
            <a:endParaRPr kumimoji="0" lang="en-US" altLang="zh-CN" sz="2000" b="1" dirty="0"/>
          </a:p>
          <a:p>
            <a:pPr lvl="1">
              <a:buFontTx/>
              <a:buNone/>
            </a:pPr>
            <a:r>
              <a:rPr kumimoji="0" lang="en-US" altLang="zh-CN" sz="2000" b="1" dirty="0"/>
              <a:t>   </a:t>
            </a:r>
            <a:r>
              <a:rPr kumimoji="0" lang="zh-CN" altLang="en-US" sz="2000" b="1" dirty="0"/>
              <a:t>进行归约”，简记为“</a:t>
            </a:r>
            <a:r>
              <a:rPr kumimoji="0" lang="en-US" altLang="zh-CN" sz="2000" dirty="0" err="1"/>
              <a:t>rj</a:t>
            </a:r>
            <a:r>
              <a:rPr kumimoji="0" lang="en-US" altLang="zh-CN" sz="2000" b="1" dirty="0"/>
              <a:t>”; </a:t>
            </a:r>
            <a:r>
              <a:rPr kumimoji="0" lang="zh-CN" altLang="en-US" sz="2000" b="1" dirty="0"/>
              <a:t>这里，假定</a:t>
            </a:r>
            <a:r>
              <a:rPr kumimoji="0" lang="en-US" altLang="zh-CN" sz="2000" dirty="0" err="1"/>
              <a:t>A</a:t>
            </a:r>
            <a:r>
              <a:rPr lang="en-US" altLang="zh-CN" sz="2000" dirty="0" err="1">
                <a:sym typeface="Symbol" panose="05050102010706020507" pitchFamily="18" charset="2"/>
              </a:rPr>
              <a:t></a:t>
            </a:r>
            <a:r>
              <a:rPr kumimoji="0" lang="en-US" altLang="zh-CN" sz="2000" b="1" dirty="0" err="1"/>
              <a:t>α</a:t>
            </a:r>
            <a:r>
              <a:rPr kumimoji="0" lang="zh-CN" altLang="en-US" sz="2000" b="1" dirty="0"/>
              <a:t>为文法</a:t>
            </a:r>
            <a:r>
              <a:rPr kumimoji="0" lang="en-US" altLang="zh-CN" sz="2000" i="1" dirty="0"/>
              <a:t>G’</a:t>
            </a:r>
            <a:r>
              <a:rPr kumimoji="0" lang="zh-CN" altLang="en-US" sz="2000" b="1" dirty="0"/>
              <a:t>的第</a:t>
            </a:r>
            <a:r>
              <a:rPr kumimoji="0" lang="en-US" altLang="zh-CN" sz="2000" dirty="0"/>
              <a:t>j</a:t>
            </a:r>
            <a:r>
              <a:rPr kumimoji="0" lang="zh-CN" altLang="en-US" sz="2000" b="1" dirty="0"/>
              <a:t>个产生式</a:t>
            </a:r>
            <a:endParaRPr kumimoji="0" lang="zh-CN" altLang="en-US" sz="2000" dirty="0"/>
          </a:p>
          <a:p>
            <a:pPr lvl="1">
              <a:buFontTx/>
              <a:buNone/>
            </a:pPr>
            <a:endParaRPr kumimoji="0" lang="zh-CN" altLang="en-US" sz="800" dirty="0"/>
          </a:p>
          <a:p>
            <a:pPr lvl="1">
              <a:buFontTx/>
              <a:buChar char="•"/>
            </a:pPr>
            <a:r>
              <a:rPr kumimoji="0" lang="zh-CN" altLang="en-US" sz="2000" dirty="0"/>
              <a:t>  </a:t>
            </a:r>
            <a:r>
              <a:rPr kumimoji="0" lang="zh-CN" altLang="en-US" sz="2000" b="1" dirty="0"/>
              <a:t>若项目</a:t>
            </a:r>
            <a:r>
              <a:rPr kumimoji="0" lang="en-US" altLang="zh-CN" sz="2000" dirty="0"/>
              <a:t>[</a:t>
            </a:r>
            <a:r>
              <a:rPr kumimoji="0" lang="en-US" altLang="zh-CN" sz="2000" i="1" dirty="0"/>
              <a:t>S’</a:t>
            </a:r>
            <a:r>
              <a:rPr lang="en-US" altLang="zh-CN" sz="2000" dirty="0">
                <a:sym typeface="Symbol" panose="05050102010706020507" pitchFamily="18" charset="2"/>
              </a:rPr>
              <a:t></a:t>
            </a:r>
            <a:r>
              <a:rPr kumimoji="0" lang="en-US" altLang="zh-CN" sz="2000" i="1" dirty="0"/>
              <a:t>S</a:t>
            </a:r>
            <a:r>
              <a:rPr kumimoji="0" lang="en-US" altLang="zh-CN" sz="2000" b="1" dirty="0"/>
              <a:t>.</a:t>
            </a:r>
            <a:r>
              <a:rPr kumimoji="0" lang="en-US" altLang="zh-CN" sz="2000" dirty="0"/>
              <a:t>, #]</a:t>
            </a:r>
            <a:r>
              <a:rPr kumimoji="0" lang="en-US" altLang="zh-CN" sz="2000" b="1" dirty="0"/>
              <a:t> </a:t>
            </a:r>
            <a:r>
              <a:rPr kumimoji="0" lang="zh-CN" altLang="en-US" sz="2000" b="1" dirty="0"/>
              <a:t>属于</a:t>
            </a:r>
            <a:r>
              <a:rPr kumimoji="0" lang="en-US" altLang="zh-CN" sz="2000" dirty="0" err="1"/>
              <a:t>I</a:t>
            </a:r>
            <a:r>
              <a:rPr kumimoji="0" lang="en-US" altLang="zh-CN" sz="2000" baseline="-25000" dirty="0" err="1"/>
              <a:t>k</a:t>
            </a:r>
            <a:r>
              <a:rPr kumimoji="0" lang="en-US" altLang="zh-CN" sz="2000" b="1" dirty="0"/>
              <a:t>, </a:t>
            </a:r>
            <a:r>
              <a:rPr kumimoji="0" lang="zh-CN" altLang="en-US" sz="2000" b="1" dirty="0"/>
              <a:t>则置</a:t>
            </a:r>
            <a:r>
              <a:rPr kumimoji="0" lang="en-US" altLang="zh-CN" sz="2000" dirty="0"/>
              <a:t>ACTION[k, #]</a:t>
            </a:r>
            <a:r>
              <a:rPr kumimoji="0" lang="zh-CN" altLang="en-US" sz="2000" b="1" dirty="0"/>
              <a:t>为“接受”，记为“</a:t>
            </a:r>
            <a:r>
              <a:rPr kumimoji="0" lang="en-US" altLang="zh-CN" sz="2000" dirty="0"/>
              <a:t>acc</a:t>
            </a:r>
            <a:r>
              <a:rPr kumimoji="0" lang="en-US" altLang="zh-CN" sz="2000" b="1" dirty="0"/>
              <a:t>”</a:t>
            </a:r>
          </a:p>
          <a:p>
            <a:pPr lvl="1">
              <a:buFontTx/>
              <a:buNone/>
            </a:pPr>
            <a:endParaRPr kumimoji="0" lang="en-US" altLang="zh-CN" sz="800" b="1" dirty="0"/>
          </a:p>
          <a:p>
            <a:pPr lvl="1">
              <a:buFontTx/>
              <a:buChar char="•"/>
            </a:pPr>
            <a:r>
              <a:rPr kumimoji="0" lang="en-US" altLang="zh-CN" sz="2000" b="1" dirty="0"/>
              <a:t>  </a:t>
            </a:r>
            <a:r>
              <a:rPr kumimoji="0" lang="zh-CN" altLang="en-US" sz="2000" b="1" dirty="0"/>
              <a:t>若</a:t>
            </a:r>
            <a:r>
              <a:rPr kumimoji="0" lang="en-US" altLang="zh-CN" sz="2000" dirty="0"/>
              <a:t>GO (</a:t>
            </a:r>
            <a:r>
              <a:rPr kumimoji="0" lang="en-US" altLang="zh-CN" sz="2000" dirty="0" err="1"/>
              <a:t>I</a:t>
            </a:r>
            <a:r>
              <a:rPr kumimoji="0" lang="en-US" altLang="zh-CN" sz="2000" baseline="-25000" dirty="0" err="1"/>
              <a:t>k</a:t>
            </a:r>
            <a:r>
              <a:rPr kumimoji="0" lang="en-US" altLang="zh-CN" sz="2000" dirty="0"/>
              <a:t>, A)= </a:t>
            </a:r>
            <a:r>
              <a:rPr kumimoji="0" lang="en-US" altLang="zh-CN" sz="2000" dirty="0" err="1"/>
              <a:t>I</a:t>
            </a:r>
            <a:r>
              <a:rPr kumimoji="0" lang="en-US" altLang="zh-CN" sz="2000" baseline="-25000" dirty="0" err="1"/>
              <a:t>j</a:t>
            </a:r>
            <a:r>
              <a:rPr kumimoji="0" lang="en-US" altLang="zh-CN" sz="2000" b="1" dirty="0"/>
              <a:t>,</a:t>
            </a:r>
            <a:r>
              <a:rPr kumimoji="0" lang="en-US" altLang="zh-CN" sz="2000" dirty="0"/>
              <a:t> A</a:t>
            </a:r>
            <a:r>
              <a:rPr kumimoji="0" lang="zh-CN" altLang="en-US" sz="2000" b="1" dirty="0"/>
              <a:t>为非终结符，则置</a:t>
            </a:r>
            <a:r>
              <a:rPr kumimoji="0" lang="en-US" altLang="zh-CN" sz="2000" dirty="0"/>
              <a:t>GOTO(k, A)=j</a:t>
            </a:r>
            <a:r>
              <a:rPr kumimoji="0" lang="en-US" altLang="zh-CN" sz="2000" b="1" dirty="0"/>
              <a:t>;</a:t>
            </a:r>
          </a:p>
          <a:p>
            <a:pPr lvl="1">
              <a:buFontTx/>
              <a:buNone/>
            </a:pPr>
            <a:endParaRPr kumimoji="0" lang="en-US" altLang="zh-CN" sz="800" b="1" dirty="0"/>
          </a:p>
          <a:p>
            <a:pPr lvl="1">
              <a:buFontTx/>
              <a:buChar char="•"/>
            </a:pPr>
            <a:r>
              <a:rPr kumimoji="0" lang="en-US" altLang="zh-CN" sz="2000" b="1" dirty="0"/>
              <a:t>  </a:t>
            </a:r>
            <a:r>
              <a:rPr kumimoji="0" lang="zh-CN" altLang="en-US" sz="2000" b="1" dirty="0"/>
              <a:t>分析表中凡不能用上述规则填入信息的空白格均置上“出错标志”</a:t>
            </a:r>
          </a:p>
        </p:txBody>
      </p:sp>
      <p:sp>
        <p:nvSpPr>
          <p:cNvPr id="541704" name="Rectangle 8"/>
          <p:cNvSpPr>
            <a:spLocks noChangeArrowheads="1"/>
          </p:cNvSpPr>
          <p:nvPr/>
        </p:nvSpPr>
        <p:spPr bwMode="auto">
          <a:xfrm>
            <a:off x="35496" y="188913"/>
            <a:ext cx="3167063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</p:spTree>
  </p:cSld>
  <p:clrMapOvr>
    <a:masterClrMapping/>
  </p:clrMapOvr>
  <p:transition spd="med">
    <p:wipe dir="r"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22" name="Text Box 2"/>
          <p:cNvSpPr txBox="1">
            <a:spLocks noChangeArrowheads="1"/>
          </p:cNvSpPr>
          <p:nvPr/>
        </p:nvSpPr>
        <p:spPr bwMode="auto">
          <a:xfrm>
            <a:off x="755650" y="1052513"/>
            <a:ext cx="4968875" cy="1311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800"/>
              <a:t>  LR</a:t>
            </a:r>
            <a:r>
              <a:rPr lang="zh-CN" altLang="en-US" sz="2800"/>
              <a:t>（</a:t>
            </a:r>
            <a:r>
              <a:rPr lang="en-US" altLang="zh-CN" sz="2800"/>
              <a:t>1</a:t>
            </a:r>
            <a:r>
              <a:rPr lang="zh-CN" altLang="en-US" sz="2800"/>
              <a:t>）</a:t>
            </a:r>
            <a:r>
              <a:rPr lang="zh-CN" altLang="en-US" sz="2800" b="1">
                <a:latin typeface="楷体_GB2312" pitchFamily="49" charset="-122"/>
              </a:rPr>
              <a:t>分析表的构造</a:t>
            </a:r>
            <a:r>
              <a:rPr lang="zh-CN" altLang="en-US" sz="2800" b="1">
                <a:solidFill>
                  <a:srgbClr val="800080"/>
                </a:solidFill>
                <a:latin typeface="楷体_GB2312" pitchFamily="49" charset="-122"/>
              </a:rPr>
              <a:t>举例</a:t>
            </a: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 b="1">
                <a:solidFill>
                  <a:srgbClr val="800080"/>
                </a:solidFill>
              </a:rPr>
              <a:t> </a:t>
            </a:r>
            <a:r>
              <a:rPr lang="zh-CN" altLang="en-US" b="1">
                <a:solidFill>
                  <a:srgbClr val="800080"/>
                </a:solidFill>
              </a:rPr>
              <a:t>增广</a:t>
            </a:r>
            <a:r>
              <a:rPr kumimoji="0" lang="zh-CN" altLang="en-US" b="1">
                <a:solidFill>
                  <a:srgbClr val="800080"/>
                </a:solidFill>
                <a:sym typeface="Symbol" panose="05050102010706020507" pitchFamily="18" charset="2"/>
              </a:rPr>
              <a:t>文法：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kumimoji="0" lang="zh-CN" altLang="en-US" i="1">
                <a:sym typeface="Symbol" panose="05050102010706020507" pitchFamily="18" charset="2"/>
              </a:rPr>
              <a:t>    </a:t>
            </a:r>
            <a:r>
              <a:rPr kumimoji="0" lang="en-US" altLang="zh-CN" i="1">
                <a:sym typeface="Symbol" panose="05050102010706020507" pitchFamily="18" charset="2"/>
              </a:rPr>
              <a:t>G’ </a:t>
            </a:r>
            <a:r>
              <a:rPr kumimoji="0" lang="en-US" altLang="zh-CN">
                <a:sym typeface="Symbol" panose="05050102010706020507" pitchFamily="18" charset="2"/>
              </a:rPr>
              <a:t>[</a:t>
            </a:r>
            <a:r>
              <a:rPr kumimoji="0" lang="en-US" altLang="zh-CN" i="1">
                <a:sym typeface="Symbol" panose="05050102010706020507" pitchFamily="18" charset="2"/>
              </a:rPr>
              <a:t>S</a:t>
            </a:r>
            <a:r>
              <a:rPr kumimoji="0" lang="en-US" altLang="zh-CN">
                <a:sym typeface="Symbol" panose="05050102010706020507" pitchFamily="18" charset="2"/>
              </a:rPr>
              <a:t>]</a:t>
            </a:r>
            <a:r>
              <a:rPr lang="en-US" altLang="zh-CN"/>
              <a:t> </a:t>
            </a:r>
            <a:endParaRPr lang="en-US" altLang="zh-CN" i="1">
              <a:sym typeface="Symbol" panose="05050102010706020507" pitchFamily="18" charset="2"/>
            </a:endParaRPr>
          </a:p>
        </p:txBody>
      </p:sp>
      <p:sp>
        <p:nvSpPr>
          <p:cNvPr id="542756" name="Text Box 36"/>
          <p:cNvSpPr txBox="1">
            <a:spLocks noChangeArrowheads="1"/>
          </p:cNvSpPr>
          <p:nvPr/>
        </p:nvSpPr>
        <p:spPr bwMode="auto">
          <a:xfrm>
            <a:off x="3132138" y="1628775"/>
            <a:ext cx="5689600" cy="701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0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S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E</a:t>
            </a:r>
            <a:r>
              <a:rPr lang="en-US" altLang="zh-CN" sz="2000">
                <a:sym typeface="Symbol" panose="05050102010706020507" pitchFamily="18" charset="2"/>
              </a:rPr>
              <a:t>     </a:t>
            </a: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1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E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(L,E)    </a:t>
            </a: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2</a:t>
            </a:r>
            <a:r>
              <a:rPr lang="zh-CN" altLang="en-US" sz="2000">
                <a:sym typeface="Symbol" panose="05050102010706020507" pitchFamily="18" charset="2"/>
              </a:rPr>
              <a:t>） </a:t>
            </a:r>
            <a:r>
              <a:rPr lang="en-US" altLang="zh-CN" sz="2000" i="1">
                <a:sym typeface="Symbol" panose="05050102010706020507" pitchFamily="18" charset="2"/>
              </a:rPr>
              <a:t>E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F  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3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L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L,E </a:t>
            </a: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4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L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E </a:t>
            </a: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5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F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(F)  </a:t>
            </a: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6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F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542788" name="Rectangle 68"/>
          <p:cNvSpPr>
            <a:spLocks noChangeArrowheads="1"/>
          </p:cNvSpPr>
          <p:nvPr/>
        </p:nvSpPr>
        <p:spPr bwMode="auto">
          <a:xfrm>
            <a:off x="35496" y="188913"/>
            <a:ext cx="3167063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542794" name="Line 74"/>
          <p:cNvSpPr>
            <a:spLocks noChangeShapeType="1"/>
          </p:cNvSpPr>
          <p:nvPr/>
        </p:nvSpPr>
        <p:spPr bwMode="auto">
          <a:xfrm>
            <a:off x="2051050" y="2781300"/>
            <a:ext cx="61214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2795" name="Text Box 75"/>
          <p:cNvSpPr txBox="1">
            <a:spLocks noChangeArrowheads="1"/>
          </p:cNvSpPr>
          <p:nvPr/>
        </p:nvSpPr>
        <p:spPr bwMode="auto">
          <a:xfrm>
            <a:off x="1260475" y="2420938"/>
            <a:ext cx="863600" cy="701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kumimoji="0" lang="zh-CN" altLang="en-US" sz="2000" b="1">
                <a:solidFill>
                  <a:srgbClr val="800080"/>
                </a:solidFill>
                <a:latin typeface="Times New Roman" panose="02020603050405020304" pitchFamily="18" charset="0"/>
              </a:rPr>
              <a:t>栈顶状态</a:t>
            </a:r>
          </a:p>
        </p:txBody>
      </p:sp>
      <p:sp>
        <p:nvSpPr>
          <p:cNvPr id="542796" name="Text Box 76"/>
          <p:cNvSpPr txBox="1">
            <a:spLocks noChangeArrowheads="1"/>
          </p:cNvSpPr>
          <p:nvPr/>
        </p:nvSpPr>
        <p:spPr bwMode="auto">
          <a:xfrm>
            <a:off x="3751263" y="2384425"/>
            <a:ext cx="1181100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kumimoji="0" lang="en-US" altLang="zh-CN" sz="2000">
                <a:solidFill>
                  <a:srgbClr val="800080"/>
                </a:solidFill>
              </a:rPr>
              <a:t>ACTION</a:t>
            </a:r>
          </a:p>
        </p:txBody>
      </p:sp>
      <p:sp>
        <p:nvSpPr>
          <p:cNvPr id="542797" name="Text Box 77"/>
          <p:cNvSpPr txBox="1">
            <a:spLocks noChangeArrowheads="1"/>
          </p:cNvSpPr>
          <p:nvPr/>
        </p:nvSpPr>
        <p:spPr bwMode="auto">
          <a:xfrm>
            <a:off x="6948488" y="2384425"/>
            <a:ext cx="1114425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kumimoji="0" lang="en-US" altLang="zh-CN" sz="2000">
                <a:solidFill>
                  <a:srgbClr val="800080"/>
                </a:solidFill>
              </a:rPr>
              <a:t>GOTO</a:t>
            </a:r>
          </a:p>
        </p:txBody>
      </p:sp>
      <p:sp>
        <p:nvSpPr>
          <p:cNvPr id="542798" name="Line 78"/>
          <p:cNvSpPr>
            <a:spLocks noChangeShapeType="1"/>
          </p:cNvSpPr>
          <p:nvPr/>
        </p:nvSpPr>
        <p:spPr bwMode="auto">
          <a:xfrm>
            <a:off x="2051050" y="2420938"/>
            <a:ext cx="0" cy="4321175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2799" name="Line 79"/>
          <p:cNvSpPr>
            <a:spLocks noChangeShapeType="1"/>
          </p:cNvSpPr>
          <p:nvPr/>
        </p:nvSpPr>
        <p:spPr bwMode="auto">
          <a:xfrm>
            <a:off x="6372225" y="2420938"/>
            <a:ext cx="0" cy="4321175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2800" name="Line 80"/>
          <p:cNvSpPr>
            <a:spLocks noChangeShapeType="1"/>
          </p:cNvSpPr>
          <p:nvPr/>
        </p:nvSpPr>
        <p:spPr bwMode="auto">
          <a:xfrm>
            <a:off x="1223963" y="3141663"/>
            <a:ext cx="6948487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2802" name="Rectangle 82"/>
          <p:cNvSpPr>
            <a:spLocks noChangeArrowheads="1"/>
          </p:cNvSpPr>
          <p:nvPr/>
        </p:nvSpPr>
        <p:spPr bwMode="auto">
          <a:xfrm>
            <a:off x="2238375" y="2709863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542804" name="Rectangle 84"/>
          <p:cNvSpPr>
            <a:spLocks noChangeArrowheads="1"/>
          </p:cNvSpPr>
          <p:nvPr/>
        </p:nvSpPr>
        <p:spPr bwMode="auto">
          <a:xfrm>
            <a:off x="3232150" y="2636838"/>
            <a:ext cx="2603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</a:t>
            </a:r>
          </a:p>
        </p:txBody>
      </p:sp>
      <p:sp>
        <p:nvSpPr>
          <p:cNvPr id="542805" name="Rectangle 85"/>
          <p:cNvSpPr>
            <a:spLocks noChangeArrowheads="1"/>
          </p:cNvSpPr>
          <p:nvPr/>
        </p:nvSpPr>
        <p:spPr bwMode="auto">
          <a:xfrm>
            <a:off x="4110038" y="2709863"/>
            <a:ext cx="2857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(</a:t>
            </a:r>
          </a:p>
        </p:txBody>
      </p:sp>
      <p:sp>
        <p:nvSpPr>
          <p:cNvPr id="542806" name="Rectangle 86"/>
          <p:cNvSpPr>
            <a:spLocks noChangeArrowheads="1"/>
          </p:cNvSpPr>
          <p:nvPr/>
        </p:nvSpPr>
        <p:spPr bwMode="auto">
          <a:xfrm>
            <a:off x="5045075" y="2709863"/>
            <a:ext cx="2857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542807" name="Rectangle 87"/>
          <p:cNvSpPr>
            <a:spLocks noChangeArrowheads="1"/>
          </p:cNvSpPr>
          <p:nvPr/>
        </p:nvSpPr>
        <p:spPr bwMode="auto">
          <a:xfrm>
            <a:off x="5794375" y="2709863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#</a:t>
            </a:r>
          </a:p>
        </p:txBody>
      </p:sp>
      <p:sp>
        <p:nvSpPr>
          <p:cNvPr id="542808" name="Rectangle 88"/>
          <p:cNvSpPr>
            <a:spLocks noChangeArrowheads="1"/>
          </p:cNvSpPr>
          <p:nvPr/>
        </p:nvSpPr>
        <p:spPr bwMode="auto">
          <a:xfrm>
            <a:off x="6516688" y="2709863"/>
            <a:ext cx="3873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>
                <a:sym typeface="Symbol" panose="05050102010706020507" pitchFamily="18" charset="2"/>
              </a:rPr>
              <a:t>E</a:t>
            </a:r>
          </a:p>
        </p:txBody>
      </p:sp>
      <p:sp>
        <p:nvSpPr>
          <p:cNvPr id="542809" name="Rectangle 89"/>
          <p:cNvSpPr>
            <a:spLocks noChangeArrowheads="1"/>
          </p:cNvSpPr>
          <p:nvPr/>
        </p:nvSpPr>
        <p:spPr bwMode="auto">
          <a:xfrm>
            <a:off x="7164388" y="2709863"/>
            <a:ext cx="354012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>
                <a:sym typeface="Symbol" panose="05050102010706020507" pitchFamily="18" charset="2"/>
              </a:rPr>
              <a:t>L</a:t>
            </a:r>
          </a:p>
        </p:txBody>
      </p:sp>
      <p:sp>
        <p:nvSpPr>
          <p:cNvPr id="542810" name="Rectangle 90"/>
          <p:cNvSpPr>
            <a:spLocks noChangeArrowheads="1"/>
          </p:cNvSpPr>
          <p:nvPr/>
        </p:nvSpPr>
        <p:spPr bwMode="auto">
          <a:xfrm>
            <a:off x="7715250" y="2709863"/>
            <a:ext cx="369888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>
                <a:sym typeface="Symbol" panose="05050102010706020507" pitchFamily="18" charset="2"/>
              </a:rPr>
              <a:t>F</a:t>
            </a:r>
          </a:p>
        </p:txBody>
      </p:sp>
      <p:sp>
        <p:nvSpPr>
          <p:cNvPr id="542813" name="Rectangle 93"/>
          <p:cNvSpPr>
            <a:spLocks noChangeArrowheads="1"/>
          </p:cNvSpPr>
          <p:nvPr/>
        </p:nvSpPr>
        <p:spPr bwMode="auto">
          <a:xfrm>
            <a:off x="1438275" y="3611563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2</a:t>
            </a:r>
          </a:p>
        </p:txBody>
      </p:sp>
      <p:sp>
        <p:nvSpPr>
          <p:cNvPr id="542815" name="Rectangle 95"/>
          <p:cNvSpPr>
            <a:spLocks noChangeArrowheads="1"/>
          </p:cNvSpPr>
          <p:nvPr/>
        </p:nvSpPr>
        <p:spPr bwMode="auto">
          <a:xfrm>
            <a:off x="1438275" y="4187825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4</a:t>
            </a:r>
          </a:p>
        </p:txBody>
      </p:sp>
      <p:sp>
        <p:nvSpPr>
          <p:cNvPr id="542816" name="Rectangle 96"/>
          <p:cNvSpPr>
            <a:spLocks noChangeArrowheads="1"/>
          </p:cNvSpPr>
          <p:nvPr/>
        </p:nvSpPr>
        <p:spPr bwMode="auto">
          <a:xfrm>
            <a:off x="1438275" y="4475163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5</a:t>
            </a:r>
          </a:p>
        </p:txBody>
      </p:sp>
      <p:sp>
        <p:nvSpPr>
          <p:cNvPr id="542817" name="Rectangle 97"/>
          <p:cNvSpPr>
            <a:spLocks noChangeArrowheads="1"/>
          </p:cNvSpPr>
          <p:nvPr/>
        </p:nvSpPr>
        <p:spPr bwMode="auto">
          <a:xfrm>
            <a:off x="1438275" y="4764088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6</a:t>
            </a:r>
          </a:p>
        </p:txBody>
      </p:sp>
      <p:sp>
        <p:nvSpPr>
          <p:cNvPr id="542818" name="Rectangle 98"/>
          <p:cNvSpPr>
            <a:spLocks noChangeArrowheads="1"/>
          </p:cNvSpPr>
          <p:nvPr/>
        </p:nvSpPr>
        <p:spPr bwMode="auto">
          <a:xfrm>
            <a:off x="1438275" y="5014913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7</a:t>
            </a:r>
          </a:p>
        </p:txBody>
      </p:sp>
      <p:sp>
        <p:nvSpPr>
          <p:cNvPr id="542819" name="Rectangle 99"/>
          <p:cNvSpPr>
            <a:spLocks noChangeArrowheads="1"/>
          </p:cNvSpPr>
          <p:nvPr/>
        </p:nvSpPr>
        <p:spPr bwMode="auto">
          <a:xfrm>
            <a:off x="1438275" y="5267325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8</a:t>
            </a:r>
          </a:p>
        </p:txBody>
      </p:sp>
      <p:sp>
        <p:nvSpPr>
          <p:cNvPr id="542820" name="Rectangle 100"/>
          <p:cNvSpPr>
            <a:spLocks noChangeArrowheads="1"/>
          </p:cNvSpPr>
          <p:nvPr/>
        </p:nvSpPr>
        <p:spPr bwMode="auto">
          <a:xfrm>
            <a:off x="1368425" y="5808663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10</a:t>
            </a:r>
          </a:p>
        </p:txBody>
      </p:sp>
      <p:sp>
        <p:nvSpPr>
          <p:cNvPr id="542821" name="Rectangle 101"/>
          <p:cNvSpPr>
            <a:spLocks noChangeArrowheads="1"/>
          </p:cNvSpPr>
          <p:nvPr/>
        </p:nvSpPr>
        <p:spPr bwMode="auto">
          <a:xfrm>
            <a:off x="1368425" y="6061075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11</a:t>
            </a:r>
          </a:p>
        </p:txBody>
      </p:sp>
      <p:sp>
        <p:nvSpPr>
          <p:cNvPr id="542822" name="Rectangle 102"/>
          <p:cNvSpPr>
            <a:spLocks noChangeArrowheads="1"/>
          </p:cNvSpPr>
          <p:nvPr/>
        </p:nvSpPr>
        <p:spPr bwMode="auto">
          <a:xfrm>
            <a:off x="1368425" y="6345238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12</a:t>
            </a:r>
          </a:p>
        </p:txBody>
      </p:sp>
      <p:sp>
        <p:nvSpPr>
          <p:cNvPr id="542812" name="Rectangle 92"/>
          <p:cNvSpPr>
            <a:spLocks noChangeArrowheads="1"/>
          </p:cNvSpPr>
          <p:nvPr/>
        </p:nvSpPr>
        <p:spPr bwMode="auto">
          <a:xfrm>
            <a:off x="1438275" y="3324225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1</a:t>
            </a:r>
          </a:p>
        </p:txBody>
      </p:sp>
      <p:sp>
        <p:nvSpPr>
          <p:cNvPr id="542827" name="Rectangle 107"/>
          <p:cNvSpPr>
            <a:spLocks noChangeArrowheads="1"/>
          </p:cNvSpPr>
          <p:nvPr/>
        </p:nvSpPr>
        <p:spPr bwMode="auto">
          <a:xfrm>
            <a:off x="5651500" y="3284538"/>
            <a:ext cx="579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acc</a:t>
            </a:r>
          </a:p>
        </p:txBody>
      </p:sp>
      <p:sp>
        <p:nvSpPr>
          <p:cNvPr id="542832" name="Rectangle 112"/>
          <p:cNvSpPr>
            <a:spLocks noChangeArrowheads="1"/>
          </p:cNvSpPr>
          <p:nvPr/>
        </p:nvSpPr>
        <p:spPr bwMode="auto">
          <a:xfrm>
            <a:off x="5794375" y="360838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r2</a:t>
            </a:r>
          </a:p>
        </p:txBody>
      </p:sp>
      <p:sp>
        <p:nvSpPr>
          <p:cNvPr id="542811" name="Rectangle 91"/>
          <p:cNvSpPr>
            <a:spLocks noChangeArrowheads="1"/>
          </p:cNvSpPr>
          <p:nvPr/>
        </p:nvSpPr>
        <p:spPr bwMode="auto">
          <a:xfrm>
            <a:off x="1438275" y="3070225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0</a:t>
            </a:r>
          </a:p>
        </p:txBody>
      </p:sp>
      <p:grpSp>
        <p:nvGrpSpPr>
          <p:cNvPr id="542897" name="Group 177"/>
          <p:cNvGrpSpPr/>
          <p:nvPr/>
        </p:nvGrpSpPr>
        <p:grpSpPr bwMode="auto">
          <a:xfrm>
            <a:off x="2195513" y="3068638"/>
            <a:ext cx="5870575" cy="396875"/>
            <a:chOff x="1383" y="1933"/>
            <a:chExt cx="3698" cy="250"/>
          </a:xfrm>
        </p:grpSpPr>
        <p:sp>
          <p:nvSpPr>
            <p:cNvPr id="542824" name="Rectangle 104"/>
            <p:cNvSpPr>
              <a:spLocks noChangeArrowheads="1"/>
            </p:cNvSpPr>
            <p:nvPr/>
          </p:nvSpPr>
          <p:spPr bwMode="auto">
            <a:xfrm>
              <a:off x="4127" y="1933"/>
              <a:ext cx="20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542826" name="Rectangle 106"/>
            <p:cNvSpPr>
              <a:spLocks noChangeArrowheads="1"/>
            </p:cNvSpPr>
            <p:nvPr/>
          </p:nvSpPr>
          <p:spPr bwMode="auto">
            <a:xfrm>
              <a:off x="4876" y="1933"/>
              <a:ext cx="20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542836" name="Rectangle 116"/>
            <p:cNvSpPr>
              <a:spLocks noChangeArrowheads="1"/>
            </p:cNvSpPr>
            <p:nvPr/>
          </p:nvSpPr>
          <p:spPr bwMode="auto">
            <a:xfrm>
              <a:off x="2529" y="1933"/>
              <a:ext cx="28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s3</a:t>
              </a:r>
            </a:p>
          </p:txBody>
        </p:sp>
        <p:sp>
          <p:nvSpPr>
            <p:cNvPr id="542838" name="Rectangle 118"/>
            <p:cNvSpPr>
              <a:spLocks noChangeArrowheads="1"/>
            </p:cNvSpPr>
            <p:nvPr/>
          </p:nvSpPr>
          <p:spPr bwMode="auto">
            <a:xfrm>
              <a:off x="1383" y="1933"/>
              <a:ext cx="28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s4</a:t>
              </a:r>
            </a:p>
          </p:txBody>
        </p:sp>
      </p:grpSp>
      <p:sp>
        <p:nvSpPr>
          <p:cNvPr id="542846" name="Rectangle 126"/>
          <p:cNvSpPr>
            <a:spLocks noChangeArrowheads="1"/>
          </p:cNvSpPr>
          <p:nvPr/>
        </p:nvSpPr>
        <p:spPr bwMode="auto">
          <a:xfrm>
            <a:off x="3152775" y="447198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r4</a:t>
            </a:r>
          </a:p>
        </p:txBody>
      </p:sp>
      <p:sp>
        <p:nvSpPr>
          <p:cNvPr id="542847" name="Rectangle 127"/>
          <p:cNvSpPr>
            <a:spLocks noChangeArrowheads="1"/>
          </p:cNvSpPr>
          <p:nvPr/>
        </p:nvSpPr>
        <p:spPr bwMode="auto">
          <a:xfrm>
            <a:off x="5818188" y="4221163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r6</a:t>
            </a:r>
          </a:p>
        </p:txBody>
      </p:sp>
      <p:sp>
        <p:nvSpPr>
          <p:cNvPr id="542850" name="Rectangle 130"/>
          <p:cNvSpPr>
            <a:spLocks noChangeArrowheads="1"/>
          </p:cNvSpPr>
          <p:nvPr/>
        </p:nvSpPr>
        <p:spPr bwMode="auto">
          <a:xfrm>
            <a:off x="3059113" y="4760913"/>
            <a:ext cx="593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s10</a:t>
            </a:r>
          </a:p>
        </p:txBody>
      </p:sp>
      <p:grpSp>
        <p:nvGrpSpPr>
          <p:cNvPr id="542903" name="Group 183"/>
          <p:cNvGrpSpPr/>
          <p:nvPr/>
        </p:nvGrpSpPr>
        <p:grpSpPr bwMode="auto">
          <a:xfrm>
            <a:off x="3128963" y="6381750"/>
            <a:ext cx="2230437" cy="396875"/>
            <a:chOff x="1971" y="3838"/>
            <a:chExt cx="1405" cy="250"/>
          </a:xfrm>
        </p:grpSpPr>
        <p:sp>
          <p:nvSpPr>
            <p:cNvPr id="542868" name="Rectangle 148"/>
            <p:cNvSpPr>
              <a:spLocks noChangeArrowheads="1"/>
            </p:cNvSpPr>
            <p:nvPr/>
          </p:nvSpPr>
          <p:spPr bwMode="auto">
            <a:xfrm>
              <a:off x="1971" y="3838"/>
              <a:ext cx="258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r2</a:t>
              </a:r>
            </a:p>
          </p:txBody>
        </p:sp>
        <p:sp>
          <p:nvSpPr>
            <p:cNvPr id="542869" name="Rectangle 149"/>
            <p:cNvSpPr>
              <a:spLocks noChangeArrowheads="1"/>
            </p:cNvSpPr>
            <p:nvPr/>
          </p:nvSpPr>
          <p:spPr bwMode="auto">
            <a:xfrm>
              <a:off x="3118" y="3838"/>
              <a:ext cx="258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r2</a:t>
              </a:r>
            </a:p>
          </p:txBody>
        </p:sp>
      </p:grpSp>
      <p:sp>
        <p:nvSpPr>
          <p:cNvPr id="542814" name="Rectangle 94"/>
          <p:cNvSpPr>
            <a:spLocks noChangeArrowheads="1"/>
          </p:cNvSpPr>
          <p:nvPr/>
        </p:nvSpPr>
        <p:spPr bwMode="auto">
          <a:xfrm>
            <a:off x="1438275" y="3900488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3</a:t>
            </a:r>
          </a:p>
        </p:txBody>
      </p:sp>
      <p:grpSp>
        <p:nvGrpSpPr>
          <p:cNvPr id="542898" name="Group 178"/>
          <p:cNvGrpSpPr/>
          <p:nvPr/>
        </p:nvGrpSpPr>
        <p:grpSpPr bwMode="auto">
          <a:xfrm>
            <a:off x="2195513" y="3895725"/>
            <a:ext cx="5905500" cy="434975"/>
            <a:chOff x="1383" y="2454"/>
            <a:chExt cx="3720" cy="274"/>
          </a:xfrm>
        </p:grpSpPr>
        <p:sp>
          <p:nvSpPr>
            <p:cNvPr id="542877" name="Rectangle 157"/>
            <p:cNvSpPr>
              <a:spLocks noChangeArrowheads="1"/>
            </p:cNvSpPr>
            <p:nvPr/>
          </p:nvSpPr>
          <p:spPr bwMode="auto">
            <a:xfrm>
              <a:off x="2529" y="2454"/>
              <a:ext cx="28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s8</a:t>
              </a:r>
            </a:p>
          </p:txBody>
        </p:sp>
        <p:sp>
          <p:nvSpPr>
            <p:cNvPr id="542878" name="Rectangle 158"/>
            <p:cNvSpPr>
              <a:spLocks noChangeArrowheads="1"/>
            </p:cNvSpPr>
            <p:nvPr/>
          </p:nvSpPr>
          <p:spPr bwMode="auto">
            <a:xfrm>
              <a:off x="1383" y="2454"/>
              <a:ext cx="28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s9</a:t>
              </a:r>
            </a:p>
          </p:txBody>
        </p:sp>
        <p:sp>
          <p:nvSpPr>
            <p:cNvPr id="542879" name="Rectangle 159"/>
            <p:cNvSpPr>
              <a:spLocks noChangeArrowheads="1"/>
            </p:cNvSpPr>
            <p:nvPr/>
          </p:nvSpPr>
          <p:spPr bwMode="auto">
            <a:xfrm>
              <a:off x="4149" y="2478"/>
              <a:ext cx="20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5</a:t>
              </a:r>
            </a:p>
          </p:txBody>
        </p:sp>
        <p:sp>
          <p:nvSpPr>
            <p:cNvPr id="542880" name="Rectangle 160"/>
            <p:cNvSpPr>
              <a:spLocks noChangeArrowheads="1"/>
            </p:cNvSpPr>
            <p:nvPr/>
          </p:nvSpPr>
          <p:spPr bwMode="auto">
            <a:xfrm>
              <a:off x="4535" y="2478"/>
              <a:ext cx="20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6</a:t>
              </a:r>
            </a:p>
          </p:txBody>
        </p:sp>
        <p:sp>
          <p:nvSpPr>
            <p:cNvPr id="542881" name="Rectangle 161"/>
            <p:cNvSpPr>
              <a:spLocks noChangeArrowheads="1"/>
            </p:cNvSpPr>
            <p:nvPr/>
          </p:nvSpPr>
          <p:spPr bwMode="auto">
            <a:xfrm>
              <a:off x="4898" y="2478"/>
              <a:ext cx="20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7</a:t>
              </a:r>
            </a:p>
          </p:txBody>
        </p:sp>
      </p:grpSp>
      <p:grpSp>
        <p:nvGrpSpPr>
          <p:cNvPr id="542899" name="Group 179"/>
          <p:cNvGrpSpPr/>
          <p:nvPr/>
        </p:nvGrpSpPr>
        <p:grpSpPr bwMode="auto">
          <a:xfrm>
            <a:off x="3154363" y="5048250"/>
            <a:ext cx="2298700" cy="396875"/>
            <a:chOff x="1987" y="3180"/>
            <a:chExt cx="1448" cy="250"/>
          </a:xfrm>
        </p:grpSpPr>
        <p:sp>
          <p:nvSpPr>
            <p:cNvPr id="542856" name="Rectangle 136"/>
            <p:cNvSpPr>
              <a:spLocks noChangeArrowheads="1"/>
            </p:cNvSpPr>
            <p:nvPr/>
          </p:nvSpPr>
          <p:spPr bwMode="auto">
            <a:xfrm>
              <a:off x="3061" y="3180"/>
              <a:ext cx="37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olidFill>
                    <a:srgbClr val="800080"/>
                  </a:solidFill>
                  <a:sym typeface="Symbol" panose="05050102010706020507" pitchFamily="18" charset="2"/>
                </a:rPr>
                <a:t>s16</a:t>
              </a:r>
            </a:p>
          </p:txBody>
        </p:sp>
        <p:sp>
          <p:nvSpPr>
            <p:cNvPr id="542882" name="Rectangle 162"/>
            <p:cNvSpPr>
              <a:spLocks noChangeArrowheads="1"/>
            </p:cNvSpPr>
            <p:nvPr/>
          </p:nvSpPr>
          <p:spPr bwMode="auto">
            <a:xfrm>
              <a:off x="1987" y="3180"/>
              <a:ext cx="258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olidFill>
                    <a:srgbClr val="800080"/>
                  </a:solidFill>
                  <a:sym typeface="Symbol" panose="05050102010706020507" pitchFamily="18" charset="2"/>
                </a:rPr>
                <a:t>r2</a:t>
              </a:r>
            </a:p>
          </p:txBody>
        </p:sp>
      </p:grpSp>
      <p:grpSp>
        <p:nvGrpSpPr>
          <p:cNvPr id="542900" name="Group 180"/>
          <p:cNvGrpSpPr/>
          <p:nvPr/>
        </p:nvGrpSpPr>
        <p:grpSpPr bwMode="auto">
          <a:xfrm>
            <a:off x="2195513" y="5264150"/>
            <a:ext cx="5976937" cy="469900"/>
            <a:chOff x="1383" y="3316"/>
            <a:chExt cx="3765" cy="296"/>
          </a:xfrm>
        </p:grpSpPr>
        <p:sp>
          <p:nvSpPr>
            <p:cNvPr id="542860" name="Rectangle 140"/>
            <p:cNvSpPr>
              <a:spLocks noChangeArrowheads="1"/>
            </p:cNvSpPr>
            <p:nvPr/>
          </p:nvSpPr>
          <p:spPr bwMode="auto">
            <a:xfrm>
              <a:off x="1383" y="3316"/>
              <a:ext cx="28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s9</a:t>
              </a:r>
            </a:p>
          </p:txBody>
        </p:sp>
        <p:sp>
          <p:nvSpPr>
            <p:cNvPr id="542861" name="Rectangle 141"/>
            <p:cNvSpPr>
              <a:spLocks noChangeArrowheads="1"/>
            </p:cNvSpPr>
            <p:nvPr/>
          </p:nvSpPr>
          <p:spPr bwMode="auto">
            <a:xfrm>
              <a:off x="2516" y="3340"/>
              <a:ext cx="28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s8</a:t>
              </a:r>
            </a:p>
          </p:txBody>
        </p:sp>
        <p:sp>
          <p:nvSpPr>
            <p:cNvPr id="542883" name="Rectangle 163"/>
            <p:cNvSpPr>
              <a:spLocks noChangeArrowheads="1"/>
            </p:cNvSpPr>
            <p:nvPr/>
          </p:nvSpPr>
          <p:spPr bwMode="auto">
            <a:xfrm>
              <a:off x="4150" y="3362"/>
              <a:ext cx="20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5</a:t>
              </a:r>
            </a:p>
          </p:txBody>
        </p:sp>
        <p:sp>
          <p:nvSpPr>
            <p:cNvPr id="542884" name="Rectangle 164"/>
            <p:cNvSpPr>
              <a:spLocks noChangeArrowheads="1"/>
            </p:cNvSpPr>
            <p:nvPr/>
          </p:nvSpPr>
          <p:spPr bwMode="auto">
            <a:xfrm>
              <a:off x="4491" y="3362"/>
              <a:ext cx="29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17</a:t>
              </a:r>
            </a:p>
          </p:txBody>
        </p:sp>
        <p:sp>
          <p:nvSpPr>
            <p:cNvPr id="542885" name="Rectangle 165"/>
            <p:cNvSpPr>
              <a:spLocks noChangeArrowheads="1"/>
            </p:cNvSpPr>
            <p:nvPr/>
          </p:nvSpPr>
          <p:spPr bwMode="auto">
            <a:xfrm>
              <a:off x="4854" y="3362"/>
              <a:ext cx="29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15</a:t>
              </a:r>
            </a:p>
          </p:txBody>
        </p:sp>
      </p:grpSp>
      <p:grpSp>
        <p:nvGrpSpPr>
          <p:cNvPr id="542901" name="Group 181"/>
          <p:cNvGrpSpPr/>
          <p:nvPr/>
        </p:nvGrpSpPr>
        <p:grpSpPr bwMode="auto">
          <a:xfrm>
            <a:off x="2195513" y="5805488"/>
            <a:ext cx="5976937" cy="469900"/>
            <a:chOff x="1383" y="3475"/>
            <a:chExt cx="3765" cy="296"/>
          </a:xfrm>
        </p:grpSpPr>
        <p:sp>
          <p:nvSpPr>
            <p:cNvPr id="542863" name="Rectangle 143"/>
            <p:cNvSpPr>
              <a:spLocks noChangeArrowheads="1"/>
            </p:cNvSpPr>
            <p:nvPr/>
          </p:nvSpPr>
          <p:spPr bwMode="auto">
            <a:xfrm>
              <a:off x="2506" y="3498"/>
              <a:ext cx="37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s13</a:t>
              </a:r>
            </a:p>
          </p:txBody>
        </p:sp>
        <p:sp>
          <p:nvSpPr>
            <p:cNvPr id="542876" name="Rectangle 156"/>
            <p:cNvSpPr>
              <a:spLocks noChangeArrowheads="1"/>
            </p:cNvSpPr>
            <p:nvPr/>
          </p:nvSpPr>
          <p:spPr bwMode="auto">
            <a:xfrm>
              <a:off x="1383" y="3475"/>
              <a:ext cx="28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s9</a:t>
              </a:r>
            </a:p>
          </p:txBody>
        </p:sp>
        <p:sp>
          <p:nvSpPr>
            <p:cNvPr id="542886" name="Rectangle 166"/>
            <p:cNvSpPr>
              <a:spLocks noChangeArrowheads="1"/>
            </p:cNvSpPr>
            <p:nvPr/>
          </p:nvSpPr>
          <p:spPr bwMode="auto">
            <a:xfrm>
              <a:off x="4105" y="3521"/>
              <a:ext cx="29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11</a:t>
              </a:r>
            </a:p>
          </p:txBody>
        </p:sp>
        <p:sp>
          <p:nvSpPr>
            <p:cNvPr id="542887" name="Rectangle 167"/>
            <p:cNvSpPr>
              <a:spLocks noChangeArrowheads="1"/>
            </p:cNvSpPr>
            <p:nvPr/>
          </p:nvSpPr>
          <p:spPr bwMode="auto">
            <a:xfrm>
              <a:off x="4854" y="3521"/>
              <a:ext cx="29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12</a:t>
              </a:r>
            </a:p>
          </p:txBody>
        </p:sp>
      </p:grpSp>
      <p:grpSp>
        <p:nvGrpSpPr>
          <p:cNvPr id="542902" name="Group 182"/>
          <p:cNvGrpSpPr/>
          <p:nvPr/>
        </p:nvGrpSpPr>
        <p:grpSpPr bwMode="auto">
          <a:xfrm>
            <a:off x="3128963" y="6057900"/>
            <a:ext cx="2324100" cy="396875"/>
            <a:chOff x="1971" y="3634"/>
            <a:chExt cx="1464" cy="250"/>
          </a:xfrm>
        </p:grpSpPr>
        <p:sp>
          <p:nvSpPr>
            <p:cNvPr id="542865" name="Rectangle 145"/>
            <p:cNvSpPr>
              <a:spLocks noChangeArrowheads="1"/>
            </p:cNvSpPr>
            <p:nvPr/>
          </p:nvSpPr>
          <p:spPr bwMode="auto">
            <a:xfrm>
              <a:off x="1971" y="3634"/>
              <a:ext cx="258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r3</a:t>
              </a:r>
            </a:p>
          </p:txBody>
        </p:sp>
        <p:sp>
          <p:nvSpPr>
            <p:cNvPr id="542888" name="Rectangle 168"/>
            <p:cNvSpPr>
              <a:spLocks noChangeArrowheads="1"/>
            </p:cNvSpPr>
            <p:nvPr/>
          </p:nvSpPr>
          <p:spPr bwMode="auto">
            <a:xfrm>
              <a:off x="3061" y="3634"/>
              <a:ext cx="37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s20</a:t>
              </a:r>
            </a:p>
          </p:txBody>
        </p:sp>
      </p:grpSp>
      <p:grpSp>
        <p:nvGrpSpPr>
          <p:cNvPr id="542908" name="Group 188"/>
          <p:cNvGrpSpPr/>
          <p:nvPr/>
        </p:nvGrpSpPr>
        <p:grpSpPr bwMode="auto">
          <a:xfrm>
            <a:off x="3154363" y="5589588"/>
            <a:ext cx="2209800" cy="396875"/>
            <a:chOff x="1987" y="3521"/>
            <a:chExt cx="1392" cy="250"/>
          </a:xfrm>
        </p:grpSpPr>
        <p:sp>
          <p:nvSpPr>
            <p:cNvPr id="542905" name="Rectangle 185"/>
            <p:cNvSpPr>
              <a:spLocks noChangeArrowheads="1"/>
            </p:cNvSpPr>
            <p:nvPr/>
          </p:nvSpPr>
          <p:spPr bwMode="auto">
            <a:xfrm>
              <a:off x="3121" y="3521"/>
              <a:ext cx="258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r6</a:t>
              </a:r>
            </a:p>
          </p:txBody>
        </p:sp>
        <p:sp>
          <p:nvSpPr>
            <p:cNvPr id="542906" name="Rectangle 186"/>
            <p:cNvSpPr>
              <a:spLocks noChangeArrowheads="1"/>
            </p:cNvSpPr>
            <p:nvPr/>
          </p:nvSpPr>
          <p:spPr bwMode="auto">
            <a:xfrm>
              <a:off x="1987" y="3521"/>
              <a:ext cx="258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r6</a:t>
              </a:r>
            </a:p>
          </p:txBody>
        </p:sp>
      </p:grpSp>
      <p:sp>
        <p:nvSpPr>
          <p:cNvPr id="542907" name="Rectangle 187"/>
          <p:cNvSpPr>
            <a:spLocks noChangeArrowheads="1"/>
          </p:cNvSpPr>
          <p:nvPr/>
        </p:nvSpPr>
        <p:spPr bwMode="auto">
          <a:xfrm>
            <a:off x="1438275" y="5553075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9</a:t>
            </a:r>
          </a:p>
        </p:txBody>
      </p:sp>
      <p:sp>
        <p:nvSpPr>
          <p:cNvPr id="542909" name="AutoShape 18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910" name="AutoShape 19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911" name="AutoShape 19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912" name="AutoShape 19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42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42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42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42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42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542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542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542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542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542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542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542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542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827" grpId="0"/>
      <p:bldP spid="542832" grpId="0"/>
      <p:bldP spid="542846" grpId="0"/>
      <p:bldP spid="542847" grpId="0"/>
      <p:bldP spid="542850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868" name="Text Box 4"/>
          <p:cNvSpPr txBox="1">
            <a:spLocks noChangeArrowheads="1"/>
          </p:cNvSpPr>
          <p:nvPr/>
        </p:nvSpPr>
        <p:spPr bwMode="auto">
          <a:xfrm>
            <a:off x="755650" y="1052513"/>
            <a:ext cx="6048375" cy="1311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800"/>
              <a:t>  LR</a:t>
            </a:r>
            <a:r>
              <a:rPr lang="zh-CN" altLang="en-US" sz="2800"/>
              <a:t>（</a:t>
            </a:r>
            <a:r>
              <a:rPr lang="en-US" altLang="zh-CN" sz="2800"/>
              <a:t>1</a:t>
            </a:r>
            <a:r>
              <a:rPr lang="zh-CN" altLang="en-US" sz="2800"/>
              <a:t>）</a:t>
            </a:r>
            <a:r>
              <a:rPr lang="zh-CN" altLang="en-US" sz="2800" b="1">
                <a:latin typeface="楷体_GB2312" pitchFamily="49" charset="-122"/>
              </a:rPr>
              <a:t>分析表的构造</a:t>
            </a:r>
            <a:r>
              <a:rPr lang="zh-CN" altLang="en-US" sz="2800" b="1">
                <a:solidFill>
                  <a:srgbClr val="800080"/>
                </a:solidFill>
                <a:latin typeface="楷体_GB2312" pitchFamily="49" charset="-122"/>
              </a:rPr>
              <a:t>举例</a:t>
            </a:r>
            <a:r>
              <a:rPr lang="zh-CN" altLang="en-US" sz="2800"/>
              <a:t>（</a:t>
            </a:r>
            <a:r>
              <a:rPr lang="zh-CN" altLang="en-US" sz="2800" b="1">
                <a:latin typeface="楷体_GB2312" pitchFamily="49" charset="-122"/>
              </a:rPr>
              <a:t>续</a:t>
            </a:r>
            <a:r>
              <a:rPr lang="zh-CN" altLang="en-US" sz="2800"/>
              <a:t>）</a:t>
            </a: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 b="1">
                <a:solidFill>
                  <a:srgbClr val="800080"/>
                </a:solidFill>
              </a:rPr>
              <a:t> </a:t>
            </a:r>
            <a:r>
              <a:rPr lang="zh-CN" altLang="en-US" b="1">
                <a:solidFill>
                  <a:srgbClr val="800080"/>
                </a:solidFill>
              </a:rPr>
              <a:t>增广</a:t>
            </a:r>
            <a:r>
              <a:rPr kumimoji="0" lang="zh-CN" altLang="en-US" b="1">
                <a:solidFill>
                  <a:srgbClr val="800080"/>
                </a:solidFill>
                <a:sym typeface="Symbol" panose="05050102010706020507" pitchFamily="18" charset="2"/>
              </a:rPr>
              <a:t>文法：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kumimoji="0" lang="zh-CN" altLang="en-US" i="1">
                <a:sym typeface="Symbol" panose="05050102010706020507" pitchFamily="18" charset="2"/>
              </a:rPr>
              <a:t>    </a:t>
            </a:r>
            <a:r>
              <a:rPr kumimoji="0" lang="en-US" altLang="zh-CN" i="1">
                <a:sym typeface="Symbol" panose="05050102010706020507" pitchFamily="18" charset="2"/>
              </a:rPr>
              <a:t>G’ </a:t>
            </a:r>
            <a:r>
              <a:rPr kumimoji="0" lang="en-US" altLang="zh-CN">
                <a:sym typeface="Symbol" panose="05050102010706020507" pitchFamily="18" charset="2"/>
              </a:rPr>
              <a:t>[</a:t>
            </a:r>
            <a:r>
              <a:rPr kumimoji="0" lang="en-US" altLang="zh-CN" i="1">
                <a:sym typeface="Symbol" panose="05050102010706020507" pitchFamily="18" charset="2"/>
              </a:rPr>
              <a:t>S</a:t>
            </a:r>
            <a:r>
              <a:rPr kumimoji="0" lang="en-US" altLang="zh-CN">
                <a:sym typeface="Symbol" panose="05050102010706020507" pitchFamily="18" charset="2"/>
              </a:rPr>
              <a:t>]</a:t>
            </a:r>
            <a:r>
              <a:rPr lang="en-US" altLang="zh-CN"/>
              <a:t> </a:t>
            </a:r>
          </a:p>
        </p:txBody>
      </p:sp>
      <p:sp>
        <p:nvSpPr>
          <p:cNvPr id="548869" name="Text Box 5"/>
          <p:cNvSpPr txBox="1">
            <a:spLocks noChangeArrowheads="1"/>
          </p:cNvSpPr>
          <p:nvPr/>
        </p:nvSpPr>
        <p:spPr bwMode="auto">
          <a:xfrm>
            <a:off x="3132138" y="1628775"/>
            <a:ext cx="5689600" cy="701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0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S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E</a:t>
            </a:r>
            <a:r>
              <a:rPr lang="en-US" altLang="zh-CN" sz="2000">
                <a:sym typeface="Symbol" panose="05050102010706020507" pitchFamily="18" charset="2"/>
              </a:rPr>
              <a:t>     </a:t>
            </a: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1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E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(L,E)    </a:t>
            </a: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2</a:t>
            </a:r>
            <a:r>
              <a:rPr lang="zh-CN" altLang="en-US" sz="2000">
                <a:sym typeface="Symbol" panose="05050102010706020507" pitchFamily="18" charset="2"/>
              </a:rPr>
              <a:t>） </a:t>
            </a:r>
            <a:r>
              <a:rPr lang="en-US" altLang="zh-CN" sz="2000" i="1">
                <a:sym typeface="Symbol" panose="05050102010706020507" pitchFamily="18" charset="2"/>
              </a:rPr>
              <a:t>E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F  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3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L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L,E </a:t>
            </a: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4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L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E </a:t>
            </a: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5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F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(F)  </a:t>
            </a: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6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F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548870" name="Rectangle 6"/>
          <p:cNvSpPr>
            <a:spLocks noChangeArrowheads="1"/>
          </p:cNvSpPr>
          <p:nvPr/>
        </p:nvSpPr>
        <p:spPr bwMode="auto">
          <a:xfrm>
            <a:off x="35496" y="188913"/>
            <a:ext cx="3167063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548871" name="Line 7"/>
          <p:cNvSpPr>
            <a:spLocks noChangeShapeType="1"/>
          </p:cNvSpPr>
          <p:nvPr/>
        </p:nvSpPr>
        <p:spPr bwMode="auto">
          <a:xfrm>
            <a:off x="2051050" y="2746375"/>
            <a:ext cx="61214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8872" name="Text Box 8"/>
          <p:cNvSpPr txBox="1">
            <a:spLocks noChangeArrowheads="1"/>
          </p:cNvSpPr>
          <p:nvPr/>
        </p:nvSpPr>
        <p:spPr bwMode="auto">
          <a:xfrm>
            <a:off x="1260475" y="2386013"/>
            <a:ext cx="863600" cy="701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kumimoji="0" lang="zh-CN" altLang="en-US" sz="2000" b="1">
                <a:solidFill>
                  <a:srgbClr val="800080"/>
                </a:solidFill>
                <a:latin typeface="Times New Roman" panose="02020603050405020304" pitchFamily="18" charset="0"/>
              </a:rPr>
              <a:t>栈顶状态</a:t>
            </a:r>
          </a:p>
        </p:txBody>
      </p:sp>
      <p:sp>
        <p:nvSpPr>
          <p:cNvPr id="548873" name="Text Box 9"/>
          <p:cNvSpPr txBox="1">
            <a:spLocks noChangeArrowheads="1"/>
          </p:cNvSpPr>
          <p:nvPr/>
        </p:nvSpPr>
        <p:spPr bwMode="auto">
          <a:xfrm>
            <a:off x="3751263" y="2349500"/>
            <a:ext cx="1181100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kumimoji="0" lang="en-US" altLang="zh-CN" sz="2000">
                <a:solidFill>
                  <a:srgbClr val="800080"/>
                </a:solidFill>
              </a:rPr>
              <a:t>ACTION</a:t>
            </a:r>
          </a:p>
        </p:txBody>
      </p:sp>
      <p:sp>
        <p:nvSpPr>
          <p:cNvPr id="548874" name="Text Box 10"/>
          <p:cNvSpPr txBox="1">
            <a:spLocks noChangeArrowheads="1"/>
          </p:cNvSpPr>
          <p:nvPr/>
        </p:nvSpPr>
        <p:spPr bwMode="auto">
          <a:xfrm>
            <a:off x="6948488" y="2349500"/>
            <a:ext cx="1114425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kumimoji="0" lang="en-US" altLang="zh-CN" sz="2000">
                <a:solidFill>
                  <a:srgbClr val="800080"/>
                </a:solidFill>
              </a:rPr>
              <a:t>GOTO</a:t>
            </a:r>
          </a:p>
        </p:txBody>
      </p:sp>
      <p:sp>
        <p:nvSpPr>
          <p:cNvPr id="548875" name="Line 11"/>
          <p:cNvSpPr>
            <a:spLocks noChangeShapeType="1"/>
          </p:cNvSpPr>
          <p:nvPr/>
        </p:nvSpPr>
        <p:spPr bwMode="auto">
          <a:xfrm>
            <a:off x="2051050" y="2386013"/>
            <a:ext cx="0" cy="440055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8876" name="Line 12"/>
          <p:cNvSpPr>
            <a:spLocks noChangeShapeType="1"/>
          </p:cNvSpPr>
          <p:nvPr/>
        </p:nvSpPr>
        <p:spPr bwMode="auto">
          <a:xfrm>
            <a:off x="6372225" y="2386013"/>
            <a:ext cx="0" cy="440055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8877" name="Line 13"/>
          <p:cNvSpPr>
            <a:spLocks noChangeShapeType="1"/>
          </p:cNvSpPr>
          <p:nvPr/>
        </p:nvSpPr>
        <p:spPr bwMode="auto">
          <a:xfrm>
            <a:off x="1223963" y="3106738"/>
            <a:ext cx="6948487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8878" name="Rectangle 14"/>
          <p:cNvSpPr>
            <a:spLocks noChangeArrowheads="1"/>
          </p:cNvSpPr>
          <p:nvPr/>
        </p:nvSpPr>
        <p:spPr bwMode="auto">
          <a:xfrm>
            <a:off x="2238375" y="2674938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548879" name="Rectangle 15"/>
          <p:cNvSpPr>
            <a:spLocks noChangeArrowheads="1"/>
          </p:cNvSpPr>
          <p:nvPr/>
        </p:nvSpPr>
        <p:spPr bwMode="auto">
          <a:xfrm>
            <a:off x="3232150" y="2601913"/>
            <a:ext cx="2603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</a:t>
            </a:r>
          </a:p>
        </p:txBody>
      </p:sp>
      <p:sp>
        <p:nvSpPr>
          <p:cNvPr id="548880" name="Rectangle 16"/>
          <p:cNvSpPr>
            <a:spLocks noChangeArrowheads="1"/>
          </p:cNvSpPr>
          <p:nvPr/>
        </p:nvSpPr>
        <p:spPr bwMode="auto">
          <a:xfrm>
            <a:off x="4110038" y="2674938"/>
            <a:ext cx="2857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(</a:t>
            </a:r>
          </a:p>
        </p:txBody>
      </p:sp>
      <p:sp>
        <p:nvSpPr>
          <p:cNvPr id="548881" name="Rectangle 17"/>
          <p:cNvSpPr>
            <a:spLocks noChangeArrowheads="1"/>
          </p:cNvSpPr>
          <p:nvPr/>
        </p:nvSpPr>
        <p:spPr bwMode="auto">
          <a:xfrm>
            <a:off x="5045075" y="2674938"/>
            <a:ext cx="2857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548882" name="Rectangle 18"/>
          <p:cNvSpPr>
            <a:spLocks noChangeArrowheads="1"/>
          </p:cNvSpPr>
          <p:nvPr/>
        </p:nvSpPr>
        <p:spPr bwMode="auto">
          <a:xfrm>
            <a:off x="5794375" y="2674938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#</a:t>
            </a:r>
          </a:p>
        </p:txBody>
      </p:sp>
      <p:sp>
        <p:nvSpPr>
          <p:cNvPr id="548883" name="Rectangle 19"/>
          <p:cNvSpPr>
            <a:spLocks noChangeArrowheads="1"/>
          </p:cNvSpPr>
          <p:nvPr/>
        </p:nvSpPr>
        <p:spPr bwMode="auto">
          <a:xfrm>
            <a:off x="6516688" y="2674938"/>
            <a:ext cx="3873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>
                <a:sym typeface="Symbol" panose="05050102010706020507" pitchFamily="18" charset="2"/>
              </a:rPr>
              <a:t>E</a:t>
            </a:r>
          </a:p>
        </p:txBody>
      </p:sp>
      <p:sp>
        <p:nvSpPr>
          <p:cNvPr id="548884" name="Rectangle 20"/>
          <p:cNvSpPr>
            <a:spLocks noChangeArrowheads="1"/>
          </p:cNvSpPr>
          <p:nvPr/>
        </p:nvSpPr>
        <p:spPr bwMode="auto">
          <a:xfrm>
            <a:off x="7164388" y="2674938"/>
            <a:ext cx="354012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>
                <a:sym typeface="Symbol" panose="05050102010706020507" pitchFamily="18" charset="2"/>
              </a:rPr>
              <a:t>L</a:t>
            </a:r>
          </a:p>
        </p:txBody>
      </p:sp>
      <p:sp>
        <p:nvSpPr>
          <p:cNvPr id="548885" name="Rectangle 21"/>
          <p:cNvSpPr>
            <a:spLocks noChangeArrowheads="1"/>
          </p:cNvSpPr>
          <p:nvPr/>
        </p:nvSpPr>
        <p:spPr bwMode="auto">
          <a:xfrm>
            <a:off x="7715250" y="2674938"/>
            <a:ext cx="369888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>
                <a:sym typeface="Symbol" panose="05050102010706020507" pitchFamily="18" charset="2"/>
              </a:rPr>
              <a:t>F</a:t>
            </a:r>
          </a:p>
        </p:txBody>
      </p:sp>
      <p:sp>
        <p:nvSpPr>
          <p:cNvPr id="548886" name="Rectangle 22"/>
          <p:cNvSpPr>
            <a:spLocks noChangeArrowheads="1"/>
          </p:cNvSpPr>
          <p:nvPr/>
        </p:nvSpPr>
        <p:spPr bwMode="auto">
          <a:xfrm>
            <a:off x="1438275" y="3357563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14</a:t>
            </a:r>
          </a:p>
        </p:txBody>
      </p:sp>
      <p:sp>
        <p:nvSpPr>
          <p:cNvPr id="548887" name="Rectangle 23"/>
          <p:cNvSpPr>
            <a:spLocks noChangeArrowheads="1"/>
          </p:cNvSpPr>
          <p:nvPr/>
        </p:nvSpPr>
        <p:spPr bwMode="auto">
          <a:xfrm>
            <a:off x="1438275" y="3611563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15</a:t>
            </a:r>
          </a:p>
        </p:txBody>
      </p:sp>
      <p:sp>
        <p:nvSpPr>
          <p:cNvPr id="548888" name="Rectangle 24"/>
          <p:cNvSpPr>
            <a:spLocks noChangeArrowheads="1"/>
          </p:cNvSpPr>
          <p:nvPr/>
        </p:nvSpPr>
        <p:spPr bwMode="auto">
          <a:xfrm>
            <a:off x="1438275" y="3898900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16</a:t>
            </a:r>
          </a:p>
        </p:txBody>
      </p:sp>
      <p:sp>
        <p:nvSpPr>
          <p:cNvPr id="548889" name="Rectangle 25"/>
          <p:cNvSpPr>
            <a:spLocks noChangeArrowheads="1"/>
          </p:cNvSpPr>
          <p:nvPr/>
        </p:nvSpPr>
        <p:spPr bwMode="auto">
          <a:xfrm>
            <a:off x="1438275" y="4187825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17</a:t>
            </a:r>
          </a:p>
        </p:txBody>
      </p:sp>
      <p:sp>
        <p:nvSpPr>
          <p:cNvPr id="548890" name="Rectangle 26"/>
          <p:cNvSpPr>
            <a:spLocks noChangeArrowheads="1"/>
          </p:cNvSpPr>
          <p:nvPr/>
        </p:nvSpPr>
        <p:spPr bwMode="auto">
          <a:xfrm>
            <a:off x="1438275" y="4475163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18</a:t>
            </a:r>
          </a:p>
        </p:txBody>
      </p:sp>
      <p:sp>
        <p:nvSpPr>
          <p:cNvPr id="548891" name="Rectangle 27"/>
          <p:cNvSpPr>
            <a:spLocks noChangeArrowheads="1"/>
          </p:cNvSpPr>
          <p:nvPr/>
        </p:nvSpPr>
        <p:spPr bwMode="auto">
          <a:xfrm>
            <a:off x="1438275" y="4762500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19</a:t>
            </a:r>
          </a:p>
        </p:txBody>
      </p:sp>
      <p:sp>
        <p:nvSpPr>
          <p:cNvPr id="548892" name="Rectangle 28"/>
          <p:cNvSpPr>
            <a:spLocks noChangeArrowheads="1"/>
          </p:cNvSpPr>
          <p:nvPr/>
        </p:nvSpPr>
        <p:spPr bwMode="auto">
          <a:xfrm>
            <a:off x="1438275" y="5051425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20</a:t>
            </a:r>
          </a:p>
        </p:txBody>
      </p:sp>
      <p:sp>
        <p:nvSpPr>
          <p:cNvPr id="548893" name="Rectangle 29"/>
          <p:cNvSpPr>
            <a:spLocks noChangeArrowheads="1"/>
          </p:cNvSpPr>
          <p:nvPr/>
        </p:nvSpPr>
        <p:spPr bwMode="auto">
          <a:xfrm>
            <a:off x="1438275" y="5302250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21</a:t>
            </a:r>
          </a:p>
        </p:txBody>
      </p:sp>
      <p:sp>
        <p:nvSpPr>
          <p:cNvPr id="548894" name="Rectangle 30"/>
          <p:cNvSpPr>
            <a:spLocks noChangeArrowheads="1"/>
          </p:cNvSpPr>
          <p:nvPr/>
        </p:nvSpPr>
        <p:spPr bwMode="auto">
          <a:xfrm>
            <a:off x="1438275" y="5554663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22</a:t>
            </a:r>
          </a:p>
        </p:txBody>
      </p:sp>
      <p:sp>
        <p:nvSpPr>
          <p:cNvPr id="548895" name="Rectangle 31"/>
          <p:cNvSpPr>
            <a:spLocks noChangeArrowheads="1"/>
          </p:cNvSpPr>
          <p:nvPr/>
        </p:nvSpPr>
        <p:spPr bwMode="auto">
          <a:xfrm>
            <a:off x="1438275" y="5807075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23</a:t>
            </a:r>
          </a:p>
        </p:txBody>
      </p:sp>
      <p:sp>
        <p:nvSpPr>
          <p:cNvPr id="548896" name="Rectangle 32"/>
          <p:cNvSpPr>
            <a:spLocks noChangeArrowheads="1"/>
          </p:cNvSpPr>
          <p:nvPr/>
        </p:nvSpPr>
        <p:spPr bwMode="auto">
          <a:xfrm>
            <a:off x="1441450" y="6096000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24</a:t>
            </a:r>
          </a:p>
        </p:txBody>
      </p:sp>
      <p:sp>
        <p:nvSpPr>
          <p:cNvPr id="548897" name="Rectangle 33"/>
          <p:cNvSpPr>
            <a:spLocks noChangeArrowheads="1"/>
          </p:cNvSpPr>
          <p:nvPr/>
        </p:nvSpPr>
        <p:spPr bwMode="auto">
          <a:xfrm>
            <a:off x="1441450" y="6380163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25</a:t>
            </a:r>
          </a:p>
        </p:txBody>
      </p:sp>
      <p:sp>
        <p:nvSpPr>
          <p:cNvPr id="548902" name="Rectangle 38"/>
          <p:cNvSpPr>
            <a:spLocks noChangeArrowheads="1"/>
          </p:cNvSpPr>
          <p:nvPr/>
        </p:nvSpPr>
        <p:spPr bwMode="auto">
          <a:xfrm>
            <a:off x="5794375" y="389572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r5</a:t>
            </a:r>
          </a:p>
        </p:txBody>
      </p:sp>
      <p:sp>
        <p:nvSpPr>
          <p:cNvPr id="548904" name="Rectangle 40"/>
          <p:cNvSpPr>
            <a:spLocks noChangeArrowheads="1"/>
          </p:cNvSpPr>
          <p:nvPr/>
        </p:nvSpPr>
        <p:spPr bwMode="auto">
          <a:xfrm>
            <a:off x="3059113" y="3286125"/>
            <a:ext cx="593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s18</a:t>
            </a:r>
          </a:p>
        </p:txBody>
      </p:sp>
      <p:grpSp>
        <p:nvGrpSpPr>
          <p:cNvPr id="548954" name="Group 90"/>
          <p:cNvGrpSpPr/>
          <p:nvPr/>
        </p:nvGrpSpPr>
        <p:grpSpPr bwMode="auto">
          <a:xfrm>
            <a:off x="3128963" y="5553075"/>
            <a:ext cx="2324100" cy="433388"/>
            <a:chOff x="1971" y="3385"/>
            <a:chExt cx="1464" cy="273"/>
          </a:xfrm>
        </p:grpSpPr>
        <p:sp>
          <p:nvSpPr>
            <p:cNvPr id="548910" name="Rectangle 46"/>
            <p:cNvSpPr>
              <a:spLocks noChangeArrowheads="1"/>
            </p:cNvSpPr>
            <p:nvPr/>
          </p:nvSpPr>
          <p:spPr bwMode="auto">
            <a:xfrm>
              <a:off x="3061" y="3408"/>
              <a:ext cx="37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s23</a:t>
              </a:r>
            </a:p>
          </p:txBody>
        </p:sp>
        <p:sp>
          <p:nvSpPr>
            <p:cNvPr id="548912" name="Rectangle 48"/>
            <p:cNvSpPr>
              <a:spLocks noChangeArrowheads="1"/>
            </p:cNvSpPr>
            <p:nvPr/>
          </p:nvSpPr>
          <p:spPr bwMode="auto">
            <a:xfrm>
              <a:off x="1971" y="3385"/>
              <a:ext cx="258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r3</a:t>
              </a:r>
            </a:p>
          </p:txBody>
        </p:sp>
      </p:grpSp>
      <p:grpSp>
        <p:nvGrpSpPr>
          <p:cNvPr id="548953" name="Group 89"/>
          <p:cNvGrpSpPr/>
          <p:nvPr/>
        </p:nvGrpSpPr>
        <p:grpSpPr bwMode="auto">
          <a:xfrm>
            <a:off x="3128963" y="5299075"/>
            <a:ext cx="2230437" cy="396875"/>
            <a:chOff x="1971" y="3225"/>
            <a:chExt cx="1405" cy="250"/>
          </a:xfrm>
        </p:grpSpPr>
        <p:sp>
          <p:nvSpPr>
            <p:cNvPr id="548913" name="Rectangle 49"/>
            <p:cNvSpPr>
              <a:spLocks noChangeArrowheads="1"/>
            </p:cNvSpPr>
            <p:nvPr/>
          </p:nvSpPr>
          <p:spPr bwMode="auto">
            <a:xfrm>
              <a:off x="1971" y="3225"/>
              <a:ext cx="258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r5</a:t>
              </a:r>
            </a:p>
          </p:txBody>
        </p:sp>
        <p:sp>
          <p:nvSpPr>
            <p:cNvPr id="548914" name="Rectangle 50"/>
            <p:cNvSpPr>
              <a:spLocks noChangeArrowheads="1"/>
            </p:cNvSpPr>
            <p:nvPr/>
          </p:nvSpPr>
          <p:spPr bwMode="auto">
            <a:xfrm>
              <a:off x="3118" y="3225"/>
              <a:ext cx="258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r5</a:t>
              </a:r>
            </a:p>
          </p:txBody>
        </p:sp>
      </p:grpSp>
      <p:grpSp>
        <p:nvGrpSpPr>
          <p:cNvPr id="548951" name="Group 87"/>
          <p:cNvGrpSpPr/>
          <p:nvPr/>
        </p:nvGrpSpPr>
        <p:grpSpPr bwMode="auto">
          <a:xfrm>
            <a:off x="2195513" y="4471988"/>
            <a:ext cx="5903912" cy="433387"/>
            <a:chOff x="1383" y="2704"/>
            <a:chExt cx="3719" cy="273"/>
          </a:xfrm>
        </p:grpSpPr>
        <p:sp>
          <p:nvSpPr>
            <p:cNvPr id="548911" name="Rectangle 47"/>
            <p:cNvSpPr>
              <a:spLocks noChangeArrowheads="1"/>
            </p:cNvSpPr>
            <p:nvPr/>
          </p:nvSpPr>
          <p:spPr bwMode="auto">
            <a:xfrm>
              <a:off x="2506" y="2727"/>
              <a:ext cx="37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s13</a:t>
              </a:r>
            </a:p>
          </p:txBody>
        </p:sp>
        <p:sp>
          <p:nvSpPr>
            <p:cNvPr id="548915" name="Rectangle 51"/>
            <p:cNvSpPr>
              <a:spLocks noChangeArrowheads="1"/>
            </p:cNvSpPr>
            <p:nvPr/>
          </p:nvSpPr>
          <p:spPr bwMode="auto">
            <a:xfrm>
              <a:off x="1383" y="2704"/>
              <a:ext cx="28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s9</a:t>
              </a:r>
            </a:p>
          </p:txBody>
        </p:sp>
        <p:sp>
          <p:nvSpPr>
            <p:cNvPr id="548925" name="Rectangle 61"/>
            <p:cNvSpPr>
              <a:spLocks noChangeArrowheads="1"/>
            </p:cNvSpPr>
            <p:nvPr/>
          </p:nvSpPr>
          <p:spPr bwMode="auto">
            <a:xfrm>
              <a:off x="4059" y="2726"/>
              <a:ext cx="29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24</a:t>
              </a:r>
            </a:p>
          </p:txBody>
        </p:sp>
        <p:sp>
          <p:nvSpPr>
            <p:cNvPr id="548926" name="Rectangle 62"/>
            <p:cNvSpPr>
              <a:spLocks noChangeArrowheads="1"/>
            </p:cNvSpPr>
            <p:nvPr/>
          </p:nvSpPr>
          <p:spPr bwMode="auto">
            <a:xfrm>
              <a:off x="4808" y="2726"/>
              <a:ext cx="29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12</a:t>
              </a:r>
            </a:p>
          </p:txBody>
        </p:sp>
      </p:grpSp>
      <p:grpSp>
        <p:nvGrpSpPr>
          <p:cNvPr id="548950" name="Group 86"/>
          <p:cNvGrpSpPr/>
          <p:nvPr/>
        </p:nvGrpSpPr>
        <p:grpSpPr bwMode="auto">
          <a:xfrm>
            <a:off x="3154363" y="3608388"/>
            <a:ext cx="2298700" cy="396875"/>
            <a:chOff x="1987" y="2160"/>
            <a:chExt cx="1448" cy="250"/>
          </a:xfrm>
        </p:grpSpPr>
        <p:sp>
          <p:nvSpPr>
            <p:cNvPr id="548933" name="Rectangle 69"/>
            <p:cNvSpPr>
              <a:spLocks noChangeArrowheads="1"/>
            </p:cNvSpPr>
            <p:nvPr/>
          </p:nvSpPr>
          <p:spPr bwMode="auto">
            <a:xfrm>
              <a:off x="1987" y="2160"/>
              <a:ext cx="258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r2</a:t>
              </a:r>
            </a:p>
          </p:txBody>
        </p:sp>
        <p:sp>
          <p:nvSpPr>
            <p:cNvPr id="548934" name="Rectangle 70"/>
            <p:cNvSpPr>
              <a:spLocks noChangeArrowheads="1"/>
            </p:cNvSpPr>
            <p:nvPr/>
          </p:nvSpPr>
          <p:spPr bwMode="auto">
            <a:xfrm>
              <a:off x="3061" y="2160"/>
              <a:ext cx="37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s21</a:t>
              </a:r>
            </a:p>
          </p:txBody>
        </p:sp>
      </p:grpSp>
      <p:sp>
        <p:nvSpPr>
          <p:cNvPr id="548935" name="Rectangle 71"/>
          <p:cNvSpPr>
            <a:spLocks noChangeArrowheads="1"/>
          </p:cNvSpPr>
          <p:nvPr/>
        </p:nvSpPr>
        <p:spPr bwMode="auto">
          <a:xfrm>
            <a:off x="3059113" y="4184650"/>
            <a:ext cx="593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s19</a:t>
            </a:r>
          </a:p>
        </p:txBody>
      </p:sp>
      <p:grpSp>
        <p:nvGrpSpPr>
          <p:cNvPr id="548952" name="Group 88"/>
          <p:cNvGrpSpPr/>
          <p:nvPr/>
        </p:nvGrpSpPr>
        <p:grpSpPr bwMode="auto">
          <a:xfrm>
            <a:off x="2195513" y="4760913"/>
            <a:ext cx="5903912" cy="433387"/>
            <a:chOff x="1383" y="2886"/>
            <a:chExt cx="3719" cy="273"/>
          </a:xfrm>
        </p:grpSpPr>
        <p:sp>
          <p:nvSpPr>
            <p:cNvPr id="548936" name="Rectangle 72"/>
            <p:cNvSpPr>
              <a:spLocks noChangeArrowheads="1"/>
            </p:cNvSpPr>
            <p:nvPr/>
          </p:nvSpPr>
          <p:spPr bwMode="auto">
            <a:xfrm>
              <a:off x="2506" y="2909"/>
              <a:ext cx="37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s13</a:t>
              </a:r>
            </a:p>
          </p:txBody>
        </p:sp>
        <p:sp>
          <p:nvSpPr>
            <p:cNvPr id="548937" name="Rectangle 73"/>
            <p:cNvSpPr>
              <a:spLocks noChangeArrowheads="1"/>
            </p:cNvSpPr>
            <p:nvPr/>
          </p:nvSpPr>
          <p:spPr bwMode="auto">
            <a:xfrm>
              <a:off x="1383" y="2886"/>
              <a:ext cx="28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s9</a:t>
              </a:r>
            </a:p>
          </p:txBody>
        </p:sp>
        <p:sp>
          <p:nvSpPr>
            <p:cNvPr id="548938" name="Rectangle 74"/>
            <p:cNvSpPr>
              <a:spLocks noChangeArrowheads="1"/>
            </p:cNvSpPr>
            <p:nvPr/>
          </p:nvSpPr>
          <p:spPr bwMode="auto">
            <a:xfrm>
              <a:off x="4059" y="2908"/>
              <a:ext cx="29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22</a:t>
              </a:r>
            </a:p>
          </p:txBody>
        </p:sp>
        <p:sp>
          <p:nvSpPr>
            <p:cNvPr id="548939" name="Rectangle 75"/>
            <p:cNvSpPr>
              <a:spLocks noChangeArrowheads="1"/>
            </p:cNvSpPr>
            <p:nvPr/>
          </p:nvSpPr>
          <p:spPr bwMode="auto">
            <a:xfrm>
              <a:off x="4808" y="2908"/>
              <a:ext cx="29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12</a:t>
              </a:r>
            </a:p>
          </p:txBody>
        </p:sp>
      </p:grpSp>
      <p:sp>
        <p:nvSpPr>
          <p:cNvPr id="548940" name="Rectangle 76"/>
          <p:cNvSpPr>
            <a:spLocks noChangeArrowheads="1"/>
          </p:cNvSpPr>
          <p:nvPr/>
        </p:nvSpPr>
        <p:spPr bwMode="auto">
          <a:xfrm>
            <a:off x="5818188" y="5048250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r1</a:t>
            </a:r>
          </a:p>
        </p:txBody>
      </p:sp>
      <p:sp>
        <p:nvSpPr>
          <p:cNvPr id="548941" name="Rectangle 77"/>
          <p:cNvSpPr>
            <a:spLocks noChangeArrowheads="1"/>
          </p:cNvSpPr>
          <p:nvPr/>
        </p:nvSpPr>
        <p:spPr bwMode="auto">
          <a:xfrm>
            <a:off x="3132138" y="5840413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r1</a:t>
            </a:r>
          </a:p>
        </p:txBody>
      </p:sp>
      <p:grpSp>
        <p:nvGrpSpPr>
          <p:cNvPr id="548956" name="Group 92"/>
          <p:cNvGrpSpPr/>
          <p:nvPr/>
        </p:nvGrpSpPr>
        <p:grpSpPr bwMode="auto">
          <a:xfrm>
            <a:off x="3132138" y="6127750"/>
            <a:ext cx="2324100" cy="398463"/>
            <a:chOff x="1973" y="3747"/>
            <a:chExt cx="1464" cy="251"/>
          </a:xfrm>
        </p:grpSpPr>
        <p:sp>
          <p:nvSpPr>
            <p:cNvPr id="548942" name="Rectangle 78"/>
            <p:cNvSpPr>
              <a:spLocks noChangeArrowheads="1"/>
            </p:cNvSpPr>
            <p:nvPr/>
          </p:nvSpPr>
          <p:spPr bwMode="auto">
            <a:xfrm>
              <a:off x="3063" y="3748"/>
              <a:ext cx="37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s25</a:t>
              </a:r>
            </a:p>
          </p:txBody>
        </p:sp>
        <p:sp>
          <p:nvSpPr>
            <p:cNvPr id="548943" name="Rectangle 79"/>
            <p:cNvSpPr>
              <a:spLocks noChangeArrowheads="1"/>
            </p:cNvSpPr>
            <p:nvPr/>
          </p:nvSpPr>
          <p:spPr bwMode="auto">
            <a:xfrm>
              <a:off x="1973" y="3747"/>
              <a:ext cx="258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r3</a:t>
              </a:r>
            </a:p>
          </p:txBody>
        </p:sp>
      </p:grpSp>
      <p:grpSp>
        <p:nvGrpSpPr>
          <p:cNvPr id="548957" name="Group 93"/>
          <p:cNvGrpSpPr/>
          <p:nvPr/>
        </p:nvGrpSpPr>
        <p:grpSpPr bwMode="auto">
          <a:xfrm>
            <a:off x="3128963" y="6416675"/>
            <a:ext cx="2230437" cy="396875"/>
            <a:chOff x="1971" y="3929"/>
            <a:chExt cx="1405" cy="250"/>
          </a:xfrm>
        </p:grpSpPr>
        <p:sp>
          <p:nvSpPr>
            <p:cNvPr id="548944" name="Rectangle 80"/>
            <p:cNvSpPr>
              <a:spLocks noChangeArrowheads="1"/>
            </p:cNvSpPr>
            <p:nvPr/>
          </p:nvSpPr>
          <p:spPr bwMode="auto">
            <a:xfrm>
              <a:off x="1971" y="3929"/>
              <a:ext cx="258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r1</a:t>
              </a:r>
            </a:p>
          </p:txBody>
        </p:sp>
        <p:sp>
          <p:nvSpPr>
            <p:cNvPr id="548945" name="Rectangle 81"/>
            <p:cNvSpPr>
              <a:spLocks noChangeArrowheads="1"/>
            </p:cNvSpPr>
            <p:nvPr/>
          </p:nvSpPr>
          <p:spPr bwMode="auto">
            <a:xfrm>
              <a:off x="3118" y="3929"/>
              <a:ext cx="258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r1</a:t>
              </a:r>
            </a:p>
          </p:txBody>
        </p:sp>
      </p:grpSp>
      <p:sp>
        <p:nvSpPr>
          <p:cNvPr id="548958" name="Rectangle 94"/>
          <p:cNvSpPr>
            <a:spLocks noChangeArrowheads="1"/>
          </p:cNvSpPr>
          <p:nvPr/>
        </p:nvSpPr>
        <p:spPr bwMode="auto">
          <a:xfrm>
            <a:off x="1439863" y="3068638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13</a:t>
            </a:r>
          </a:p>
        </p:txBody>
      </p:sp>
      <p:grpSp>
        <p:nvGrpSpPr>
          <p:cNvPr id="548959" name="Group 95"/>
          <p:cNvGrpSpPr/>
          <p:nvPr/>
        </p:nvGrpSpPr>
        <p:grpSpPr bwMode="auto">
          <a:xfrm>
            <a:off x="2266950" y="3070225"/>
            <a:ext cx="5976938" cy="396875"/>
            <a:chOff x="1383" y="4020"/>
            <a:chExt cx="3765" cy="250"/>
          </a:xfrm>
        </p:grpSpPr>
        <p:sp>
          <p:nvSpPr>
            <p:cNvPr id="548960" name="Rectangle 96"/>
            <p:cNvSpPr>
              <a:spLocks noChangeArrowheads="1"/>
            </p:cNvSpPr>
            <p:nvPr/>
          </p:nvSpPr>
          <p:spPr bwMode="auto">
            <a:xfrm>
              <a:off x="2529" y="4020"/>
              <a:ext cx="28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s8</a:t>
              </a:r>
            </a:p>
          </p:txBody>
        </p:sp>
        <p:sp>
          <p:nvSpPr>
            <p:cNvPr id="548961" name="Rectangle 97"/>
            <p:cNvSpPr>
              <a:spLocks noChangeArrowheads="1"/>
            </p:cNvSpPr>
            <p:nvPr/>
          </p:nvSpPr>
          <p:spPr bwMode="auto">
            <a:xfrm>
              <a:off x="1383" y="4020"/>
              <a:ext cx="28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s9</a:t>
              </a:r>
            </a:p>
          </p:txBody>
        </p:sp>
        <p:sp>
          <p:nvSpPr>
            <p:cNvPr id="548962" name="Rectangle 98"/>
            <p:cNvSpPr>
              <a:spLocks noChangeArrowheads="1"/>
            </p:cNvSpPr>
            <p:nvPr/>
          </p:nvSpPr>
          <p:spPr bwMode="auto">
            <a:xfrm>
              <a:off x="4150" y="4020"/>
              <a:ext cx="205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5</a:t>
              </a:r>
            </a:p>
          </p:txBody>
        </p:sp>
        <p:sp>
          <p:nvSpPr>
            <p:cNvPr id="548963" name="Rectangle 99"/>
            <p:cNvSpPr>
              <a:spLocks noChangeArrowheads="1"/>
            </p:cNvSpPr>
            <p:nvPr/>
          </p:nvSpPr>
          <p:spPr bwMode="auto">
            <a:xfrm>
              <a:off x="4491" y="4020"/>
              <a:ext cx="29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14</a:t>
              </a:r>
            </a:p>
          </p:txBody>
        </p:sp>
        <p:sp>
          <p:nvSpPr>
            <p:cNvPr id="548964" name="Rectangle 100"/>
            <p:cNvSpPr>
              <a:spLocks noChangeArrowheads="1"/>
            </p:cNvSpPr>
            <p:nvPr/>
          </p:nvSpPr>
          <p:spPr bwMode="auto">
            <a:xfrm>
              <a:off x="4854" y="4020"/>
              <a:ext cx="29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</a:pPr>
              <a:r>
                <a:rPr lang="en-US" altLang="zh-CN" sz="2000" i="1">
                  <a:sym typeface="Symbol" panose="05050102010706020507" pitchFamily="18" charset="2"/>
                </a:rPr>
                <a:t>15</a:t>
              </a:r>
            </a:p>
          </p:txBody>
        </p:sp>
      </p:grpSp>
      <p:sp>
        <p:nvSpPr>
          <p:cNvPr id="548965" name="AutoShape 10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8966" name="AutoShape 10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8967" name="AutoShape 103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8968" name="AutoShape 10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48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48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48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48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48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548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548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548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548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548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548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548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548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8902" grpId="0"/>
      <p:bldP spid="548904" grpId="0"/>
      <p:bldP spid="548935" grpId="0"/>
      <p:bldP spid="548940" grpId="0"/>
      <p:bldP spid="548941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746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3747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3748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3749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3752" name="Rectangle 8"/>
          <p:cNvSpPr>
            <a:spLocks noChangeArrowheads="1"/>
          </p:cNvSpPr>
          <p:nvPr/>
        </p:nvSpPr>
        <p:spPr bwMode="auto">
          <a:xfrm>
            <a:off x="35496" y="188913"/>
            <a:ext cx="3167063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543753" name="Text Box 9"/>
          <p:cNvSpPr txBox="1">
            <a:spLocks noChangeArrowheads="1"/>
          </p:cNvSpPr>
          <p:nvPr/>
        </p:nvSpPr>
        <p:spPr bwMode="auto">
          <a:xfrm>
            <a:off x="611188" y="1341438"/>
            <a:ext cx="8353425" cy="47275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 </a:t>
            </a:r>
            <a:r>
              <a:rPr kumimoji="0" lang="en-US" altLang="zh-CN" sz="3200">
                <a:solidFill>
                  <a:srgbClr val="800080"/>
                </a:solidFill>
              </a:rPr>
              <a:t>LR</a:t>
            </a:r>
            <a:r>
              <a:rPr kumimoji="0" lang="zh-CN" altLang="en-US" sz="3200">
                <a:solidFill>
                  <a:srgbClr val="800080"/>
                </a:solidFill>
              </a:rPr>
              <a:t>（</a:t>
            </a:r>
            <a:r>
              <a:rPr kumimoji="0" lang="en-US" altLang="zh-CN" sz="3200">
                <a:solidFill>
                  <a:srgbClr val="800080"/>
                </a:solidFill>
              </a:rPr>
              <a:t>1</a:t>
            </a:r>
            <a:r>
              <a:rPr kumimoji="0" lang="zh-CN" altLang="en-US" sz="3200">
                <a:solidFill>
                  <a:srgbClr val="800080"/>
                </a:solidFill>
              </a:rPr>
              <a:t>）</a:t>
            </a:r>
            <a:r>
              <a:rPr kumimoji="0" lang="zh-CN" altLang="en-US" sz="3200" b="1">
                <a:solidFill>
                  <a:srgbClr val="800080"/>
                </a:solidFill>
              </a:rPr>
              <a:t>文法</a:t>
            </a:r>
            <a:endParaRPr lang="zh-CN" altLang="en-US" sz="3200" b="1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 b="1">
                <a:solidFill>
                  <a:srgbClr val="800080"/>
                </a:solidFill>
              </a:rPr>
              <a:t>  </a:t>
            </a:r>
            <a:r>
              <a:rPr kumimoji="0" lang="zh-CN" altLang="en-US" sz="2800" b="1"/>
              <a:t>按上述算法构造的分析表，如果各表项均无多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kumimoji="0" lang="zh-CN" altLang="en-US" sz="2800" b="1"/>
              <a:t>    重定义，则称它为文法 </a:t>
            </a:r>
            <a:r>
              <a:rPr kumimoji="0" lang="en-US" altLang="zh-CN" sz="2800" i="1"/>
              <a:t>G</a:t>
            </a:r>
            <a:r>
              <a:rPr kumimoji="0" lang="en-US" altLang="zh-CN" sz="2800" b="1"/>
              <a:t> </a:t>
            </a:r>
            <a:r>
              <a:rPr kumimoji="0" lang="zh-CN" altLang="en-US" sz="2800" b="1"/>
              <a:t>的一张 </a:t>
            </a:r>
            <a:r>
              <a:rPr kumimoji="0" lang="en-US" altLang="zh-CN" sz="2800">
                <a:solidFill>
                  <a:srgbClr val="800080"/>
                </a:solidFill>
              </a:rPr>
              <a:t>LR</a:t>
            </a:r>
            <a:r>
              <a:rPr kumimoji="0" lang="zh-CN" altLang="en-US" sz="2800">
                <a:solidFill>
                  <a:srgbClr val="800080"/>
                </a:solidFill>
              </a:rPr>
              <a:t>（</a:t>
            </a:r>
            <a:r>
              <a:rPr kumimoji="0" lang="en-US" altLang="zh-CN" sz="2800">
                <a:solidFill>
                  <a:srgbClr val="800080"/>
                </a:solidFill>
              </a:rPr>
              <a:t>1</a:t>
            </a:r>
            <a:r>
              <a:rPr kumimoji="0" lang="zh-CN" altLang="en-US" sz="2800">
                <a:solidFill>
                  <a:srgbClr val="800080"/>
                </a:solidFill>
              </a:rPr>
              <a:t>）</a:t>
            </a:r>
            <a:r>
              <a:rPr kumimoji="0" lang="zh-CN" altLang="en-US" sz="2800" b="1">
                <a:solidFill>
                  <a:srgbClr val="800080"/>
                </a:solidFill>
              </a:rPr>
              <a:t>表</a:t>
            </a:r>
            <a:r>
              <a:rPr kumimoji="0" lang="zh-CN" altLang="en-US" sz="2800" b="1"/>
              <a:t>，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kumimoji="0" lang="zh-CN" altLang="en-US" sz="2800" b="1"/>
              <a:t>    并称 </a:t>
            </a:r>
            <a:r>
              <a:rPr kumimoji="0" lang="en-US" altLang="zh-CN" sz="2800" i="1"/>
              <a:t>G</a:t>
            </a:r>
            <a:r>
              <a:rPr kumimoji="0" lang="en-US" altLang="zh-CN" sz="2800"/>
              <a:t> </a:t>
            </a:r>
            <a:r>
              <a:rPr kumimoji="0" lang="zh-CN" altLang="en-US" sz="2800" b="1"/>
              <a:t>为一个 </a:t>
            </a:r>
            <a:r>
              <a:rPr kumimoji="0" lang="en-US" altLang="zh-CN" sz="2800">
                <a:solidFill>
                  <a:srgbClr val="800080"/>
                </a:solidFill>
              </a:rPr>
              <a:t>LR</a:t>
            </a:r>
            <a:r>
              <a:rPr kumimoji="0" lang="zh-CN" altLang="en-US" sz="2800">
                <a:solidFill>
                  <a:srgbClr val="800080"/>
                </a:solidFill>
              </a:rPr>
              <a:t>（</a:t>
            </a:r>
            <a:r>
              <a:rPr kumimoji="0" lang="en-US" altLang="zh-CN" sz="2800">
                <a:solidFill>
                  <a:srgbClr val="800080"/>
                </a:solidFill>
              </a:rPr>
              <a:t>1</a:t>
            </a:r>
            <a:r>
              <a:rPr kumimoji="0" lang="zh-CN" altLang="en-US" sz="2800">
                <a:solidFill>
                  <a:srgbClr val="800080"/>
                </a:solidFill>
              </a:rPr>
              <a:t>）</a:t>
            </a:r>
            <a:r>
              <a:rPr kumimoji="0" lang="zh-CN" altLang="en-US" sz="2800" b="1">
                <a:solidFill>
                  <a:srgbClr val="800080"/>
                </a:solidFill>
              </a:rPr>
              <a:t>文法</a:t>
            </a:r>
          </a:p>
          <a:p>
            <a:pPr lvl="1">
              <a:buClrTx/>
              <a:buFont typeface="Symbol" panose="05050102010706020507" pitchFamily="18" charset="2"/>
              <a:buNone/>
            </a:pPr>
            <a:endParaRPr kumimoji="0" lang="zh-CN" altLang="en-US" sz="1000" b="1"/>
          </a:p>
          <a:p>
            <a:pPr lvl="1">
              <a:buFont typeface="Symbol" panose="05050102010706020507" pitchFamily="18" charset="2"/>
              <a:buChar char="-"/>
            </a:pPr>
            <a:r>
              <a:rPr lang="zh-CN" altLang="en-US" sz="2800"/>
              <a:t>  </a:t>
            </a:r>
            <a:r>
              <a:rPr kumimoji="0" lang="en-US" altLang="zh-CN" sz="2800"/>
              <a:t>LR</a:t>
            </a:r>
            <a:r>
              <a:rPr kumimoji="0" lang="zh-CN" altLang="en-US" sz="2800"/>
              <a:t>（</a:t>
            </a:r>
            <a:r>
              <a:rPr kumimoji="0" lang="en-US" altLang="zh-CN" sz="2800"/>
              <a:t>1</a:t>
            </a:r>
            <a:r>
              <a:rPr kumimoji="0" lang="zh-CN" altLang="en-US" sz="2800"/>
              <a:t>）</a:t>
            </a:r>
            <a:r>
              <a:rPr kumimoji="0" lang="zh-CN" altLang="en-US" sz="2800" b="1"/>
              <a:t>文法的</a:t>
            </a:r>
            <a:r>
              <a:rPr lang="en-US" altLang="zh-CN" sz="2800"/>
              <a:t>LR</a:t>
            </a:r>
            <a:r>
              <a:rPr lang="zh-CN" altLang="en-US" sz="2800"/>
              <a:t>（</a:t>
            </a:r>
            <a:r>
              <a:rPr lang="en-US" altLang="zh-CN" sz="2800"/>
              <a:t>1</a:t>
            </a:r>
            <a:r>
              <a:rPr lang="zh-CN" altLang="en-US" sz="2800"/>
              <a:t>）</a:t>
            </a:r>
            <a:r>
              <a:rPr kumimoji="0" lang="en-US" altLang="zh-CN" sz="2800"/>
              <a:t>FSM</a:t>
            </a:r>
            <a:r>
              <a:rPr kumimoji="0" lang="zh-CN" altLang="en-US" sz="2800" b="1"/>
              <a:t>中，每个状态都</a:t>
            </a:r>
          </a:p>
          <a:p>
            <a:pPr lvl="1">
              <a:buFont typeface="Symbol" panose="05050102010706020507" pitchFamily="18" charset="2"/>
              <a:buNone/>
            </a:pPr>
            <a:r>
              <a:rPr kumimoji="0" lang="zh-CN" altLang="en-US" sz="2800" b="1"/>
              <a:t>    满足：</a:t>
            </a:r>
          </a:p>
          <a:p>
            <a:pPr lvl="2">
              <a:buFontTx/>
              <a:buChar char="•"/>
            </a:pPr>
            <a:r>
              <a:rPr kumimoji="0" lang="zh-CN" altLang="en-US" sz="2800" b="1"/>
              <a:t> </a:t>
            </a:r>
            <a:r>
              <a:rPr kumimoji="0" lang="zh-CN" altLang="en-US" b="1"/>
              <a:t>如果该状态含有项目</a:t>
            </a:r>
            <a:r>
              <a:rPr kumimoji="0" lang="zh-CN" altLang="en-US"/>
              <a:t> </a:t>
            </a:r>
            <a:r>
              <a:rPr kumimoji="0" lang="en-US" altLang="zh-CN"/>
              <a:t>[A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kumimoji="0" lang="en-US" altLang="zh-CN"/>
              <a:t> u</a:t>
            </a:r>
            <a:r>
              <a:rPr kumimoji="0" lang="en-US" altLang="zh-CN" b="1"/>
              <a:t>.</a:t>
            </a:r>
            <a:r>
              <a:rPr kumimoji="0" lang="en-US" altLang="zh-CN"/>
              <a:t>av , b] </a:t>
            </a:r>
            <a:r>
              <a:rPr kumimoji="0" lang="zh-CN" altLang="en-US" b="1"/>
              <a:t>，</a:t>
            </a:r>
            <a:r>
              <a:rPr kumimoji="0" lang="en-US" altLang="zh-CN"/>
              <a:t>a</a:t>
            </a:r>
            <a:r>
              <a:rPr kumimoji="0" lang="zh-CN" altLang="en-US" b="1"/>
              <a:t>是终结符</a:t>
            </a:r>
            <a:r>
              <a:rPr kumimoji="0" lang="zh-CN" altLang="en-US"/>
              <a:t>，</a:t>
            </a:r>
          </a:p>
          <a:p>
            <a:pPr lvl="2">
              <a:buFontTx/>
              <a:buNone/>
            </a:pPr>
            <a:r>
              <a:rPr kumimoji="0" lang="zh-CN" altLang="en-US" sz="2800" b="1"/>
              <a:t>  </a:t>
            </a:r>
            <a:r>
              <a:rPr kumimoji="0" lang="zh-CN" altLang="en-US" b="1"/>
              <a:t>那么就不会有项目</a:t>
            </a:r>
            <a:r>
              <a:rPr kumimoji="0" lang="en-US" altLang="zh-CN"/>
              <a:t>[B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kumimoji="0" lang="en-US" altLang="zh-CN"/>
              <a:t> w</a:t>
            </a:r>
            <a:r>
              <a:rPr kumimoji="0" lang="en-US" altLang="zh-CN" b="1"/>
              <a:t>.</a:t>
            </a:r>
            <a:r>
              <a:rPr kumimoji="0" lang="en-US" altLang="zh-CN"/>
              <a:t>, a] </a:t>
            </a:r>
            <a:r>
              <a:rPr kumimoji="0" lang="zh-CN" altLang="en-US" b="1"/>
              <a:t>；反之亦然</a:t>
            </a:r>
            <a:endParaRPr kumimoji="0" lang="zh-CN" altLang="en-US" sz="2800" b="1"/>
          </a:p>
          <a:p>
            <a:pPr lvl="2">
              <a:buFontTx/>
              <a:buChar char="•"/>
            </a:pPr>
            <a:r>
              <a:rPr kumimoji="0" lang="zh-CN" altLang="en-US" sz="2800" b="1"/>
              <a:t> </a:t>
            </a:r>
            <a:r>
              <a:rPr kumimoji="0" lang="zh-CN" altLang="en-US" b="1"/>
              <a:t>该状态里所有归约项目的向前搜索符不相交，即不</a:t>
            </a:r>
          </a:p>
          <a:p>
            <a:pPr lvl="2">
              <a:buFontTx/>
              <a:buNone/>
            </a:pPr>
            <a:r>
              <a:rPr kumimoji="0" lang="zh-CN" altLang="en-US" sz="2800" b="1"/>
              <a:t>  </a:t>
            </a:r>
            <a:r>
              <a:rPr kumimoji="0" lang="zh-CN" altLang="en-US" b="1"/>
              <a:t>能同时含有项目</a:t>
            </a:r>
            <a:r>
              <a:rPr kumimoji="0" lang="en-US" altLang="zh-CN"/>
              <a:t>[A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kumimoji="0" lang="en-US" altLang="zh-CN"/>
              <a:t> u</a:t>
            </a:r>
            <a:r>
              <a:rPr kumimoji="0" lang="en-US" altLang="zh-CN" b="1"/>
              <a:t>.</a:t>
            </a:r>
            <a:r>
              <a:rPr kumimoji="0" lang="en-US" altLang="zh-CN"/>
              <a:t>, a] </a:t>
            </a:r>
            <a:r>
              <a:rPr kumimoji="0" lang="zh-CN" altLang="en-US" b="1"/>
              <a:t>和 </a:t>
            </a:r>
            <a:r>
              <a:rPr kumimoji="0" lang="en-US" altLang="zh-CN"/>
              <a:t>[B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kumimoji="0" lang="en-US" altLang="zh-CN"/>
              <a:t> v</a:t>
            </a:r>
            <a:r>
              <a:rPr kumimoji="0" lang="en-US" altLang="zh-CN" b="1"/>
              <a:t>.</a:t>
            </a:r>
            <a:r>
              <a:rPr kumimoji="0" lang="en-US" altLang="zh-CN"/>
              <a:t>, a]</a:t>
            </a:r>
          </a:p>
        </p:txBody>
      </p:sp>
    </p:spTree>
  </p:cSld>
  <p:clrMapOvr>
    <a:masterClrMapping/>
  </p:clrMapOvr>
  <p:transition spd="med">
    <p:wipe dir="r"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479" name="Rectangle 15"/>
          <p:cNvSpPr>
            <a:spLocks noChangeArrowheads="1"/>
          </p:cNvSpPr>
          <p:nvPr/>
        </p:nvSpPr>
        <p:spPr bwMode="auto">
          <a:xfrm>
            <a:off x="35496" y="188913"/>
            <a:ext cx="3167063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446481" name="AutoShape 17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6482" name="AutoShape 1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6483" name="AutoShape 1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6484" name="AutoShape 2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6485" name="Text Box 21"/>
          <p:cNvSpPr txBox="1">
            <a:spLocks noChangeArrowheads="1"/>
          </p:cNvSpPr>
          <p:nvPr/>
        </p:nvSpPr>
        <p:spPr bwMode="auto">
          <a:xfrm>
            <a:off x="611188" y="1268413"/>
            <a:ext cx="8280400" cy="5184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 </a:t>
            </a:r>
            <a:r>
              <a:rPr lang="zh-CN" altLang="en-US" sz="3200" b="1"/>
              <a:t>可推广到 </a:t>
            </a:r>
            <a:r>
              <a:rPr kumimoji="0" lang="en-US" altLang="zh-CN" sz="3200">
                <a:solidFill>
                  <a:srgbClr val="800080"/>
                </a:solidFill>
              </a:rPr>
              <a:t>LR</a:t>
            </a:r>
            <a:r>
              <a:rPr kumimoji="0" lang="zh-CN" altLang="en-US" sz="3200">
                <a:solidFill>
                  <a:srgbClr val="800080"/>
                </a:solidFill>
              </a:rPr>
              <a:t>（</a:t>
            </a:r>
            <a:r>
              <a:rPr kumimoji="0" lang="en-US" altLang="zh-CN" sz="3200">
                <a:solidFill>
                  <a:srgbClr val="800080"/>
                </a:solidFill>
              </a:rPr>
              <a:t>k</a:t>
            </a:r>
            <a:r>
              <a:rPr kumimoji="0" lang="zh-CN" altLang="en-US" sz="3200">
                <a:solidFill>
                  <a:srgbClr val="800080"/>
                </a:solidFill>
              </a:rPr>
              <a:t>）</a:t>
            </a:r>
            <a:r>
              <a:rPr kumimoji="0" lang="zh-CN" altLang="en-US" sz="3200" b="1">
                <a:solidFill>
                  <a:srgbClr val="800080"/>
                </a:solidFill>
              </a:rPr>
              <a:t>分析</a:t>
            </a:r>
            <a:endParaRPr lang="zh-CN" altLang="en-US" sz="3200" b="1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 b="1">
                <a:solidFill>
                  <a:srgbClr val="800080"/>
                </a:solidFill>
              </a:rPr>
              <a:t>  </a:t>
            </a:r>
            <a:r>
              <a:rPr kumimoji="0" lang="en-US" altLang="zh-CN" sz="2800">
                <a:solidFill>
                  <a:srgbClr val="800080"/>
                </a:solidFill>
              </a:rPr>
              <a:t>LR</a:t>
            </a:r>
            <a:r>
              <a:rPr kumimoji="0" lang="zh-CN" altLang="en-US" sz="2800">
                <a:solidFill>
                  <a:srgbClr val="800080"/>
                </a:solidFill>
              </a:rPr>
              <a:t>（</a:t>
            </a:r>
            <a:r>
              <a:rPr kumimoji="0" lang="en-US" altLang="zh-CN" sz="2800">
                <a:solidFill>
                  <a:srgbClr val="800080"/>
                </a:solidFill>
              </a:rPr>
              <a:t>k</a:t>
            </a:r>
            <a:r>
              <a:rPr kumimoji="0" lang="zh-CN" altLang="en-US" sz="2800">
                <a:solidFill>
                  <a:srgbClr val="800080"/>
                </a:solidFill>
              </a:rPr>
              <a:t>）</a:t>
            </a:r>
            <a:r>
              <a:rPr kumimoji="0" lang="zh-CN" altLang="en-US" sz="2800" b="1">
                <a:solidFill>
                  <a:srgbClr val="800080"/>
                </a:solidFill>
              </a:rPr>
              <a:t>项目 </a:t>
            </a:r>
          </a:p>
          <a:p>
            <a:pPr lvl="1">
              <a:buClrTx/>
              <a:buFont typeface="Symbol" panose="05050102010706020507" pitchFamily="18" charset="2"/>
              <a:buNone/>
            </a:pPr>
            <a:endParaRPr kumimoji="0" lang="zh-CN" altLang="en-US" sz="1000" b="1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lang="zh-CN" altLang="en-US" sz="2800" b="1"/>
              <a:t>    形如： </a:t>
            </a:r>
            <a:r>
              <a:rPr lang="en-US" altLang="zh-CN" sz="2800"/>
              <a:t>[</a:t>
            </a:r>
            <a:r>
              <a:rPr lang="en-US" altLang="zh-CN" sz="2800" b="1"/>
              <a:t> </a:t>
            </a:r>
            <a:r>
              <a:rPr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A </a:t>
            </a:r>
            <a:r>
              <a:rPr kumimoji="0" lang="en-US" altLang="zh-CN" sz="2800">
                <a:solidFill>
                  <a:srgbClr val="80008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>
                <a:solidFill>
                  <a:srgbClr val="800080"/>
                </a:solidFill>
              </a:rPr>
              <a:t> </a:t>
            </a:r>
            <a:r>
              <a:rPr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 </a:t>
            </a:r>
            <a:r>
              <a:rPr lang="en-US" altLang="zh-CN" sz="2800" b="1">
                <a:solidFill>
                  <a:srgbClr val="800080"/>
                </a:solidFill>
              </a:rPr>
              <a:t>. </a:t>
            </a:r>
            <a:r>
              <a:rPr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 ,  </a:t>
            </a:r>
            <a:r>
              <a:rPr kumimoji="0"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800" b="1" baseline="-25000">
                <a:solidFill>
                  <a:srgbClr val="800080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800" b="1" baseline="-25000">
                <a:solidFill>
                  <a:srgbClr val="800080"/>
                </a:solidFill>
                <a:sym typeface="Symbol" panose="05050102010706020507" pitchFamily="18" charset="2"/>
              </a:rPr>
              <a:t>2</a:t>
            </a:r>
            <a:r>
              <a:rPr kumimoji="0"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…a</a:t>
            </a:r>
            <a:r>
              <a:rPr kumimoji="0" lang="en-US" altLang="zh-CN" sz="2800" b="1" baseline="-25000">
                <a:solidFill>
                  <a:srgbClr val="800080"/>
                </a:solidFill>
                <a:sym typeface="Symbol" panose="05050102010706020507" pitchFamily="18" charset="2"/>
              </a:rPr>
              <a:t>k</a:t>
            </a:r>
            <a:r>
              <a:rPr lang="en-US" altLang="zh-CN"/>
              <a:t> ]</a:t>
            </a:r>
            <a:r>
              <a:rPr lang="en-US" altLang="zh-CN" b="1"/>
              <a:t>,</a:t>
            </a:r>
            <a:r>
              <a:rPr kumimoji="0" lang="zh-CN" altLang="en-US" sz="2800" b="1"/>
              <a:t>其中</a:t>
            </a:r>
            <a:r>
              <a:rPr kumimoji="0"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800" b="1" baseline="-25000">
                <a:solidFill>
                  <a:srgbClr val="800080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800" b="1" baseline="-25000">
                <a:solidFill>
                  <a:srgbClr val="800080"/>
                </a:solidFill>
                <a:sym typeface="Symbol" panose="05050102010706020507" pitchFamily="18" charset="2"/>
              </a:rPr>
              <a:t>2</a:t>
            </a:r>
            <a:r>
              <a:rPr kumimoji="0"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…a</a:t>
            </a:r>
            <a:r>
              <a:rPr kumimoji="0" lang="en-US" altLang="zh-CN" sz="2800" b="1" baseline="-25000">
                <a:solidFill>
                  <a:srgbClr val="800080"/>
                </a:solidFill>
                <a:sym typeface="Symbol" panose="05050102010706020507" pitchFamily="18" charset="2"/>
              </a:rPr>
              <a:t>k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kumimoji="0"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    </a:t>
            </a:r>
            <a:r>
              <a:rPr kumimoji="0" lang="zh-CN" altLang="en-US" sz="2800" b="1"/>
              <a:t>为</a:t>
            </a:r>
            <a:r>
              <a:rPr kumimoji="0" lang="zh-CN" altLang="en-US" sz="2800" b="1">
                <a:solidFill>
                  <a:srgbClr val="800080"/>
                </a:solidFill>
              </a:rPr>
              <a:t>向前搜索符号串</a:t>
            </a:r>
            <a:endParaRPr kumimoji="0" lang="zh-CN" altLang="en-US" sz="2800" b="1"/>
          </a:p>
          <a:p>
            <a:pPr lvl="1">
              <a:buClrTx/>
              <a:buFont typeface="Symbol" panose="05050102010706020507" pitchFamily="18" charset="2"/>
              <a:buNone/>
            </a:pPr>
            <a:endParaRPr kumimoji="0" lang="zh-CN" altLang="en-US" sz="1000" b="1"/>
          </a:p>
          <a:p>
            <a:pPr lvl="1">
              <a:buClrTx/>
              <a:buFont typeface="Symbol" panose="05050102010706020507" pitchFamily="18" charset="2"/>
              <a:buNone/>
            </a:pPr>
            <a:r>
              <a:rPr kumimoji="0" lang="zh-CN" altLang="en-US" sz="2800" b="1">
                <a:solidFill>
                  <a:srgbClr val="800080"/>
                </a:solidFill>
              </a:rPr>
              <a:t>    移进项目</a:t>
            </a:r>
            <a:r>
              <a:rPr kumimoji="0" lang="zh-CN" altLang="en-US" sz="2800" b="1"/>
              <a:t>形如：</a:t>
            </a:r>
            <a:r>
              <a:rPr kumimoji="0" lang="en-US" altLang="zh-CN" sz="2800"/>
              <a:t>[ </a:t>
            </a:r>
            <a:r>
              <a:rPr kumimoji="0" lang="en-US" altLang="zh-CN" sz="2800" b="1">
                <a:solidFill>
                  <a:srgbClr val="800080"/>
                </a:solidFill>
              </a:rPr>
              <a:t>A </a:t>
            </a:r>
            <a:r>
              <a:rPr kumimoji="0"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 </a:t>
            </a:r>
            <a:r>
              <a:rPr kumimoji="0" lang="en-US" altLang="zh-CN" sz="2800" b="1">
                <a:solidFill>
                  <a:srgbClr val="800080"/>
                </a:solidFill>
              </a:rPr>
              <a:t>. a</a:t>
            </a:r>
            <a:r>
              <a:rPr kumimoji="0"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</a:t>
            </a:r>
            <a:r>
              <a:rPr kumimoji="0" lang="zh-CN" altLang="en-US" sz="2800" b="1">
                <a:solidFill>
                  <a:srgbClr val="800080"/>
                </a:solidFill>
                <a:sym typeface="Symbol" panose="05050102010706020507" pitchFamily="18" charset="2"/>
              </a:rPr>
              <a:t>， </a:t>
            </a:r>
            <a:r>
              <a:rPr kumimoji="0"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800" b="1" baseline="-25000">
                <a:solidFill>
                  <a:srgbClr val="800080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 a</a:t>
            </a:r>
            <a:r>
              <a:rPr kumimoji="0" lang="en-US" altLang="zh-CN" sz="2800" b="1" baseline="-25000">
                <a:solidFill>
                  <a:srgbClr val="800080"/>
                </a:solidFill>
                <a:sym typeface="Symbol" panose="05050102010706020507" pitchFamily="18" charset="2"/>
              </a:rPr>
              <a:t>2</a:t>
            </a:r>
            <a:r>
              <a:rPr kumimoji="0"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 … a</a:t>
            </a:r>
            <a:r>
              <a:rPr kumimoji="0" lang="en-US" altLang="zh-CN" sz="2800" b="1" baseline="-25000">
                <a:solidFill>
                  <a:srgbClr val="800080"/>
                </a:solidFill>
                <a:sym typeface="Symbol" panose="05050102010706020507" pitchFamily="18" charset="2"/>
              </a:rPr>
              <a:t>k </a:t>
            </a:r>
            <a:r>
              <a:rPr kumimoji="0" lang="en-US" altLang="zh-CN" sz="2800"/>
              <a:t>]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kumimoji="0" lang="en-US" altLang="zh-CN" sz="2800" b="1">
                <a:solidFill>
                  <a:srgbClr val="800080"/>
                </a:solidFill>
              </a:rPr>
              <a:t>    </a:t>
            </a:r>
            <a:r>
              <a:rPr kumimoji="0" lang="zh-CN" altLang="en-US" sz="2800" b="1">
                <a:solidFill>
                  <a:srgbClr val="800080"/>
                </a:solidFill>
              </a:rPr>
              <a:t>待约项目</a:t>
            </a:r>
            <a:r>
              <a:rPr kumimoji="0" lang="zh-CN" altLang="en-US" sz="2800" b="1"/>
              <a:t>形如：</a:t>
            </a:r>
            <a:r>
              <a:rPr kumimoji="0" lang="en-US" altLang="zh-CN" sz="2800"/>
              <a:t>[</a:t>
            </a:r>
            <a:r>
              <a:rPr kumimoji="0" lang="en-US" altLang="zh-CN" sz="2800" b="1">
                <a:solidFill>
                  <a:srgbClr val="000000"/>
                </a:solidFill>
              </a:rPr>
              <a:t> </a:t>
            </a:r>
            <a:r>
              <a:rPr kumimoji="0" lang="en-US" altLang="zh-CN" sz="2800" b="1">
                <a:solidFill>
                  <a:srgbClr val="800080"/>
                </a:solidFill>
              </a:rPr>
              <a:t>A </a:t>
            </a:r>
            <a:r>
              <a:rPr kumimoji="0"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</a:t>
            </a:r>
            <a:r>
              <a:rPr kumimoji="0" lang="en-US" altLang="zh-CN" sz="2800" b="1">
                <a:solidFill>
                  <a:srgbClr val="800080"/>
                </a:solidFill>
              </a:rPr>
              <a:t> . B</a:t>
            </a:r>
            <a:r>
              <a:rPr kumimoji="0"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</a:t>
            </a:r>
            <a:r>
              <a:rPr kumimoji="0" lang="zh-CN" altLang="en-US" sz="2800" b="1">
                <a:solidFill>
                  <a:srgbClr val="800080"/>
                </a:solidFill>
                <a:sym typeface="Symbol" panose="05050102010706020507" pitchFamily="18" charset="2"/>
              </a:rPr>
              <a:t>， </a:t>
            </a:r>
            <a:r>
              <a:rPr kumimoji="0"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800" b="1" baseline="-25000">
                <a:solidFill>
                  <a:srgbClr val="800080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 a</a:t>
            </a:r>
            <a:r>
              <a:rPr kumimoji="0" lang="en-US" altLang="zh-CN" sz="2800" b="1" baseline="-25000">
                <a:solidFill>
                  <a:srgbClr val="800080"/>
                </a:solidFill>
                <a:sym typeface="Symbol" panose="05050102010706020507" pitchFamily="18" charset="2"/>
              </a:rPr>
              <a:t>2</a:t>
            </a:r>
            <a:r>
              <a:rPr kumimoji="0"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 … a</a:t>
            </a:r>
            <a:r>
              <a:rPr kumimoji="0" lang="en-US" altLang="zh-CN" sz="2800" b="1" baseline="-25000">
                <a:solidFill>
                  <a:srgbClr val="800080"/>
                </a:solidFill>
                <a:sym typeface="Symbol" panose="05050102010706020507" pitchFamily="18" charset="2"/>
              </a:rPr>
              <a:t>k </a:t>
            </a:r>
            <a:r>
              <a:rPr kumimoji="0" lang="en-US" altLang="zh-CN" sz="2800"/>
              <a:t>]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kumimoji="0" lang="en-US" altLang="zh-CN" sz="2800" b="1">
                <a:solidFill>
                  <a:srgbClr val="800080"/>
                </a:solidFill>
              </a:rPr>
              <a:t>    </a:t>
            </a:r>
            <a:r>
              <a:rPr kumimoji="0" lang="zh-CN" altLang="en-US" sz="2800" b="1">
                <a:solidFill>
                  <a:srgbClr val="800080"/>
                </a:solidFill>
              </a:rPr>
              <a:t>归约项目</a:t>
            </a:r>
            <a:r>
              <a:rPr kumimoji="0" lang="zh-CN" altLang="en-US" sz="2800" b="1"/>
              <a:t>形如：</a:t>
            </a:r>
            <a:r>
              <a:rPr kumimoji="0" lang="en-US" altLang="zh-CN" sz="2800"/>
              <a:t>[</a:t>
            </a:r>
            <a:r>
              <a:rPr kumimoji="0" lang="en-US" altLang="zh-CN" sz="2800" b="1">
                <a:solidFill>
                  <a:srgbClr val="000000"/>
                </a:solidFill>
              </a:rPr>
              <a:t> </a:t>
            </a:r>
            <a:r>
              <a:rPr kumimoji="0" lang="en-US" altLang="zh-CN" sz="2800" b="1">
                <a:solidFill>
                  <a:srgbClr val="800080"/>
                </a:solidFill>
              </a:rPr>
              <a:t>A </a:t>
            </a:r>
            <a:r>
              <a:rPr kumimoji="0"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. </a:t>
            </a:r>
            <a:r>
              <a:rPr kumimoji="0" lang="zh-CN" altLang="en-US" sz="2800" b="1">
                <a:solidFill>
                  <a:srgbClr val="800080"/>
                </a:solidFill>
                <a:sym typeface="Symbol" panose="05050102010706020507" pitchFamily="18" charset="2"/>
              </a:rPr>
              <a:t>，</a:t>
            </a:r>
            <a:r>
              <a:rPr kumimoji="0"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800" b="1" baseline="-25000">
                <a:solidFill>
                  <a:srgbClr val="800080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 a</a:t>
            </a:r>
            <a:r>
              <a:rPr kumimoji="0" lang="en-US" altLang="zh-CN" sz="2800" b="1" baseline="-25000">
                <a:solidFill>
                  <a:srgbClr val="800080"/>
                </a:solidFill>
                <a:sym typeface="Symbol" panose="05050102010706020507" pitchFamily="18" charset="2"/>
              </a:rPr>
              <a:t>2</a:t>
            </a:r>
            <a:r>
              <a:rPr kumimoji="0" lang="en-US" altLang="zh-CN" sz="2800" b="1">
                <a:solidFill>
                  <a:srgbClr val="800080"/>
                </a:solidFill>
                <a:sym typeface="Symbol" panose="05050102010706020507" pitchFamily="18" charset="2"/>
              </a:rPr>
              <a:t> … a</a:t>
            </a:r>
            <a:r>
              <a:rPr kumimoji="0" lang="en-US" altLang="zh-CN" sz="2800" b="1" baseline="-25000">
                <a:solidFill>
                  <a:srgbClr val="800080"/>
                </a:solidFill>
                <a:sym typeface="Symbol" panose="05050102010706020507" pitchFamily="18" charset="2"/>
              </a:rPr>
              <a:t>k </a:t>
            </a:r>
            <a:r>
              <a:rPr kumimoji="0" lang="en-US" altLang="zh-CN" sz="2800"/>
              <a:t>]</a:t>
            </a:r>
            <a:endParaRPr kumimoji="0" lang="en-US" altLang="zh-CN" sz="2800" b="1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None/>
            </a:pPr>
            <a:endParaRPr kumimoji="0" lang="en-US" altLang="zh-CN" sz="1000" b="1"/>
          </a:p>
          <a:p>
            <a:pPr lvl="1">
              <a:buFont typeface="Symbol" panose="05050102010706020507" pitchFamily="18" charset="2"/>
              <a:buChar char="-"/>
            </a:pPr>
            <a:r>
              <a:rPr lang="en-US" altLang="zh-CN" sz="2800"/>
              <a:t>  </a:t>
            </a:r>
            <a:r>
              <a:rPr kumimoji="0" lang="zh-CN" altLang="en-US" sz="2800" b="1"/>
              <a:t>只有理论意义（ </a:t>
            </a:r>
            <a:r>
              <a:rPr lang="en-US" altLang="zh-CN" sz="2800"/>
              <a:t>LR</a:t>
            </a:r>
            <a:r>
              <a:rPr lang="zh-CN" altLang="en-US" sz="2800"/>
              <a:t>（</a:t>
            </a:r>
            <a:r>
              <a:rPr lang="en-US" altLang="zh-CN" sz="2800"/>
              <a:t>1</a:t>
            </a:r>
            <a:r>
              <a:rPr lang="zh-CN" altLang="en-US" sz="2800"/>
              <a:t>）</a:t>
            </a:r>
            <a:r>
              <a:rPr kumimoji="0" lang="en-US" altLang="zh-CN" sz="2800"/>
              <a:t>FSM </a:t>
            </a:r>
            <a:r>
              <a:rPr kumimoji="0" lang="zh-CN" altLang="en-US" sz="2800" b="1"/>
              <a:t>的状态数已经</a:t>
            </a:r>
          </a:p>
          <a:p>
            <a:pPr lvl="1">
              <a:buFont typeface="Symbol" panose="05050102010706020507" pitchFamily="18" charset="2"/>
              <a:buNone/>
            </a:pPr>
            <a:r>
              <a:rPr kumimoji="0" lang="zh-CN" altLang="en-US" sz="2800" b="1"/>
              <a:t>    太大，</a:t>
            </a:r>
            <a:r>
              <a:rPr kumimoji="0" lang="en-US" altLang="zh-CN" sz="2800"/>
              <a:t>k&gt;1</a:t>
            </a:r>
            <a:r>
              <a:rPr kumimoji="0" lang="zh-CN" altLang="en-US" sz="2800" b="1"/>
              <a:t>的情形难以想象）</a:t>
            </a:r>
          </a:p>
          <a:p>
            <a:pPr lvl="1">
              <a:buFont typeface="Symbol" panose="05050102010706020507" pitchFamily="18" charset="2"/>
              <a:buNone/>
            </a:pPr>
            <a:endParaRPr kumimoji="0" lang="zh-CN" altLang="en-US" sz="1000" b="1"/>
          </a:p>
          <a:p>
            <a:pPr lvl="1">
              <a:buFont typeface="Symbol" panose="05050102010706020507" pitchFamily="18" charset="2"/>
              <a:buChar char="-"/>
            </a:pPr>
            <a:r>
              <a:rPr kumimoji="0" lang="zh-CN" altLang="en-US" sz="2800" b="1"/>
              <a:t>  对任意</a:t>
            </a:r>
            <a:r>
              <a:rPr kumimoji="0" lang="en-US" altLang="zh-CN" sz="2800">
                <a:solidFill>
                  <a:srgbClr val="800080"/>
                </a:solidFill>
              </a:rPr>
              <a:t>k&gt;0</a:t>
            </a:r>
            <a:r>
              <a:rPr kumimoji="0" lang="en-US" altLang="zh-CN" sz="2800" b="1"/>
              <a:t>, </a:t>
            </a:r>
            <a:r>
              <a:rPr kumimoji="0" lang="zh-CN" altLang="en-US" sz="2800" b="1"/>
              <a:t>可证明</a:t>
            </a:r>
            <a:r>
              <a:rPr lang="en-US" altLang="zh-CN" sz="2800"/>
              <a:t>LR</a:t>
            </a:r>
            <a:r>
              <a:rPr lang="zh-CN" altLang="en-US" sz="2800"/>
              <a:t>（</a:t>
            </a:r>
            <a:r>
              <a:rPr lang="en-US" altLang="zh-CN" sz="2800"/>
              <a:t>k</a:t>
            </a:r>
            <a:r>
              <a:rPr lang="zh-CN" altLang="en-US" sz="2800"/>
              <a:t>）</a:t>
            </a:r>
            <a:r>
              <a:rPr kumimoji="0" lang="zh-CN" altLang="en-US" sz="2800" b="1"/>
              <a:t>的语言类是相同的</a:t>
            </a:r>
          </a:p>
        </p:txBody>
      </p:sp>
    </p:spTree>
  </p:cSld>
  <p:clrMapOvr>
    <a:masterClrMapping/>
  </p:clrMapOvr>
  <p:transition spd="med">
    <p:wipe dir="r"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5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6646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6647" name="AutoShape 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6648" name="AutoShape 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6652" name="Rectangle 12"/>
          <p:cNvSpPr>
            <a:spLocks noChangeArrowheads="1"/>
          </p:cNvSpPr>
          <p:nvPr/>
        </p:nvSpPr>
        <p:spPr bwMode="auto">
          <a:xfrm>
            <a:off x="35496" y="188913"/>
            <a:ext cx="38862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LALR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496653" name="Text Box 13"/>
          <p:cNvSpPr txBox="1">
            <a:spLocks noChangeArrowheads="1"/>
          </p:cNvSpPr>
          <p:nvPr/>
        </p:nvSpPr>
        <p:spPr bwMode="auto">
          <a:xfrm>
            <a:off x="757238" y="1125538"/>
            <a:ext cx="8135937" cy="53860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kumimoji="0" lang="en-US" altLang="zh-CN" sz="3200" dirty="0">
                <a:solidFill>
                  <a:srgbClr val="800080"/>
                </a:solidFill>
              </a:rPr>
              <a:t> LR</a:t>
            </a:r>
            <a:r>
              <a:rPr kumimoji="0" lang="zh-CN" altLang="en-US" sz="3200" dirty="0">
                <a:solidFill>
                  <a:srgbClr val="800080"/>
                </a:solidFill>
              </a:rPr>
              <a:t>（</a:t>
            </a:r>
            <a:r>
              <a:rPr kumimoji="0" lang="en-US" altLang="zh-CN" sz="3200" dirty="0">
                <a:solidFill>
                  <a:srgbClr val="800080"/>
                </a:solidFill>
              </a:rPr>
              <a:t>1</a:t>
            </a:r>
            <a:r>
              <a:rPr kumimoji="0" lang="zh-CN" altLang="en-US" sz="3200" dirty="0">
                <a:solidFill>
                  <a:srgbClr val="800080"/>
                </a:solidFill>
              </a:rPr>
              <a:t>）</a:t>
            </a:r>
            <a:r>
              <a:rPr kumimoji="0" lang="zh-CN" altLang="en-US" sz="3200" b="1" dirty="0">
                <a:solidFill>
                  <a:srgbClr val="800080"/>
                </a:solidFill>
              </a:rPr>
              <a:t>和 </a:t>
            </a:r>
            <a:r>
              <a:rPr kumimoji="0" lang="en-US" altLang="zh-CN" sz="3200" dirty="0">
                <a:solidFill>
                  <a:srgbClr val="800080"/>
                </a:solidFill>
              </a:rPr>
              <a:t>SLR</a:t>
            </a:r>
            <a:r>
              <a:rPr kumimoji="0" lang="zh-CN" altLang="en-US" sz="3200" dirty="0">
                <a:solidFill>
                  <a:srgbClr val="800080"/>
                </a:solidFill>
              </a:rPr>
              <a:t>（</a:t>
            </a:r>
            <a:r>
              <a:rPr kumimoji="0" lang="en-US" altLang="zh-CN" sz="3200" dirty="0">
                <a:solidFill>
                  <a:srgbClr val="800080"/>
                </a:solidFill>
              </a:rPr>
              <a:t>1</a:t>
            </a:r>
            <a:r>
              <a:rPr kumimoji="0" lang="zh-CN" altLang="en-US" sz="3200" dirty="0">
                <a:solidFill>
                  <a:srgbClr val="800080"/>
                </a:solidFill>
              </a:rPr>
              <a:t>）</a:t>
            </a:r>
            <a:r>
              <a:rPr kumimoji="0" lang="zh-CN" altLang="en-US" sz="3200" b="1" dirty="0">
                <a:solidFill>
                  <a:srgbClr val="800080"/>
                </a:solidFill>
              </a:rPr>
              <a:t>分析技术的折衷</a:t>
            </a:r>
            <a:endParaRPr lang="zh-CN" altLang="en-US" sz="3200" b="1" dirty="0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 dirty="0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 b="1" dirty="0">
                <a:solidFill>
                  <a:srgbClr val="800080"/>
                </a:solidFill>
              </a:rPr>
              <a:t>  </a:t>
            </a:r>
            <a:r>
              <a:rPr kumimoji="0" lang="en-US" altLang="zh-CN" sz="2800" dirty="0">
                <a:solidFill>
                  <a:srgbClr val="800080"/>
                </a:solidFill>
              </a:rPr>
              <a:t>LR</a:t>
            </a:r>
            <a:r>
              <a:rPr kumimoji="0" lang="zh-CN" altLang="en-US" sz="2800" dirty="0">
                <a:solidFill>
                  <a:srgbClr val="800080"/>
                </a:solidFill>
              </a:rPr>
              <a:t>（</a:t>
            </a:r>
            <a:r>
              <a:rPr kumimoji="0" lang="en-US" altLang="zh-CN" sz="2800" dirty="0">
                <a:solidFill>
                  <a:srgbClr val="800080"/>
                </a:solidFill>
              </a:rPr>
              <a:t>1</a:t>
            </a:r>
            <a:r>
              <a:rPr kumimoji="0" lang="zh-CN" altLang="en-US" sz="2800" dirty="0">
                <a:solidFill>
                  <a:srgbClr val="800080"/>
                </a:solidFill>
              </a:rPr>
              <a:t>）</a:t>
            </a:r>
            <a:r>
              <a:rPr kumimoji="0" lang="zh-CN" altLang="en-US" sz="2800" b="1" dirty="0">
                <a:solidFill>
                  <a:srgbClr val="800080"/>
                </a:solidFill>
              </a:rPr>
              <a:t>分析比 </a:t>
            </a:r>
            <a:r>
              <a:rPr kumimoji="0" lang="en-US" altLang="zh-CN" sz="2800" dirty="0">
                <a:solidFill>
                  <a:srgbClr val="800080"/>
                </a:solidFill>
              </a:rPr>
              <a:t>SLR</a:t>
            </a:r>
            <a:r>
              <a:rPr kumimoji="0" lang="zh-CN" altLang="en-US" sz="2800" dirty="0">
                <a:solidFill>
                  <a:srgbClr val="800080"/>
                </a:solidFill>
              </a:rPr>
              <a:t>（</a:t>
            </a:r>
            <a:r>
              <a:rPr kumimoji="0" lang="en-US" altLang="zh-CN" sz="2800" dirty="0">
                <a:solidFill>
                  <a:srgbClr val="800080"/>
                </a:solidFill>
              </a:rPr>
              <a:t>1</a:t>
            </a:r>
            <a:r>
              <a:rPr kumimoji="0" lang="zh-CN" altLang="en-US" sz="2800" dirty="0">
                <a:solidFill>
                  <a:srgbClr val="800080"/>
                </a:solidFill>
              </a:rPr>
              <a:t>）</a:t>
            </a:r>
            <a:r>
              <a:rPr kumimoji="0" lang="zh-CN" altLang="en-US" sz="2800" b="1" dirty="0">
                <a:solidFill>
                  <a:srgbClr val="800080"/>
                </a:solidFill>
              </a:rPr>
              <a:t>分析强大</a:t>
            </a:r>
          </a:p>
          <a:p>
            <a:pPr lvl="1">
              <a:buClrTx/>
              <a:buFont typeface="Symbol" panose="05050102010706020507" pitchFamily="18" charset="2"/>
              <a:buNone/>
            </a:pPr>
            <a:endParaRPr kumimoji="0" lang="zh-CN" altLang="en-US" sz="1000" b="1" dirty="0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lang="zh-CN" altLang="en-US" b="1" dirty="0"/>
              <a:t>    可以采用</a:t>
            </a:r>
            <a:r>
              <a:rPr kumimoji="0" lang="en-US" altLang="zh-CN" dirty="0"/>
              <a:t>SLR</a:t>
            </a:r>
            <a:r>
              <a:rPr kumimoji="0" lang="zh-CN" altLang="en-US" dirty="0"/>
              <a:t>（</a:t>
            </a:r>
            <a:r>
              <a:rPr kumimoji="0" lang="en-US" altLang="zh-CN" dirty="0"/>
              <a:t>1</a:t>
            </a:r>
            <a:r>
              <a:rPr kumimoji="0" lang="zh-CN" altLang="en-US" dirty="0"/>
              <a:t>）</a:t>
            </a:r>
            <a:r>
              <a:rPr kumimoji="0" lang="zh-CN" altLang="en-US" b="1" dirty="0"/>
              <a:t>分析</a:t>
            </a:r>
            <a:r>
              <a:rPr lang="zh-CN" altLang="en-US" b="1" dirty="0"/>
              <a:t>的文法一定可以采用</a:t>
            </a:r>
            <a:r>
              <a:rPr kumimoji="0" lang="en-US" altLang="zh-CN" dirty="0"/>
              <a:t>LR</a:t>
            </a:r>
            <a:r>
              <a:rPr kumimoji="0" lang="zh-CN" altLang="en-US" dirty="0"/>
              <a:t>（</a:t>
            </a:r>
            <a:r>
              <a:rPr kumimoji="0" lang="en-US" altLang="zh-CN" dirty="0"/>
              <a:t>1</a:t>
            </a:r>
            <a:r>
              <a:rPr kumimoji="0" lang="zh-CN" altLang="en-US" dirty="0"/>
              <a:t>）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kumimoji="0" lang="zh-CN" altLang="en-US" dirty="0"/>
              <a:t>    </a:t>
            </a:r>
            <a:r>
              <a:rPr kumimoji="0" lang="zh-CN" altLang="en-US" b="1" dirty="0"/>
              <a:t>分析；但反之不成立</a:t>
            </a:r>
          </a:p>
          <a:p>
            <a:pPr lvl="1">
              <a:buClrTx/>
              <a:buFont typeface="Symbol" panose="05050102010706020507" pitchFamily="18" charset="2"/>
              <a:buNone/>
            </a:pPr>
            <a:endParaRPr kumimoji="0" lang="zh-CN" altLang="en-US" sz="1000" b="1" dirty="0"/>
          </a:p>
          <a:p>
            <a:pPr lvl="1">
              <a:buFont typeface="Symbol" panose="05050102010706020507" pitchFamily="18" charset="2"/>
              <a:buChar char="-"/>
            </a:pPr>
            <a:r>
              <a:rPr lang="zh-CN" altLang="en-US" sz="2800" dirty="0"/>
              <a:t>  </a:t>
            </a:r>
            <a:r>
              <a:rPr kumimoji="0" lang="en-US" altLang="zh-CN" sz="2800" dirty="0">
                <a:solidFill>
                  <a:srgbClr val="800080"/>
                </a:solidFill>
              </a:rPr>
              <a:t>LR</a:t>
            </a:r>
            <a:r>
              <a:rPr kumimoji="0" lang="zh-CN" altLang="en-US" sz="2800" dirty="0">
                <a:solidFill>
                  <a:srgbClr val="800080"/>
                </a:solidFill>
              </a:rPr>
              <a:t>（</a:t>
            </a:r>
            <a:r>
              <a:rPr kumimoji="0" lang="en-US" altLang="zh-CN" sz="2800" dirty="0">
                <a:solidFill>
                  <a:srgbClr val="800080"/>
                </a:solidFill>
              </a:rPr>
              <a:t>1</a:t>
            </a:r>
            <a:r>
              <a:rPr kumimoji="0" lang="zh-CN" altLang="en-US" sz="2800" dirty="0">
                <a:solidFill>
                  <a:srgbClr val="800080"/>
                </a:solidFill>
              </a:rPr>
              <a:t>）</a:t>
            </a:r>
            <a:r>
              <a:rPr kumimoji="0" lang="zh-CN" altLang="en-US" sz="2800" b="1" dirty="0">
                <a:solidFill>
                  <a:srgbClr val="800080"/>
                </a:solidFill>
              </a:rPr>
              <a:t>分析的复杂度比 </a:t>
            </a:r>
            <a:r>
              <a:rPr kumimoji="0" lang="en-US" altLang="zh-CN" sz="2800" dirty="0">
                <a:solidFill>
                  <a:srgbClr val="800080"/>
                </a:solidFill>
              </a:rPr>
              <a:t>SLR</a:t>
            </a:r>
            <a:r>
              <a:rPr kumimoji="0" lang="zh-CN" altLang="en-US" sz="2800" dirty="0">
                <a:solidFill>
                  <a:srgbClr val="800080"/>
                </a:solidFill>
              </a:rPr>
              <a:t>（</a:t>
            </a:r>
            <a:r>
              <a:rPr kumimoji="0" lang="en-US" altLang="zh-CN" sz="2800" dirty="0">
                <a:solidFill>
                  <a:srgbClr val="800080"/>
                </a:solidFill>
              </a:rPr>
              <a:t>1</a:t>
            </a:r>
            <a:r>
              <a:rPr kumimoji="0" lang="zh-CN" altLang="en-US" sz="2800" dirty="0">
                <a:solidFill>
                  <a:srgbClr val="800080"/>
                </a:solidFill>
              </a:rPr>
              <a:t>）</a:t>
            </a:r>
            <a:r>
              <a:rPr kumimoji="0" lang="zh-CN" altLang="en-US" sz="2800" b="1" dirty="0">
                <a:solidFill>
                  <a:srgbClr val="800080"/>
                </a:solidFill>
              </a:rPr>
              <a:t>分析高</a:t>
            </a:r>
          </a:p>
          <a:p>
            <a:pPr lvl="1">
              <a:buFont typeface="Symbol" panose="05050102010706020507" pitchFamily="18" charset="2"/>
              <a:buNone/>
            </a:pPr>
            <a:endParaRPr kumimoji="0" lang="zh-CN" altLang="en-US" sz="1000" b="1" dirty="0"/>
          </a:p>
          <a:p>
            <a:pPr lvl="1">
              <a:buFont typeface="Symbol" panose="05050102010706020507" pitchFamily="18" charset="2"/>
              <a:buNone/>
            </a:pPr>
            <a:r>
              <a:rPr kumimoji="0" lang="zh-CN" altLang="en-US" b="1" dirty="0"/>
              <a:t>    通常，一个 </a:t>
            </a:r>
            <a:r>
              <a:rPr kumimoji="0" lang="en-US" altLang="zh-CN" dirty="0"/>
              <a:t>SLR</a:t>
            </a:r>
            <a:r>
              <a:rPr kumimoji="0" lang="zh-CN" altLang="en-US" dirty="0"/>
              <a:t>（</a:t>
            </a:r>
            <a:r>
              <a:rPr kumimoji="0" lang="en-US" altLang="zh-CN" dirty="0"/>
              <a:t>1</a:t>
            </a:r>
            <a:r>
              <a:rPr kumimoji="0" lang="zh-CN" altLang="en-US" dirty="0"/>
              <a:t>）</a:t>
            </a:r>
            <a:r>
              <a:rPr lang="zh-CN" altLang="en-US" b="1" dirty="0"/>
              <a:t>文法的 </a:t>
            </a:r>
            <a:r>
              <a:rPr lang="en-US" altLang="zh-CN" dirty="0"/>
              <a:t>LR</a:t>
            </a:r>
            <a:r>
              <a:rPr lang="zh-CN" altLang="en-US" dirty="0"/>
              <a:t>（</a:t>
            </a:r>
            <a:r>
              <a:rPr lang="en-US" altLang="zh-CN" dirty="0"/>
              <a:t>0</a:t>
            </a:r>
            <a:r>
              <a:rPr lang="zh-CN" altLang="en-US" dirty="0"/>
              <a:t>）</a:t>
            </a:r>
            <a:r>
              <a:rPr lang="en-US" altLang="zh-CN" dirty="0"/>
              <a:t>FSM</a:t>
            </a:r>
            <a:r>
              <a:rPr lang="en-US" altLang="zh-CN" b="1" dirty="0"/>
              <a:t> </a:t>
            </a:r>
            <a:r>
              <a:rPr lang="zh-CN" altLang="en-US" b="1" dirty="0"/>
              <a:t>状态数目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zh-CN" altLang="en-US" b="1" dirty="0"/>
              <a:t>    要比它的 </a:t>
            </a:r>
            <a:r>
              <a:rPr kumimoji="0" lang="en-US" altLang="zh-CN" dirty="0"/>
              <a:t>LR</a:t>
            </a:r>
            <a:r>
              <a:rPr kumimoji="0" lang="zh-CN" altLang="en-US" dirty="0"/>
              <a:t>（</a:t>
            </a:r>
            <a:r>
              <a:rPr kumimoji="0" lang="en-US" altLang="zh-CN" dirty="0"/>
              <a:t>1</a:t>
            </a:r>
            <a:r>
              <a:rPr kumimoji="0" lang="zh-CN" altLang="en-US" dirty="0"/>
              <a:t>）</a:t>
            </a:r>
            <a:r>
              <a:rPr lang="en-US" altLang="zh-CN" dirty="0"/>
              <a:t>FSM</a:t>
            </a:r>
            <a:r>
              <a:rPr lang="zh-CN" altLang="en-US" b="1" dirty="0"/>
              <a:t>状态数目少得多</a:t>
            </a:r>
          </a:p>
          <a:p>
            <a:pPr lvl="1">
              <a:buFont typeface="Symbol" panose="05050102010706020507" pitchFamily="18" charset="2"/>
              <a:buNone/>
            </a:pPr>
            <a:endParaRPr lang="zh-CN" altLang="en-US" sz="1000" b="1" dirty="0"/>
          </a:p>
          <a:p>
            <a:pPr lvl="1">
              <a:buFont typeface="Symbol" panose="05050102010706020507" pitchFamily="18" charset="2"/>
              <a:buChar char="-"/>
            </a:pPr>
            <a:r>
              <a:rPr kumimoji="0" lang="zh-CN" altLang="en-US" sz="2800" dirty="0">
                <a:solidFill>
                  <a:srgbClr val="800080"/>
                </a:solidFill>
              </a:rPr>
              <a:t>  </a:t>
            </a:r>
            <a:r>
              <a:rPr kumimoji="0" lang="zh-CN" altLang="en-US" sz="2800" b="1" dirty="0">
                <a:solidFill>
                  <a:srgbClr val="800080"/>
                </a:solidFill>
              </a:rPr>
              <a:t>合并</a:t>
            </a:r>
            <a:r>
              <a:rPr kumimoji="0" lang="en-US" altLang="zh-CN" sz="2800" dirty="0">
                <a:solidFill>
                  <a:srgbClr val="800080"/>
                </a:solidFill>
              </a:rPr>
              <a:t>LR</a:t>
            </a:r>
            <a:r>
              <a:rPr kumimoji="0" lang="zh-CN" altLang="en-US" sz="2800" dirty="0">
                <a:solidFill>
                  <a:srgbClr val="800080"/>
                </a:solidFill>
              </a:rPr>
              <a:t>（</a:t>
            </a:r>
            <a:r>
              <a:rPr kumimoji="0" lang="en-US" altLang="zh-CN" sz="2800" dirty="0">
                <a:solidFill>
                  <a:srgbClr val="800080"/>
                </a:solidFill>
              </a:rPr>
              <a:t>1</a:t>
            </a:r>
            <a:r>
              <a:rPr kumimoji="0" lang="zh-CN" altLang="en-US" sz="2800" dirty="0">
                <a:solidFill>
                  <a:srgbClr val="800080"/>
                </a:solidFill>
              </a:rPr>
              <a:t>）</a:t>
            </a:r>
            <a:r>
              <a:rPr lang="en-US" altLang="zh-CN" sz="2800" dirty="0">
                <a:solidFill>
                  <a:srgbClr val="800080"/>
                </a:solidFill>
              </a:rPr>
              <a:t>FSM</a:t>
            </a:r>
            <a:r>
              <a:rPr lang="zh-CN" altLang="en-US" sz="2800" b="1" dirty="0">
                <a:solidFill>
                  <a:srgbClr val="800080"/>
                </a:solidFill>
              </a:rPr>
              <a:t>的相似状态</a:t>
            </a:r>
          </a:p>
          <a:p>
            <a:pPr lvl="1">
              <a:buFont typeface="Symbol" panose="05050102010706020507" pitchFamily="18" charset="2"/>
              <a:buNone/>
            </a:pPr>
            <a:endParaRPr kumimoji="0" lang="zh-CN" altLang="en-US" sz="1000" b="1" dirty="0">
              <a:solidFill>
                <a:srgbClr val="800080"/>
              </a:solidFill>
            </a:endParaRPr>
          </a:p>
          <a:p>
            <a:pPr lvl="1">
              <a:buFont typeface="Symbol" panose="05050102010706020507" pitchFamily="18" charset="2"/>
              <a:buNone/>
            </a:pPr>
            <a:r>
              <a:rPr kumimoji="0" lang="zh-CN" altLang="en-US" dirty="0">
                <a:solidFill>
                  <a:srgbClr val="800080"/>
                </a:solidFill>
              </a:rPr>
              <a:t>    </a:t>
            </a:r>
            <a:r>
              <a:rPr kumimoji="0" lang="en-US" altLang="zh-CN" dirty="0"/>
              <a:t>LALR</a:t>
            </a:r>
            <a:r>
              <a:rPr kumimoji="0" lang="zh-CN" altLang="en-US" dirty="0"/>
              <a:t>（</a:t>
            </a:r>
            <a:r>
              <a:rPr kumimoji="0" lang="en-US" altLang="zh-CN" dirty="0"/>
              <a:t>1</a:t>
            </a:r>
            <a:r>
              <a:rPr kumimoji="0" lang="zh-CN" altLang="en-US" dirty="0"/>
              <a:t>）</a:t>
            </a:r>
            <a:r>
              <a:rPr kumimoji="0" lang="zh-CN" altLang="en-US" b="1" dirty="0"/>
              <a:t>分析中将</a:t>
            </a:r>
            <a:r>
              <a:rPr kumimoji="0" lang="zh-CN" altLang="en-US" b="1" dirty="0">
                <a:solidFill>
                  <a:srgbClr val="800080"/>
                </a:solidFill>
              </a:rPr>
              <a:t>同心</a:t>
            </a:r>
            <a:r>
              <a:rPr kumimoji="0" lang="zh-CN" altLang="en-US" b="1" dirty="0"/>
              <a:t>的</a:t>
            </a:r>
            <a:r>
              <a:rPr kumimoji="0" lang="en-US" altLang="zh-CN" dirty="0"/>
              <a:t>LR</a:t>
            </a:r>
            <a:r>
              <a:rPr kumimoji="0" lang="zh-CN" altLang="en-US" dirty="0"/>
              <a:t>（</a:t>
            </a:r>
            <a:r>
              <a:rPr kumimoji="0" lang="en-US" altLang="zh-CN" dirty="0"/>
              <a:t>1</a:t>
            </a:r>
            <a:r>
              <a:rPr kumimoji="0" lang="zh-CN" altLang="en-US" dirty="0"/>
              <a:t>）</a:t>
            </a:r>
            <a:r>
              <a:rPr lang="en-US" altLang="zh-CN" dirty="0"/>
              <a:t>FSM</a:t>
            </a:r>
            <a:r>
              <a:rPr lang="zh-CN" altLang="en-US" b="1" dirty="0"/>
              <a:t>状态</a:t>
            </a:r>
            <a:r>
              <a:rPr kumimoji="0" lang="zh-CN" altLang="en-US" b="1" dirty="0"/>
              <a:t>合并</a:t>
            </a:r>
            <a:r>
              <a:rPr lang="zh-CN" altLang="en-US" b="1" dirty="0"/>
              <a:t>，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zh-CN" altLang="en-US" b="1" dirty="0"/>
              <a:t>    得到与</a:t>
            </a:r>
            <a:r>
              <a:rPr lang="en-US" altLang="zh-CN" dirty="0"/>
              <a:t>LR</a:t>
            </a:r>
            <a:r>
              <a:rPr lang="zh-CN" altLang="en-US" dirty="0"/>
              <a:t>（</a:t>
            </a:r>
            <a:r>
              <a:rPr lang="en-US" altLang="zh-CN" dirty="0"/>
              <a:t>0</a:t>
            </a:r>
            <a:r>
              <a:rPr lang="zh-CN" altLang="en-US" dirty="0"/>
              <a:t>）</a:t>
            </a:r>
            <a:r>
              <a:rPr lang="en-US" altLang="zh-CN" dirty="0"/>
              <a:t>FSM</a:t>
            </a:r>
            <a:r>
              <a:rPr lang="en-US" altLang="zh-CN" b="1" dirty="0"/>
              <a:t> </a:t>
            </a:r>
            <a:r>
              <a:rPr lang="zh-CN" altLang="en-US" b="1" dirty="0"/>
              <a:t>相同数目的状态，但保留了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zh-CN" altLang="en-US" b="1" dirty="0"/>
              <a:t>    </a:t>
            </a:r>
            <a:r>
              <a:rPr kumimoji="0" lang="en-US" altLang="zh-CN" dirty="0"/>
              <a:t>LR</a:t>
            </a:r>
            <a:r>
              <a:rPr kumimoji="0" lang="zh-CN" altLang="en-US" dirty="0"/>
              <a:t>（</a:t>
            </a:r>
            <a:r>
              <a:rPr kumimoji="0" lang="en-US" altLang="zh-CN" dirty="0"/>
              <a:t>1</a:t>
            </a:r>
            <a:r>
              <a:rPr kumimoji="0" lang="zh-CN" altLang="en-US" dirty="0"/>
              <a:t>）</a:t>
            </a:r>
            <a:r>
              <a:rPr kumimoji="0" lang="zh-CN" altLang="en-US" b="1" dirty="0"/>
              <a:t>的部分</a:t>
            </a:r>
            <a:r>
              <a:rPr lang="zh-CN" altLang="en-US" b="1" dirty="0"/>
              <a:t>向前搜索能力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966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4966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4966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4966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49665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49665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49665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49665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49665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49665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669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7670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7671" name="AutoShape 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7672" name="AutoShape 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7676" name="Rectangle 12"/>
          <p:cNvSpPr>
            <a:spLocks noChangeArrowheads="1"/>
          </p:cNvSpPr>
          <p:nvPr/>
        </p:nvSpPr>
        <p:spPr bwMode="auto">
          <a:xfrm>
            <a:off x="35496" y="188913"/>
            <a:ext cx="38862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LALR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497677" name="Text Box 13"/>
          <p:cNvSpPr txBox="1">
            <a:spLocks noChangeArrowheads="1"/>
          </p:cNvSpPr>
          <p:nvPr/>
        </p:nvSpPr>
        <p:spPr bwMode="auto">
          <a:xfrm>
            <a:off x="683568" y="1341438"/>
            <a:ext cx="8388350" cy="4178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buClrTx/>
            </a:pPr>
            <a:r>
              <a:rPr kumimoji="0" lang="en-US" altLang="zh-CN" sz="3200" dirty="0">
                <a:solidFill>
                  <a:srgbClr val="800080"/>
                </a:solidFill>
              </a:rPr>
              <a:t> LR</a:t>
            </a:r>
            <a:r>
              <a:rPr kumimoji="0" lang="zh-CN" altLang="en-US" sz="3200" dirty="0">
                <a:solidFill>
                  <a:srgbClr val="800080"/>
                </a:solidFill>
              </a:rPr>
              <a:t>（</a:t>
            </a:r>
            <a:r>
              <a:rPr kumimoji="0" lang="en-US" altLang="zh-CN" sz="3200" dirty="0">
                <a:solidFill>
                  <a:srgbClr val="800080"/>
                </a:solidFill>
              </a:rPr>
              <a:t>1</a:t>
            </a:r>
            <a:r>
              <a:rPr kumimoji="0" lang="zh-CN" altLang="en-US" sz="3200" dirty="0">
                <a:solidFill>
                  <a:srgbClr val="800080"/>
                </a:solidFill>
              </a:rPr>
              <a:t>）</a:t>
            </a:r>
            <a:r>
              <a:rPr kumimoji="0" lang="en-US" altLang="zh-CN" sz="3200" dirty="0">
                <a:solidFill>
                  <a:srgbClr val="800080"/>
                </a:solidFill>
              </a:rPr>
              <a:t>FSM</a:t>
            </a:r>
            <a:r>
              <a:rPr kumimoji="0" lang="zh-CN" altLang="en-US" sz="3200" b="1" dirty="0">
                <a:solidFill>
                  <a:srgbClr val="800080"/>
                </a:solidFill>
              </a:rPr>
              <a:t>的同心状态</a:t>
            </a:r>
            <a:endParaRPr lang="zh-CN" altLang="en-US" sz="3200" b="1" dirty="0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 dirty="0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 b="1" dirty="0">
                <a:solidFill>
                  <a:srgbClr val="800080"/>
                </a:solidFill>
              </a:rPr>
              <a:t>  </a:t>
            </a:r>
            <a:r>
              <a:rPr kumimoji="0" lang="en-US" altLang="zh-CN" sz="2800" dirty="0">
                <a:solidFill>
                  <a:srgbClr val="800080"/>
                </a:solidFill>
              </a:rPr>
              <a:t>LR</a:t>
            </a:r>
            <a:r>
              <a:rPr kumimoji="0" lang="zh-CN" altLang="en-US" sz="2800" dirty="0">
                <a:solidFill>
                  <a:srgbClr val="800080"/>
                </a:solidFill>
              </a:rPr>
              <a:t>（</a:t>
            </a:r>
            <a:r>
              <a:rPr kumimoji="0" lang="en-US" altLang="zh-CN" sz="2800" dirty="0">
                <a:solidFill>
                  <a:srgbClr val="800080"/>
                </a:solidFill>
              </a:rPr>
              <a:t>1</a:t>
            </a:r>
            <a:r>
              <a:rPr kumimoji="0" lang="zh-CN" altLang="en-US" sz="2800" dirty="0">
                <a:solidFill>
                  <a:srgbClr val="800080"/>
                </a:solidFill>
              </a:rPr>
              <a:t>）</a:t>
            </a:r>
            <a:r>
              <a:rPr kumimoji="0" lang="zh-CN" altLang="en-US" sz="2800" b="1" dirty="0">
                <a:solidFill>
                  <a:srgbClr val="800080"/>
                </a:solidFill>
              </a:rPr>
              <a:t>项目的“心”</a:t>
            </a:r>
            <a:r>
              <a:rPr kumimoji="0" lang="zh-CN" altLang="en-US" sz="2800" b="1" dirty="0"/>
              <a:t>（</a:t>
            </a:r>
            <a:r>
              <a:rPr kumimoji="0" lang="en-US" altLang="zh-CN" sz="2800" i="1" dirty="0"/>
              <a:t>core</a:t>
            </a:r>
            <a:r>
              <a:rPr kumimoji="0" lang="zh-CN" altLang="en-US" sz="2800" b="1" dirty="0"/>
              <a:t>）</a:t>
            </a:r>
          </a:p>
          <a:p>
            <a:pPr lvl="1">
              <a:buClrTx/>
              <a:buFont typeface="Symbol" panose="05050102010706020507" pitchFamily="18" charset="2"/>
              <a:buNone/>
            </a:pPr>
            <a:endParaRPr kumimoji="0" lang="zh-CN" altLang="en-US" sz="1000" b="1" dirty="0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lang="zh-CN" altLang="en-US" sz="2800" b="1" dirty="0"/>
              <a:t>    </a:t>
            </a:r>
            <a:r>
              <a:rPr kumimoji="0" lang="en-US" altLang="zh-CN" sz="2800" dirty="0"/>
              <a:t>LR</a:t>
            </a:r>
            <a:r>
              <a:rPr kumimoji="0" lang="zh-CN" altLang="en-US" sz="2800" dirty="0"/>
              <a:t>（</a:t>
            </a:r>
            <a:r>
              <a:rPr kumimoji="0" lang="en-US" altLang="zh-CN" sz="2800" dirty="0"/>
              <a:t>1</a:t>
            </a:r>
            <a:r>
              <a:rPr kumimoji="0" lang="zh-CN" altLang="en-US" sz="2800" dirty="0"/>
              <a:t>）</a:t>
            </a:r>
            <a:r>
              <a:rPr kumimoji="0" lang="zh-CN" altLang="en-US" sz="2800" b="1" dirty="0"/>
              <a:t>项目 </a:t>
            </a:r>
            <a:r>
              <a:rPr kumimoji="0" lang="en-US" altLang="zh-CN" sz="2800" dirty="0"/>
              <a:t>[</a:t>
            </a:r>
            <a:r>
              <a:rPr lang="en-US" altLang="zh-CN" sz="2800" b="1" dirty="0">
                <a:sym typeface="Symbol" panose="05050102010706020507" pitchFamily="18" charset="2"/>
              </a:rPr>
              <a:t>A </a:t>
            </a:r>
            <a:r>
              <a:rPr kumimoji="0" lang="en-US" altLang="zh-CN" sz="2800" dirty="0">
                <a:sym typeface="Symbol" panose="05050102010706020507" pitchFamily="18" charset="2"/>
              </a:rPr>
              <a:t></a:t>
            </a:r>
            <a:r>
              <a:rPr lang="en-US" altLang="zh-CN" sz="2800" dirty="0"/>
              <a:t> </a:t>
            </a:r>
            <a:r>
              <a:rPr lang="en-US" altLang="zh-CN" sz="2800" b="1" dirty="0">
                <a:sym typeface="Symbol" panose="05050102010706020507" pitchFamily="18" charset="2"/>
              </a:rPr>
              <a:t> </a:t>
            </a:r>
            <a:r>
              <a:rPr lang="en-US" altLang="zh-CN" sz="2800" b="1" dirty="0"/>
              <a:t>. </a:t>
            </a:r>
            <a:r>
              <a:rPr lang="en-US" altLang="zh-CN" sz="2800" b="1" dirty="0">
                <a:sym typeface="Symbol" panose="05050102010706020507" pitchFamily="18" charset="2"/>
              </a:rPr>
              <a:t> ,  </a:t>
            </a:r>
            <a:r>
              <a:rPr kumimoji="0" lang="en-US" altLang="zh-CN" sz="2800" b="1" dirty="0">
                <a:sym typeface="Symbol" panose="05050102010706020507" pitchFamily="18" charset="2"/>
              </a:rPr>
              <a:t>a</a:t>
            </a:r>
            <a:r>
              <a:rPr kumimoji="0" lang="en-US" altLang="zh-CN" sz="2800" dirty="0"/>
              <a:t>] </a:t>
            </a:r>
            <a:r>
              <a:rPr lang="zh-CN" altLang="en-US" sz="2800" b="1" dirty="0"/>
              <a:t>中的 </a:t>
            </a:r>
            <a:r>
              <a:rPr lang="en-US" altLang="zh-CN" sz="2800" b="1" dirty="0">
                <a:sym typeface="Symbol" panose="05050102010706020507" pitchFamily="18" charset="2"/>
              </a:rPr>
              <a:t>A </a:t>
            </a:r>
            <a:r>
              <a:rPr kumimoji="0" lang="en-US" altLang="zh-CN" sz="2800" dirty="0">
                <a:sym typeface="Symbol" panose="05050102010706020507" pitchFamily="18" charset="2"/>
              </a:rPr>
              <a:t></a:t>
            </a:r>
            <a:r>
              <a:rPr lang="en-US" altLang="zh-CN" sz="2800" dirty="0"/>
              <a:t> </a:t>
            </a:r>
            <a:r>
              <a:rPr lang="en-US" altLang="zh-CN" sz="2800" b="1" dirty="0">
                <a:sym typeface="Symbol" panose="05050102010706020507" pitchFamily="18" charset="2"/>
              </a:rPr>
              <a:t> </a:t>
            </a:r>
            <a:r>
              <a:rPr lang="en-US" altLang="zh-CN" sz="2800" b="1" dirty="0"/>
              <a:t>. </a:t>
            </a:r>
            <a:r>
              <a:rPr lang="en-US" altLang="zh-CN" sz="2800" b="1" dirty="0">
                <a:sym typeface="Symbol" panose="05050102010706020507" pitchFamily="18" charset="2"/>
              </a:rPr>
              <a:t>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lang="en-US" altLang="zh-CN" sz="2800" b="1" dirty="0">
                <a:sym typeface="Symbol" panose="05050102010706020507" pitchFamily="18" charset="2"/>
              </a:rPr>
              <a:t>    </a:t>
            </a:r>
            <a:r>
              <a:rPr lang="zh-CN" altLang="en-US" sz="2800" b="1" dirty="0">
                <a:sym typeface="Symbol" panose="05050102010706020507" pitchFamily="18" charset="2"/>
              </a:rPr>
              <a:t>部分称为该项目的</a:t>
            </a:r>
            <a:r>
              <a:rPr kumimoji="0" lang="zh-CN" altLang="en-US" sz="2800" b="1" dirty="0"/>
              <a:t>“心”</a:t>
            </a:r>
          </a:p>
          <a:p>
            <a:pPr lvl="1">
              <a:buClrTx/>
              <a:buFont typeface="Symbol" panose="05050102010706020507" pitchFamily="18" charset="2"/>
              <a:buNone/>
            </a:pPr>
            <a:endParaRPr kumimoji="0" lang="zh-CN" altLang="en-US" sz="1000" b="1" dirty="0"/>
          </a:p>
          <a:p>
            <a:pPr lvl="1">
              <a:buFont typeface="Symbol" panose="05050102010706020507" pitchFamily="18" charset="2"/>
              <a:buChar char="-"/>
            </a:pPr>
            <a:r>
              <a:rPr lang="zh-CN" altLang="en-US" sz="2800" dirty="0"/>
              <a:t>  </a:t>
            </a:r>
            <a:r>
              <a:rPr kumimoji="0" lang="zh-CN" altLang="en-US" sz="2800" b="1" dirty="0">
                <a:solidFill>
                  <a:srgbClr val="800080"/>
                </a:solidFill>
              </a:rPr>
              <a:t>同心状态</a:t>
            </a:r>
          </a:p>
          <a:p>
            <a:pPr lvl="1">
              <a:buFont typeface="Symbol" panose="05050102010706020507" pitchFamily="18" charset="2"/>
              <a:buNone/>
            </a:pPr>
            <a:endParaRPr kumimoji="0" lang="zh-CN" altLang="en-US" sz="1000" b="1" dirty="0"/>
          </a:p>
          <a:p>
            <a:pPr lvl="1">
              <a:buFont typeface="Symbol" panose="05050102010706020507" pitchFamily="18" charset="2"/>
              <a:buNone/>
            </a:pPr>
            <a:r>
              <a:rPr kumimoji="0" lang="zh-CN" altLang="en-US" sz="2800" b="1" dirty="0"/>
              <a:t>    对于</a:t>
            </a:r>
            <a:r>
              <a:rPr kumimoji="0" lang="en-US" altLang="zh-CN" sz="2800" dirty="0"/>
              <a:t>LR</a:t>
            </a:r>
            <a:r>
              <a:rPr kumimoji="0" lang="zh-CN" altLang="en-US" sz="2800" dirty="0"/>
              <a:t>（</a:t>
            </a:r>
            <a:r>
              <a:rPr kumimoji="0" lang="en-US" altLang="zh-CN" sz="2800" dirty="0"/>
              <a:t>1</a:t>
            </a:r>
            <a:r>
              <a:rPr kumimoji="0" lang="zh-CN" altLang="en-US" sz="2800" dirty="0"/>
              <a:t>）</a:t>
            </a:r>
            <a:r>
              <a:rPr kumimoji="0" lang="en-US" altLang="zh-CN" sz="2800" dirty="0"/>
              <a:t>FSM </a:t>
            </a:r>
            <a:r>
              <a:rPr kumimoji="0" lang="zh-CN" altLang="en-US" sz="2800" b="1" dirty="0"/>
              <a:t>的两个状态，如果只考虑</a:t>
            </a:r>
          </a:p>
          <a:p>
            <a:pPr lvl="1">
              <a:buFont typeface="Symbol" panose="05050102010706020507" pitchFamily="18" charset="2"/>
              <a:buNone/>
            </a:pPr>
            <a:r>
              <a:rPr kumimoji="0" lang="zh-CN" altLang="en-US" sz="2800" b="1" dirty="0"/>
              <a:t>    每个项目的 “心”，它们是完全相同的项目集</a:t>
            </a:r>
          </a:p>
          <a:p>
            <a:pPr lvl="1">
              <a:buFont typeface="Symbol" panose="05050102010706020507" pitchFamily="18" charset="2"/>
              <a:buNone/>
            </a:pPr>
            <a:r>
              <a:rPr kumimoji="0" lang="zh-CN" altLang="en-US" sz="2800" b="1" dirty="0"/>
              <a:t>    合，那么这两个状态就是同心的状态</a:t>
            </a:r>
            <a:endParaRPr lang="zh-CN" altLang="en-US" sz="2800" b="1" dirty="0"/>
          </a:p>
        </p:txBody>
      </p:sp>
    </p:spTree>
  </p:cSld>
  <p:clrMapOvr>
    <a:masterClrMapping/>
  </p:clrMapOvr>
  <p:transition spd="med">
    <p:wipe dir="r"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3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8694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8695" name="AutoShape 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8696" name="AutoShape 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8702" name="Rectangle 14"/>
          <p:cNvSpPr>
            <a:spLocks noChangeArrowheads="1"/>
          </p:cNvSpPr>
          <p:nvPr/>
        </p:nvSpPr>
        <p:spPr bwMode="auto">
          <a:xfrm>
            <a:off x="35496" y="188913"/>
            <a:ext cx="38862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LALR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498703" name="Text Box 15"/>
          <p:cNvSpPr txBox="1">
            <a:spLocks noChangeArrowheads="1"/>
          </p:cNvSpPr>
          <p:nvPr/>
        </p:nvSpPr>
        <p:spPr bwMode="auto">
          <a:xfrm>
            <a:off x="1189038" y="4144963"/>
            <a:ext cx="1946275" cy="2298700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(.L,E)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#</a:t>
            </a:r>
            <a:endParaRPr kumimoji="0" lang="en-US" altLang="zh-CN" sz="1800" b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(.F)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#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.L,E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.E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endParaRPr lang="en-US" altLang="zh-CN" sz="1800" b="1" i="1">
              <a:ea typeface="华文行楷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.(F) </a:t>
            </a:r>
            <a:r>
              <a:rPr lang="en-US" altLang="zh-CN" sz="1800" b="1" i="1">
                <a:solidFill>
                  <a:srgbClr val="993366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d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.(L,E)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.F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</a:t>
            </a:r>
          </a:p>
        </p:txBody>
      </p:sp>
      <p:sp>
        <p:nvSpPr>
          <p:cNvPr id="498704" name="Text Box 16"/>
          <p:cNvSpPr txBox="1">
            <a:spLocks noChangeArrowheads="1"/>
          </p:cNvSpPr>
          <p:nvPr/>
        </p:nvSpPr>
        <p:spPr bwMode="auto">
          <a:xfrm>
            <a:off x="3779838" y="4154488"/>
            <a:ext cx="1943100" cy="2298700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8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(.L,E)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endParaRPr kumimoji="0" lang="en-US" altLang="zh-CN" sz="1800" b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(.F)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.L,E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.E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endParaRPr lang="en-US" altLang="zh-CN" sz="1800" b="1" i="1">
              <a:ea typeface="华文行楷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F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.(F) </a:t>
            </a:r>
            <a:r>
              <a:rPr lang="en-US" altLang="zh-CN" sz="1800" b="1" i="1">
                <a:solidFill>
                  <a:srgbClr val="993366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d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.(L,E)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.F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</a:t>
            </a:r>
          </a:p>
        </p:txBody>
      </p:sp>
      <p:sp>
        <p:nvSpPr>
          <p:cNvPr id="498705" name="Text Box 17"/>
          <p:cNvSpPr txBox="1">
            <a:spLocks noChangeArrowheads="1"/>
          </p:cNvSpPr>
          <p:nvPr/>
        </p:nvSpPr>
        <p:spPr bwMode="auto">
          <a:xfrm>
            <a:off x="6370638" y="4154488"/>
            <a:ext cx="2162175" cy="2298700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13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(.L,E)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kumimoji="0" lang="en-US" altLang="zh-CN" sz="1800" b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(.F)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.L,E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.E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endParaRPr lang="en-US" altLang="zh-CN" sz="1800" b="1" i="1">
              <a:ea typeface="华文行楷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.(F) </a:t>
            </a:r>
            <a:r>
              <a:rPr lang="en-US" altLang="zh-CN" sz="1800" b="1" i="1">
                <a:solidFill>
                  <a:srgbClr val="993366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d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.(L,E)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.F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</a:p>
        </p:txBody>
      </p:sp>
      <p:sp>
        <p:nvSpPr>
          <p:cNvPr id="498706" name="Text Box 18"/>
          <p:cNvSpPr txBox="1">
            <a:spLocks noChangeArrowheads="1"/>
          </p:cNvSpPr>
          <p:nvPr/>
        </p:nvSpPr>
        <p:spPr bwMode="auto">
          <a:xfrm>
            <a:off x="1763713" y="3411538"/>
            <a:ext cx="1512887" cy="376237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d.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#</a:t>
            </a:r>
          </a:p>
        </p:txBody>
      </p:sp>
      <p:sp>
        <p:nvSpPr>
          <p:cNvPr id="498707" name="Text Box 19"/>
          <p:cNvSpPr txBox="1">
            <a:spLocks noChangeArrowheads="1"/>
          </p:cNvSpPr>
          <p:nvPr/>
        </p:nvSpPr>
        <p:spPr bwMode="auto">
          <a:xfrm>
            <a:off x="4284663" y="3411538"/>
            <a:ext cx="1512887" cy="376237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9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d.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498710" name="Text Box 22"/>
          <p:cNvSpPr txBox="1">
            <a:spLocks noChangeArrowheads="1"/>
          </p:cNvSpPr>
          <p:nvPr/>
        </p:nvSpPr>
        <p:spPr bwMode="auto">
          <a:xfrm>
            <a:off x="1763713" y="2708275"/>
            <a:ext cx="1512887" cy="376238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F.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#</a:t>
            </a:r>
            <a:endParaRPr lang="en-US" altLang="zh-CN" sz="1800" b="1" i="1">
              <a:ea typeface="华文行楷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98711" name="Text Box 23"/>
          <p:cNvSpPr txBox="1">
            <a:spLocks noChangeArrowheads="1"/>
          </p:cNvSpPr>
          <p:nvPr/>
        </p:nvSpPr>
        <p:spPr bwMode="auto">
          <a:xfrm>
            <a:off x="4283075" y="2708275"/>
            <a:ext cx="1728788" cy="376238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12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F.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498712" name="Text Box 24"/>
          <p:cNvSpPr txBox="1">
            <a:spLocks noChangeArrowheads="1"/>
          </p:cNvSpPr>
          <p:nvPr/>
        </p:nvSpPr>
        <p:spPr bwMode="auto">
          <a:xfrm>
            <a:off x="611188" y="1125538"/>
            <a:ext cx="6408737" cy="1477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 dirty="0">
                <a:solidFill>
                  <a:srgbClr val="800080"/>
                </a:solidFill>
              </a:rPr>
              <a:t> </a:t>
            </a:r>
            <a:r>
              <a:rPr lang="en-US" altLang="zh-CN" sz="3200" dirty="0"/>
              <a:t>LR</a:t>
            </a:r>
            <a:r>
              <a:rPr lang="zh-CN" altLang="en-US" sz="3200" dirty="0"/>
              <a:t>（</a:t>
            </a:r>
            <a:r>
              <a:rPr lang="en-US" altLang="zh-CN" sz="3200" dirty="0"/>
              <a:t>1</a:t>
            </a:r>
            <a:r>
              <a:rPr lang="zh-CN" altLang="en-US" sz="3200" dirty="0"/>
              <a:t>）</a:t>
            </a:r>
            <a:r>
              <a:rPr lang="en-US" altLang="zh-CN" sz="3200" dirty="0"/>
              <a:t>FSM </a:t>
            </a:r>
            <a:r>
              <a:rPr lang="zh-CN" altLang="en-US" sz="3200" b="1" dirty="0"/>
              <a:t>同心状态</a:t>
            </a:r>
            <a:r>
              <a:rPr lang="zh-CN" altLang="en-US" sz="3200" b="1" dirty="0">
                <a:solidFill>
                  <a:srgbClr val="800080"/>
                </a:solidFill>
              </a:rPr>
              <a:t>举例</a:t>
            </a:r>
            <a:endParaRPr lang="zh-CN" altLang="en-US" sz="3200" b="1" dirty="0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 dirty="0">
              <a:solidFill>
                <a:srgbClr val="800080"/>
              </a:solidFill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zh-CN" altLang="en-US" b="1" dirty="0"/>
              <a:t> 文法</a:t>
            </a:r>
            <a:r>
              <a:rPr lang="en-US" altLang="zh-CN" i="1" dirty="0"/>
              <a:t>G’</a:t>
            </a:r>
            <a:r>
              <a:rPr lang="en-US" altLang="zh-CN" b="1" dirty="0"/>
              <a:t> </a:t>
            </a:r>
            <a:r>
              <a:rPr lang="en-US" altLang="zh-CN" dirty="0"/>
              <a:t>[</a:t>
            </a:r>
            <a:r>
              <a:rPr lang="en-US" altLang="zh-CN" i="1" dirty="0"/>
              <a:t>S</a:t>
            </a:r>
            <a:r>
              <a:rPr lang="en-US" altLang="zh-CN" dirty="0"/>
              <a:t>]</a:t>
            </a:r>
            <a:r>
              <a:rPr kumimoji="0" lang="en-US" altLang="zh-CN" dirty="0">
                <a:sym typeface="Symbol" panose="05050102010706020507" pitchFamily="18" charset="2"/>
              </a:rPr>
              <a:t> </a:t>
            </a:r>
            <a:r>
              <a:rPr kumimoji="0" lang="zh-CN" altLang="en-US" b="1" dirty="0">
                <a:sym typeface="Symbol" panose="05050102010706020507" pitchFamily="18" charset="2"/>
              </a:rPr>
              <a:t>的 </a:t>
            </a:r>
            <a:r>
              <a:rPr lang="en-US" altLang="zh-CN" dirty="0"/>
              <a:t>LR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FSM</a:t>
            </a:r>
            <a:r>
              <a:rPr lang="zh-CN" altLang="en-US" b="1" dirty="0"/>
              <a:t>中的同心状态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zh-CN" altLang="en-US" b="1" dirty="0"/>
              <a:t>  （共 </a:t>
            </a:r>
            <a:r>
              <a:rPr lang="en-US" altLang="zh-CN" dirty="0"/>
              <a:t>9</a:t>
            </a:r>
            <a:r>
              <a:rPr lang="en-US" altLang="zh-CN" b="1" dirty="0"/>
              <a:t> </a:t>
            </a:r>
            <a:r>
              <a:rPr lang="zh-CN" altLang="en-US" b="1" dirty="0"/>
              <a:t>组）</a:t>
            </a:r>
          </a:p>
        </p:txBody>
      </p:sp>
      <p:sp>
        <p:nvSpPr>
          <p:cNvPr id="498713" name="Text Box 25"/>
          <p:cNvSpPr txBox="1">
            <a:spLocks noChangeArrowheads="1"/>
          </p:cNvSpPr>
          <p:nvPr/>
        </p:nvSpPr>
        <p:spPr bwMode="auto">
          <a:xfrm>
            <a:off x="7164388" y="1125538"/>
            <a:ext cx="1908175" cy="2451100"/>
          </a:xfrm>
          <a:prstGeom prst="rect">
            <a:avLst/>
          </a:prstGeom>
          <a:noFill/>
          <a:ln w="9525" cap="rnd">
            <a:solidFill>
              <a:srgbClr val="990099"/>
            </a:solidFill>
            <a:prstDash val="sysDot"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zh-CN" altLang="en-US" sz="2000" b="1">
                <a:solidFill>
                  <a:srgbClr val="800080"/>
                </a:solidFill>
                <a:sym typeface="Symbol" panose="05050102010706020507" pitchFamily="18" charset="2"/>
              </a:rPr>
              <a:t>增广</a:t>
            </a:r>
            <a:r>
              <a:rPr kumimoji="0" lang="zh-CN" altLang="en-US" sz="2000" b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文法</a:t>
            </a:r>
            <a:r>
              <a:rPr kumimoji="0" lang="en-US" altLang="zh-CN" sz="20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G’ </a:t>
            </a:r>
            <a:r>
              <a:rPr kumimoji="0" lang="en-US" altLang="zh-CN" sz="20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kumimoji="0" lang="en-US" altLang="zh-CN" sz="20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kumimoji="0" lang="en-US" altLang="zh-CN" sz="20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]: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kumimoji="0" lang="en-US" altLang="zh-CN" sz="800">
              <a:solidFill>
                <a:srgbClr val="80008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(0)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S 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E</a:t>
            </a:r>
            <a:endParaRPr kumimoji="0" lang="en-US" altLang="zh-CN" sz="1800">
              <a:solidFill>
                <a:srgbClr val="80008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(1)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(L </a:t>
            </a:r>
            <a:r>
              <a:rPr lang="en-US" altLang="zh-CN" sz="1800" b="1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 )</a:t>
            </a:r>
            <a:endParaRPr lang="en-US" altLang="zh-CN" sz="1800" i="1">
              <a:solidFill>
                <a:srgbClr val="800080"/>
              </a:solidFill>
              <a:ea typeface="华文行楷" pitchFamily="2" charset="-122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 (2)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E </a:t>
            </a: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 F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 (3)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L </a:t>
            </a:r>
            <a:r>
              <a:rPr lang="en-US" altLang="zh-CN" sz="1800">
                <a:solidFill>
                  <a:srgbClr val="800080"/>
                </a:solidFill>
                <a:ea typeface="华文行楷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sym typeface="Symbol" panose="05050102010706020507" pitchFamily="18" charset="2"/>
              </a:rPr>
              <a:t>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L </a:t>
            </a:r>
            <a:r>
              <a:rPr lang="en-US" altLang="zh-CN" sz="1800" b="1" i="1">
                <a:solidFill>
                  <a:srgbClr val="800080"/>
                </a:solidFill>
                <a:sym typeface="Symbol" panose="05050102010706020507" pitchFamily="18" charset="2"/>
              </a:rPr>
              <a:t>,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E</a:t>
            </a: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 </a:t>
            </a:r>
            <a:endParaRPr lang="en-US" altLang="zh-CN" sz="1800" i="1">
              <a:solidFill>
                <a:srgbClr val="800080"/>
              </a:solidFill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 (4)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L </a:t>
            </a: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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E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 (5)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F </a:t>
            </a:r>
            <a:r>
              <a:rPr lang="en-US" altLang="zh-CN" sz="1800">
                <a:solidFill>
                  <a:srgbClr val="800080"/>
                </a:solidFill>
                <a:ea typeface="华文行楷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sym typeface="Symbol" panose="05050102010706020507" pitchFamily="18" charset="2"/>
              </a:rPr>
              <a:t>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( F )</a:t>
            </a:r>
            <a:endParaRPr lang="en-US" altLang="zh-CN" sz="1800" i="1">
              <a:solidFill>
                <a:srgbClr val="800080"/>
              </a:solidFill>
              <a:ea typeface="华文行楷" pitchFamily="2" charset="-122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 (6) 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F </a:t>
            </a:r>
            <a:r>
              <a:rPr lang="en-US" altLang="zh-CN" sz="1800">
                <a:solidFill>
                  <a:srgbClr val="80008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sym typeface="Symbol" panose="05050102010706020507" pitchFamily="18" charset="2"/>
              </a:rPr>
              <a:t> d</a:t>
            </a:r>
          </a:p>
        </p:txBody>
      </p:sp>
      <p:sp>
        <p:nvSpPr>
          <p:cNvPr id="498714" name="Rectangle 26"/>
          <p:cNvSpPr>
            <a:spLocks noChangeArrowheads="1"/>
          </p:cNvSpPr>
          <p:nvPr/>
        </p:nvSpPr>
        <p:spPr bwMode="auto">
          <a:xfrm>
            <a:off x="1692275" y="2636838"/>
            <a:ext cx="4392613" cy="504825"/>
          </a:xfrm>
          <a:prstGeom prst="rect">
            <a:avLst/>
          </a:prstGeom>
          <a:noFill/>
          <a:ln w="9525" cap="rnd" algn="ctr">
            <a:solidFill>
              <a:srgbClr val="000080"/>
            </a:solidFill>
            <a:prstDash val="sysDot"/>
            <a:miter lim="800000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98715" name="Rectangle 27"/>
          <p:cNvSpPr>
            <a:spLocks noChangeArrowheads="1"/>
          </p:cNvSpPr>
          <p:nvPr/>
        </p:nvSpPr>
        <p:spPr bwMode="auto">
          <a:xfrm>
            <a:off x="1692275" y="3357563"/>
            <a:ext cx="4175125" cy="504825"/>
          </a:xfrm>
          <a:prstGeom prst="rect">
            <a:avLst/>
          </a:prstGeom>
          <a:noFill/>
          <a:ln w="9525" cap="rnd" algn="ctr">
            <a:solidFill>
              <a:srgbClr val="000080"/>
            </a:solidFill>
            <a:prstDash val="sysDot"/>
            <a:miter lim="800000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98716" name="Rectangle 28"/>
          <p:cNvSpPr>
            <a:spLocks noChangeArrowheads="1"/>
          </p:cNvSpPr>
          <p:nvPr/>
        </p:nvSpPr>
        <p:spPr bwMode="auto">
          <a:xfrm>
            <a:off x="1116013" y="4078288"/>
            <a:ext cx="7488237" cy="2447925"/>
          </a:xfrm>
          <a:prstGeom prst="rect">
            <a:avLst/>
          </a:prstGeom>
          <a:noFill/>
          <a:ln w="9525" cap="rnd" algn="ctr">
            <a:solidFill>
              <a:srgbClr val="000080"/>
            </a:solidFill>
            <a:prstDash val="sysDot"/>
            <a:miter lim="800000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916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0917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0918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0919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0920" name="Rectangle 8"/>
          <p:cNvSpPr>
            <a:spLocks noChangeArrowheads="1"/>
          </p:cNvSpPr>
          <p:nvPr/>
        </p:nvSpPr>
        <p:spPr bwMode="auto">
          <a:xfrm>
            <a:off x="35496" y="188913"/>
            <a:ext cx="38862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LALR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550921" name="Text Box 9"/>
          <p:cNvSpPr txBox="1">
            <a:spLocks noChangeArrowheads="1"/>
          </p:cNvSpPr>
          <p:nvPr/>
        </p:nvSpPr>
        <p:spPr bwMode="auto">
          <a:xfrm>
            <a:off x="1331913" y="2495550"/>
            <a:ext cx="1873250" cy="65087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6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(L.,E)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#</a:t>
            </a:r>
            <a:endParaRPr lang="en-US" altLang="zh-CN" sz="1800" b="1" i="1">
              <a:ea typeface="华文行楷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L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L.,E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550922" name="Text Box 10"/>
          <p:cNvSpPr txBox="1">
            <a:spLocks noChangeArrowheads="1"/>
          </p:cNvSpPr>
          <p:nvPr/>
        </p:nvSpPr>
        <p:spPr bwMode="auto">
          <a:xfrm>
            <a:off x="6373813" y="2492375"/>
            <a:ext cx="1943100" cy="65087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17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(L.,E)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1800" b="1" i="1">
              <a:ea typeface="华文行楷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L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L.,E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550923" name="Text Box 11"/>
          <p:cNvSpPr txBox="1">
            <a:spLocks noChangeArrowheads="1"/>
          </p:cNvSpPr>
          <p:nvPr/>
        </p:nvSpPr>
        <p:spPr bwMode="auto">
          <a:xfrm>
            <a:off x="2628900" y="3570288"/>
            <a:ext cx="1655763" cy="65087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7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(F.) </a:t>
            </a:r>
            <a:r>
              <a:rPr lang="en-US" altLang="zh-CN" sz="1800" b="1" i="1">
                <a:solidFill>
                  <a:srgbClr val="993366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#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F.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</a:p>
        </p:txBody>
      </p:sp>
      <p:sp>
        <p:nvSpPr>
          <p:cNvPr id="550924" name="Text Box 12"/>
          <p:cNvSpPr txBox="1">
            <a:spLocks noChangeArrowheads="1"/>
          </p:cNvSpPr>
          <p:nvPr/>
        </p:nvSpPr>
        <p:spPr bwMode="auto">
          <a:xfrm>
            <a:off x="4933950" y="3568700"/>
            <a:ext cx="1943100" cy="65087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15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(F.) </a:t>
            </a:r>
            <a:r>
              <a:rPr lang="en-US" altLang="zh-CN" sz="1800" b="1" i="1">
                <a:solidFill>
                  <a:srgbClr val="993366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 E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F.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</a:t>
            </a:r>
          </a:p>
        </p:txBody>
      </p:sp>
      <p:sp>
        <p:nvSpPr>
          <p:cNvPr id="550925" name="Text Box 13"/>
          <p:cNvSpPr txBox="1">
            <a:spLocks noChangeArrowheads="1"/>
          </p:cNvSpPr>
          <p:nvPr/>
        </p:nvSpPr>
        <p:spPr bwMode="auto">
          <a:xfrm>
            <a:off x="1116013" y="4632325"/>
            <a:ext cx="2160587" cy="174942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10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(L,.E)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#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 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L,.E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 E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.(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L,E) </a:t>
            </a:r>
            <a:r>
              <a:rPr lang="en-US" altLang="zh-CN" sz="1800" b="1" i="1">
                <a:solidFill>
                  <a:srgbClr val="993366"/>
                </a:solidFill>
                <a:ea typeface="华文行楷" pitchFamily="2" charset="-122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endParaRPr lang="en-US" altLang="zh-CN" sz="1800" b="1" i="1">
              <a:ea typeface="华文行楷" pitchFamily="2" charset="-122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      </a:t>
            </a:r>
            <a:r>
              <a:rPr lang="en-US" altLang="zh-CN" sz="1800" b="1" i="1">
                <a:sym typeface="Symbol" panose="05050102010706020507" pitchFamily="18" charset="2"/>
              </a:rPr>
              <a:t>E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.F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endParaRPr lang="en-US" altLang="zh-CN" sz="1800" b="1" i="1"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 F </a:t>
            </a:r>
            <a:r>
              <a:rPr lang="en-US" altLang="zh-CN" sz="1800" b="1">
                <a:ea typeface="华文行楷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 .(F)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 F </a:t>
            </a:r>
            <a:r>
              <a:rPr lang="en-US" altLang="zh-CN" sz="1800" b="1"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sym typeface="Symbol" panose="05050102010706020507" pitchFamily="18" charset="2"/>
              </a:rPr>
              <a:t>d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 </a:t>
            </a:r>
            <a:r>
              <a:rPr lang="en-US" altLang="zh-CN" sz="1800" b="1" i="1"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550926" name="Text Box 14"/>
          <p:cNvSpPr txBox="1">
            <a:spLocks noChangeArrowheads="1"/>
          </p:cNvSpPr>
          <p:nvPr/>
        </p:nvSpPr>
        <p:spPr bwMode="auto">
          <a:xfrm>
            <a:off x="3779838" y="4632325"/>
            <a:ext cx="2160587" cy="174942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18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(L,.E)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1800" b="1" i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 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L,.E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 E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.(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L,E) </a:t>
            </a:r>
            <a:r>
              <a:rPr lang="en-US" altLang="zh-CN" sz="1800" b="1" i="1">
                <a:solidFill>
                  <a:srgbClr val="993366"/>
                </a:solidFill>
                <a:ea typeface="华文行楷" pitchFamily="2" charset="-122"/>
                <a:sym typeface="Symbol" panose="05050102010706020507" pitchFamily="18" charset="2"/>
              </a:rPr>
              <a:t>,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  <a:r>
              <a:rPr lang="en-US" altLang="zh-CN" sz="1800" b="1"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      </a:t>
            </a:r>
            <a:r>
              <a:rPr lang="en-US" altLang="zh-CN" sz="1800" b="1" i="1">
                <a:sym typeface="Symbol" panose="05050102010706020507" pitchFamily="18" charset="2"/>
              </a:rPr>
              <a:t>E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.F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endParaRPr lang="en-US" altLang="zh-CN" sz="1800" b="1" i="1"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 F </a:t>
            </a:r>
            <a:r>
              <a:rPr lang="en-US" altLang="zh-CN" sz="1800" b="1">
                <a:ea typeface="华文行楷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 .(F)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endParaRPr lang="en-US" altLang="zh-CN" sz="1800" b="1" i="1"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 F </a:t>
            </a:r>
            <a:r>
              <a:rPr lang="en-US" altLang="zh-CN" sz="1800" b="1"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sym typeface="Symbol" panose="05050102010706020507" pitchFamily="18" charset="2"/>
              </a:rPr>
              <a:t>d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550927" name="Text Box 15"/>
          <p:cNvSpPr txBox="1">
            <a:spLocks noChangeArrowheads="1"/>
          </p:cNvSpPr>
          <p:nvPr/>
        </p:nvSpPr>
        <p:spPr bwMode="auto">
          <a:xfrm>
            <a:off x="6443663" y="4632325"/>
            <a:ext cx="2160587" cy="174942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19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(L,.E)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1800" b="1" i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 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L,.E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 E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.(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L,E) </a:t>
            </a:r>
            <a:r>
              <a:rPr lang="en-US" altLang="zh-CN" sz="1800" b="1" i="1">
                <a:solidFill>
                  <a:srgbClr val="993366"/>
                </a:solidFill>
                <a:ea typeface="华文行楷" pitchFamily="2" charset="-122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      </a:t>
            </a:r>
            <a:r>
              <a:rPr lang="en-US" altLang="zh-CN" sz="1800" b="1" i="1">
                <a:sym typeface="Symbol" panose="05050102010706020507" pitchFamily="18" charset="2"/>
              </a:rPr>
              <a:t>E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.F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endParaRPr lang="en-US" altLang="zh-CN" sz="1800" b="1" i="1"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 F </a:t>
            </a:r>
            <a:r>
              <a:rPr lang="en-US" altLang="zh-CN" sz="1800" b="1">
                <a:ea typeface="华文行楷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 .(F)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endParaRPr lang="en-US" altLang="zh-CN" sz="1800" b="1" i="1"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 F </a:t>
            </a:r>
            <a:r>
              <a:rPr lang="en-US" altLang="zh-CN" sz="1800" b="1"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sym typeface="Symbol" panose="05050102010706020507" pitchFamily="18" charset="2"/>
              </a:rPr>
              <a:t>d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550928" name="Text Box 16"/>
          <p:cNvSpPr txBox="1">
            <a:spLocks noChangeArrowheads="1"/>
          </p:cNvSpPr>
          <p:nvPr/>
        </p:nvSpPr>
        <p:spPr bwMode="auto">
          <a:xfrm>
            <a:off x="3706813" y="2495550"/>
            <a:ext cx="2160587" cy="65087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14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(L.,E)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1800" b="1" i="1">
              <a:ea typeface="华文行楷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L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L.,E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550929" name="Text Box 17"/>
          <p:cNvSpPr txBox="1">
            <a:spLocks noChangeArrowheads="1"/>
          </p:cNvSpPr>
          <p:nvPr/>
        </p:nvSpPr>
        <p:spPr bwMode="auto">
          <a:xfrm>
            <a:off x="684213" y="1125538"/>
            <a:ext cx="8064500" cy="11079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 dirty="0">
                <a:solidFill>
                  <a:srgbClr val="800080"/>
                </a:solidFill>
              </a:rPr>
              <a:t> </a:t>
            </a:r>
            <a:r>
              <a:rPr lang="en-US" altLang="zh-CN" sz="3200" dirty="0"/>
              <a:t>LR</a:t>
            </a:r>
            <a:r>
              <a:rPr lang="zh-CN" altLang="en-US" sz="3200" dirty="0"/>
              <a:t>（</a:t>
            </a:r>
            <a:r>
              <a:rPr lang="en-US" altLang="zh-CN" sz="3200" dirty="0"/>
              <a:t>1</a:t>
            </a:r>
            <a:r>
              <a:rPr lang="zh-CN" altLang="en-US" sz="3200" dirty="0"/>
              <a:t>）</a:t>
            </a:r>
            <a:r>
              <a:rPr lang="en-US" altLang="zh-CN" sz="3200" dirty="0"/>
              <a:t>FSM </a:t>
            </a:r>
            <a:r>
              <a:rPr lang="zh-CN" altLang="en-US" sz="3200" b="1" dirty="0"/>
              <a:t>同心状态</a:t>
            </a:r>
            <a:r>
              <a:rPr lang="zh-CN" altLang="en-US" sz="3200" b="1" dirty="0">
                <a:solidFill>
                  <a:srgbClr val="800080"/>
                </a:solidFill>
              </a:rPr>
              <a:t>举例</a:t>
            </a:r>
            <a:endParaRPr lang="zh-CN" altLang="en-US" sz="3200" b="1" dirty="0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 dirty="0">
              <a:solidFill>
                <a:srgbClr val="800080"/>
              </a:solidFill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zh-CN" altLang="en-US" b="1" dirty="0"/>
              <a:t> 文法</a:t>
            </a:r>
            <a:r>
              <a:rPr lang="en-US" altLang="zh-CN" i="1" dirty="0"/>
              <a:t>G’</a:t>
            </a:r>
            <a:r>
              <a:rPr lang="en-US" altLang="zh-CN" b="1" dirty="0"/>
              <a:t> </a:t>
            </a:r>
            <a:r>
              <a:rPr lang="en-US" altLang="zh-CN" dirty="0"/>
              <a:t>[</a:t>
            </a:r>
            <a:r>
              <a:rPr lang="en-US" altLang="zh-CN" i="1" dirty="0"/>
              <a:t>S</a:t>
            </a:r>
            <a:r>
              <a:rPr lang="en-US" altLang="zh-CN" dirty="0"/>
              <a:t>]</a:t>
            </a:r>
            <a:r>
              <a:rPr kumimoji="0" lang="en-US" altLang="zh-CN" dirty="0">
                <a:sym typeface="Symbol" panose="05050102010706020507" pitchFamily="18" charset="2"/>
              </a:rPr>
              <a:t> </a:t>
            </a:r>
            <a:r>
              <a:rPr kumimoji="0" lang="zh-CN" altLang="en-US" b="1" dirty="0">
                <a:sym typeface="Symbol" panose="05050102010706020507" pitchFamily="18" charset="2"/>
              </a:rPr>
              <a:t>的 </a:t>
            </a:r>
            <a:r>
              <a:rPr lang="en-US" altLang="zh-CN" dirty="0"/>
              <a:t>LR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FSM</a:t>
            </a:r>
            <a:r>
              <a:rPr lang="zh-CN" altLang="en-US" b="1" dirty="0"/>
              <a:t>中的同心状态（共 </a:t>
            </a:r>
            <a:r>
              <a:rPr lang="en-US" altLang="zh-CN" dirty="0"/>
              <a:t>9</a:t>
            </a:r>
            <a:r>
              <a:rPr lang="en-US" altLang="zh-CN" b="1" dirty="0"/>
              <a:t> </a:t>
            </a:r>
            <a:r>
              <a:rPr lang="zh-CN" altLang="en-US" b="1" dirty="0"/>
              <a:t>组）</a:t>
            </a:r>
          </a:p>
        </p:txBody>
      </p:sp>
      <p:sp>
        <p:nvSpPr>
          <p:cNvPr id="550933" name="Rectangle 21"/>
          <p:cNvSpPr>
            <a:spLocks noChangeArrowheads="1"/>
          </p:cNvSpPr>
          <p:nvPr/>
        </p:nvSpPr>
        <p:spPr bwMode="auto">
          <a:xfrm>
            <a:off x="1258888" y="2420938"/>
            <a:ext cx="7129462" cy="792162"/>
          </a:xfrm>
          <a:prstGeom prst="rect">
            <a:avLst/>
          </a:prstGeom>
          <a:noFill/>
          <a:ln w="9525" cap="rnd" algn="ctr">
            <a:solidFill>
              <a:srgbClr val="000080"/>
            </a:solidFill>
            <a:prstDash val="sysDot"/>
            <a:miter lim="800000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50934" name="Rectangle 22"/>
          <p:cNvSpPr>
            <a:spLocks noChangeArrowheads="1"/>
          </p:cNvSpPr>
          <p:nvPr/>
        </p:nvSpPr>
        <p:spPr bwMode="auto">
          <a:xfrm>
            <a:off x="2555875" y="3500438"/>
            <a:ext cx="4392613" cy="792162"/>
          </a:xfrm>
          <a:prstGeom prst="rect">
            <a:avLst/>
          </a:prstGeom>
          <a:noFill/>
          <a:ln w="9525" cap="rnd" algn="ctr">
            <a:solidFill>
              <a:srgbClr val="000080"/>
            </a:solidFill>
            <a:prstDash val="sysDot"/>
            <a:miter lim="800000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50935" name="Rectangle 23"/>
          <p:cNvSpPr>
            <a:spLocks noChangeArrowheads="1"/>
          </p:cNvSpPr>
          <p:nvPr/>
        </p:nvSpPr>
        <p:spPr bwMode="auto">
          <a:xfrm>
            <a:off x="1042988" y="4579938"/>
            <a:ext cx="7632700" cy="1873250"/>
          </a:xfrm>
          <a:prstGeom prst="rect">
            <a:avLst/>
          </a:prstGeom>
          <a:noFill/>
          <a:ln w="9525" cap="rnd" algn="ctr">
            <a:solidFill>
              <a:srgbClr val="000080"/>
            </a:solidFill>
            <a:prstDash val="sysDot"/>
            <a:miter lim="800000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940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1941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1942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1943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1944" name="Rectangle 8"/>
          <p:cNvSpPr>
            <a:spLocks noChangeArrowheads="1"/>
          </p:cNvSpPr>
          <p:nvPr/>
        </p:nvSpPr>
        <p:spPr bwMode="auto">
          <a:xfrm>
            <a:off x="35496" y="188913"/>
            <a:ext cx="38862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LALR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551945" name="Text Box 9"/>
          <p:cNvSpPr txBox="1">
            <a:spLocks noChangeArrowheads="1"/>
          </p:cNvSpPr>
          <p:nvPr/>
        </p:nvSpPr>
        <p:spPr bwMode="auto">
          <a:xfrm>
            <a:off x="1403350" y="2930525"/>
            <a:ext cx="2160588" cy="65087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kumimoji="0" lang="en-US" altLang="zh-CN" sz="1800" b="1"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sym typeface="Symbol" panose="05050102010706020507" pitchFamily="18" charset="2"/>
              </a:rPr>
              <a:t>11</a:t>
            </a:r>
            <a:r>
              <a:rPr kumimoji="0" lang="en-US" altLang="zh-CN" sz="1800" b="1"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sym typeface="Symbol" panose="05050102010706020507" pitchFamily="18" charset="2"/>
              </a:rPr>
              <a:t>E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(L,E.)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 </a:t>
            </a:r>
            <a:r>
              <a:rPr lang="en-US" altLang="zh-CN" sz="1800" b="1" i="1">
                <a:sym typeface="Symbol" panose="05050102010706020507" pitchFamily="18" charset="2"/>
              </a:rPr>
              <a:t>#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 L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L,E.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551946" name="Text Box 10"/>
          <p:cNvSpPr txBox="1">
            <a:spLocks noChangeArrowheads="1"/>
          </p:cNvSpPr>
          <p:nvPr/>
        </p:nvSpPr>
        <p:spPr bwMode="auto">
          <a:xfrm>
            <a:off x="6372225" y="2924175"/>
            <a:ext cx="2160588" cy="65087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24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(L,E.)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1800" b="1" i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 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L,E.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551947" name="Text Box 11"/>
          <p:cNvSpPr txBox="1">
            <a:spLocks noChangeArrowheads="1"/>
          </p:cNvSpPr>
          <p:nvPr/>
        </p:nvSpPr>
        <p:spPr bwMode="auto">
          <a:xfrm>
            <a:off x="3995738" y="2927350"/>
            <a:ext cx="1946275" cy="65087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22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(L,E.)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1800" b="1" i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 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L,E.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551948" name="Text Box 12"/>
          <p:cNvSpPr txBox="1">
            <a:spLocks noChangeArrowheads="1"/>
          </p:cNvSpPr>
          <p:nvPr/>
        </p:nvSpPr>
        <p:spPr bwMode="auto">
          <a:xfrm>
            <a:off x="5221288" y="4367213"/>
            <a:ext cx="1943100" cy="376237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21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(F). </a:t>
            </a:r>
            <a:r>
              <a:rPr lang="en-US" altLang="zh-CN" sz="1800" b="1" i="1">
                <a:solidFill>
                  <a:srgbClr val="993366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 </a:t>
            </a:r>
          </a:p>
        </p:txBody>
      </p:sp>
      <p:sp>
        <p:nvSpPr>
          <p:cNvPr id="551949" name="Text Box 13"/>
          <p:cNvSpPr txBox="1">
            <a:spLocks noChangeArrowheads="1"/>
          </p:cNvSpPr>
          <p:nvPr/>
        </p:nvSpPr>
        <p:spPr bwMode="auto">
          <a:xfrm>
            <a:off x="2771775" y="4368800"/>
            <a:ext cx="1800225" cy="376238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16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(F). </a:t>
            </a:r>
            <a:r>
              <a:rPr lang="en-US" altLang="zh-CN" sz="1800" b="1" i="1">
                <a:solidFill>
                  <a:srgbClr val="993366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#</a:t>
            </a:r>
            <a:endParaRPr lang="en-US" altLang="zh-CN" sz="1800" b="1" i="1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51950" name="Text Box 14"/>
          <p:cNvSpPr txBox="1">
            <a:spLocks noChangeArrowheads="1"/>
          </p:cNvSpPr>
          <p:nvPr/>
        </p:nvSpPr>
        <p:spPr bwMode="auto">
          <a:xfrm>
            <a:off x="1404938" y="5519738"/>
            <a:ext cx="2017712" cy="376237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kumimoji="0" lang="en-US" altLang="zh-CN" sz="1800" b="1"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sym typeface="Symbol" panose="05050102010706020507" pitchFamily="18" charset="2"/>
              </a:rPr>
              <a:t>20</a:t>
            </a:r>
            <a:r>
              <a:rPr kumimoji="0" lang="en-US" altLang="zh-CN" sz="1800" b="1"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sym typeface="Symbol" panose="05050102010706020507" pitchFamily="18" charset="2"/>
              </a:rPr>
              <a:t>E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(L,E).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 </a:t>
            </a:r>
            <a:r>
              <a:rPr lang="en-US" altLang="zh-CN" sz="1800" b="1" i="1">
                <a:sym typeface="Symbol" panose="05050102010706020507" pitchFamily="18" charset="2"/>
              </a:rPr>
              <a:t>#</a:t>
            </a:r>
            <a:endParaRPr lang="en-US" altLang="zh-CN" sz="1800">
              <a:sym typeface="Symbol" panose="05050102010706020507" pitchFamily="18" charset="2"/>
            </a:endParaRPr>
          </a:p>
        </p:txBody>
      </p:sp>
      <p:sp>
        <p:nvSpPr>
          <p:cNvPr id="551951" name="Text Box 15"/>
          <p:cNvSpPr txBox="1">
            <a:spLocks noChangeArrowheads="1"/>
          </p:cNvSpPr>
          <p:nvPr/>
        </p:nvSpPr>
        <p:spPr bwMode="auto">
          <a:xfrm>
            <a:off x="6372225" y="5519738"/>
            <a:ext cx="2160588" cy="376237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25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(L,E).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551952" name="Text Box 16"/>
          <p:cNvSpPr txBox="1">
            <a:spLocks noChangeArrowheads="1"/>
          </p:cNvSpPr>
          <p:nvPr/>
        </p:nvSpPr>
        <p:spPr bwMode="auto">
          <a:xfrm>
            <a:off x="3924300" y="5519738"/>
            <a:ext cx="1944688" cy="376237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23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(L,E).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551953" name="Text Box 17"/>
          <p:cNvSpPr txBox="1">
            <a:spLocks noChangeArrowheads="1"/>
          </p:cNvSpPr>
          <p:nvPr/>
        </p:nvSpPr>
        <p:spPr bwMode="auto">
          <a:xfrm>
            <a:off x="684213" y="1252538"/>
            <a:ext cx="8064500" cy="11079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 dirty="0">
                <a:solidFill>
                  <a:srgbClr val="800080"/>
                </a:solidFill>
              </a:rPr>
              <a:t> </a:t>
            </a:r>
            <a:r>
              <a:rPr lang="en-US" altLang="zh-CN" sz="3200" dirty="0"/>
              <a:t>LR</a:t>
            </a:r>
            <a:r>
              <a:rPr lang="zh-CN" altLang="en-US" sz="3200" dirty="0"/>
              <a:t>（</a:t>
            </a:r>
            <a:r>
              <a:rPr lang="en-US" altLang="zh-CN" sz="3200" dirty="0"/>
              <a:t>1</a:t>
            </a:r>
            <a:r>
              <a:rPr lang="zh-CN" altLang="en-US" sz="3200" dirty="0"/>
              <a:t>）</a:t>
            </a:r>
            <a:r>
              <a:rPr lang="en-US" altLang="zh-CN" sz="3200" dirty="0"/>
              <a:t>FSM </a:t>
            </a:r>
            <a:r>
              <a:rPr lang="zh-CN" altLang="en-US" sz="3200" b="1" dirty="0"/>
              <a:t>同心态</a:t>
            </a:r>
            <a:r>
              <a:rPr lang="zh-CN" altLang="en-US" sz="3200" b="1" dirty="0">
                <a:solidFill>
                  <a:srgbClr val="800080"/>
                </a:solidFill>
              </a:rPr>
              <a:t>举例</a:t>
            </a:r>
            <a:endParaRPr lang="zh-CN" altLang="en-US" sz="3200" b="1" dirty="0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 dirty="0">
              <a:solidFill>
                <a:srgbClr val="800080"/>
              </a:solidFill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zh-CN" altLang="en-US" b="1" dirty="0"/>
              <a:t> 文法</a:t>
            </a:r>
            <a:r>
              <a:rPr lang="en-US" altLang="zh-CN" i="1" dirty="0"/>
              <a:t>G’</a:t>
            </a:r>
            <a:r>
              <a:rPr lang="en-US" altLang="zh-CN" b="1" dirty="0"/>
              <a:t> </a:t>
            </a:r>
            <a:r>
              <a:rPr lang="en-US" altLang="zh-CN" dirty="0"/>
              <a:t>[</a:t>
            </a:r>
            <a:r>
              <a:rPr lang="en-US" altLang="zh-CN" i="1" dirty="0"/>
              <a:t>S</a:t>
            </a:r>
            <a:r>
              <a:rPr lang="en-US" altLang="zh-CN" dirty="0"/>
              <a:t>]</a:t>
            </a:r>
            <a:r>
              <a:rPr kumimoji="0" lang="en-US" altLang="zh-CN" dirty="0">
                <a:sym typeface="Symbol" panose="05050102010706020507" pitchFamily="18" charset="2"/>
              </a:rPr>
              <a:t> </a:t>
            </a:r>
            <a:r>
              <a:rPr kumimoji="0" lang="zh-CN" altLang="en-US" b="1" dirty="0">
                <a:sym typeface="Symbol" panose="05050102010706020507" pitchFamily="18" charset="2"/>
              </a:rPr>
              <a:t>的 </a:t>
            </a:r>
            <a:r>
              <a:rPr lang="en-US" altLang="zh-CN" dirty="0"/>
              <a:t>LR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FSM</a:t>
            </a:r>
            <a:r>
              <a:rPr lang="zh-CN" altLang="en-US" b="1" dirty="0"/>
              <a:t>中的同心状态（共 </a:t>
            </a:r>
            <a:r>
              <a:rPr lang="en-US" altLang="zh-CN" dirty="0"/>
              <a:t>9</a:t>
            </a:r>
            <a:r>
              <a:rPr lang="en-US" altLang="zh-CN" b="1" dirty="0"/>
              <a:t> </a:t>
            </a:r>
            <a:r>
              <a:rPr lang="zh-CN" altLang="en-US" b="1" dirty="0"/>
              <a:t>组）</a:t>
            </a:r>
          </a:p>
        </p:txBody>
      </p:sp>
      <p:sp>
        <p:nvSpPr>
          <p:cNvPr id="551954" name="Rectangle 18"/>
          <p:cNvSpPr>
            <a:spLocks noChangeArrowheads="1"/>
          </p:cNvSpPr>
          <p:nvPr/>
        </p:nvSpPr>
        <p:spPr bwMode="auto">
          <a:xfrm>
            <a:off x="1331913" y="2852738"/>
            <a:ext cx="7272337" cy="808037"/>
          </a:xfrm>
          <a:prstGeom prst="rect">
            <a:avLst/>
          </a:prstGeom>
          <a:noFill/>
          <a:ln w="9525" cap="rnd" algn="ctr">
            <a:solidFill>
              <a:srgbClr val="000080"/>
            </a:solidFill>
            <a:prstDash val="sysDot"/>
            <a:miter lim="800000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51955" name="Rectangle 19"/>
          <p:cNvSpPr>
            <a:spLocks noChangeArrowheads="1"/>
          </p:cNvSpPr>
          <p:nvPr/>
        </p:nvSpPr>
        <p:spPr bwMode="auto">
          <a:xfrm>
            <a:off x="1331913" y="5445125"/>
            <a:ext cx="7272337" cy="504825"/>
          </a:xfrm>
          <a:prstGeom prst="rect">
            <a:avLst/>
          </a:prstGeom>
          <a:noFill/>
          <a:ln w="9525" cap="rnd" algn="ctr">
            <a:solidFill>
              <a:srgbClr val="000080"/>
            </a:solidFill>
            <a:prstDash val="sysDot"/>
            <a:miter lim="800000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51956" name="Rectangle 20"/>
          <p:cNvSpPr>
            <a:spLocks noChangeArrowheads="1"/>
          </p:cNvSpPr>
          <p:nvPr/>
        </p:nvSpPr>
        <p:spPr bwMode="auto">
          <a:xfrm>
            <a:off x="2700338" y="4292600"/>
            <a:ext cx="4535487" cy="504825"/>
          </a:xfrm>
          <a:prstGeom prst="rect">
            <a:avLst/>
          </a:prstGeom>
          <a:noFill/>
          <a:ln w="9525" cap="rnd" algn="ctr">
            <a:solidFill>
              <a:srgbClr val="000080"/>
            </a:solidFill>
            <a:prstDash val="sysDot"/>
            <a:miter lim="800000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992" name="Rectangle 8"/>
          <p:cNvSpPr>
            <a:spLocks noChangeArrowheads="1"/>
          </p:cNvSpPr>
          <p:nvPr/>
        </p:nvSpPr>
        <p:spPr bwMode="auto">
          <a:xfrm>
            <a:off x="35496" y="188913"/>
            <a:ext cx="38862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LALR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553993" name="Text Box 9"/>
          <p:cNvSpPr txBox="1">
            <a:spLocks noChangeArrowheads="1"/>
          </p:cNvSpPr>
          <p:nvPr/>
        </p:nvSpPr>
        <p:spPr bwMode="auto">
          <a:xfrm>
            <a:off x="541338" y="1125538"/>
            <a:ext cx="8207375" cy="17383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kumimoji="0" lang="en-US" altLang="zh-CN" sz="3200" dirty="0">
                <a:solidFill>
                  <a:srgbClr val="800080"/>
                </a:solidFill>
              </a:rPr>
              <a:t> LR</a:t>
            </a:r>
            <a:r>
              <a:rPr kumimoji="0" lang="zh-CN" altLang="en-US" sz="3200" dirty="0">
                <a:solidFill>
                  <a:srgbClr val="800080"/>
                </a:solidFill>
              </a:rPr>
              <a:t>（</a:t>
            </a:r>
            <a:r>
              <a:rPr kumimoji="0" lang="en-US" altLang="zh-CN" sz="3200" dirty="0">
                <a:solidFill>
                  <a:srgbClr val="800080"/>
                </a:solidFill>
              </a:rPr>
              <a:t>1</a:t>
            </a:r>
            <a:r>
              <a:rPr kumimoji="0" lang="zh-CN" altLang="en-US" sz="3200" dirty="0">
                <a:solidFill>
                  <a:srgbClr val="800080"/>
                </a:solidFill>
              </a:rPr>
              <a:t>）</a:t>
            </a:r>
            <a:r>
              <a:rPr kumimoji="0" lang="en-US" altLang="zh-CN" sz="3200" dirty="0">
                <a:solidFill>
                  <a:srgbClr val="800080"/>
                </a:solidFill>
              </a:rPr>
              <a:t>FSM</a:t>
            </a:r>
            <a:r>
              <a:rPr kumimoji="0" lang="zh-CN" altLang="en-US" sz="3200" b="1" dirty="0">
                <a:solidFill>
                  <a:srgbClr val="800080"/>
                </a:solidFill>
              </a:rPr>
              <a:t>的同心状态合并</a:t>
            </a:r>
            <a:endParaRPr lang="zh-CN" altLang="en-US" sz="3200" b="1" dirty="0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 dirty="0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 b="1" dirty="0">
                <a:solidFill>
                  <a:srgbClr val="800080"/>
                </a:solidFill>
              </a:rPr>
              <a:t>  同心项目的</a:t>
            </a:r>
            <a:r>
              <a:rPr kumimoji="0" lang="zh-CN" altLang="en-US" sz="2800" b="1" dirty="0">
                <a:solidFill>
                  <a:srgbClr val="800080"/>
                </a:solidFill>
              </a:rPr>
              <a:t>搜索符号集合进行合并</a:t>
            </a:r>
            <a:endParaRPr kumimoji="0" lang="zh-CN" altLang="en-US" sz="2800" b="1" dirty="0"/>
          </a:p>
          <a:p>
            <a:pPr lvl="1">
              <a:buClrTx/>
              <a:buFont typeface="Symbol" panose="05050102010706020507" pitchFamily="18" charset="2"/>
              <a:buNone/>
            </a:pPr>
            <a:endParaRPr kumimoji="0" lang="zh-CN" altLang="en-US" sz="1000" b="1" dirty="0"/>
          </a:p>
          <a:p>
            <a:pPr lvl="1">
              <a:buFont typeface="Symbol" panose="05050102010706020507" pitchFamily="18" charset="2"/>
              <a:buChar char="-"/>
            </a:pPr>
            <a:r>
              <a:rPr lang="zh-CN" altLang="en-US" sz="2800" dirty="0"/>
              <a:t>  </a:t>
            </a:r>
            <a:r>
              <a:rPr kumimoji="0" lang="zh-CN" altLang="en-US" sz="2800" b="1" dirty="0">
                <a:solidFill>
                  <a:srgbClr val="800080"/>
                </a:solidFill>
              </a:rPr>
              <a:t>举例 </a:t>
            </a:r>
            <a:r>
              <a:rPr kumimoji="0" lang="zh-CN" altLang="en-US" sz="2800" b="1" dirty="0"/>
              <a:t>上例中的 </a:t>
            </a:r>
            <a:r>
              <a:rPr kumimoji="0" lang="en-US" altLang="zh-CN" sz="2800" dirty="0"/>
              <a:t>9 </a:t>
            </a:r>
            <a:r>
              <a:rPr kumimoji="0" lang="zh-CN" altLang="en-US" sz="2800" b="1" dirty="0"/>
              <a:t>组同心状态合并为</a:t>
            </a:r>
            <a:r>
              <a:rPr kumimoji="0" lang="en-US" altLang="zh-CN" sz="2800" dirty="0"/>
              <a:t>9</a:t>
            </a:r>
            <a:r>
              <a:rPr kumimoji="0" lang="zh-CN" altLang="en-US" sz="2800" b="1" dirty="0"/>
              <a:t>个新状态</a:t>
            </a:r>
            <a:endParaRPr lang="zh-CN" altLang="en-US" sz="2800" b="1" dirty="0"/>
          </a:p>
        </p:txBody>
      </p:sp>
      <p:sp>
        <p:nvSpPr>
          <p:cNvPr id="553995" name="Text Box 11"/>
          <p:cNvSpPr txBox="1">
            <a:spLocks noChangeArrowheads="1"/>
          </p:cNvSpPr>
          <p:nvPr/>
        </p:nvSpPr>
        <p:spPr bwMode="auto">
          <a:xfrm>
            <a:off x="1547813" y="3141663"/>
            <a:ext cx="1800225" cy="376237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F.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#</a:t>
            </a:r>
          </a:p>
        </p:txBody>
      </p:sp>
      <p:sp>
        <p:nvSpPr>
          <p:cNvPr id="553998" name="Text Box 14"/>
          <p:cNvSpPr txBox="1">
            <a:spLocks noChangeArrowheads="1"/>
          </p:cNvSpPr>
          <p:nvPr/>
        </p:nvSpPr>
        <p:spPr bwMode="auto">
          <a:xfrm>
            <a:off x="6948488" y="5300663"/>
            <a:ext cx="2016125" cy="376237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(F). </a:t>
            </a:r>
            <a:r>
              <a:rPr lang="en-US" altLang="zh-CN" sz="1800" b="1" i="1">
                <a:solidFill>
                  <a:srgbClr val="993366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sym typeface="Symbol" panose="05050102010706020507" pitchFamily="18" charset="2"/>
              </a:rPr>
              <a:t>#</a:t>
            </a:r>
          </a:p>
        </p:txBody>
      </p:sp>
      <p:sp>
        <p:nvSpPr>
          <p:cNvPr id="554000" name="Text Box 16"/>
          <p:cNvSpPr txBox="1">
            <a:spLocks noChangeArrowheads="1"/>
          </p:cNvSpPr>
          <p:nvPr/>
        </p:nvSpPr>
        <p:spPr bwMode="auto">
          <a:xfrm>
            <a:off x="3924300" y="3141663"/>
            <a:ext cx="1800225" cy="376237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d.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#</a:t>
            </a:r>
          </a:p>
        </p:txBody>
      </p:sp>
      <p:sp>
        <p:nvSpPr>
          <p:cNvPr id="554003" name="Text Box 19"/>
          <p:cNvSpPr txBox="1">
            <a:spLocks noChangeArrowheads="1"/>
          </p:cNvSpPr>
          <p:nvPr/>
        </p:nvSpPr>
        <p:spPr bwMode="auto">
          <a:xfrm>
            <a:off x="6804025" y="3141663"/>
            <a:ext cx="2160588" cy="174942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(L,.E)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#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L,.E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.(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L,E) </a:t>
            </a:r>
            <a:r>
              <a:rPr lang="en-US" altLang="zh-CN" sz="1800" b="1" i="1">
                <a:solidFill>
                  <a:srgbClr val="993366"/>
                </a:solidFill>
                <a:ea typeface="华文行楷" pitchFamily="2" charset="-122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endParaRPr lang="en-US" altLang="zh-CN" sz="1800" b="1" i="1">
              <a:ea typeface="华文行楷" pitchFamily="2" charset="-122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E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.F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endParaRPr lang="en-US" altLang="zh-CN" sz="1800" b="1" i="1"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F </a:t>
            </a:r>
            <a:r>
              <a:rPr lang="en-US" altLang="zh-CN" sz="1800" b="1">
                <a:ea typeface="华文行楷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 .(F)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F </a:t>
            </a:r>
            <a:r>
              <a:rPr lang="en-US" altLang="zh-CN" sz="1800" b="1"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sym typeface="Symbol" panose="05050102010706020507" pitchFamily="18" charset="2"/>
              </a:rPr>
              <a:t>d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 </a:t>
            </a:r>
            <a:r>
              <a:rPr lang="en-US" altLang="zh-CN" sz="1800" b="1" i="1"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554007" name="Text Box 23"/>
          <p:cNvSpPr txBox="1">
            <a:spLocks noChangeArrowheads="1"/>
          </p:cNvSpPr>
          <p:nvPr/>
        </p:nvSpPr>
        <p:spPr bwMode="auto">
          <a:xfrm>
            <a:off x="1547813" y="3860800"/>
            <a:ext cx="2160587" cy="65087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(L.,E)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#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L.,E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554011" name="Text Box 27"/>
          <p:cNvSpPr txBox="1">
            <a:spLocks noChangeArrowheads="1"/>
          </p:cNvSpPr>
          <p:nvPr/>
        </p:nvSpPr>
        <p:spPr bwMode="auto">
          <a:xfrm>
            <a:off x="1547813" y="4868863"/>
            <a:ext cx="2016125" cy="65087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(F.) </a:t>
            </a:r>
            <a:r>
              <a:rPr lang="en-US" altLang="zh-CN" sz="1800" b="1" i="1">
                <a:solidFill>
                  <a:srgbClr val="993366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sym typeface="Symbol" panose="05050102010706020507" pitchFamily="18" charset="2"/>
              </a:rPr>
              <a:t>#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E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F.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</a:t>
            </a:r>
          </a:p>
        </p:txBody>
      </p:sp>
      <p:sp>
        <p:nvSpPr>
          <p:cNvPr id="554014" name="Text Box 30"/>
          <p:cNvSpPr txBox="1">
            <a:spLocks noChangeArrowheads="1"/>
          </p:cNvSpPr>
          <p:nvPr/>
        </p:nvSpPr>
        <p:spPr bwMode="auto">
          <a:xfrm>
            <a:off x="6734175" y="6148388"/>
            <a:ext cx="2230438" cy="376237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E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(L,E).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 </a:t>
            </a:r>
            <a:r>
              <a:rPr lang="en-US" altLang="zh-CN" sz="1800" b="1" i="1"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sym typeface="Symbol" panose="05050102010706020507" pitchFamily="18" charset="2"/>
              </a:rPr>
              <a:t>#</a:t>
            </a:r>
          </a:p>
        </p:txBody>
      </p:sp>
      <p:sp>
        <p:nvSpPr>
          <p:cNvPr id="554022" name="Text Box 38"/>
          <p:cNvSpPr txBox="1">
            <a:spLocks noChangeArrowheads="1"/>
          </p:cNvSpPr>
          <p:nvPr/>
        </p:nvSpPr>
        <p:spPr bwMode="auto">
          <a:xfrm>
            <a:off x="1547813" y="5873750"/>
            <a:ext cx="2160587" cy="65087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E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(L,E.)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 </a:t>
            </a:r>
            <a:r>
              <a:rPr lang="en-US" altLang="zh-CN" sz="1800" b="1" i="1"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sym typeface="Symbol" panose="05050102010706020507" pitchFamily="18" charset="2"/>
              </a:rPr>
              <a:t>#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L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L,E.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554030" name="Rectangle 46"/>
          <p:cNvSpPr>
            <a:spLocks noChangeArrowheads="1"/>
          </p:cNvSpPr>
          <p:nvPr/>
        </p:nvSpPr>
        <p:spPr bwMode="auto">
          <a:xfrm>
            <a:off x="1042988" y="3068638"/>
            <a:ext cx="550862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kumimoji="0" lang="en-US" altLang="zh-CN" sz="1800" b="1">
                <a:solidFill>
                  <a:srgbClr val="800080"/>
                </a:solidFill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solidFill>
                  <a:srgbClr val="800080"/>
                </a:solidFill>
                <a:sym typeface="Symbol" panose="05050102010706020507" pitchFamily="18" charset="2"/>
              </a:rPr>
              <a:t>2-12</a:t>
            </a:r>
            <a:endParaRPr kumimoji="0" lang="en-US" altLang="zh-CN" sz="1800" b="1">
              <a:sym typeface="Symbol" panose="05050102010706020507" pitchFamily="18" charset="2"/>
            </a:endParaRPr>
          </a:p>
        </p:txBody>
      </p:sp>
      <p:sp>
        <p:nvSpPr>
          <p:cNvPr id="554032" name="Rectangle 48"/>
          <p:cNvSpPr>
            <a:spLocks noChangeArrowheads="1"/>
          </p:cNvSpPr>
          <p:nvPr/>
        </p:nvSpPr>
        <p:spPr bwMode="auto">
          <a:xfrm>
            <a:off x="3529013" y="3068638"/>
            <a:ext cx="466725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kumimoji="0" lang="en-US" altLang="zh-CN" sz="1800" b="1">
                <a:solidFill>
                  <a:srgbClr val="800080"/>
                </a:solidFill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solidFill>
                  <a:srgbClr val="800080"/>
                </a:solidFill>
                <a:sym typeface="Symbol" panose="05050102010706020507" pitchFamily="18" charset="2"/>
              </a:rPr>
              <a:t>4-9</a:t>
            </a:r>
            <a:endParaRPr kumimoji="0" lang="en-US" altLang="zh-CN" sz="1800" b="1">
              <a:sym typeface="Symbol" panose="05050102010706020507" pitchFamily="18" charset="2"/>
            </a:endParaRPr>
          </a:p>
        </p:txBody>
      </p:sp>
      <p:sp>
        <p:nvSpPr>
          <p:cNvPr id="554033" name="Rectangle 49"/>
          <p:cNvSpPr>
            <a:spLocks noChangeArrowheads="1"/>
          </p:cNvSpPr>
          <p:nvPr/>
        </p:nvSpPr>
        <p:spPr bwMode="auto">
          <a:xfrm>
            <a:off x="6011863" y="3133725"/>
            <a:ext cx="854075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kumimoji="0" lang="en-US" altLang="zh-CN" sz="1800" b="1">
                <a:solidFill>
                  <a:srgbClr val="800080"/>
                </a:solidFill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solidFill>
                  <a:srgbClr val="800080"/>
                </a:solidFill>
                <a:sym typeface="Symbol" panose="05050102010706020507" pitchFamily="18" charset="2"/>
              </a:rPr>
              <a:t>10-18-19</a:t>
            </a:r>
            <a:endParaRPr kumimoji="0" lang="en-US" altLang="zh-CN" sz="1800" b="1">
              <a:sym typeface="Symbol" panose="05050102010706020507" pitchFamily="18" charset="2"/>
            </a:endParaRPr>
          </a:p>
        </p:txBody>
      </p:sp>
      <p:sp>
        <p:nvSpPr>
          <p:cNvPr id="554034" name="Rectangle 50"/>
          <p:cNvSpPr>
            <a:spLocks noChangeArrowheads="1"/>
          </p:cNvSpPr>
          <p:nvPr/>
        </p:nvSpPr>
        <p:spPr bwMode="auto">
          <a:xfrm>
            <a:off x="827088" y="3860800"/>
            <a:ext cx="769937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kumimoji="0" lang="en-US" altLang="zh-CN" sz="1800" b="1">
                <a:solidFill>
                  <a:srgbClr val="800080"/>
                </a:solidFill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solidFill>
                  <a:srgbClr val="800080"/>
                </a:solidFill>
                <a:sym typeface="Symbol" panose="05050102010706020507" pitchFamily="18" charset="2"/>
              </a:rPr>
              <a:t>6-14-17</a:t>
            </a:r>
            <a:endParaRPr kumimoji="0" lang="en-US" altLang="zh-CN" sz="1800" b="1">
              <a:sym typeface="Symbol" panose="05050102010706020507" pitchFamily="18" charset="2"/>
            </a:endParaRPr>
          </a:p>
        </p:txBody>
      </p:sp>
      <p:sp>
        <p:nvSpPr>
          <p:cNvPr id="554035" name="Text Box 51"/>
          <p:cNvSpPr txBox="1">
            <a:spLocks noChangeArrowheads="1"/>
          </p:cNvSpPr>
          <p:nvPr/>
        </p:nvSpPr>
        <p:spPr bwMode="auto">
          <a:xfrm>
            <a:off x="3997325" y="4225925"/>
            <a:ext cx="2159000" cy="2298700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(.L,E)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#</a:t>
            </a:r>
            <a:endParaRPr kumimoji="0" lang="en-US" altLang="zh-CN" sz="1800" b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(.F)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#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.L,E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.E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endParaRPr lang="en-US" altLang="zh-CN" sz="1800" b="1" i="1">
              <a:ea typeface="华文行楷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.(F) </a:t>
            </a:r>
            <a:r>
              <a:rPr lang="en-US" altLang="zh-CN" sz="1800" b="1" i="1">
                <a:solidFill>
                  <a:srgbClr val="993366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d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.(L,E)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.F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</a:p>
        </p:txBody>
      </p:sp>
      <p:sp>
        <p:nvSpPr>
          <p:cNvPr id="554039" name="Rectangle 55"/>
          <p:cNvSpPr>
            <a:spLocks noChangeArrowheads="1"/>
          </p:cNvSpPr>
          <p:nvPr/>
        </p:nvSpPr>
        <p:spPr bwMode="auto">
          <a:xfrm>
            <a:off x="4030663" y="3854450"/>
            <a:ext cx="685800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kumimoji="0" lang="en-US" altLang="zh-CN" sz="1800" b="1">
                <a:solidFill>
                  <a:srgbClr val="800080"/>
                </a:solidFill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solidFill>
                  <a:srgbClr val="800080"/>
                </a:solidFill>
                <a:sym typeface="Symbol" panose="05050102010706020507" pitchFamily="18" charset="2"/>
              </a:rPr>
              <a:t>3-8-13</a:t>
            </a:r>
            <a:endParaRPr kumimoji="0" lang="en-US" altLang="zh-CN" sz="1800" b="1">
              <a:sym typeface="Symbol" panose="05050102010706020507" pitchFamily="18" charset="2"/>
            </a:endParaRPr>
          </a:p>
        </p:txBody>
      </p:sp>
      <p:sp>
        <p:nvSpPr>
          <p:cNvPr id="554040" name="Rectangle 56"/>
          <p:cNvSpPr>
            <a:spLocks noChangeArrowheads="1"/>
          </p:cNvSpPr>
          <p:nvPr/>
        </p:nvSpPr>
        <p:spPr bwMode="auto">
          <a:xfrm>
            <a:off x="1042988" y="4797425"/>
            <a:ext cx="550862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kumimoji="0" lang="en-US" altLang="zh-CN" sz="1800" b="1">
                <a:solidFill>
                  <a:srgbClr val="800080"/>
                </a:solidFill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solidFill>
                  <a:srgbClr val="800080"/>
                </a:solidFill>
                <a:sym typeface="Symbol" panose="05050102010706020507" pitchFamily="18" charset="2"/>
              </a:rPr>
              <a:t>7-15</a:t>
            </a:r>
            <a:endParaRPr kumimoji="0" lang="en-US" altLang="zh-CN" sz="1800" b="1">
              <a:sym typeface="Symbol" panose="05050102010706020507" pitchFamily="18" charset="2"/>
            </a:endParaRPr>
          </a:p>
        </p:txBody>
      </p:sp>
      <p:sp>
        <p:nvSpPr>
          <p:cNvPr id="554041" name="Rectangle 57"/>
          <p:cNvSpPr>
            <a:spLocks noChangeArrowheads="1"/>
          </p:cNvSpPr>
          <p:nvPr/>
        </p:nvSpPr>
        <p:spPr bwMode="auto">
          <a:xfrm>
            <a:off x="755650" y="5799138"/>
            <a:ext cx="854075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kumimoji="0" lang="en-US" altLang="zh-CN" sz="1800" b="1">
                <a:solidFill>
                  <a:srgbClr val="800080"/>
                </a:solidFill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solidFill>
                  <a:srgbClr val="800080"/>
                </a:solidFill>
                <a:sym typeface="Symbol" panose="05050102010706020507" pitchFamily="18" charset="2"/>
              </a:rPr>
              <a:t>11-22-24</a:t>
            </a:r>
            <a:endParaRPr kumimoji="0" lang="en-US" altLang="zh-CN" sz="1800" b="1">
              <a:sym typeface="Symbol" panose="05050102010706020507" pitchFamily="18" charset="2"/>
            </a:endParaRPr>
          </a:p>
        </p:txBody>
      </p:sp>
      <p:sp>
        <p:nvSpPr>
          <p:cNvPr id="554042" name="Rectangle 58"/>
          <p:cNvSpPr>
            <a:spLocks noChangeArrowheads="1"/>
          </p:cNvSpPr>
          <p:nvPr/>
        </p:nvSpPr>
        <p:spPr bwMode="auto">
          <a:xfrm>
            <a:off x="6384925" y="5229225"/>
            <a:ext cx="635000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kumimoji="0" lang="en-US" altLang="zh-CN" sz="1800" b="1">
                <a:solidFill>
                  <a:srgbClr val="800080"/>
                </a:solidFill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solidFill>
                  <a:srgbClr val="800080"/>
                </a:solidFill>
                <a:sym typeface="Symbol" panose="05050102010706020507" pitchFamily="18" charset="2"/>
              </a:rPr>
              <a:t>16-21</a:t>
            </a:r>
            <a:endParaRPr kumimoji="0" lang="en-US" altLang="zh-CN" sz="1800" b="1">
              <a:sym typeface="Symbol" panose="05050102010706020507" pitchFamily="18" charset="2"/>
            </a:endParaRPr>
          </a:p>
        </p:txBody>
      </p:sp>
      <p:sp>
        <p:nvSpPr>
          <p:cNvPr id="554043" name="Rectangle 59"/>
          <p:cNvSpPr>
            <a:spLocks noChangeArrowheads="1"/>
          </p:cNvSpPr>
          <p:nvPr/>
        </p:nvSpPr>
        <p:spPr bwMode="auto">
          <a:xfrm>
            <a:off x="6804025" y="5799138"/>
            <a:ext cx="854075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kumimoji="0" lang="en-US" altLang="zh-CN" sz="1800" b="1">
                <a:solidFill>
                  <a:srgbClr val="800080"/>
                </a:solidFill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solidFill>
                  <a:srgbClr val="800080"/>
                </a:solidFill>
                <a:sym typeface="Symbol" panose="05050102010706020507" pitchFamily="18" charset="2"/>
              </a:rPr>
              <a:t>20-23-25</a:t>
            </a:r>
            <a:endParaRPr kumimoji="0" lang="en-US" altLang="zh-CN" sz="1800" b="1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64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2965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2966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2967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2968" name="Rectangle 8"/>
          <p:cNvSpPr>
            <a:spLocks noChangeArrowheads="1"/>
          </p:cNvSpPr>
          <p:nvPr/>
        </p:nvSpPr>
        <p:spPr bwMode="auto">
          <a:xfrm>
            <a:off x="35496" y="188913"/>
            <a:ext cx="38862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LALR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552969" name="Text Box 9"/>
          <p:cNvSpPr txBox="1">
            <a:spLocks noChangeArrowheads="1"/>
          </p:cNvSpPr>
          <p:nvPr/>
        </p:nvSpPr>
        <p:spPr bwMode="auto">
          <a:xfrm>
            <a:off x="611188" y="1395760"/>
            <a:ext cx="8353425" cy="44815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 dirty="0">
                <a:solidFill>
                  <a:srgbClr val="800080"/>
                </a:solidFill>
              </a:rPr>
              <a:t>  </a:t>
            </a:r>
            <a:r>
              <a:rPr kumimoji="0" lang="en-US" altLang="zh-CN" sz="3200" dirty="0">
                <a:solidFill>
                  <a:srgbClr val="800080"/>
                </a:solidFill>
              </a:rPr>
              <a:t>LALR</a:t>
            </a:r>
            <a:r>
              <a:rPr kumimoji="0" lang="zh-CN" altLang="en-US" sz="3200" dirty="0">
                <a:solidFill>
                  <a:srgbClr val="800080"/>
                </a:solidFill>
              </a:rPr>
              <a:t>（</a:t>
            </a:r>
            <a:r>
              <a:rPr kumimoji="0" lang="en-US" altLang="zh-CN" sz="3200" dirty="0">
                <a:solidFill>
                  <a:srgbClr val="800080"/>
                </a:solidFill>
              </a:rPr>
              <a:t>1</a:t>
            </a:r>
            <a:r>
              <a:rPr kumimoji="0" lang="zh-CN" altLang="en-US" sz="3200" dirty="0">
                <a:solidFill>
                  <a:srgbClr val="800080"/>
                </a:solidFill>
              </a:rPr>
              <a:t>）</a:t>
            </a:r>
            <a:r>
              <a:rPr kumimoji="0" lang="zh-CN" altLang="en-US" sz="3200" b="1" dirty="0">
                <a:solidFill>
                  <a:srgbClr val="800080"/>
                </a:solidFill>
              </a:rPr>
              <a:t>文法</a:t>
            </a:r>
            <a:endParaRPr lang="zh-CN" altLang="en-US" sz="3200" b="1" dirty="0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 dirty="0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 b="1" dirty="0">
                <a:solidFill>
                  <a:srgbClr val="800080"/>
                </a:solidFill>
              </a:rPr>
              <a:t>  </a:t>
            </a:r>
            <a:r>
              <a:rPr kumimoji="0" lang="zh-CN" altLang="en-US" sz="2800" b="1" dirty="0"/>
              <a:t>一个</a:t>
            </a:r>
            <a:r>
              <a:rPr kumimoji="0" lang="en-US" altLang="zh-CN" sz="2800" dirty="0">
                <a:solidFill>
                  <a:srgbClr val="800080"/>
                </a:solidFill>
              </a:rPr>
              <a:t>LR</a:t>
            </a:r>
            <a:r>
              <a:rPr kumimoji="0" lang="zh-CN" altLang="en-US" sz="2800" dirty="0">
                <a:solidFill>
                  <a:srgbClr val="800080"/>
                </a:solidFill>
              </a:rPr>
              <a:t>（</a:t>
            </a:r>
            <a:r>
              <a:rPr kumimoji="0" lang="en-US" altLang="zh-CN" sz="2800" dirty="0">
                <a:solidFill>
                  <a:srgbClr val="800080"/>
                </a:solidFill>
              </a:rPr>
              <a:t>1</a:t>
            </a:r>
            <a:r>
              <a:rPr kumimoji="0" lang="zh-CN" altLang="en-US" sz="2800" dirty="0">
                <a:solidFill>
                  <a:srgbClr val="800080"/>
                </a:solidFill>
              </a:rPr>
              <a:t>）</a:t>
            </a:r>
            <a:r>
              <a:rPr kumimoji="0" lang="zh-CN" altLang="en-US" sz="2800" b="1" dirty="0">
                <a:solidFill>
                  <a:srgbClr val="800080"/>
                </a:solidFill>
              </a:rPr>
              <a:t>文法</a:t>
            </a:r>
            <a:r>
              <a:rPr kumimoji="0" lang="zh-CN" altLang="en-US" sz="2800" b="1" dirty="0"/>
              <a:t>，如果将其</a:t>
            </a:r>
            <a:r>
              <a:rPr kumimoji="0" lang="en-US" altLang="zh-CN" sz="2800" dirty="0"/>
              <a:t>LR</a:t>
            </a:r>
            <a:r>
              <a:rPr kumimoji="0" lang="zh-CN" altLang="en-US" sz="2800" dirty="0"/>
              <a:t>（</a:t>
            </a:r>
            <a:r>
              <a:rPr kumimoji="0" lang="en-US" altLang="zh-CN" sz="2800" dirty="0"/>
              <a:t>1</a:t>
            </a:r>
            <a:r>
              <a:rPr kumimoji="0" lang="zh-CN" altLang="en-US" sz="2800" dirty="0"/>
              <a:t>）</a:t>
            </a:r>
            <a:r>
              <a:rPr kumimoji="0" lang="en-US" altLang="zh-CN" sz="2800" dirty="0"/>
              <a:t>FSM</a:t>
            </a:r>
            <a:r>
              <a:rPr kumimoji="0" lang="zh-CN" altLang="en-US" sz="2800" b="1" dirty="0"/>
              <a:t>的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kumimoji="0" lang="zh-CN" altLang="en-US" sz="2800" b="1" dirty="0"/>
              <a:t>    </a:t>
            </a:r>
            <a:r>
              <a:rPr kumimoji="0" lang="zh-CN" altLang="en-US" sz="2800" b="1" dirty="0">
                <a:solidFill>
                  <a:srgbClr val="800080"/>
                </a:solidFill>
              </a:rPr>
              <a:t>同心状态合并</a:t>
            </a:r>
            <a:r>
              <a:rPr kumimoji="0" lang="zh-CN" altLang="en-US" sz="2800" b="1" dirty="0"/>
              <a:t>后所得到的新状态</a:t>
            </a:r>
            <a:r>
              <a:rPr kumimoji="0" lang="zh-CN" altLang="en-US" sz="2800" b="1" dirty="0">
                <a:solidFill>
                  <a:srgbClr val="800080"/>
                </a:solidFill>
              </a:rPr>
              <a:t>无归约</a:t>
            </a:r>
            <a:r>
              <a:rPr kumimoji="0" lang="zh-CN" altLang="en-US" sz="2800" b="1" dirty="0">
                <a:solidFill>
                  <a:srgbClr val="800080"/>
                </a:solidFill>
                <a:sym typeface="Symbol" panose="05050102010706020507" pitchFamily="18" charset="2"/>
              </a:rPr>
              <a:t></a:t>
            </a:r>
            <a:r>
              <a:rPr kumimoji="0" lang="zh-CN" altLang="en-US" sz="2800" b="1" dirty="0">
                <a:solidFill>
                  <a:srgbClr val="800080"/>
                </a:solidFill>
              </a:rPr>
              <a:t>归约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kumimoji="0" lang="zh-CN" altLang="en-US" sz="2800" b="1" dirty="0">
                <a:solidFill>
                  <a:srgbClr val="800080"/>
                </a:solidFill>
              </a:rPr>
              <a:t>    冲突</a:t>
            </a:r>
            <a:r>
              <a:rPr kumimoji="0" lang="zh-CN" altLang="en-US" sz="2800" b="1" dirty="0"/>
              <a:t>，则该文法是一个 </a:t>
            </a:r>
            <a:r>
              <a:rPr kumimoji="0" lang="en-US" altLang="zh-CN" sz="2800" dirty="0">
                <a:solidFill>
                  <a:srgbClr val="800080"/>
                </a:solidFill>
              </a:rPr>
              <a:t>LALR</a:t>
            </a:r>
            <a:r>
              <a:rPr kumimoji="0" lang="zh-CN" altLang="en-US" sz="2800" dirty="0">
                <a:solidFill>
                  <a:srgbClr val="800080"/>
                </a:solidFill>
              </a:rPr>
              <a:t>（</a:t>
            </a:r>
            <a:r>
              <a:rPr kumimoji="0" lang="en-US" altLang="zh-CN" sz="2800" dirty="0">
                <a:solidFill>
                  <a:srgbClr val="800080"/>
                </a:solidFill>
              </a:rPr>
              <a:t>1</a:t>
            </a:r>
            <a:r>
              <a:rPr kumimoji="0" lang="zh-CN" altLang="en-US" sz="2800" dirty="0">
                <a:solidFill>
                  <a:srgbClr val="800080"/>
                </a:solidFill>
              </a:rPr>
              <a:t>）</a:t>
            </a:r>
            <a:r>
              <a:rPr kumimoji="0" lang="zh-CN" altLang="en-US" sz="2800" b="1" dirty="0">
                <a:solidFill>
                  <a:srgbClr val="800080"/>
                </a:solidFill>
              </a:rPr>
              <a:t>文法</a:t>
            </a:r>
          </a:p>
          <a:p>
            <a:pPr lvl="1">
              <a:buClrTx/>
              <a:buFont typeface="Symbol" panose="05050102010706020507" pitchFamily="18" charset="2"/>
              <a:buNone/>
            </a:pPr>
            <a:endParaRPr kumimoji="0" lang="zh-CN" altLang="en-US" sz="1000" b="1" dirty="0"/>
          </a:p>
          <a:p>
            <a:pPr lvl="1">
              <a:buFont typeface="Symbol" panose="05050102010706020507" pitchFamily="18" charset="2"/>
              <a:buChar char="-"/>
            </a:pPr>
            <a:r>
              <a:rPr kumimoji="0" lang="zh-CN" altLang="en-US" sz="2800" b="1" dirty="0"/>
              <a:t>  </a:t>
            </a:r>
            <a:r>
              <a:rPr kumimoji="0" lang="zh-CN" altLang="en-US" sz="2800" b="1" dirty="0">
                <a:solidFill>
                  <a:srgbClr val="800080"/>
                </a:solidFill>
              </a:rPr>
              <a:t>注：</a:t>
            </a:r>
          </a:p>
          <a:p>
            <a:pPr lvl="2">
              <a:buFontTx/>
              <a:buChar char="•"/>
            </a:pPr>
            <a:r>
              <a:rPr kumimoji="0" lang="zh-CN" altLang="en-US" sz="2800" b="1" dirty="0"/>
              <a:t> </a:t>
            </a:r>
            <a:r>
              <a:rPr kumimoji="0" lang="zh-CN" altLang="en-US" b="1" dirty="0"/>
              <a:t>由于是</a:t>
            </a:r>
            <a:r>
              <a:rPr kumimoji="0" lang="en-US" altLang="zh-CN" dirty="0"/>
              <a:t>LR</a:t>
            </a:r>
            <a:r>
              <a:rPr kumimoji="0" lang="zh-CN" altLang="en-US" dirty="0"/>
              <a:t>（</a:t>
            </a:r>
            <a:r>
              <a:rPr kumimoji="0" lang="en-US" altLang="zh-CN" dirty="0"/>
              <a:t>1</a:t>
            </a:r>
            <a:r>
              <a:rPr kumimoji="0" lang="zh-CN" altLang="en-US" dirty="0"/>
              <a:t>）</a:t>
            </a:r>
            <a:r>
              <a:rPr kumimoji="0" lang="zh-CN" altLang="en-US" b="1" dirty="0"/>
              <a:t>文法，所以未合并的状态无冲突</a:t>
            </a:r>
          </a:p>
          <a:p>
            <a:pPr lvl="2">
              <a:buFontTx/>
              <a:buNone/>
            </a:pPr>
            <a:endParaRPr kumimoji="0" lang="zh-CN" altLang="en-US" sz="1000" b="1" dirty="0"/>
          </a:p>
          <a:p>
            <a:pPr lvl="2">
              <a:buFontTx/>
              <a:buChar char="•"/>
            </a:pPr>
            <a:r>
              <a:rPr kumimoji="0" lang="zh-CN" altLang="en-US" sz="2800" b="1" dirty="0"/>
              <a:t> </a:t>
            </a:r>
            <a:r>
              <a:rPr kumimoji="0" lang="zh-CN" altLang="en-US" b="1" dirty="0"/>
              <a:t>合并同心状态后，</a:t>
            </a:r>
            <a:r>
              <a:rPr kumimoji="0" lang="zh-CN" altLang="en-US" b="1" dirty="0">
                <a:solidFill>
                  <a:srgbClr val="800080"/>
                </a:solidFill>
              </a:rPr>
              <a:t>不会产生新的移进</a:t>
            </a:r>
            <a:r>
              <a:rPr kumimoji="0" lang="zh-CN" altLang="en-US" b="1" dirty="0">
                <a:solidFill>
                  <a:srgbClr val="800080"/>
                </a:solidFill>
                <a:sym typeface="Symbol" panose="05050102010706020507" pitchFamily="18" charset="2"/>
              </a:rPr>
              <a:t></a:t>
            </a:r>
            <a:r>
              <a:rPr kumimoji="0" lang="zh-CN" altLang="en-US" b="1" dirty="0">
                <a:solidFill>
                  <a:srgbClr val="800080"/>
                </a:solidFill>
              </a:rPr>
              <a:t>归约冲突</a:t>
            </a:r>
          </a:p>
          <a:p>
            <a:pPr lvl="2">
              <a:buFontTx/>
              <a:buNone/>
            </a:pPr>
            <a:r>
              <a:rPr kumimoji="0" lang="zh-CN" altLang="en-US" b="1" dirty="0">
                <a:solidFill>
                  <a:srgbClr val="800080"/>
                </a:solidFill>
              </a:rPr>
              <a:t>  </a:t>
            </a:r>
            <a:r>
              <a:rPr kumimoji="0" lang="zh-CN" altLang="en-US" b="1" dirty="0"/>
              <a:t>（分析一下为什么？）</a:t>
            </a:r>
            <a:r>
              <a:rPr kumimoji="0" lang="zh-CN" altLang="en-US" b="1" dirty="0">
                <a:solidFill>
                  <a:srgbClr val="800080"/>
                </a:solidFill>
              </a:rPr>
              <a:t> </a:t>
            </a:r>
          </a:p>
          <a:p>
            <a:pPr lvl="2">
              <a:buFontTx/>
              <a:buNone/>
            </a:pPr>
            <a:endParaRPr kumimoji="0" lang="zh-CN" altLang="en-US" sz="1000" b="1" dirty="0">
              <a:solidFill>
                <a:srgbClr val="800080"/>
              </a:solidFill>
            </a:endParaRPr>
          </a:p>
          <a:p>
            <a:pPr lvl="2">
              <a:buFontTx/>
              <a:buChar char="•"/>
            </a:pPr>
            <a:r>
              <a:rPr kumimoji="0" lang="zh-CN" altLang="en-US" b="1" dirty="0"/>
              <a:t> 合并同心状态后，</a:t>
            </a:r>
            <a:r>
              <a:rPr kumimoji="0" lang="zh-CN" altLang="en-US" b="1" dirty="0">
                <a:solidFill>
                  <a:srgbClr val="800080"/>
                </a:solidFill>
              </a:rPr>
              <a:t>可能产生新的归约</a:t>
            </a:r>
            <a:r>
              <a:rPr kumimoji="0" lang="zh-CN" altLang="en-US" b="1" dirty="0">
                <a:solidFill>
                  <a:srgbClr val="800080"/>
                </a:solidFill>
                <a:sym typeface="Symbol" panose="05050102010706020507" pitchFamily="18" charset="2"/>
              </a:rPr>
              <a:t></a:t>
            </a:r>
            <a:r>
              <a:rPr kumimoji="0" lang="zh-CN" altLang="en-US" b="1" dirty="0">
                <a:solidFill>
                  <a:srgbClr val="800080"/>
                </a:solidFill>
              </a:rPr>
              <a:t>归约冲突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529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5529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5529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5529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55296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040" name="Rectangle 8"/>
          <p:cNvSpPr>
            <a:spLocks noChangeArrowheads="1"/>
          </p:cNvSpPr>
          <p:nvPr/>
        </p:nvSpPr>
        <p:spPr bwMode="auto">
          <a:xfrm>
            <a:off x="37728" y="188913"/>
            <a:ext cx="38862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LALR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556041" name="Text Box 9"/>
          <p:cNvSpPr txBox="1">
            <a:spLocks noChangeArrowheads="1"/>
          </p:cNvSpPr>
          <p:nvPr/>
        </p:nvSpPr>
        <p:spPr bwMode="auto">
          <a:xfrm>
            <a:off x="611188" y="1423988"/>
            <a:ext cx="8532812" cy="384720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buClrTx/>
            </a:pPr>
            <a:r>
              <a:rPr lang="en-US" altLang="zh-CN" sz="3200" b="1" dirty="0">
                <a:solidFill>
                  <a:srgbClr val="800080"/>
                </a:solidFill>
              </a:rPr>
              <a:t>  </a:t>
            </a:r>
            <a:r>
              <a:rPr kumimoji="0" lang="en-US" altLang="zh-CN" sz="3200" dirty="0">
                <a:solidFill>
                  <a:srgbClr val="800080"/>
                </a:solidFill>
              </a:rPr>
              <a:t>LALR</a:t>
            </a:r>
            <a:r>
              <a:rPr kumimoji="0" lang="zh-CN" altLang="en-US" sz="3200" dirty="0">
                <a:solidFill>
                  <a:srgbClr val="800080"/>
                </a:solidFill>
              </a:rPr>
              <a:t>（</a:t>
            </a:r>
            <a:r>
              <a:rPr kumimoji="0" lang="en-US" altLang="zh-CN" sz="3200" dirty="0">
                <a:solidFill>
                  <a:srgbClr val="800080"/>
                </a:solidFill>
              </a:rPr>
              <a:t>1</a:t>
            </a:r>
            <a:r>
              <a:rPr kumimoji="0" lang="zh-CN" altLang="en-US" sz="3200" dirty="0">
                <a:solidFill>
                  <a:srgbClr val="800080"/>
                </a:solidFill>
              </a:rPr>
              <a:t>）</a:t>
            </a:r>
            <a:r>
              <a:rPr kumimoji="0" lang="en-US" altLang="zh-CN" sz="3200" dirty="0">
                <a:solidFill>
                  <a:srgbClr val="800080"/>
                </a:solidFill>
              </a:rPr>
              <a:t>FSM</a:t>
            </a:r>
            <a:r>
              <a:rPr kumimoji="0" lang="zh-CN" altLang="en-US" sz="3200" b="1" dirty="0">
                <a:solidFill>
                  <a:srgbClr val="800080"/>
                </a:solidFill>
              </a:rPr>
              <a:t>的构造</a:t>
            </a:r>
            <a:endParaRPr lang="zh-CN" altLang="en-US" sz="3200" b="1" dirty="0">
              <a:solidFill>
                <a:srgbClr val="800080"/>
              </a:solidFill>
              <a:latin typeface="楷体_GB2312" pitchFamily="49" charset="-122"/>
            </a:endParaRPr>
          </a:p>
          <a:p>
            <a:pPr lvl="1">
              <a:buClrTx/>
              <a:buNone/>
            </a:pPr>
            <a:endParaRPr kumimoji="0" lang="zh-CN" altLang="en-US" sz="1000" b="1" dirty="0"/>
          </a:p>
          <a:p>
            <a:pPr lvl="2">
              <a:buFontTx/>
              <a:buChar char="•"/>
            </a:pPr>
            <a:r>
              <a:rPr kumimoji="0" lang="zh-CN" altLang="en-US" sz="2800" b="1" dirty="0"/>
              <a:t> </a:t>
            </a:r>
            <a:r>
              <a:rPr kumimoji="0" lang="zh-CN" altLang="en-US" b="1" dirty="0"/>
              <a:t>构造增广文法的 </a:t>
            </a:r>
            <a:r>
              <a:rPr kumimoji="0" lang="en-US" altLang="zh-CN" dirty="0"/>
              <a:t>LR</a:t>
            </a:r>
            <a:r>
              <a:rPr kumimoji="0" lang="zh-CN" altLang="en-US" dirty="0"/>
              <a:t>（</a:t>
            </a:r>
            <a:r>
              <a:rPr kumimoji="0" lang="en-US" altLang="zh-CN" dirty="0"/>
              <a:t>1</a:t>
            </a:r>
            <a:r>
              <a:rPr kumimoji="0" lang="zh-CN" altLang="en-US" dirty="0"/>
              <a:t>）</a:t>
            </a:r>
            <a:r>
              <a:rPr kumimoji="0" lang="en-US" altLang="zh-CN" dirty="0"/>
              <a:t>FSM </a:t>
            </a:r>
            <a:r>
              <a:rPr kumimoji="0" lang="zh-CN" altLang="en-US" b="1" dirty="0"/>
              <a:t>状态</a:t>
            </a:r>
          </a:p>
          <a:p>
            <a:pPr lvl="2">
              <a:buFontTx/>
              <a:buNone/>
            </a:pPr>
            <a:endParaRPr kumimoji="0" lang="zh-CN" altLang="en-US" sz="1000" b="1" dirty="0"/>
          </a:p>
          <a:p>
            <a:pPr lvl="2">
              <a:buFontTx/>
              <a:buChar char="•"/>
            </a:pPr>
            <a:r>
              <a:rPr kumimoji="0" lang="zh-CN" altLang="en-US" b="1" dirty="0"/>
              <a:t>  合并“同心”的状态（</a:t>
            </a:r>
            <a:r>
              <a:rPr lang="zh-CN" altLang="en-US" b="1" dirty="0"/>
              <a:t>同心项目的</a:t>
            </a:r>
            <a:r>
              <a:rPr kumimoji="0" lang="zh-CN" altLang="en-US" b="1" dirty="0"/>
              <a:t>搜索符集合相并）</a:t>
            </a:r>
          </a:p>
          <a:p>
            <a:pPr lvl="2">
              <a:buFontTx/>
              <a:buNone/>
            </a:pPr>
            <a:r>
              <a:rPr kumimoji="0" lang="zh-CN" altLang="en-US" b="1" dirty="0"/>
              <a:t>   得到</a:t>
            </a:r>
            <a:r>
              <a:rPr kumimoji="0" lang="en-US" altLang="zh-CN" dirty="0"/>
              <a:t>LALR(1) FSM </a:t>
            </a:r>
            <a:r>
              <a:rPr kumimoji="0" lang="zh-CN" altLang="en-US" b="1" dirty="0"/>
              <a:t>的状态</a:t>
            </a:r>
          </a:p>
          <a:p>
            <a:pPr lvl="2">
              <a:buFontTx/>
              <a:buNone/>
            </a:pPr>
            <a:endParaRPr kumimoji="0" lang="zh-CN" altLang="en-US" sz="1000" b="1" dirty="0"/>
          </a:p>
          <a:p>
            <a:pPr lvl="2">
              <a:buFontTx/>
              <a:buChar char="•"/>
            </a:pPr>
            <a:r>
              <a:rPr kumimoji="0" lang="zh-CN" altLang="en-US" b="1" dirty="0"/>
              <a:t>  </a:t>
            </a:r>
            <a:r>
              <a:rPr kumimoji="0" lang="en-US" altLang="zh-CN" dirty="0"/>
              <a:t>LALR(1) FSM </a:t>
            </a:r>
            <a:r>
              <a:rPr kumimoji="0" lang="zh-CN" altLang="en-US" b="1" dirty="0"/>
              <a:t>状态由 </a:t>
            </a:r>
            <a:r>
              <a:rPr kumimoji="0" lang="en-US" altLang="zh-CN" dirty="0"/>
              <a:t>GO </a:t>
            </a:r>
            <a:r>
              <a:rPr kumimoji="0" lang="zh-CN" altLang="en-US" b="1" dirty="0"/>
              <a:t>函数得到的后继状态是所</a:t>
            </a:r>
          </a:p>
          <a:p>
            <a:pPr lvl="2">
              <a:buFontTx/>
              <a:buNone/>
            </a:pPr>
            <a:r>
              <a:rPr kumimoji="0" lang="zh-CN" altLang="en-US" b="1" dirty="0"/>
              <a:t>   有被合并的“同心”状态的后继状态之并</a:t>
            </a:r>
          </a:p>
          <a:p>
            <a:pPr lvl="2">
              <a:buFontTx/>
              <a:buNone/>
            </a:pPr>
            <a:endParaRPr kumimoji="0" lang="zh-CN" altLang="en-US" sz="1000" b="1" dirty="0"/>
          </a:p>
          <a:p>
            <a:pPr lvl="2">
              <a:buFontTx/>
              <a:buNone/>
            </a:pPr>
            <a:r>
              <a:rPr kumimoji="0" lang="zh-CN" altLang="en-US" b="1" dirty="0"/>
              <a:t>   </a:t>
            </a:r>
            <a:r>
              <a:rPr kumimoji="0" lang="zh-CN" altLang="en-US" b="1" dirty="0">
                <a:solidFill>
                  <a:srgbClr val="800080"/>
                </a:solidFill>
              </a:rPr>
              <a:t>请思考：</a:t>
            </a:r>
            <a:r>
              <a:rPr kumimoji="0" lang="zh-CN" altLang="en-US" b="1" dirty="0"/>
              <a:t> 若两个状态“同心”，那么其原来的后继状</a:t>
            </a:r>
          </a:p>
          <a:p>
            <a:pPr lvl="2">
              <a:buFontTx/>
              <a:buNone/>
            </a:pPr>
            <a:r>
              <a:rPr kumimoji="0" lang="zh-CN" altLang="en-US" b="1" dirty="0"/>
              <a:t>   态也一定是“同心”的</a:t>
            </a:r>
          </a:p>
        </p:txBody>
      </p:sp>
      <p:sp>
        <p:nvSpPr>
          <p:cNvPr id="556046" name="AutoShape 1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6047" name="AutoShape 1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6048" name="AutoShape 1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6049" name="AutoShape 1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60" name="Rectangle 8"/>
          <p:cNvSpPr>
            <a:spLocks noChangeArrowheads="1"/>
          </p:cNvSpPr>
          <p:nvPr/>
        </p:nvSpPr>
        <p:spPr bwMode="auto">
          <a:xfrm>
            <a:off x="109736" y="188913"/>
            <a:ext cx="38862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LALR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561161" name="Text Box 9"/>
          <p:cNvSpPr txBox="1">
            <a:spLocks noChangeArrowheads="1"/>
          </p:cNvSpPr>
          <p:nvPr/>
        </p:nvSpPr>
        <p:spPr bwMode="auto">
          <a:xfrm>
            <a:off x="611188" y="1052513"/>
            <a:ext cx="8353425" cy="584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 dirty="0">
                <a:solidFill>
                  <a:srgbClr val="800080"/>
                </a:solidFill>
              </a:rPr>
              <a:t>  </a:t>
            </a:r>
            <a:r>
              <a:rPr kumimoji="0" lang="en-US" altLang="zh-CN" sz="3200" dirty="0">
                <a:solidFill>
                  <a:srgbClr val="800080"/>
                </a:solidFill>
              </a:rPr>
              <a:t>LALR</a:t>
            </a:r>
            <a:r>
              <a:rPr kumimoji="0" lang="zh-CN" altLang="en-US" sz="3200" dirty="0">
                <a:solidFill>
                  <a:srgbClr val="800080"/>
                </a:solidFill>
              </a:rPr>
              <a:t>（</a:t>
            </a:r>
            <a:r>
              <a:rPr kumimoji="0" lang="en-US" altLang="zh-CN" sz="3200" dirty="0">
                <a:solidFill>
                  <a:srgbClr val="800080"/>
                </a:solidFill>
              </a:rPr>
              <a:t>1</a:t>
            </a:r>
            <a:r>
              <a:rPr kumimoji="0" lang="zh-CN" altLang="en-US" sz="3200" dirty="0">
                <a:solidFill>
                  <a:srgbClr val="800080"/>
                </a:solidFill>
              </a:rPr>
              <a:t>）</a:t>
            </a:r>
            <a:r>
              <a:rPr kumimoji="0" lang="en-US" altLang="zh-CN" sz="3200" dirty="0">
                <a:solidFill>
                  <a:srgbClr val="800080"/>
                </a:solidFill>
              </a:rPr>
              <a:t>FSM</a:t>
            </a:r>
            <a:r>
              <a:rPr kumimoji="0" lang="zh-CN" altLang="en-US" sz="3200" b="1" dirty="0">
                <a:solidFill>
                  <a:srgbClr val="800080"/>
                </a:solidFill>
              </a:rPr>
              <a:t>的构造</a:t>
            </a:r>
            <a:r>
              <a:rPr lang="zh-CN" altLang="en-US" sz="3200" b="1" dirty="0">
                <a:solidFill>
                  <a:srgbClr val="800080"/>
                </a:solidFill>
              </a:rPr>
              <a:t>（</a:t>
            </a:r>
            <a:r>
              <a:rPr kumimoji="0" lang="zh-CN" altLang="en-US" sz="2800" b="1" dirty="0"/>
              <a:t>续前例）</a:t>
            </a:r>
            <a:endParaRPr kumimoji="0" lang="zh-CN" altLang="en-US" sz="1000" b="1" dirty="0"/>
          </a:p>
        </p:txBody>
      </p:sp>
      <p:sp>
        <p:nvSpPr>
          <p:cNvPr id="561162" name="Text Box 10"/>
          <p:cNvSpPr txBox="1">
            <a:spLocks noChangeArrowheads="1"/>
          </p:cNvSpPr>
          <p:nvPr/>
        </p:nvSpPr>
        <p:spPr bwMode="auto">
          <a:xfrm>
            <a:off x="682625" y="2155404"/>
            <a:ext cx="1873250" cy="1474787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 dirty="0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 dirty="0"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0" lang="en-US" altLang="zh-CN" sz="1800" b="1" dirty="0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kumimoji="0" lang="en-US" altLang="zh-CN" sz="1800" b="1" i="1" dirty="0"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kumimoji="0" lang="en-US" altLang="zh-CN" sz="1800" b="1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dirty="0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 dirty="0">
                <a:cs typeface="Times New Roman" panose="02020603050405020304" pitchFamily="18" charset="0"/>
                <a:sym typeface="Symbol" panose="05050102010706020507" pitchFamily="18" charset="2"/>
              </a:rPr>
              <a:t>.E  </a:t>
            </a:r>
            <a:r>
              <a:rPr lang="en-US" altLang="zh-CN" sz="1800" b="1" i="1" dirty="0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b="1" i="1" dirty="0">
                <a:cs typeface="Times New Roman" panose="02020603050405020304" pitchFamily="18" charset="0"/>
                <a:sym typeface="Symbol" panose="05050102010706020507" pitchFamily="18" charset="2"/>
              </a:rPr>
              <a:t>#</a:t>
            </a:r>
            <a:endParaRPr kumimoji="0" lang="en-US" altLang="zh-CN" sz="1800" b="1" dirty="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 dirty="0">
                <a:cs typeface="Times New Roman" panose="02020603050405020304" pitchFamily="18" charset="0"/>
                <a:sym typeface="Symbol" panose="05050102010706020507" pitchFamily="18" charset="2"/>
              </a:rPr>
              <a:t>    E </a:t>
            </a:r>
            <a:r>
              <a:rPr lang="en-US" altLang="zh-CN" sz="1800" b="1" dirty="0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 dirty="0">
                <a:sym typeface="Symbol" panose="05050102010706020507" pitchFamily="18" charset="2"/>
              </a:rPr>
              <a:t>.(</a:t>
            </a:r>
            <a:r>
              <a:rPr lang="en-US" altLang="zh-CN" sz="1800" b="1" i="1" dirty="0">
                <a:ea typeface="华文行楷" pitchFamily="2" charset="-122"/>
                <a:sym typeface="Symbol" panose="05050102010706020507" pitchFamily="18" charset="2"/>
              </a:rPr>
              <a:t>L,E) </a:t>
            </a:r>
            <a:r>
              <a:rPr lang="en-US" altLang="zh-CN" sz="1800" b="1" i="1" dirty="0">
                <a:solidFill>
                  <a:srgbClr val="993366"/>
                </a:solidFill>
                <a:ea typeface="华文行楷" pitchFamily="2" charset="-122"/>
                <a:sym typeface="Symbol" panose="05050102010706020507" pitchFamily="18" charset="2"/>
              </a:rPr>
              <a:t>,</a:t>
            </a:r>
            <a:r>
              <a:rPr lang="en-US" altLang="zh-CN" sz="1800" b="1" i="1" dirty="0">
                <a:ea typeface="华文行楷" pitchFamily="2" charset="-122"/>
                <a:sym typeface="Symbol" panose="05050102010706020507" pitchFamily="18" charset="2"/>
              </a:rPr>
              <a:t> #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dirty="0">
                <a:sym typeface="Symbol" panose="05050102010706020507" pitchFamily="18" charset="2"/>
              </a:rPr>
              <a:t>    </a:t>
            </a:r>
            <a:r>
              <a:rPr lang="en-US" altLang="zh-CN" sz="1800" b="1" i="1" dirty="0">
                <a:sym typeface="Symbol" panose="05050102010706020507" pitchFamily="18" charset="2"/>
              </a:rPr>
              <a:t>E </a:t>
            </a:r>
            <a:r>
              <a:rPr lang="en-US" altLang="zh-CN" sz="1800" b="1" dirty="0">
                <a:sym typeface="Symbol" panose="05050102010706020507" pitchFamily="18" charset="2"/>
              </a:rPr>
              <a:t></a:t>
            </a:r>
            <a:r>
              <a:rPr lang="en-US" altLang="zh-CN" sz="1800" b="1" i="1" dirty="0">
                <a:sym typeface="Symbol" panose="05050102010706020507" pitchFamily="18" charset="2"/>
              </a:rPr>
              <a:t> .F </a:t>
            </a:r>
            <a:r>
              <a:rPr lang="en-US" altLang="zh-CN" sz="1800" b="1" i="1" dirty="0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 dirty="0">
                <a:sym typeface="Symbol" panose="05050102010706020507" pitchFamily="18" charset="2"/>
              </a:rPr>
              <a:t> #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 dirty="0">
                <a:sym typeface="Symbol" panose="05050102010706020507" pitchFamily="18" charset="2"/>
              </a:rPr>
              <a:t>    F </a:t>
            </a:r>
            <a:r>
              <a:rPr lang="en-US" altLang="zh-CN" sz="1800" b="1" dirty="0">
                <a:ea typeface="华文行楷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b="1" i="1" dirty="0">
                <a:ea typeface="华文行楷" pitchFamily="2" charset="-122"/>
                <a:sym typeface="Symbol" panose="05050102010706020507" pitchFamily="18" charset="2"/>
              </a:rPr>
              <a:t> .(F) </a:t>
            </a:r>
            <a:r>
              <a:rPr lang="en-US" altLang="zh-CN" sz="1800" b="1" i="1" dirty="0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 dirty="0">
                <a:sym typeface="Symbol" panose="05050102010706020507" pitchFamily="18" charset="2"/>
              </a:rPr>
              <a:t> #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 dirty="0">
                <a:sym typeface="Symbol" panose="05050102010706020507" pitchFamily="18" charset="2"/>
              </a:rPr>
              <a:t>    F </a:t>
            </a:r>
            <a:r>
              <a:rPr lang="en-US" altLang="zh-CN" sz="1800" b="1" dirty="0">
                <a:sym typeface="Symbol" panose="05050102010706020507" pitchFamily="18" charset="2"/>
              </a:rPr>
              <a:t> .</a:t>
            </a:r>
            <a:r>
              <a:rPr lang="en-US" altLang="zh-CN" sz="1800" b="1" i="1" dirty="0">
                <a:sym typeface="Symbol" panose="05050102010706020507" pitchFamily="18" charset="2"/>
              </a:rPr>
              <a:t>d </a:t>
            </a:r>
            <a:r>
              <a:rPr lang="en-US" altLang="zh-CN" sz="1800" b="1" i="1" dirty="0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 dirty="0">
                <a:sym typeface="Symbol" panose="05050102010706020507" pitchFamily="18" charset="2"/>
              </a:rPr>
              <a:t> #</a:t>
            </a:r>
          </a:p>
        </p:txBody>
      </p:sp>
      <p:sp>
        <p:nvSpPr>
          <p:cNvPr id="561163" name="Text Box 11"/>
          <p:cNvSpPr txBox="1">
            <a:spLocks noChangeArrowheads="1"/>
          </p:cNvSpPr>
          <p:nvPr/>
        </p:nvSpPr>
        <p:spPr bwMode="auto">
          <a:xfrm>
            <a:off x="1330325" y="4061991"/>
            <a:ext cx="1585913" cy="376238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S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E.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#</a:t>
            </a:r>
          </a:p>
        </p:txBody>
      </p:sp>
      <p:sp>
        <p:nvSpPr>
          <p:cNvPr id="561165" name="Line 13"/>
          <p:cNvSpPr>
            <a:spLocks noChangeShapeType="1"/>
          </p:cNvSpPr>
          <p:nvPr/>
        </p:nvSpPr>
        <p:spPr bwMode="auto">
          <a:xfrm>
            <a:off x="2554288" y="2982491"/>
            <a:ext cx="504825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1166" name="Rectangle 14"/>
          <p:cNvSpPr>
            <a:spLocks noChangeArrowheads="1"/>
          </p:cNvSpPr>
          <p:nvPr/>
        </p:nvSpPr>
        <p:spPr bwMode="auto">
          <a:xfrm>
            <a:off x="1979613" y="3646066"/>
            <a:ext cx="287337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E</a:t>
            </a:r>
          </a:p>
        </p:txBody>
      </p:sp>
      <p:sp>
        <p:nvSpPr>
          <p:cNvPr id="561167" name="Line 15"/>
          <p:cNvSpPr>
            <a:spLocks noChangeShapeType="1"/>
          </p:cNvSpPr>
          <p:nvPr/>
        </p:nvSpPr>
        <p:spPr bwMode="auto">
          <a:xfrm>
            <a:off x="2052638" y="3646066"/>
            <a:ext cx="1587" cy="43180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1169" name="Line 17"/>
          <p:cNvSpPr>
            <a:spLocks noChangeShapeType="1"/>
          </p:cNvSpPr>
          <p:nvPr/>
        </p:nvSpPr>
        <p:spPr bwMode="auto">
          <a:xfrm flipH="1">
            <a:off x="1187450" y="3647654"/>
            <a:ext cx="1588" cy="1293812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1170" name="Rectangle 18"/>
          <p:cNvSpPr>
            <a:spLocks noChangeArrowheads="1"/>
          </p:cNvSpPr>
          <p:nvPr/>
        </p:nvSpPr>
        <p:spPr bwMode="auto">
          <a:xfrm>
            <a:off x="1116013" y="3646066"/>
            <a:ext cx="287337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F</a:t>
            </a:r>
          </a:p>
        </p:txBody>
      </p:sp>
      <p:sp>
        <p:nvSpPr>
          <p:cNvPr id="561171" name="Rectangle 19"/>
          <p:cNvSpPr>
            <a:spLocks noChangeArrowheads="1"/>
          </p:cNvSpPr>
          <p:nvPr/>
        </p:nvSpPr>
        <p:spPr bwMode="auto">
          <a:xfrm>
            <a:off x="2627313" y="2615779"/>
            <a:ext cx="287337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(</a:t>
            </a:r>
          </a:p>
        </p:txBody>
      </p:sp>
      <p:sp>
        <p:nvSpPr>
          <p:cNvPr id="561172" name="Line 20"/>
          <p:cNvSpPr>
            <a:spLocks noChangeShapeType="1"/>
          </p:cNvSpPr>
          <p:nvPr/>
        </p:nvSpPr>
        <p:spPr bwMode="auto">
          <a:xfrm flipH="1">
            <a:off x="755650" y="3647654"/>
            <a:ext cx="1588" cy="2157412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1173" name="Rectangle 21"/>
          <p:cNvSpPr>
            <a:spLocks noChangeArrowheads="1"/>
          </p:cNvSpPr>
          <p:nvPr/>
        </p:nvSpPr>
        <p:spPr bwMode="auto">
          <a:xfrm>
            <a:off x="684213" y="3839741"/>
            <a:ext cx="287337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561174" name="Text Box 22"/>
          <p:cNvSpPr txBox="1">
            <a:spLocks noChangeArrowheads="1"/>
          </p:cNvSpPr>
          <p:nvPr/>
        </p:nvSpPr>
        <p:spPr bwMode="auto">
          <a:xfrm>
            <a:off x="971550" y="4925591"/>
            <a:ext cx="1800225" cy="376238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F.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#</a:t>
            </a:r>
          </a:p>
        </p:txBody>
      </p:sp>
      <p:sp>
        <p:nvSpPr>
          <p:cNvPr id="561175" name="Rectangle 23"/>
          <p:cNvSpPr>
            <a:spLocks noChangeArrowheads="1"/>
          </p:cNvSpPr>
          <p:nvPr/>
        </p:nvSpPr>
        <p:spPr bwMode="auto">
          <a:xfrm>
            <a:off x="1187450" y="4565229"/>
            <a:ext cx="550863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kumimoji="0" lang="en-US" altLang="zh-CN" sz="1800" b="1">
                <a:solidFill>
                  <a:srgbClr val="800080"/>
                </a:solidFill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solidFill>
                  <a:srgbClr val="800080"/>
                </a:solidFill>
                <a:sym typeface="Symbol" panose="05050102010706020507" pitchFamily="18" charset="2"/>
              </a:rPr>
              <a:t>2-12</a:t>
            </a:r>
            <a:endParaRPr kumimoji="0" lang="en-US" altLang="zh-CN" sz="1800" b="1">
              <a:sym typeface="Symbol" panose="05050102010706020507" pitchFamily="18" charset="2"/>
            </a:endParaRPr>
          </a:p>
        </p:txBody>
      </p:sp>
      <p:sp>
        <p:nvSpPr>
          <p:cNvPr id="561179" name="Text Box 27"/>
          <p:cNvSpPr txBox="1">
            <a:spLocks noChangeArrowheads="1"/>
          </p:cNvSpPr>
          <p:nvPr/>
        </p:nvSpPr>
        <p:spPr bwMode="auto">
          <a:xfrm>
            <a:off x="3060700" y="2144291"/>
            <a:ext cx="2159000" cy="2298700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(.L,E)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#</a:t>
            </a:r>
            <a:endParaRPr kumimoji="0" lang="en-US" altLang="zh-CN" sz="1800" b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(.F)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#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.L,E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.E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endParaRPr lang="en-US" altLang="zh-CN" sz="1800" b="1" i="1">
              <a:ea typeface="华文行楷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.(F) </a:t>
            </a:r>
            <a:r>
              <a:rPr lang="en-US" altLang="zh-CN" sz="1800" b="1" i="1">
                <a:solidFill>
                  <a:srgbClr val="993366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d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.(L,E)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.F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</a:p>
        </p:txBody>
      </p:sp>
      <p:sp>
        <p:nvSpPr>
          <p:cNvPr id="561180" name="Rectangle 28"/>
          <p:cNvSpPr>
            <a:spLocks noChangeArrowheads="1"/>
          </p:cNvSpPr>
          <p:nvPr/>
        </p:nvSpPr>
        <p:spPr bwMode="auto">
          <a:xfrm>
            <a:off x="3094038" y="1772816"/>
            <a:ext cx="685800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kumimoji="0" lang="en-US" altLang="zh-CN" sz="1800" b="1">
                <a:solidFill>
                  <a:srgbClr val="800080"/>
                </a:solidFill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solidFill>
                  <a:srgbClr val="800080"/>
                </a:solidFill>
                <a:sym typeface="Symbol" panose="05050102010706020507" pitchFamily="18" charset="2"/>
              </a:rPr>
              <a:t>3-8-13</a:t>
            </a:r>
            <a:endParaRPr kumimoji="0" lang="en-US" altLang="zh-CN" sz="1800" b="1">
              <a:sym typeface="Symbol" panose="05050102010706020507" pitchFamily="18" charset="2"/>
            </a:endParaRPr>
          </a:p>
        </p:txBody>
      </p:sp>
      <p:sp>
        <p:nvSpPr>
          <p:cNvPr id="561195" name="Text Box 43"/>
          <p:cNvSpPr txBox="1">
            <a:spLocks noChangeArrowheads="1"/>
          </p:cNvSpPr>
          <p:nvPr/>
        </p:nvSpPr>
        <p:spPr bwMode="auto">
          <a:xfrm>
            <a:off x="5795963" y="2765004"/>
            <a:ext cx="1441450" cy="376237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E.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endParaRPr lang="en-US" altLang="zh-CN" sz="1800" b="1" i="1">
              <a:ea typeface="华文行楷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61196" name="Line 44"/>
          <p:cNvSpPr>
            <a:spLocks noChangeShapeType="1"/>
          </p:cNvSpPr>
          <p:nvPr/>
        </p:nvSpPr>
        <p:spPr bwMode="auto">
          <a:xfrm>
            <a:off x="5219700" y="2992016"/>
            <a:ext cx="576263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1197" name="Rectangle 45"/>
          <p:cNvSpPr>
            <a:spLocks noChangeArrowheads="1"/>
          </p:cNvSpPr>
          <p:nvPr/>
        </p:nvSpPr>
        <p:spPr bwMode="auto">
          <a:xfrm>
            <a:off x="5292725" y="2696741"/>
            <a:ext cx="360363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E</a:t>
            </a:r>
          </a:p>
        </p:txBody>
      </p:sp>
      <p:sp>
        <p:nvSpPr>
          <p:cNvPr id="561198" name="Line 46"/>
          <p:cNvSpPr>
            <a:spLocks noChangeShapeType="1"/>
          </p:cNvSpPr>
          <p:nvPr/>
        </p:nvSpPr>
        <p:spPr bwMode="auto">
          <a:xfrm>
            <a:off x="5219700" y="3919116"/>
            <a:ext cx="576263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1199" name="Rectangle 47"/>
          <p:cNvSpPr>
            <a:spLocks noChangeArrowheads="1"/>
          </p:cNvSpPr>
          <p:nvPr/>
        </p:nvSpPr>
        <p:spPr bwMode="auto">
          <a:xfrm>
            <a:off x="5291138" y="3639716"/>
            <a:ext cx="360362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561203" name="Line 51"/>
          <p:cNvSpPr>
            <a:spLocks noChangeShapeType="1"/>
          </p:cNvSpPr>
          <p:nvPr/>
        </p:nvSpPr>
        <p:spPr bwMode="auto">
          <a:xfrm>
            <a:off x="5219700" y="2277641"/>
            <a:ext cx="1439863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1204" name="Rectangle 52"/>
          <p:cNvSpPr>
            <a:spLocks noChangeArrowheads="1"/>
          </p:cNvSpPr>
          <p:nvPr/>
        </p:nvSpPr>
        <p:spPr bwMode="auto">
          <a:xfrm>
            <a:off x="5292725" y="1988716"/>
            <a:ext cx="360363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L</a:t>
            </a:r>
          </a:p>
        </p:txBody>
      </p:sp>
      <p:sp>
        <p:nvSpPr>
          <p:cNvPr id="561205" name="Line 53"/>
          <p:cNvSpPr>
            <a:spLocks noChangeShapeType="1"/>
          </p:cNvSpPr>
          <p:nvPr/>
        </p:nvSpPr>
        <p:spPr bwMode="auto">
          <a:xfrm flipH="1" flipV="1">
            <a:off x="3419475" y="4438229"/>
            <a:ext cx="0" cy="107950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head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1206" name="Rectangle 54"/>
          <p:cNvSpPr>
            <a:spLocks noChangeArrowheads="1"/>
          </p:cNvSpPr>
          <p:nvPr/>
        </p:nvSpPr>
        <p:spPr bwMode="auto">
          <a:xfrm>
            <a:off x="3348038" y="4646191"/>
            <a:ext cx="288925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F</a:t>
            </a:r>
          </a:p>
        </p:txBody>
      </p:sp>
      <p:sp>
        <p:nvSpPr>
          <p:cNvPr id="561210" name="Text Box 58"/>
          <p:cNvSpPr txBox="1">
            <a:spLocks noChangeArrowheads="1"/>
          </p:cNvSpPr>
          <p:nvPr/>
        </p:nvSpPr>
        <p:spPr bwMode="auto">
          <a:xfrm>
            <a:off x="468313" y="5789191"/>
            <a:ext cx="1800225" cy="376238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d.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#</a:t>
            </a:r>
          </a:p>
        </p:txBody>
      </p:sp>
      <p:sp>
        <p:nvSpPr>
          <p:cNvPr id="561211" name="Rectangle 59"/>
          <p:cNvSpPr>
            <a:spLocks noChangeArrowheads="1"/>
          </p:cNvSpPr>
          <p:nvPr/>
        </p:nvSpPr>
        <p:spPr bwMode="auto">
          <a:xfrm>
            <a:off x="792163" y="5438354"/>
            <a:ext cx="466725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kumimoji="0" lang="en-US" altLang="zh-CN" sz="1800" b="1">
                <a:solidFill>
                  <a:srgbClr val="800080"/>
                </a:solidFill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solidFill>
                  <a:srgbClr val="800080"/>
                </a:solidFill>
                <a:sym typeface="Symbol" panose="05050102010706020507" pitchFamily="18" charset="2"/>
              </a:rPr>
              <a:t>4-9</a:t>
            </a:r>
            <a:endParaRPr kumimoji="0" lang="en-US" altLang="zh-CN" sz="1800" b="1">
              <a:sym typeface="Symbol" panose="05050102010706020507" pitchFamily="18" charset="2"/>
            </a:endParaRPr>
          </a:p>
        </p:txBody>
      </p:sp>
      <p:sp>
        <p:nvSpPr>
          <p:cNvPr id="561212" name="Rectangle 60"/>
          <p:cNvSpPr>
            <a:spLocks noChangeArrowheads="1"/>
          </p:cNvSpPr>
          <p:nvPr/>
        </p:nvSpPr>
        <p:spPr bwMode="auto">
          <a:xfrm>
            <a:off x="5724525" y="3711154"/>
            <a:ext cx="466725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kumimoji="0" lang="en-US" altLang="zh-CN" sz="1800" b="1">
                <a:solidFill>
                  <a:srgbClr val="800080"/>
                </a:solidFill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solidFill>
                  <a:srgbClr val="800080"/>
                </a:solidFill>
                <a:sym typeface="Symbol" panose="05050102010706020507" pitchFamily="18" charset="2"/>
              </a:rPr>
              <a:t>4-9</a:t>
            </a:r>
            <a:endParaRPr kumimoji="0" lang="en-US" altLang="zh-CN" sz="1800" b="1">
              <a:sym typeface="Symbol" panose="05050102010706020507" pitchFamily="18" charset="2"/>
            </a:endParaRPr>
          </a:p>
        </p:txBody>
      </p:sp>
      <p:sp>
        <p:nvSpPr>
          <p:cNvPr id="561213" name="Text Box 61"/>
          <p:cNvSpPr txBox="1">
            <a:spLocks noChangeArrowheads="1"/>
          </p:cNvSpPr>
          <p:nvPr/>
        </p:nvSpPr>
        <p:spPr bwMode="auto">
          <a:xfrm>
            <a:off x="6659563" y="1987129"/>
            <a:ext cx="2160587" cy="65087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(L.,E)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#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L.,E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561214" name="Rectangle 62"/>
          <p:cNvSpPr>
            <a:spLocks noChangeArrowheads="1"/>
          </p:cNvSpPr>
          <p:nvPr/>
        </p:nvSpPr>
        <p:spPr bwMode="auto">
          <a:xfrm>
            <a:off x="5940425" y="1845841"/>
            <a:ext cx="769938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kumimoji="0" lang="en-US" altLang="zh-CN" sz="1800" b="1">
                <a:solidFill>
                  <a:srgbClr val="800080"/>
                </a:solidFill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solidFill>
                  <a:srgbClr val="800080"/>
                </a:solidFill>
                <a:sym typeface="Symbol" panose="05050102010706020507" pitchFamily="18" charset="2"/>
              </a:rPr>
              <a:t>6-14-17</a:t>
            </a:r>
            <a:endParaRPr kumimoji="0" lang="en-US" altLang="zh-CN" sz="1800" b="1">
              <a:sym typeface="Symbol" panose="05050102010706020507" pitchFamily="18" charset="2"/>
            </a:endParaRPr>
          </a:p>
        </p:txBody>
      </p:sp>
      <p:sp>
        <p:nvSpPr>
          <p:cNvPr id="561215" name="Text Box 63"/>
          <p:cNvSpPr txBox="1">
            <a:spLocks noChangeArrowheads="1"/>
          </p:cNvSpPr>
          <p:nvPr/>
        </p:nvSpPr>
        <p:spPr bwMode="auto">
          <a:xfrm>
            <a:off x="2413000" y="5517729"/>
            <a:ext cx="2016125" cy="65087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(F.) </a:t>
            </a:r>
            <a:r>
              <a:rPr lang="en-US" altLang="zh-CN" sz="1800" b="1" i="1">
                <a:solidFill>
                  <a:srgbClr val="993366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sym typeface="Symbol" panose="05050102010706020507" pitchFamily="18" charset="2"/>
              </a:rPr>
              <a:t>#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E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F.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</a:t>
            </a:r>
          </a:p>
        </p:txBody>
      </p:sp>
      <p:sp>
        <p:nvSpPr>
          <p:cNvPr id="561216" name="Rectangle 64"/>
          <p:cNvSpPr>
            <a:spLocks noChangeArrowheads="1"/>
          </p:cNvSpPr>
          <p:nvPr/>
        </p:nvSpPr>
        <p:spPr bwMode="auto">
          <a:xfrm>
            <a:off x="2797175" y="5151016"/>
            <a:ext cx="550863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kumimoji="0" lang="en-US" altLang="zh-CN" sz="1800" b="1">
                <a:solidFill>
                  <a:srgbClr val="800080"/>
                </a:solidFill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solidFill>
                  <a:srgbClr val="800080"/>
                </a:solidFill>
                <a:sym typeface="Symbol" panose="05050102010706020507" pitchFamily="18" charset="2"/>
              </a:rPr>
              <a:t>7-15</a:t>
            </a:r>
            <a:endParaRPr kumimoji="0" lang="en-US" altLang="zh-CN" sz="1800" b="1">
              <a:sym typeface="Symbol" panose="05050102010706020507" pitchFamily="18" charset="2"/>
            </a:endParaRPr>
          </a:p>
        </p:txBody>
      </p:sp>
      <p:sp>
        <p:nvSpPr>
          <p:cNvPr id="561217" name="Arc 65"/>
          <p:cNvSpPr/>
          <p:nvPr/>
        </p:nvSpPr>
        <p:spPr bwMode="auto">
          <a:xfrm>
            <a:off x="5221288" y="4149304"/>
            <a:ext cx="287337" cy="2889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000080"/>
            </a:solidFill>
            <a:rou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61218" name="Arc 66"/>
          <p:cNvSpPr/>
          <p:nvPr/>
        </p:nvSpPr>
        <p:spPr bwMode="auto">
          <a:xfrm rot="-16200000">
            <a:off x="5220494" y="4439023"/>
            <a:ext cx="288925" cy="287337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000080"/>
            </a:solidFill>
            <a:rou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61219" name="Arc 67"/>
          <p:cNvSpPr/>
          <p:nvPr/>
        </p:nvSpPr>
        <p:spPr bwMode="auto">
          <a:xfrm rot="-10800000">
            <a:off x="4932363" y="4438229"/>
            <a:ext cx="287337" cy="2889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61220" name="Rectangle 68"/>
          <p:cNvSpPr>
            <a:spLocks noChangeArrowheads="1"/>
          </p:cNvSpPr>
          <p:nvPr/>
        </p:nvSpPr>
        <p:spPr bwMode="auto">
          <a:xfrm>
            <a:off x="5248275" y="4293766"/>
            <a:ext cx="260350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(</a:t>
            </a:r>
          </a:p>
        </p:txBody>
      </p:sp>
      <p:sp>
        <p:nvSpPr>
          <p:cNvPr id="561222" name="Line 70"/>
          <p:cNvSpPr>
            <a:spLocks noChangeShapeType="1"/>
          </p:cNvSpPr>
          <p:nvPr/>
        </p:nvSpPr>
        <p:spPr bwMode="auto">
          <a:xfrm>
            <a:off x="4427538" y="5884441"/>
            <a:ext cx="360362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1223" name="Rectangle 71"/>
          <p:cNvSpPr>
            <a:spLocks noChangeArrowheads="1"/>
          </p:cNvSpPr>
          <p:nvPr/>
        </p:nvSpPr>
        <p:spPr bwMode="auto">
          <a:xfrm>
            <a:off x="4429125" y="5517729"/>
            <a:ext cx="287338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561224" name="Text Box 72"/>
          <p:cNvSpPr txBox="1">
            <a:spLocks noChangeArrowheads="1"/>
          </p:cNvSpPr>
          <p:nvPr/>
        </p:nvSpPr>
        <p:spPr bwMode="auto">
          <a:xfrm>
            <a:off x="4787900" y="5789191"/>
            <a:ext cx="2016125" cy="376238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(F). </a:t>
            </a:r>
            <a:r>
              <a:rPr lang="en-US" altLang="zh-CN" sz="1800" b="1" i="1">
                <a:solidFill>
                  <a:srgbClr val="993366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sym typeface="Symbol" panose="05050102010706020507" pitchFamily="18" charset="2"/>
              </a:rPr>
              <a:t>#</a:t>
            </a:r>
          </a:p>
        </p:txBody>
      </p:sp>
      <p:sp>
        <p:nvSpPr>
          <p:cNvPr id="561225" name="Rectangle 73"/>
          <p:cNvSpPr>
            <a:spLocks noChangeArrowheads="1"/>
          </p:cNvSpPr>
          <p:nvPr/>
        </p:nvSpPr>
        <p:spPr bwMode="auto">
          <a:xfrm>
            <a:off x="4787900" y="5438354"/>
            <a:ext cx="635000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kumimoji="0" lang="en-US" altLang="zh-CN" sz="1800" b="1">
                <a:solidFill>
                  <a:srgbClr val="800080"/>
                </a:solidFill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solidFill>
                  <a:srgbClr val="800080"/>
                </a:solidFill>
                <a:sym typeface="Symbol" panose="05050102010706020507" pitchFamily="18" charset="2"/>
              </a:rPr>
              <a:t>16-21</a:t>
            </a:r>
            <a:endParaRPr kumimoji="0" lang="en-US" altLang="zh-CN" sz="1800" b="1">
              <a:sym typeface="Symbol" panose="05050102010706020507" pitchFamily="18" charset="2"/>
            </a:endParaRPr>
          </a:p>
        </p:txBody>
      </p:sp>
      <p:sp>
        <p:nvSpPr>
          <p:cNvPr id="561227" name="Rectangle 75"/>
          <p:cNvSpPr>
            <a:spLocks noChangeArrowheads="1"/>
          </p:cNvSpPr>
          <p:nvPr/>
        </p:nvSpPr>
        <p:spPr bwMode="auto">
          <a:xfrm>
            <a:off x="8243888" y="2703091"/>
            <a:ext cx="287337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,</a:t>
            </a:r>
          </a:p>
        </p:txBody>
      </p:sp>
      <p:sp>
        <p:nvSpPr>
          <p:cNvPr id="561228" name="Line 76"/>
          <p:cNvSpPr>
            <a:spLocks noChangeShapeType="1"/>
          </p:cNvSpPr>
          <p:nvPr/>
        </p:nvSpPr>
        <p:spPr bwMode="auto">
          <a:xfrm>
            <a:off x="8459788" y="2638004"/>
            <a:ext cx="1587" cy="64770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1229" name="Text Box 77"/>
          <p:cNvSpPr txBox="1">
            <a:spLocks noChangeArrowheads="1"/>
          </p:cNvSpPr>
          <p:nvPr/>
        </p:nvSpPr>
        <p:spPr bwMode="auto">
          <a:xfrm>
            <a:off x="6875463" y="3263479"/>
            <a:ext cx="2160587" cy="174942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(L,.E)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#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L,.E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.(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L,E) </a:t>
            </a:r>
            <a:r>
              <a:rPr lang="en-US" altLang="zh-CN" sz="1800" b="1" i="1">
                <a:solidFill>
                  <a:srgbClr val="993366"/>
                </a:solidFill>
                <a:ea typeface="华文行楷" pitchFamily="2" charset="-122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endParaRPr lang="en-US" altLang="zh-CN" sz="1800" b="1" i="1">
              <a:ea typeface="华文行楷" pitchFamily="2" charset="-122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E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.F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endParaRPr lang="en-US" altLang="zh-CN" sz="1800" b="1" i="1"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F </a:t>
            </a:r>
            <a:r>
              <a:rPr lang="en-US" altLang="zh-CN" sz="1800" b="1">
                <a:ea typeface="华文行楷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 .(F)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F </a:t>
            </a:r>
            <a:r>
              <a:rPr lang="en-US" altLang="zh-CN" sz="1800" b="1"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sym typeface="Symbol" panose="05050102010706020507" pitchFamily="18" charset="2"/>
              </a:rPr>
              <a:t>d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 </a:t>
            </a:r>
            <a:r>
              <a:rPr lang="en-US" altLang="zh-CN" sz="1800" b="1" i="1"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561230" name="Rectangle 78"/>
          <p:cNvSpPr>
            <a:spLocks noChangeArrowheads="1"/>
          </p:cNvSpPr>
          <p:nvPr/>
        </p:nvSpPr>
        <p:spPr bwMode="auto">
          <a:xfrm>
            <a:off x="7235825" y="2853904"/>
            <a:ext cx="854075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kumimoji="0" lang="en-US" altLang="zh-CN" sz="1800" b="1">
                <a:solidFill>
                  <a:srgbClr val="800080"/>
                </a:solidFill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solidFill>
                  <a:srgbClr val="800080"/>
                </a:solidFill>
                <a:sym typeface="Symbol" panose="05050102010706020507" pitchFamily="18" charset="2"/>
              </a:rPr>
              <a:t>10-18-19</a:t>
            </a:r>
            <a:endParaRPr kumimoji="0" lang="en-US" altLang="zh-CN" sz="1800" b="1">
              <a:sym typeface="Symbol" panose="05050102010706020507" pitchFamily="18" charset="2"/>
            </a:endParaRPr>
          </a:p>
        </p:txBody>
      </p:sp>
      <p:sp>
        <p:nvSpPr>
          <p:cNvPr id="561232" name="Rectangle 80"/>
          <p:cNvSpPr>
            <a:spLocks noChangeArrowheads="1"/>
          </p:cNvSpPr>
          <p:nvPr/>
        </p:nvSpPr>
        <p:spPr bwMode="auto">
          <a:xfrm>
            <a:off x="8388350" y="5006554"/>
            <a:ext cx="287338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E</a:t>
            </a:r>
          </a:p>
        </p:txBody>
      </p:sp>
      <p:sp>
        <p:nvSpPr>
          <p:cNvPr id="561236" name="Rectangle 84"/>
          <p:cNvSpPr>
            <a:spLocks noChangeArrowheads="1"/>
          </p:cNvSpPr>
          <p:nvPr/>
        </p:nvSpPr>
        <p:spPr bwMode="auto">
          <a:xfrm>
            <a:off x="6516688" y="4285829"/>
            <a:ext cx="287337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F</a:t>
            </a:r>
          </a:p>
        </p:txBody>
      </p:sp>
      <p:sp>
        <p:nvSpPr>
          <p:cNvPr id="561238" name="Rectangle 86"/>
          <p:cNvSpPr>
            <a:spLocks noChangeArrowheads="1"/>
          </p:cNvSpPr>
          <p:nvPr/>
        </p:nvSpPr>
        <p:spPr bwMode="auto">
          <a:xfrm>
            <a:off x="6516688" y="3933404"/>
            <a:ext cx="287337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561240" name="Line 88"/>
          <p:cNvSpPr>
            <a:spLocks noChangeShapeType="1"/>
          </p:cNvSpPr>
          <p:nvPr/>
        </p:nvSpPr>
        <p:spPr bwMode="auto">
          <a:xfrm flipH="1">
            <a:off x="6443663" y="4220741"/>
            <a:ext cx="433387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1241" name="Rectangle 89"/>
          <p:cNvSpPr>
            <a:spLocks noChangeArrowheads="1"/>
          </p:cNvSpPr>
          <p:nvPr/>
        </p:nvSpPr>
        <p:spPr bwMode="auto">
          <a:xfrm>
            <a:off x="6011863" y="4004841"/>
            <a:ext cx="466725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kumimoji="0" lang="en-US" altLang="zh-CN" sz="1800" b="1">
                <a:solidFill>
                  <a:srgbClr val="800080"/>
                </a:solidFill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solidFill>
                  <a:srgbClr val="800080"/>
                </a:solidFill>
                <a:sym typeface="Symbol" panose="05050102010706020507" pitchFamily="18" charset="2"/>
              </a:rPr>
              <a:t>4-9</a:t>
            </a:r>
            <a:endParaRPr kumimoji="0" lang="en-US" altLang="zh-CN" sz="1800" b="1">
              <a:sym typeface="Symbol" panose="05050102010706020507" pitchFamily="18" charset="2"/>
            </a:endParaRPr>
          </a:p>
        </p:txBody>
      </p:sp>
      <p:sp>
        <p:nvSpPr>
          <p:cNvPr id="561244" name="Rectangle 92"/>
          <p:cNvSpPr>
            <a:spLocks noChangeArrowheads="1"/>
          </p:cNvSpPr>
          <p:nvPr/>
        </p:nvSpPr>
        <p:spPr bwMode="auto">
          <a:xfrm>
            <a:off x="5965825" y="4358854"/>
            <a:ext cx="550863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kumimoji="0" lang="en-US" altLang="zh-CN" sz="1800" b="1">
                <a:solidFill>
                  <a:srgbClr val="800080"/>
                </a:solidFill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solidFill>
                  <a:srgbClr val="800080"/>
                </a:solidFill>
                <a:sym typeface="Symbol" panose="05050102010706020507" pitchFamily="18" charset="2"/>
              </a:rPr>
              <a:t>2-12</a:t>
            </a:r>
            <a:endParaRPr kumimoji="0" lang="en-US" altLang="zh-CN" sz="1800" b="1">
              <a:sym typeface="Symbol" panose="05050102010706020507" pitchFamily="18" charset="2"/>
            </a:endParaRPr>
          </a:p>
        </p:txBody>
      </p:sp>
      <p:sp>
        <p:nvSpPr>
          <p:cNvPr id="561245" name="Text Box 93"/>
          <p:cNvSpPr txBox="1">
            <a:spLocks noChangeArrowheads="1"/>
          </p:cNvSpPr>
          <p:nvPr/>
        </p:nvSpPr>
        <p:spPr bwMode="auto">
          <a:xfrm>
            <a:off x="6875463" y="5517729"/>
            <a:ext cx="2160587" cy="65087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E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(L,E.)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 </a:t>
            </a:r>
            <a:r>
              <a:rPr lang="en-US" altLang="zh-CN" sz="1800" b="1" i="1"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sym typeface="Symbol" panose="05050102010706020507" pitchFamily="18" charset="2"/>
              </a:rPr>
              <a:t>#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L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L,E.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561246" name="Rectangle 94"/>
          <p:cNvSpPr>
            <a:spLocks noChangeArrowheads="1"/>
          </p:cNvSpPr>
          <p:nvPr/>
        </p:nvSpPr>
        <p:spPr bwMode="auto">
          <a:xfrm>
            <a:off x="7678738" y="5151016"/>
            <a:ext cx="854075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kumimoji="0" lang="en-US" altLang="zh-CN" sz="1800" b="1">
                <a:solidFill>
                  <a:srgbClr val="800080"/>
                </a:solidFill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solidFill>
                  <a:srgbClr val="800080"/>
                </a:solidFill>
                <a:sym typeface="Symbol" panose="05050102010706020507" pitchFamily="18" charset="2"/>
              </a:rPr>
              <a:t>11-22-24</a:t>
            </a:r>
            <a:endParaRPr kumimoji="0" lang="en-US" altLang="zh-CN" sz="1800" b="1">
              <a:sym typeface="Symbol" panose="05050102010706020507" pitchFamily="18" charset="2"/>
            </a:endParaRPr>
          </a:p>
        </p:txBody>
      </p:sp>
      <p:sp>
        <p:nvSpPr>
          <p:cNvPr id="561247" name="Line 95"/>
          <p:cNvSpPr>
            <a:spLocks noChangeShapeType="1"/>
          </p:cNvSpPr>
          <p:nvPr/>
        </p:nvSpPr>
        <p:spPr bwMode="auto">
          <a:xfrm>
            <a:off x="5219700" y="3573041"/>
            <a:ext cx="1657350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head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1248" name="Rectangle 96"/>
          <p:cNvSpPr>
            <a:spLocks noChangeArrowheads="1"/>
          </p:cNvSpPr>
          <p:nvPr/>
        </p:nvSpPr>
        <p:spPr bwMode="auto">
          <a:xfrm>
            <a:off x="6516688" y="3212679"/>
            <a:ext cx="260350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(</a:t>
            </a:r>
          </a:p>
        </p:txBody>
      </p:sp>
      <p:sp>
        <p:nvSpPr>
          <p:cNvPr id="561250" name="Line 98"/>
          <p:cNvSpPr>
            <a:spLocks noChangeShapeType="1"/>
          </p:cNvSpPr>
          <p:nvPr/>
        </p:nvSpPr>
        <p:spPr bwMode="auto">
          <a:xfrm flipH="1">
            <a:off x="6443663" y="4573166"/>
            <a:ext cx="433387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1251" name="Line 99"/>
          <p:cNvSpPr>
            <a:spLocks noChangeShapeType="1"/>
          </p:cNvSpPr>
          <p:nvPr/>
        </p:nvSpPr>
        <p:spPr bwMode="auto">
          <a:xfrm>
            <a:off x="8675688" y="5014491"/>
            <a:ext cx="1587" cy="503238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1253" name="Line 101"/>
          <p:cNvSpPr>
            <a:spLocks noChangeShapeType="1"/>
          </p:cNvSpPr>
          <p:nvPr/>
        </p:nvSpPr>
        <p:spPr bwMode="auto">
          <a:xfrm>
            <a:off x="6372225" y="5157366"/>
            <a:ext cx="1152525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head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1254" name="Rectangle 102"/>
          <p:cNvSpPr>
            <a:spLocks noChangeArrowheads="1"/>
          </p:cNvSpPr>
          <p:nvPr/>
        </p:nvSpPr>
        <p:spPr bwMode="auto">
          <a:xfrm>
            <a:off x="6515100" y="4790654"/>
            <a:ext cx="288925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561255" name="Line 103"/>
          <p:cNvSpPr>
            <a:spLocks noChangeShapeType="1"/>
          </p:cNvSpPr>
          <p:nvPr/>
        </p:nvSpPr>
        <p:spPr bwMode="auto">
          <a:xfrm>
            <a:off x="7524750" y="5157366"/>
            <a:ext cx="0" cy="360363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1259" name="Text Box 107"/>
          <p:cNvSpPr txBox="1">
            <a:spLocks noChangeArrowheads="1"/>
          </p:cNvSpPr>
          <p:nvPr/>
        </p:nvSpPr>
        <p:spPr bwMode="auto">
          <a:xfrm>
            <a:off x="4140200" y="4997029"/>
            <a:ext cx="2230438" cy="376237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E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(L,E).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 </a:t>
            </a:r>
            <a:r>
              <a:rPr lang="en-US" altLang="zh-CN" sz="1800" b="1" i="1"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sym typeface="Symbol" panose="05050102010706020507" pitchFamily="18" charset="2"/>
              </a:rPr>
              <a:t>#</a:t>
            </a:r>
          </a:p>
        </p:txBody>
      </p:sp>
      <p:sp>
        <p:nvSpPr>
          <p:cNvPr id="561260" name="Rectangle 108"/>
          <p:cNvSpPr>
            <a:spLocks noChangeArrowheads="1"/>
          </p:cNvSpPr>
          <p:nvPr/>
        </p:nvSpPr>
        <p:spPr bwMode="auto">
          <a:xfrm>
            <a:off x="4140200" y="4646191"/>
            <a:ext cx="854075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kumimoji="0" lang="en-US" altLang="zh-CN" sz="1800" b="1">
                <a:solidFill>
                  <a:srgbClr val="800080"/>
                </a:solidFill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solidFill>
                  <a:srgbClr val="800080"/>
                </a:solidFill>
                <a:sym typeface="Symbol" panose="05050102010706020507" pitchFamily="18" charset="2"/>
              </a:rPr>
              <a:t>20-23-25</a:t>
            </a:r>
            <a:endParaRPr kumimoji="0" lang="en-US" altLang="zh-CN" sz="1800" b="1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084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8085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8086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8087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8088" name="Rectangle 8"/>
          <p:cNvSpPr>
            <a:spLocks noChangeArrowheads="1"/>
          </p:cNvSpPr>
          <p:nvPr/>
        </p:nvSpPr>
        <p:spPr bwMode="auto">
          <a:xfrm>
            <a:off x="35496" y="188913"/>
            <a:ext cx="38862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LALR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558089" name="Text Box 9"/>
          <p:cNvSpPr txBox="1">
            <a:spLocks noChangeArrowheads="1"/>
          </p:cNvSpPr>
          <p:nvPr/>
        </p:nvSpPr>
        <p:spPr bwMode="auto">
          <a:xfrm>
            <a:off x="538798" y="1268413"/>
            <a:ext cx="8353425" cy="1158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</a:rPr>
              <a:t>  </a:t>
            </a:r>
            <a:r>
              <a:rPr kumimoji="0" lang="en-US" altLang="zh-CN" sz="3200">
                <a:solidFill>
                  <a:srgbClr val="800080"/>
                </a:solidFill>
              </a:rPr>
              <a:t>LALR</a:t>
            </a:r>
            <a:r>
              <a:rPr kumimoji="0" lang="zh-CN" altLang="en-US" sz="3200">
                <a:solidFill>
                  <a:srgbClr val="800080"/>
                </a:solidFill>
              </a:rPr>
              <a:t>（</a:t>
            </a:r>
            <a:r>
              <a:rPr kumimoji="0" lang="en-US" altLang="zh-CN" sz="3200">
                <a:solidFill>
                  <a:srgbClr val="800080"/>
                </a:solidFill>
              </a:rPr>
              <a:t>1</a:t>
            </a:r>
            <a:r>
              <a:rPr kumimoji="0" lang="zh-CN" altLang="en-US" sz="3200">
                <a:solidFill>
                  <a:srgbClr val="800080"/>
                </a:solidFill>
              </a:rPr>
              <a:t>）</a:t>
            </a:r>
            <a:r>
              <a:rPr kumimoji="0" lang="zh-CN" altLang="en-US" sz="3200" b="1">
                <a:solidFill>
                  <a:srgbClr val="800080"/>
                </a:solidFill>
              </a:rPr>
              <a:t>分析表</a:t>
            </a:r>
            <a:endParaRPr lang="zh-CN" altLang="en-US" sz="3200" b="1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 b="1">
                <a:solidFill>
                  <a:srgbClr val="800080"/>
                </a:solidFill>
              </a:rPr>
              <a:t>  </a:t>
            </a:r>
            <a:r>
              <a:rPr kumimoji="0" lang="zh-CN" altLang="en-US" sz="2800" b="1">
                <a:solidFill>
                  <a:srgbClr val="800080"/>
                </a:solidFill>
              </a:rPr>
              <a:t>构造方法同</a:t>
            </a:r>
            <a:r>
              <a:rPr kumimoji="0" lang="en-US" altLang="zh-CN" sz="2800">
                <a:solidFill>
                  <a:srgbClr val="800080"/>
                </a:solidFill>
              </a:rPr>
              <a:t>LR</a:t>
            </a:r>
            <a:r>
              <a:rPr kumimoji="0" lang="zh-CN" altLang="en-US" sz="2800">
                <a:solidFill>
                  <a:srgbClr val="800080"/>
                </a:solidFill>
              </a:rPr>
              <a:t>（</a:t>
            </a:r>
            <a:r>
              <a:rPr kumimoji="0" lang="en-US" altLang="zh-CN" sz="2800">
                <a:solidFill>
                  <a:srgbClr val="800080"/>
                </a:solidFill>
              </a:rPr>
              <a:t>1</a:t>
            </a:r>
            <a:r>
              <a:rPr kumimoji="0" lang="zh-CN" altLang="en-US" sz="2800">
                <a:solidFill>
                  <a:srgbClr val="800080"/>
                </a:solidFill>
              </a:rPr>
              <a:t>）</a:t>
            </a:r>
            <a:r>
              <a:rPr kumimoji="0" lang="zh-CN" altLang="en-US" sz="2800" b="1">
                <a:solidFill>
                  <a:srgbClr val="800080"/>
                </a:solidFill>
              </a:rPr>
              <a:t>分析表</a:t>
            </a:r>
            <a:endParaRPr kumimoji="0" lang="zh-CN" altLang="en-US" sz="2800" b="1"/>
          </a:p>
        </p:txBody>
      </p:sp>
    </p:spTree>
  </p:cSld>
  <p:clrMapOvr>
    <a:masterClrMapping/>
  </p:clrMapOvr>
  <p:transition spd="med">
    <p:wipe dir="r"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112" name="Rectangle 8"/>
          <p:cNvSpPr>
            <a:spLocks noChangeArrowheads="1"/>
          </p:cNvSpPr>
          <p:nvPr/>
        </p:nvSpPr>
        <p:spPr bwMode="auto">
          <a:xfrm>
            <a:off x="37728" y="188913"/>
            <a:ext cx="38862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LALR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559114" name="Text Box 10"/>
          <p:cNvSpPr txBox="1">
            <a:spLocks noChangeArrowheads="1"/>
          </p:cNvSpPr>
          <p:nvPr/>
        </p:nvSpPr>
        <p:spPr bwMode="auto">
          <a:xfrm>
            <a:off x="755650" y="1052513"/>
            <a:ext cx="5903913" cy="1311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800"/>
              <a:t>  LALR</a:t>
            </a:r>
            <a:r>
              <a:rPr lang="zh-CN" altLang="en-US" sz="2800"/>
              <a:t>（</a:t>
            </a:r>
            <a:r>
              <a:rPr lang="en-US" altLang="zh-CN" sz="2800"/>
              <a:t>1</a:t>
            </a:r>
            <a:r>
              <a:rPr lang="zh-CN" altLang="en-US" sz="2800"/>
              <a:t>）</a:t>
            </a:r>
            <a:r>
              <a:rPr lang="zh-CN" altLang="en-US" sz="2800" b="1">
                <a:latin typeface="楷体_GB2312" pitchFamily="49" charset="-122"/>
              </a:rPr>
              <a:t>分析表的构造</a:t>
            </a:r>
            <a:r>
              <a:rPr lang="zh-CN" altLang="en-US" sz="2800" b="1">
                <a:solidFill>
                  <a:srgbClr val="800080"/>
                </a:solidFill>
                <a:latin typeface="楷体_GB2312" pitchFamily="49" charset="-122"/>
              </a:rPr>
              <a:t>举例</a:t>
            </a: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 b="1">
                <a:solidFill>
                  <a:srgbClr val="800080"/>
                </a:solidFill>
              </a:rPr>
              <a:t> </a:t>
            </a:r>
            <a:r>
              <a:rPr lang="zh-CN" altLang="en-US" b="1">
                <a:solidFill>
                  <a:srgbClr val="800080"/>
                </a:solidFill>
              </a:rPr>
              <a:t>增广</a:t>
            </a:r>
            <a:r>
              <a:rPr kumimoji="0" lang="zh-CN" altLang="en-US" b="1">
                <a:solidFill>
                  <a:srgbClr val="800080"/>
                </a:solidFill>
                <a:sym typeface="Symbol" panose="05050102010706020507" pitchFamily="18" charset="2"/>
              </a:rPr>
              <a:t>文法：</a:t>
            </a:r>
          </a:p>
          <a:p>
            <a:pPr lvl="1">
              <a:buClrTx/>
              <a:buFont typeface="Symbol" panose="05050102010706020507" pitchFamily="18" charset="2"/>
              <a:buNone/>
            </a:pPr>
            <a:r>
              <a:rPr kumimoji="0" lang="zh-CN" altLang="en-US" i="1">
                <a:sym typeface="Symbol" panose="05050102010706020507" pitchFamily="18" charset="2"/>
              </a:rPr>
              <a:t>    </a:t>
            </a:r>
            <a:r>
              <a:rPr kumimoji="0" lang="en-US" altLang="zh-CN" i="1">
                <a:sym typeface="Symbol" panose="05050102010706020507" pitchFamily="18" charset="2"/>
              </a:rPr>
              <a:t>G’ </a:t>
            </a:r>
            <a:r>
              <a:rPr kumimoji="0" lang="en-US" altLang="zh-CN">
                <a:sym typeface="Symbol" panose="05050102010706020507" pitchFamily="18" charset="2"/>
              </a:rPr>
              <a:t>[</a:t>
            </a:r>
            <a:r>
              <a:rPr kumimoji="0" lang="en-US" altLang="zh-CN" i="1">
                <a:sym typeface="Symbol" panose="05050102010706020507" pitchFamily="18" charset="2"/>
              </a:rPr>
              <a:t>S</a:t>
            </a:r>
            <a:r>
              <a:rPr kumimoji="0" lang="en-US" altLang="zh-CN">
                <a:sym typeface="Symbol" panose="05050102010706020507" pitchFamily="18" charset="2"/>
              </a:rPr>
              <a:t>]</a:t>
            </a:r>
            <a:r>
              <a:rPr lang="en-US" altLang="zh-CN"/>
              <a:t> </a:t>
            </a:r>
            <a:endParaRPr lang="en-US" altLang="zh-CN" i="1">
              <a:sym typeface="Symbol" panose="05050102010706020507" pitchFamily="18" charset="2"/>
            </a:endParaRPr>
          </a:p>
        </p:txBody>
      </p:sp>
      <p:sp>
        <p:nvSpPr>
          <p:cNvPr id="559115" name="Text Box 11"/>
          <p:cNvSpPr txBox="1">
            <a:spLocks noChangeArrowheads="1"/>
          </p:cNvSpPr>
          <p:nvPr/>
        </p:nvSpPr>
        <p:spPr bwMode="auto">
          <a:xfrm>
            <a:off x="3132138" y="1628775"/>
            <a:ext cx="5689600" cy="701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0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S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E</a:t>
            </a:r>
            <a:r>
              <a:rPr lang="en-US" altLang="zh-CN" sz="2000">
                <a:sym typeface="Symbol" panose="05050102010706020507" pitchFamily="18" charset="2"/>
              </a:rPr>
              <a:t>     </a:t>
            </a: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1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E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(L,E)    </a:t>
            </a: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2</a:t>
            </a:r>
            <a:r>
              <a:rPr lang="zh-CN" altLang="en-US" sz="2000">
                <a:sym typeface="Symbol" panose="05050102010706020507" pitchFamily="18" charset="2"/>
              </a:rPr>
              <a:t>） </a:t>
            </a:r>
            <a:r>
              <a:rPr lang="en-US" altLang="zh-CN" sz="2000" i="1">
                <a:sym typeface="Symbol" panose="05050102010706020507" pitchFamily="18" charset="2"/>
              </a:rPr>
              <a:t>E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F  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3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L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L,E </a:t>
            </a: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4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L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E </a:t>
            </a: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5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F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(F)  </a:t>
            </a:r>
            <a:r>
              <a:rPr lang="zh-CN" altLang="en-US" sz="2000">
                <a:sym typeface="Symbol" panose="05050102010706020507" pitchFamily="18" charset="2"/>
              </a:rPr>
              <a:t>（</a:t>
            </a:r>
            <a:r>
              <a:rPr lang="en-US" altLang="zh-CN" sz="2000">
                <a:sym typeface="Symbol" panose="05050102010706020507" pitchFamily="18" charset="2"/>
              </a:rPr>
              <a:t>6</a:t>
            </a:r>
            <a:r>
              <a:rPr lang="zh-CN" altLang="en-US" sz="2000">
                <a:sym typeface="Symbol" panose="05050102010706020507" pitchFamily="18" charset="2"/>
              </a:rPr>
              <a:t>）</a:t>
            </a:r>
            <a:r>
              <a:rPr lang="en-US" altLang="zh-CN" sz="2000" i="1">
                <a:sym typeface="Symbol" panose="05050102010706020507" pitchFamily="18" charset="2"/>
              </a:rPr>
              <a:t>F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559116" name="Line 12"/>
          <p:cNvSpPr>
            <a:spLocks noChangeShapeType="1"/>
          </p:cNvSpPr>
          <p:nvPr/>
        </p:nvSpPr>
        <p:spPr bwMode="auto">
          <a:xfrm>
            <a:off x="1692275" y="2781300"/>
            <a:ext cx="72009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59117" name="Text Box 13"/>
          <p:cNvSpPr txBox="1">
            <a:spLocks noChangeArrowheads="1"/>
          </p:cNvSpPr>
          <p:nvPr/>
        </p:nvSpPr>
        <p:spPr bwMode="auto">
          <a:xfrm>
            <a:off x="684213" y="2420938"/>
            <a:ext cx="863600" cy="701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kumimoji="0" lang="zh-CN" altLang="en-US" sz="2000" b="1">
                <a:solidFill>
                  <a:srgbClr val="800080"/>
                </a:solidFill>
                <a:latin typeface="Times New Roman" panose="02020603050405020304" pitchFamily="18" charset="0"/>
              </a:rPr>
              <a:t>栈顶状态</a:t>
            </a:r>
          </a:p>
        </p:txBody>
      </p:sp>
      <p:sp>
        <p:nvSpPr>
          <p:cNvPr id="559118" name="Text Box 14"/>
          <p:cNvSpPr txBox="1">
            <a:spLocks noChangeArrowheads="1"/>
          </p:cNvSpPr>
          <p:nvPr/>
        </p:nvSpPr>
        <p:spPr bwMode="auto">
          <a:xfrm>
            <a:off x="3751263" y="2384425"/>
            <a:ext cx="1181100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kumimoji="0" lang="en-US" altLang="zh-CN" sz="2000">
                <a:solidFill>
                  <a:srgbClr val="800080"/>
                </a:solidFill>
              </a:rPr>
              <a:t>ACTION</a:t>
            </a:r>
          </a:p>
        </p:txBody>
      </p:sp>
      <p:sp>
        <p:nvSpPr>
          <p:cNvPr id="559119" name="Text Box 15"/>
          <p:cNvSpPr txBox="1">
            <a:spLocks noChangeArrowheads="1"/>
          </p:cNvSpPr>
          <p:nvPr/>
        </p:nvSpPr>
        <p:spPr bwMode="auto">
          <a:xfrm>
            <a:off x="7740650" y="2384425"/>
            <a:ext cx="1114425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kumimoji="0" lang="en-US" altLang="zh-CN" sz="2000">
                <a:solidFill>
                  <a:srgbClr val="800080"/>
                </a:solidFill>
              </a:rPr>
              <a:t>GOTO</a:t>
            </a:r>
          </a:p>
        </p:txBody>
      </p:sp>
      <p:sp>
        <p:nvSpPr>
          <p:cNvPr id="559120" name="Line 16"/>
          <p:cNvSpPr>
            <a:spLocks noChangeShapeType="1"/>
          </p:cNvSpPr>
          <p:nvPr/>
        </p:nvSpPr>
        <p:spPr bwMode="auto">
          <a:xfrm>
            <a:off x="1690688" y="2420938"/>
            <a:ext cx="0" cy="4321175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59121" name="Line 17"/>
          <p:cNvSpPr>
            <a:spLocks noChangeShapeType="1"/>
          </p:cNvSpPr>
          <p:nvPr/>
        </p:nvSpPr>
        <p:spPr bwMode="auto">
          <a:xfrm>
            <a:off x="7164388" y="2420938"/>
            <a:ext cx="0" cy="4321175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59122" name="Line 18"/>
          <p:cNvSpPr>
            <a:spLocks noChangeShapeType="1"/>
          </p:cNvSpPr>
          <p:nvPr/>
        </p:nvSpPr>
        <p:spPr bwMode="auto">
          <a:xfrm>
            <a:off x="539750" y="3141663"/>
            <a:ext cx="8353425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59123" name="Rectangle 19"/>
          <p:cNvSpPr>
            <a:spLocks noChangeArrowheads="1"/>
          </p:cNvSpPr>
          <p:nvPr/>
        </p:nvSpPr>
        <p:spPr bwMode="auto">
          <a:xfrm>
            <a:off x="1878013" y="2709863"/>
            <a:ext cx="354012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559124" name="Rectangle 20"/>
          <p:cNvSpPr>
            <a:spLocks noChangeArrowheads="1"/>
          </p:cNvSpPr>
          <p:nvPr/>
        </p:nvSpPr>
        <p:spPr bwMode="auto">
          <a:xfrm>
            <a:off x="3160713" y="2636838"/>
            <a:ext cx="2603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</a:t>
            </a:r>
          </a:p>
        </p:txBody>
      </p:sp>
      <p:sp>
        <p:nvSpPr>
          <p:cNvPr id="559125" name="Rectangle 21"/>
          <p:cNvSpPr>
            <a:spLocks noChangeArrowheads="1"/>
          </p:cNvSpPr>
          <p:nvPr/>
        </p:nvSpPr>
        <p:spPr bwMode="auto">
          <a:xfrm>
            <a:off x="4397375" y="2709863"/>
            <a:ext cx="2857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(</a:t>
            </a:r>
          </a:p>
        </p:txBody>
      </p:sp>
      <p:sp>
        <p:nvSpPr>
          <p:cNvPr id="559126" name="Rectangle 22"/>
          <p:cNvSpPr>
            <a:spLocks noChangeArrowheads="1"/>
          </p:cNvSpPr>
          <p:nvPr/>
        </p:nvSpPr>
        <p:spPr bwMode="auto">
          <a:xfrm>
            <a:off x="5603875" y="2709863"/>
            <a:ext cx="2857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559127" name="Rectangle 23"/>
          <p:cNvSpPr>
            <a:spLocks noChangeArrowheads="1"/>
          </p:cNvSpPr>
          <p:nvPr/>
        </p:nvSpPr>
        <p:spPr bwMode="auto">
          <a:xfrm>
            <a:off x="6586538" y="2709863"/>
            <a:ext cx="354012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#</a:t>
            </a:r>
          </a:p>
        </p:txBody>
      </p:sp>
      <p:sp>
        <p:nvSpPr>
          <p:cNvPr id="559128" name="Rectangle 24"/>
          <p:cNvSpPr>
            <a:spLocks noChangeArrowheads="1"/>
          </p:cNvSpPr>
          <p:nvPr/>
        </p:nvSpPr>
        <p:spPr bwMode="auto">
          <a:xfrm>
            <a:off x="7137400" y="2709863"/>
            <a:ext cx="3873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>
                <a:sym typeface="Symbol" panose="05050102010706020507" pitchFamily="18" charset="2"/>
              </a:rPr>
              <a:t>E</a:t>
            </a:r>
          </a:p>
        </p:txBody>
      </p:sp>
      <p:sp>
        <p:nvSpPr>
          <p:cNvPr id="559129" name="Rectangle 25"/>
          <p:cNvSpPr>
            <a:spLocks noChangeArrowheads="1"/>
          </p:cNvSpPr>
          <p:nvPr/>
        </p:nvSpPr>
        <p:spPr bwMode="auto">
          <a:xfrm>
            <a:off x="7818438" y="2709863"/>
            <a:ext cx="354012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>
                <a:sym typeface="Symbol" panose="05050102010706020507" pitchFamily="18" charset="2"/>
              </a:rPr>
              <a:t>L</a:t>
            </a:r>
          </a:p>
        </p:txBody>
      </p:sp>
      <p:sp>
        <p:nvSpPr>
          <p:cNvPr id="559130" name="Rectangle 26"/>
          <p:cNvSpPr>
            <a:spLocks noChangeArrowheads="1"/>
          </p:cNvSpPr>
          <p:nvPr/>
        </p:nvSpPr>
        <p:spPr bwMode="auto">
          <a:xfrm>
            <a:off x="8388350" y="2709863"/>
            <a:ext cx="369888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>
                <a:sym typeface="Symbol" panose="05050102010706020507" pitchFamily="18" charset="2"/>
              </a:rPr>
              <a:t>F</a:t>
            </a:r>
          </a:p>
        </p:txBody>
      </p:sp>
      <p:sp>
        <p:nvSpPr>
          <p:cNvPr id="559131" name="Rectangle 27"/>
          <p:cNvSpPr>
            <a:spLocks noChangeArrowheads="1"/>
          </p:cNvSpPr>
          <p:nvPr/>
        </p:nvSpPr>
        <p:spPr bwMode="auto">
          <a:xfrm>
            <a:off x="784225" y="3716338"/>
            <a:ext cx="692150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2-12</a:t>
            </a:r>
          </a:p>
        </p:txBody>
      </p:sp>
      <p:sp>
        <p:nvSpPr>
          <p:cNvPr id="559132" name="Rectangle 28"/>
          <p:cNvSpPr>
            <a:spLocks noChangeArrowheads="1"/>
          </p:cNvSpPr>
          <p:nvPr/>
        </p:nvSpPr>
        <p:spPr bwMode="auto">
          <a:xfrm>
            <a:off x="827088" y="4297363"/>
            <a:ext cx="550862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4-9</a:t>
            </a:r>
          </a:p>
        </p:txBody>
      </p:sp>
      <p:sp>
        <p:nvSpPr>
          <p:cNvPr id="559133" name="Rectangle 29"/>
          <p:cNvSpPr>
            <a:spLocks noChangeArrowheads="1"/>
          </p:cNvSpPr>
          <p:nvPr/>
        </p:nvSpPr>
        <p:spPr bwMode="auto">
          <a:xfrm>
            <a:off x="900113" y="4584700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5</a:t>
            </a:r>
          </a:p>
        </p:txBody>
      </p:sp>
      <p:sp>
        <p:nvSpPr>
          <p:cNvPr id="559134" name="Rectangle 30"/>
          <p:cNvSpPr>
            <a:spLocks noChangeArrowheads="1"/>
          </p:cNvSpPr>
          <p:nvPr/>
        </p:nvSpPr>
        <p:spPr bwMode="auto">
          <a:xfrm>
            <a:off x="560388" y="4873625"/>
            <a:ext cx="1058862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6-14-17</a:t>
            </a:r>
          </a:p>
        </p:txBody>
      </p:sp>
      <p:sp>
        <p:nvSpPr>
          <p:cNvPr id="559135" name="Rectangle 31"/>
          <p:cNvSpPr>
            <a:spLocks noChangeArrowheads="1"/>
          </p:cNvSpPr>
          <p:nvPr/>
        </p:nvSpPr>
        <p:spPr bwMode="auto">
          <a:xfrm>
            <a:off x="755650" y="5191125"/>
            <a:ext cx="692150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7-15</a:t>
            </a:r>
          </a:p>
        </p:txBody>
      </p:sp>
      <p:sp>
        <p:nvSpPr>
          <p:cNvPr id="559136" name="Rectangle 32"/>
          <p:cNvSpPr>
            <a:spLocks noChangeArrowheads="1"/>
          </p:cNvSpPr>
          <p:nvPr/>
        </p:nvSpPr>
        <p:spPr bwMode="auto">
          <a:xfrm>
            <a:off x="468313" y="5448300"/>
            <a:ext cx="1200150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10-18-19</a:t>
            </a:r>
          </a:p>
        </p:txBody>
      </p:sp>
      <p:sp>
        <p:nvSpPr>
          <p:cNvPr id="559137" name="Rectangle 33"/>
          <p:cNvSpPr>
            <a:spLocks noChangeArrowheads="1"/>
          </p:cNvSpPr>
          <p:nvPr/>
        </p:nvSpPr>
        <p:spPr bwMode="auto">
          <a:xfrm>
            <a:off x="684213" y="6062663"/>
            <a:ext cx="833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16-21</a:t>
            </a:r>
          </a:p>
        </p:txBody>
      </p:sp>
      <p:sp>
        <p:nvSpPr>
          <p:cNvPr id="559138" name="Rectangle 34"/>
          <p:cNvSpPr>
            <a:spLocks noChangeArrowheads="1"/>
          </p:cNvSpPr>
          <p:nvPr/>
        </p:nvSpPr>
        <p:spPr bwMode="auto">
          <a:xfrm>
            <a:off x="468313" y="6350000"/>
            <a:ext cx="1200150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20-23-25</a:t>
            </a:r>
          </a:p>
        </p:txBody>
      </p:sp>
      <p:sp>
        <p:nvSpPr>
          <p:cNvPr id="559140" name="Rectangle 36"/>
          <p:cNvSpPr>
            <a:spLocks noChangeArrowheads="1"/>
          </p:cNvSpPr>
          <p:nvPr/>
        </p:nvSpPr>
        <p:spPr bwMode="auto">
          <a:xfrm>
            <a:off x="935038" y="3397250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1</a:t>
            </a:r>
          </a:p>
        </p:txBody>
      </p:sp>
      <p:sp>
        <p:nvSpPr>
          <p:cNvPr id="559141" name="Rectangle 37"/>
          <p:cNvSpPr>
            <a:spLocks noChangeArrowheads="1"/>
          </p:cNvSpPr>
          <p:nvPr/>
        </p:nvSpPr>
        <p:spPr bwMode="auto">
          <a:xfrm>
            <a:off x="6443663" y="3357563"/>
            <a:ext cx="579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acc</a:t>
            </a:r>
          </a:p>
        </p:txBody>
      </p:sp>
      <p:sp>
        <p:nvSpPr>
          <p:cNvPr id="559142" name="Rectangle 38"/>
          <p:cNvSpPr>
            <a:spLocks noChangeArrowheads="1"/>
          </p:cNvSpPr>
          <p:nvPr/>
        </p:nvSpPr>
        <p:spPr bwMode="auto">
          <a:xfrm>
            <a:off x="6586538" y="3713163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r2</a:t>
            </a:r>
          </a:p>
        </p:txBody>
      </p:sp>
      <p:sp>
        <p:nvSpPr>
          <p:cNvPr id="559143" name="Rectangle 39"/>
          <p:cNvSpPr>
            <a:spLocks noChangeArrowheads="1"/>
          </p:cNvSpPr>
          <p:nvPr/>
        </p:nvSpPr>
        <p:spPr bwMode="auto">
          <a:xfrm>
            <a:off x="935038" y="3103563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0</a:t>
            </a:r>
          </a:p>
        </p:txBody>
      </p:sp>
      <p:sp>
        <p:nvSpPr>
          <p:cNvPr id="559145" name="Rectangle 41"/>
          <p:cNvSpPr>
            <a:spLocks noChangeArrowheads="1"/>
          </p:cNvSpPr>
          <p:nvPr/>
        </p:nvSpPr>
        <p:spPr bwMode="auto">
          <a:xfrm>
            <a:off x="7164388" y="3101975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1</a:t>
            </a:r>
          </a:p>
        </p:txBody>
      </p:sp>
      <p:sp>
        <p:nvSpPr>
          <p:cNvPr id="559147" name="Rectangle 43"/>
          <p:cNvSpPr>
            <a:spLocks noChangeArrowheads="1"/>
          </p:cNvSpPr>
          <p:nvPr/>
        </p:nvSpPr>
        <p:spPr bwMode="auto">
          <a:xfrm>
            <a:off x="4060825" y="3101975"/>
            <a:ext cx="1044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s3-8-13</a:t>
            </a:r>
          </a:p>
        </p:txBody>
      </p:sp>
      <p:sp>
        <p:nvSpPr>
          <p:cNvPr id="559148" name="Rectangle 44"/>
          <p:cNvSpPr>
            <a:spLocks noChangeArrowheads="1"/>
          </p:cNvSpPr>
          <p:nvPr/>
        </p:nvSpPr>
        <p:spPr bwMode="auto">
          <a:xfrm>
            <a:off x="1692275" y="3101975"/>
            <a:ext cx="677863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s4-9</a:t>
            </a:r>
          </a:p>
        </p:txBody>
      </p:sp>
      <p:sp>
        <p:nvSpPr>
          <p:cNvPr id="559149" name="Rectangle 45"/>
          <p:cNvSpPr>
            <a:spLocks noChangeArrowheads="1"/>
          </p:cNvSpPr>
          <p:nvPr/>
        </p:nvSpPr>
        <p:spPr bwMode="auto">
          <a:xfrm>
            <a:off x="3081338" y="458152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r4</a:t>
            </a:r>
          </a:p>
        </p:txBody>
      </p:sp>
      <p:sp>
        <p:nvSpPr>
          <p:cNvPr id="559150" name="Rectangle 46"/>
          <p:cNvSpPr>
            <a:spLocks noChangeArrowheads="1"/>
          </p:cNvSpPr>
          <p:nvPr/>
        </p:nvSpPr>
        <p:spPr bwMode="auto">
          <a:xfrm>
            <a:off x="6588125" y="4330700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r6</a:t>
            </a:r>
          </a:p>
        </p:txBody>
      </p:sp>
      <p:sp>
        <p:nvSpPr>
          <p:cNvPr id="559151" name="Rectangle 47"/>
          <p:cNvSpPr>
            <a:spLocks noChangeArrowheads="1"/>
          </p:cNvSpPr>
          <p:nvPr/>
        </p:nvSpPr>
        <p:spPr bwMode="auto">
          <a:xfrm>
            <a:off x="2668588" y="4903788"/>
            <a:ext cx="1327150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s10-18-19</a:t>
            </a:r>
          </a:p>
        </p:txBody>
      </p:sp>
      <p:sp>
        <p:nvSpPr>
          <p:cNvPr id="559155" name="Rectangle 51"/>
          <p:cNvSpPr>
            <a:spLocks noChangeArrowheads="1"/>
          </p:cNvSpPr>
          <p:nvPr/>
        </p:nvSpPr>
        <p:spPr bwMode="auto">
          <a:xfrm>
            <a:off x="684213" y="4010025"/>
            <a:ext cx="917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3-8-13</a:t>
            </a:r>
          </a:p>
        </p:txBody>
      </p:sp>
      <p:sp>
        <p:nvSpPr>
          <p:cNvPr id="559159" name="Rectangle 55"/>
          <p:cNvSpPr>
            <a:spLocks noChangeArrowheads="1"/>
          </p:cNvSpPr>
          <p:nvPr/>
        </p:nvSpPr>
        <p:spPr bwMode="auto">
          <a:xfrm>
            <a:off x="7164388" y="4005263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5</a:t>
            </a:r>
          </a:p>
        </p:txBody>
      </p:sp>
      <p:sp>
        <p:nvSpPr>
          <p:cNvPr id="559163" name="Rectangle 59"/>
          <p:cNvSpPr>
            <a:spLocks noChangeArrowheads="1"/>
          </p:cNvSpPr>
          <p:nvPr/>
        </p:nvSpPr>
        <p:spPr bwMode="auto">
          <a:xfrm>
            <a:off x="5267325" y="5224463"/>
            <a:ext cx="960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s16-21</a:t>
            </a:r>
          </a:p>
        </p:txBody>
      </p:sp>
      <p:sp>
        <p:nvSpPr>
          <p:cNvPr id="559164" name="Rectangle 60"/>
          <p:cNvSpPr>
            <a:spLocks noChangeArrowheads="1"/>
          </p:cNvSpPr>
          <p:nvPr/>
        </p:nvSpPr>
        <p:spPr bwMode="auto">
          <a:xfrm>
            <a:off x="3082925" y="5224463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r2</a:t>
            </a:r>
          </a:p>
        </p:txBody>
      </p:sp>
      <p:sp>
        <p:nvSpPr>
          <p:cNvPr id="559177" name="Rectangle 73"/>
          <p:cNvSpPr>
            <a:spLocks noChangeArrowheads="1"/>
          </p:cNvSpPr>
          <p:nvPr/>
        </p:nvSpPr>
        <p:spPr bwMode="auto">
          <a:xfrm>
            <a:off x="3057525" y="634682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r1</a:t>
            </a:r>
          </a:p>
        </p:txBody>
      </p:sp>
      <p:sp>
        <p:nvSpPr>
          <p:cNvPr id="559180" name="Rectangle 76"/>
          <p:cNvSpPr>
            <a:spLocks noChangeArrowheads="1"/>
          </p:cNvSpPr>
          <p:nvPr/>
        </p:nvSpPr>
        <p:spPr bwMode="auto">
          <a:xfrm>
            <a:off x="5076825" y="5770563"/>
            <a:ext cx="1327150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kumimoji="0" lang="en-US" altLang="zh-CN" sz="2000" i="1">
                <a:sym typeface="Symbol" panose="05050102010706020507" pitchFamily="18" charset="2"/>
              </a:rPr>
              <a:t>s20-23-25</a:t>
            </a:r>
            <a:endParaRPr lang="en-US" altLang="zh-CN" sz="2000" i="1">
              <a:sym typeface="Symbol" panose="05050102010706020507" pitchFamily="18" charset="2"/>
            </a:endParaRPr>
          </a:p>
        </p:txBody>
      </p:sp>
      <p:sp>
        <p:nvSpPr>
          <p:cNvPr id="559181" name="Rectangle 77"/>
          <p:cNvSpPr>
            <a:spLocks noChangeArrowheads="1"/>
          </p:cNvSpPr>
          <p:nvPr/>
        </p:nvSpPr>
        <p:spPr bwMode="auto">
          <a:xfrm>
            <a:off x="3082925" y="5770563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r3</a:t>
            </a:r>
          </a:p>
        </p:txBody>
      </p:sp>
      <p:sp>
        <p:nvSpPr>
          <p:cNvPr id="559182" name="Rectangle 78"/>
          <p:cNvSpPr>
            <a:spLocks noChangeArrowheads="1"/>
          </p:cNvSpPr>
          <p:nvPr/>
        </p:nvSpPr>
        <p:spPr bwMode="auto">
          <a:xfrm>
            <a:off x="468313" y="5734050"/>
            <a:ext cx="1200150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11-22-24</a:t>
            </a:r>
          </a:p>
        </p:txBody>
      </p:sp>
      <p:sp>
        <p:nvSpPr>
          <p:cNvPr id="559183" name="Rectangle 79"/>
          <p:cNvSpPr>
            <a:spLocks noChangeArrowheads="1"/>
          </p:cNvSpPr>
          <p:nvPr/>
        </p:nvSpPr>
        <p:spPr bwMode="auto">
          <a:xfrm>
            <a:off x="8316913" y="3103563"/>
            <a:ext cx="692150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2-12</a:t>
            </a:r>
          </a:p>
        </p:txBody>
      </p:sp>
      <p:sp>
        <p:nvSpPr>
          <p:cNvPr id="559184" name="Rectangle 80"/>
          <p:cNvSpPr>
            <a:spLocks noChangeArrowheads="1"/>
          </p:cNvSpPr>
          <p:nvPr/>
        </p:nvSpPr>
        <p:spPr bwMode="auto">
          <a:xfrm>
            <a:off x="5508625" y="371633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r2</a:t>
            </a:r>
          </a:p>
        </p:txBody>
      </p:sp>
      <p:sp>
        <p:nvSpPr>
          <p:cNvPr id="559185" name="Rectangle 81"/>
          <p:cNvSpPr>
            <a:spLocks noChangeArrowheads="1"/>
          </p:cNvSpPr>
          <p:nvPr/>
        </p:nvSpPr>
        <p:spPr bwMode="auto">
          <a:xfrm>
            <a:off x="3082925" y="371633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r2</a:t>
            </a:r>
          </a:p>
        </p:txBody>
      </p:sp>
      <p:sp>
        <p:nvSpPr>
          <p:cNvPr id="559186" name="Rectangle 82"/>
          <p:cNvSpPr>
            <a:spLocks noChangeArrowheads="1"/>
          </p:cNvSpPr>
          <p:nvPr/>
        </p:nvSpPr>
        <p:spPr bwMode="auto">
          <a:xfrm>
            <a:off x="7380288" y="4005263"/>
            <a:ext cx="1058862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6-14-17</a:t>
            </a:r>
          </a:p>
        </p:txBody>
      </p:sp>
      <p:sp>
        <p:nvSpPr>
          <p:cNvPr id="559187" name="Rectangle 83"/>
          <p:cNvSpPr>
            <a:spLocks noChangeArrowheads="1"/>
          </p:cNvSpPr>
          <p:nvPr/>
        </p:nvSpPr>
        <p:spPr bwMode="auto">
          <a:xfrm>
            <a:off x="8343900" y="4005263"/>
            <a:ext cx="692150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7-15</a:t>
            </a:r>
          </a:p>
        </p:txBody>
      </p:sp>
      <p:sp>
        <p:nvSpPr>
          <p:cNvPr id="559188" name="Rectangle 84"/>
          <p:cNvSpPr>
            <a:spLocks noChangeArrowheads="1"/>
          </p:cNvSpPr>
          <p:nvPr/>
        </p:nvSpPr>
        <p:spPr bwMode="auto">
          <a:xfrm>
            <a:off x="5530850" y="4330700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r6</a:t>
            </a:r>
          </a:p>
        </p:txBody>
      </p:sp>
      <p:sp>
        <p:nvSpPr>
          <p:cNvPr id="559189" name="Rectangle 85"/>
          <p:cNvSpPr>
            <a:spLocks noChangeArrowheads="1"/>
          </p:cNvSpPr>
          <p:nvPr/>
        </p:nvSpPr>
        <p:spPr bwMode="auto">
          <a:xfrm>
            <a:off x="3082925" y="4330700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r6</a:t>
            </a:r>
          </a:p>
        </p:txBody>
      </p:sp>
      <p:sp>
        <p:nvSpPr>
          <p:cNvPr id="559191" name="Rectangle 87"/>
          <p:cNvSpPr>
            <a:spLocks noChangeArrowheads="1"/>
          </p:cNvSpPr>
          <p:nvPr/>
        </p:nvSpPr>
        <p:spPr bwMode="auto">
          <a:xfrm>
            <a:off x="1733550" y="4005263"/>
            <a:ext cx="677863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s4-9</a:t>
            </a:r>
          </a:p>
        </p:txBody>
      </p:sp>
      <p:sp>
        <p:nvSpPr>
          <p:cNvPr id="559192" name="Rectangle 88"/>
          <p:cNvSpPr>
            <a:spLocks noChangeArrowheads="1"/>
          </p:cNvSpPr>
          <p:nvPr/>
        </p:nvSpPr>
        <p:spPr bwMode="auto">
          <a:xfrm>
            <a:off x="4067175" y="4005263"/>
            <a:ext cx="1044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s3-8-13</a:t>
            </a:r>
          </a:p>
        </p:txBody>
      </p:sp>
      <p:sp>
        <p:nvSpPr>
          <p:cNvPr id="559193" name="Rectangle 89"/>
          <p:cNvSpPr>
            <a:spLocks noChangeArrowheads="1"/>
          </p:cNvSpPr>
          <p:nvPr/>
        </p:nvSpPr>
        <p:spPr bwMode="auto">
          <a:xfrm>
            <a:off x="4103688" y="5480050"/>
            <a:ext cx="1044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s3-8-13</a:t>
            </a:r>
          </a:p>
        </p:txBody>
      </p:sp>
      <p:sp>
        <p:nvSpPr>
          <p:cNvPr id="559194" name="Rectangle 90"/>
          <p:cNvSpPr>
            <a:spLocks noChangeArrowheads="1"/>
          </p:cNvSpPr>
          <p:nvPr/>
        </p:nvSpPr>
        <p:spPr bwMode="auto">
          <a:xfrm>
            <a:off x="1735138" y="5480050"/>
            <a:ext cx="677862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s4-9</a:t>
            </a:r>
          </a:p>
        </p:txBody>
      </p:sp>
      <p:sp>
        <p:nvSpPr>
          <p:cNvPr id="559195" name="Rectangle 91"/>
          <p:cNvSpPr>
            <a:spLocks noChangeArrowheads="1"/>
          </p:cNvSpPr>
          <p:nvPr/>
        </p:nvSpPr>
        <p:spPr bwMode="auto">
          <a:xfrm>
            <a:off x="8316913" y="5445125"/>
            <a:ext cx="692150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2-12</a:t>
            </a:r>
          </a:p>
        </p:txBody>
      </p:sp>
      <p:sp>
        <p:nvSpPr>
          <p:cNvPr id="559196" name="Rectangle 92"/>
          <p:cNvSpPr>
            <a:spLocks noChangeArrowheads="1"/>
          </p:cNvSpPr>
          <p:nvPr/>
        </p:nvSpPr>
        <p:spPr bwMode="auto">
          <a:xfrm>
            <a:off x="7092950" y="5445125"/>
            <a:ext cx="1200150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11-22-24</a:t>
            </a:r>
          </a:p>
        </p:txBody>
      </p:sp>
      <p:sp>
        <p:nvSpPr>
          <p:cNvPr id="559197" name="Rectangle 93"/>
          <p:cNvSpPr>
            <a:spLocks noChangeArrowheads="1"/>
          </p:cNvSpPr>
          <p:nvPr/>
        </p:nvSpPr>
        <p:spPr bwMode="auto">
          <a:xfrm>
            <a:off x="3059113" y="609282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r5</a:t>
            </a:r>
          </a:p>
        </p:txBody>
      </p:sp>
      <p:sp>
        <p:nvSpPr>
          <p:cNvPr id="559198" name="Rectangle 94"/>
          <p:cNvSpPr>
            <a:spLocks noChangeArrowheads="1"/>
          </p:cNvSpPr>
          <p:nvPr/>
        </p:nvSpPr>
        <p:spPr bwMode="auto">
          <a:xfrm>
            <a:off x="5508625" y="609282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r5</a:t>
            </a:r>
          </a:p>
        </p:txBody>
      </p:sp>
      <p:sp>
        <p:nvSpPr>
          <p:cNvPr id="559199" name="Rectangle 95"/>
          <p:cNvSpPr>
            <a:spLocks noChangeArrowheads="1"/>
          </p:cNvSpPr>
          <p:nvPr/>
        </p:nvSpPr>
        <p:spPr bwMode="auto">
          <a:xfrm>
            <a:off x="6610350" y="609282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r5</a:t>
            </a:r>
          </a:p>
        </p:txBody>
      </p:sp>
      <p:sp>
        <p:nvSpPr>
          <p:cNvPr id="559200" name="Rectangle 96"/>
          <p:cNvSpPr>
            <a:spLocks noChangeArrowheads="1"/>
          </p:cNvSpPr>
          <p:nvPr/>
        </p:nvSpPr>
        <p:spPr bwMode="auto">
          <a:xfrm>
            <a:off x="5530850" y="634523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r1</a:t>
            </a:r>
          </a:p>
        </p:txBody>
      </p:sp>
      <p:sp>
        <p:nvSpPr>
          <p:cNvPr id="559201" name="Rectangle 97"/>
          <p:cNvSpPr>
            <a:spLocks noChangeArrowheads="1"/>
          </p:cNvSpPr>
          <p:nvPr/>
        </p:nvSpPr>
        <p:spPr bwMode="auto">
          <a:xfrm>
            <a:off x="6610350" y="634523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r1</a:t>
            </a:r>
          </a:p>
        </p:txBody>
      </p:sp>
      <p:sp>
        <p:nvSpPr>
          <p:cNvPr id="559202" name="AutoShape 9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9203" name="AutoShape 9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9204" name="AutoShape 10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9205" name="AutoShape 10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132" name="AutoShape 4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0133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0134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0135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0136" name="Rectangle 8"/>
          <p:cNvSpPr>
            <a:spLocks noChangeArrowheads="1"/>
          </p:cNvSpPr>
          <p:nvPr/>
        </p:nvSpPr>
        <p:spPr bwMode="auto">
          <a:xfrm>
            <a:off x="35496" y="188913"/>
            <a:ext cx="38862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LALR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（</a:t>
            </a: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1</a:t>
            </a:r>
            <a:r>
              <a:rPr lang="zh-CN" altLang="en-US" sz="4000" dirty="0">
                <a:solidFill>
                  <a:srgbClr val="800080"/>
                </a:solidFill>
                <a:ea typeface="华文行楷" pitchFamily="2" charset="-122"/>
              </a:rPr>
              <a:t>）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</a:t>
            </a:r>
          </a:p>
        </p:txBody>
      </p:sp>
      <p:sp>
        <p:nvSpPr>
          <p:cNvPr id="560137" name="Text Box 9"/>
          <p:cNvSpPr txBox="1">
            <a:spLocks noChangeArrowheads="1"/>
          </p:cNvSpPr>
          <p:nvPr/>
        </p:nvSpPr>
        <p:spPr bwMode="auto">
          <a:xfrm>
            <a:off x="468313" y="1101725"/>
            <a:ext cx="8675687" cy="22558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 dirty="0">
                <a:solidFill>
                  <a:srgbClr val="800080"/>
                </a:solidFill>
              </a:rPr>
              <a:t>  </a:t>
            </a:r>
            <a:r>
              <a:rPr lang="zh-CN" altLang="en-US" sz="3200" b="1" dirty="0">
                <a:solidFill>
                  <a:srgbClr val="800080"/>
                </a:solidFill>
              </a:rPr>
              <a:t>与</a:t>
            </a:r>
            <a:r>
              <a:rPr kumimoji="0" lang="en-US" altLang="zh-CN" sz="3200" dirty="0">
                <a:solidFill>
                  <a:srgbClr val="800080"/>
                </a:solidFill>
              </a:rPr>
              <a:t>SLR</a:t>
            </a:r>
            <a:r>
              <a:rPr kumimoji="0" lang="zh-CN" altLang="en-US" sz="3200" dirty="0">
                <a:solidFill>
                  <a:srgbClr val="800080"/>
                </a:solidFill>
              </a:rPr>
              <a:t>（</a:t>
            </a:r>
            <a:r>
              <a:rPr kumimoji="0" lang="en-US" altLang="zh-CN" sz="3200" dirty="0">
                <a:solidFill>
                  <a:srgbClr val="800080"/>
                </a:solidFill>
              </a:rPr>
              <a:t>1</a:t>
            </a:r>
            <a:r>
              <a:rPr kumimoji="0" lang="zh-CN" altLang="en-US" sz="3200" dirty="0">
                <a:solidFill>
                  <a:srgbClr val="800080"/>
                </a:solidFill>
              </a:rPr>
              <a:t>）</a:t>
            </a:r>
            <a:r>
              <a:rPr kumimoji="0" lang="zh-CN" altLang="en-US" sz="3200" b="1" dirty="0">
                <a:solidFill>
                  <a:srgbClr val="800080"/>
                </a:solidFill>
              </a:rPr>
              <a:t>分析相比</a:t>
            </a:r>
            <a:endParaRPr lang="zh-CN" altLang="en-US" sz="3200" b="1" dirty="0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 dirty="0">
              <a:solidFill>
                <a:srgbClr val="800080"/>
              </a:solidFill>
            </a:endParaRPr>
          </a:p>
          <a:p>
            <a:pPr lvl="1">
              <a:buClrTx/>
              <a:buFont typeface="Symbol" panose="05050102010706020507" pitchFamily="18" charset="2"/>
              <a:buChar char="-"/>
            </a:pPr>
            <a:r>
              <a:rPr lang="zh-CN" altLang="en-US" sz="2800" b="1" dirty="0">
                <a:solidFill>
                  <a:srgbClr val="800080"/>
                </a:solidFill>
              </a:rPr>
              <a:t>  </a:t>
            </a:r>
            <a:r>
              <a:rPr kumimoji="0" lang="en-US" altLang="zh-CN" sz="2800" dirty="0">
                <a:solidFill>
                  <a:srgbClr val="800080"/>
                </a:solidFill>
              </a:rPr>
              <a:t>LALR</a:t>
            </a:r>
            <a:r>
              <a:rPr kumimoji="0" lang="zh-CN" altLang="en-US" sz="2800" dirty="0">
                <a:solidFill>
                  <a:srgbClr val="800080"/>
                </a:solidFill>
              </a:rPr>
              <a:t>（</a:t>
            </a:r>
            <a:r>
              <a:rPr kumimoji="0" lang="en-US" altLang="zh-CN" sz="2800" dirty="0">
                <a:solidFill>
                  <a:srgbClr val="800080"/>
                </a:solidFill>
              </a:rPr>
              <a:t>1</a:t>
            </a:r>
            <a:r>
              <a:rPr kumimoji="0" lang="zh-CN" altLang="en-US" sz="2800" dirty="0">
                <a:solidFill>
                  <a:srgbClr val="800080"/>
                </a:solidFill>
              </a:rPr>
              <a:t>）</a:t>
            </a:r>
            <a:r>
              <a:rPr kumimoji="0" lang="en-US" altLang="zh-CN" sz="2800" dirty="0">
                <a:solidFill>
                  <a:srgbClr val="800080"/>
                </a:solidFill>
              </a:rPr>
              <a:t>FSM</a:t>
            </a:r>
            <a:r>
              <a:rPr kumimoji="0" lang="en-US" altLang="zh-CN" sz="2800" dirty="0"/>
              <a:t> </a:t>
            </a:r>
            <a:r>
              <a:rPr kumimoji="0" lang="zh-CN" altLang="en-US" sz="2800" b="1" dirty="0">
                <a:solidFill>
                  <a:srgbClr val="800080"/>
                </a:solidFill>
              </a:rPr>
              <a:t>的状态数与 </a:t>
            </a:r>
            <a:r>
              <a:rPr kumimoji="0" lang="en-US" altLang="zh-CN" sz="2800" dirty="0">
                <a:solidFill>
                  <a:srgbClr val="800080"/>
                </a:solidFill>
              </a:rPr>
              <a:t>LR</a:t>
            </a:r>
            <a:r>
              <a:rPr kumimoji="0" lang="zh-CN" altLang="en-US" sz="2800" dirty="0">
                <a:solidFill>
                  <a:srgbClr val="800080"/>
                </a:solidFill>
              </a:rPr>
              <a:t>（</a:t>
            </a:r>
            <a:r>
              <a:rPr kumimoji="0" lang="en-US" altLang="zh-CN" sz="2800" dirty="0">
                <a:solidFill>
                  <a:srgbClr val="800080"/>
                </a:solidFill>
              </a:rPr>
              <a:t>0</a:t>
            </a:r>
            <a:r>
              <a:rPr kumimoji="0" lang="zh-CN" altLang="en-US" sz="2800" dirty="0">
                <a:solidFill>
                  <a:srgbClr val="800080"/>
                </a:solidFill>
              </a:rPr>
              <a:t>）</a:t>
            </a:r>
            <a:r>
              <a:rPr kumimoji="0" lang="en-US" altLang="zh-CN" sz="2800" dirty="0">
                <a:solidFill>
                  <a:srgbClr val="800080"/>
                </a:solidFill>
              </a:rPr>
              <a:t>FSM</a:t>
            </a:r>
            <a:r>
              <a:rPr kumimoji="0" lang="en-US" altLang="zh-CN" sz="2800" b="1" dirty="0">
                <a:solidFill>
                  <a:srgbClr val="800080"/>
                </a:solidFill>
              </a:rPr>
              <a:t> </a:t>
            </a:r>
            <a:r>
              <a:rPr kumimoji="0" lang="zh-CN" altLang="en-US" sz="2800" b="1" dirty="0">
                <a:solidFill>
                  <a:srgbClr val="800080"/>
                </a:solidFill>
              </a:rPr>
              <a:t>相同</a:t>
            </a:r>
          </a:p>
          <a:p>
            <a:pPr lvl="1">
              <a:buClrTx/>
              <a:buFont typeface="Symbol" panose="05050102010706020507" pitchFamily="18" charset="2"/>
              <a:buNone/>
            </a:pPr>
            <a:endParaRPr kumimoji="0" lang="zh-CN" altLang="en-US" sz="1000" b="1" dirty="0"/>
          </a:p>
          <a:p>
            <a:pPr lvl="1">
              <a:buFont typeface="Symbol" panose="05050102010706020507" pitchFamily="18" charset="2"/>
              <a:buChar char="-"/>
            </a:pPr>
            <a:r>
              <a:rPr kumimoji="0" lang="zh-CN" altLang="en-US" sz="2800" b="1" dirty="0"/>
              <a:t>  </a:t>
            </a:r>
            <a:r>
              <a:rPr kumimoji="0" lang="en-US" altLang="zh-CN" sz="2800" dirty="0">
                <a:solidFill>
                  <a:srgbClr val="800080"/>
                </a:solidFill>
              </a:rPr>
              <a:t>LALR</a:t>
            </a:r>
            <a:r>
              <a:rPr kumimoji="0" lang="zh-CN" altLang="en-US" sz="2800" dirty="0">
                <a:solidFill>
                  <a:srgbClr val="800080"/>
                </a:solidFill>
              </a:rPr>
              <a:t>（</a:t>
            </a:r>
            <a:r>
              <a:rPr kumimoji="0" lang="en-US" altLang="zh-CN" sz="2800" dirty="0">
                <a:solidFill>
                  <a:srgbClr val="800080"/>
                </a:solidFill>
              </a:rPr>
              <a:t>1</a:t>
            </a:r>
            <a:r>
              <a:rPr kumimoji="0" lang="zh-CN" altLang="en-US" sz="2800" dirty="0">
                <a:solidFill>
                  <a:srgbClr val="800080"/>
                </a:solidFill>
              </a:rPr>
              <a:t>）</a:t>
            </a:r>
            <a:r>
              <a:rPr kumimoji="0" lang="zh-CN" altLang="en-US" sz="2800" b="1" dirty="0">
                <a:solidFill>
                  <a:srgbClr val="800080"/>
                </a:solidFill>
              </a:rPr>
              <a:t>分析强于</a:t>
            </a:r>
            <a:r>
              <a:rPr kumimoji="0" lang="en-US" altLang="zh-CN" sz="2800" dirty="0">
                <a:solidFill>
                  <a:srgbClr val="800080"/>
                </a:solidFill>
              </a:rPr>
              <a:t>SLR</a:t>
            </a:r>
            <a:r>
              <a:rPr kumimoji="0" lang="zh-CN" altLang="en-US" sz="2800" dirty="0">
                <a:solidFill>
                  <a:srgbClr val="800080"/>
                </a:solidFill>
              </a:rPr>
              <a:t>（</a:t>
            </a:r>
            <a:r>
              <a:rPr kumimoji="0" lang="en-US" altLang="zh-CN" sz="2800" dirty="0">
                <a:solidFill>
                  <a:srgbClr val="800080"/>
                </a:solidFill>
              </a:rPr>
              <a:t>1</a:t>
            </a:r>
            <a:r>
              <a:rPr kumimoji="0" lang="zh-CN" altLang="en-US" sz="2800" dirty="0">
                <a:solidFill>
                  <a:srgbClr val="800080"/>
                </a:solidFill>
              </a:rPr>
              <a:t>）</a:t>
            </a:r>
            <a:r>
              <a:rPr kumimoji="0" lang="zh-CN" altLang="en-US" sz="2800" b="1" dirty="0">
                <a:solidFill>
                  <a:srgbClr val="800080"/>
                </a:solidFill>
              </a:rPr>
              <a:t>分析</a:t>
            </a:r>
          </a:p>
          <a:p>
            <a:pPr lvl="1">
              <a:buFont typeface="Symbol" panose="05050102010706020507" pitchFamily="18" charset="2"/>
              <a:buNone/>
            </a:pPr>
            <a:endParaRPr kumimoji="0" lang="zh-CN" altLang="en-US" sz="1000" b="1" dirty="0">
              <a:solidFill>
                <a:srgbClr val="800080"/>
              </a:solidFill>
            </a:endParaRPr>
          </a:p>
          <a:p>
            <a:pPr lvl="1">
              <a:buFont typeface="Symbol" panose="05050102010706020507" pitchFamily="18" charset="2"/>
              <a:buNone/>
            </a:pPr>
            <a:r>
              <a:rPr kumimoji="0" lang="zh-CN" altLang="en-US" b="1" dirty="0"/>
              <a:t>    比较如下 </a:t>
            </a:r>
            <a:r>
              <a:rPr kumimoji="0" lang="en-US" altLang="zh-CN" dirty="0"/>
              <a:t>LR</a:t>
            </a:r>
            <a:r>
              <a:rPr kumimoji="0" lang="zh-CN" altLang="en-US" dirty="0"/>
              <a:t>（</a:t>
            </a:r>
            <a:r>
              <a:rPr kumimoji="0" lang="en-US" altLang="zh-CN" dirty="0"/>
              <a:t>0</a:t>
            </a:r>
            <a:r>
              <a:rPr kumimoji="0" lang="zh-CN" altLang="en-US" dirty="0"/>
              <a:t>）</a:t>
            </a:r>
            <a:r>
              <a:rPr kumimoji="0" lang="en-US" altLang="zh-CN" dirty="0"/>
              <a:t>FSM </a:t>
            </a:r>
            <a:r>
              <a:rPr kumimoji="0" lang="zh-CN" altLang="en-US" b="1" dirty="0"/>
              <a:t>和 </a:t>
            </a:r>
            <a:r>
              <a:rPr kumimoji="0" lang="en-US" altLang="zh-CN" dirty="0"/>
              <a:t>LALR</a:t>
            </a:r>
            <a:r>
              <a:rPr kumimoji="0" lang="zh-CN" altLang="en-US" dirty="0"/>
              <a:t>（</a:t>
            </a:r>
            <a:r>
              <a:rPr kumimoji="0" lang="en-US" altLang="zh-CN" dirty="0"/>
              <a:t>1</a:t>
            </a:r>
            <a:r>
              <a:rPr kumimoji="0" lang="zh-CN" altLang="en-US" dirty="0"/>
              <a:t>）</a:t>
            </a:r>
            <a:r>
              <a:rPr kumimoji="0" lang="en-US" altLang="zh-CN" dirty="0"/>
              <a:t>FSM </a:t>
            </a:r>
            <a:r>
              <a:rPr kumimoji="0" lang="zh-CN" altLang="en-US" b="1" dirty="0"/>
              <a:t>的片断</a:t>
            </a:r>
          </a:p>
        </p:txBody>
      </p:sp>
      <p:sp>
        <p:nvSpPr>
          <p:cNvPr id="560138" name="Text Box 10"/>
          <p:cNvSpPr txBox="1">
            <a:spLocks noChangeArrowheads="1"/>
          </p:cNvSpPr>
          <p:nvPr/>
        </p:nvSpPr>
        <p:spPr bwMode="auto">
          <a:xfrm>
            <a:off x="681038" y="3579813"/>
            <a:ext cx="1512887" cy="1474787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kumimoji="0"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.E</a:t>
            </a:r>
            <a:endParaRPr kumimoji="0" lang="en-US" altLang="zh-CN" sz="1800" b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E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.(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L,E)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    </a:t>
            </a:r>
            <a:r>
              <a:rPr lang="en-US" altLang="zh-CN" sz="1800" b="1" i="1">
                <a:sym typeface="Symbol" panose="05050102010706020507" pitchFamily="18" charset="2"/>
              </a:rPr>
              <a:t>E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.F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F </a:t>
            </a:r>
            <a:r>
              <a:rPr lang="en-US" altLang="zh-CN" sz="1800" b="1">
                <a:ea typeface="华文行楷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 .(F)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F </a:t>
            </a:r>
            <a:r>
              <a:rPr lang="en-US" altLang="zh-CN" sz="1800" b="1"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560139" name="Line 11"/>
          <p:cNvSpPr>
            <a:spLocks noChangeShapeType="1"/>
          </p:cNvSpPr>
          <p:nvPr/>
        </p:nvSpPr>
        <p:spPr bwMode="auto">
          <a:xfrm>
            <a:off x="2193925" y="4368800"/>
            <a:ext cx="647700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0140" name="Text Box 12"/>
          <p:cNvSpPr txBox="1">
            <a:spLocks noChangeArrowheads="1"/>
          </p:cNvSpPr>
          <p:nvPr/>
        </p:nvSpPr>
        <p:spPr bwMode="auto">
          <a:xfrm>
            <a:off x="2841625" y="3563938"/>
            <a:ext cx="1655763" cy="2298700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(.L,E)</a:t>
            </a:r>
            <a:endParaRPr kumimoji="0" lang="en-US" altLang="zh-CN" sz="1800" b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(.F)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.L,E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.E</a:t>
            </a:r>
            <a:endParaRPr lang="en-US" altLang="zh-CN" sz="1800" b="1" i="1">
              <a:ea typeface="华文行楷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.(F)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.(L,E)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.F</a:t>
            </a:r>
          </a:p>
        </p:txBody>
      </p:sp>
      <p:sp>
        <p:nvSpPr>
          <p:cNvPr id="560141" name="Text Box 13"/>
          <p:cNvSpPr txBox="1">
            <a:spLocks noChangeArrowheads="1"/>
          </p:cNvSpPr>
          <p:nvPr/>
        </p:nvSpPr>
        <p:spPr bwMode="auto">
          <a:xfrm>
            <a:off x="900113" y="6008688"/>
            <a:ext cx="1511300" cy="650875"/>
          </a:xfrm>
          <a:prstGeom prst="rect">
            <a:avLst/>
          </a:prstGeom>
          <a:noFill/>
          <a:ln w="9525">
            <a:solidFill>
              <a:srgbClr val="8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7</a:t>
            </a:r>
            <a:r>
              <a:rPr kumimoji="0" lang="en-US" altLang="zh-CN" sz="1800" b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(F.)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F.</a:t>
            </a:r>
          </a:p>
        </p:txBody>
      </p:sp>
      <p:sp>
        <p:nvSpPr>
          <p:cNvPr id="560142" name="Rectangle 14"/>
          <p:cNvSpPr>
            <a:spLocks noChangeArrowheads="1"/>
          </p:cNvSpPr>
          <p:nvPr/>
        </p:nvSpPr>
        <p:spPr bwMode="auto">
          <a:xfrm>
            <a:off x="2409825" y="4002088"/>
            <a:ext cx="287338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(</a:t>
            </a:r>
          </a:p>
        </p:txBody>
      </p:sp>
      <p:sp>
        <p:nvSpPr>
          <p:cNvPr id="560143" name="Line 15"/>
          <p:cNvSpPr>
            <a:spLocks noChangeShapeType="1"/>
          </p:cNvSpPr>
          <p:nvPr/>
        </p:nvSpPr>
        <p:spPr bwMode="auto">
          <a:xfrm flipV="1">
            <a:off x="1619250" y="5076825"/>
            <a:ext cx="1223963" cy="935038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head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0144" name="Rectangle 16"/>
          <p:cNvSpPr>
            <a:spLocks noChangeArrowheads="1"/>
          </p:cNvSpPr>
          <p:nvPr/>
        </p:nvSpPr>
        <p:spPr bwMode="auto">
          <a:xfrm>
            <a:off x="1979613" y="5292725"/>
            <a:ext cx="288925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F</a:t>
            </a:r>
          </a:p>
        </p:txBody>
      </p:sp>
      <p:sp>
        <p:nvSpPr>
          <p:cNvPr id="560145" name="Text Box 17"/>
          <p:cNvSpPr txBox="1">
            <a:spLocks noChangeArrowheads="1"/>
          </p:cNvSpPr>
          <p:nvPr/>
        </p:nvSpPr>
        <p:spPr bwMode="auto">
          <a:xfrm>
            <a:off x="4716463" y="3563938"/>
            <a:ext cx="1873250" cy="1474787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kumimoji="0"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.E 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#</a:t>
            </a:r>
            <a:endParaRPr kumimoji="0" lang="en-US" altLang="zh-CN" sz="1800" b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E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.(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L,E) </a:t>
            </a:r>
            <a:r>
              <a:rPr lang="en-US" altLang="zh-CN" sz="1800" b="1" i="1">
                <a:solidFill>
                  <a:srgbClr val="993366"/>
                </a:solidFill>
                <a:ea typeface="华文行楷" pitchFamily="2" charset="-122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 #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    </a:t>
            </a:r>
            <a:r>
              <a:rPr lang="en-US" altLang="zh-CN" sz="1800" b="1" i="1">
                <a:sym typeface="Symbol" panose="05050102010706020507" pitchFamily="18" charset="2"/>
              </a:rPr>
              <a:t>E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.F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#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F </a:t>
            </a:r>
            <a:r>
              <a:rPr lang="en-US" altLang="zh-CN" sz="1800" b="1">
                <a:ea typeface="华文行楷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 .(F)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#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F </a:t>
            </a:r>
            <a:r>
              <a:rPr lang="en-US" altLang="zh-CN" sz="1800" b="1"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sym typeface="Symbol" panose="05050102010706020507" pitchFamily="18" charset="2"/>
              </a:rPr>
              <a:t>d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#</a:t>
            </a:r>
          </a:p>
        </p:txBody>
      </p:sp>
      <p:sp>
        <p:nvSpPr>
          <p:cNvPr id="560146" name="Line 18"/>
          <p:cNvSpPr>
            <a:spLocks noChangeShapeType="1"/>
          </p:cNvSpPr>
          <p:nvPr/>
        </p:nvSpPr>
        <p:spPr bwMode="auto">
          <a:xfrm>
            <a:off x="6588125" y="3779838"/>
            <a:ext cx="1296988" cy="360362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0147" name="Rectangle 19"/>
          <p:cNvSpPr>
            <a:spLocks noChangeArrowheads="1"/>
          </p:cNvSpPr>
          <p:nvPr/>
        </p:nvSpPr>
        <p:spPr bwMode="auto">
          <a:xfrm>
            <a:off x="7019925" y="3557588"/>
            <a:ext cx="287338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(</a:t>
            </a:r>
          </a:p>
        </p:txBody>
      </p:sp>
      <p:sp>
        <p:nvSpPr>
          <p:cNvPr id="560148" name="Text Box 20"/>
          <p:cNvSpPr txBox="1">
            <a:spLocks noChangeArrowheads="1"/>
          </p:cNvSpPr>
          <p:nvPr/>
        </p:nvSpPr>
        <p:spPr bwMode="auto">
          <a:xfrm>
            <a:off x="6805613" y="4144963"/>
            <a:ext cx="2159000" cy="2298700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(.L,E)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#</a:t>
            </a:r>
            <a:endParaRPr kumimoji="0" lang="en-US" altLang="zh-CN" sz="1800" b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(.F)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#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.L,E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L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.E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endParaRPr lang="en-US" altLang="zh-CN" sz="1800" b="1" i="1">
              <a:ea typeface="华文行楷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.(F) </a:t>
            </a:r>
            <a:r>
              <a:rPr lang="en-US" altLang="zh-CN" sz="1800" b="1" i="1">
                <a:solidFill>
                  <a:srgbClr val="993366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d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1800" b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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.(L,E)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.F </a:t>
            </a:r>
            <a:r>
              <a:rPr lang="en-US" altLang="zh-CN" sz="1800" b="1" i="1">
                <a:solidFill>
                  <a:srgbClr val="993366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</a:p>
        </p:txBody>
      </p:sp>
      <p:sp>
        <p:nvSpPr>
          <p:cNvPr id="560149" name="Line 21"/>
          <p:cNvSpPr>
            <a:spLocks noChangeShapeType="1"/>
          </p:cNvSpPr>
          <p:nvPr/>
        </p:nvSpPr>
        <p:spPr bwMode="auto">
          <a:xfrm flipV="1">
            <a:off x="6096000" y="5257800"/>
            <a:ext cx="685800" cy="76200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head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0150" name="Rectangle 22"/>
          <p:cNvSpPr>
            <a:spLocks noChangeArrowheads="1"/>
          </p:cNvSpPr>
          <p:nvPr/>
        </p:nvSpPr>
        <p:spPr bwMode="auto">
          <a:xfrm>
            <a:off x="6248400" y="5348288"/>
            <a:ext cx="288925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F</a:t>
            </a:r>
          </a:p>
        </p:txBody>
      </p:sp>
      <p:sp>
        <p:nvSpPr>
          <p:cNvPr id="560151" name="Text Box 23"/>
          <p:cNvSpPr txBox="1">
            <a:spLocks noChangeArrowheads="1"/>
          </p:cNvSpPr>
          <p:nvPr/>
        </p:nvSpPr>
        <p:spPr bwMode="auto">
          <a:xfrm>
            <a:off x="4643438" y="6018213"/>
            <a:ext cx="2016125" cy="650875"/>
          </a:xfrm>
          <a:prstGeom prst="rect">
            <a:avLst/>
          </a:prstGeom>
          <a:noFill/>
          <a:ln w="9525">
            <a:solidFill>
              <a:srgbClr val="8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(F.) </a:t>
            </a:r>
            <a:r>
              <a:rPr lang="en-US" altLang="zh-CN" sz="1800" b="1" i="1">
                <a:solidFill>
                  <a:srgbClr val="993366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sym typeface="Symbol" panose="05050102010706020507" pitchFamily="18" charset="2"/>
              </a:rPr>
              <a:t>,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 </a:t>
            </a:r>
            <a:r>
              <a:rPr lang="en-US" altLang="zh-CN" sz="1800" b="1" i="1">
                <a:sym typeface="Symbol" panose="05050102010706020507" pitchFamily="18" charset="2"/>
              </a:rPr>
              <a:t>)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r>
              <a:rPr lang="en-US" altLang="zh-CN" sz="1800" b="1">
                <a:solidFill>
                  <a:srgbClr val="993366"/>
                </a:solidFill>
                <a:sym typeface="Symbol" panose="05050102010706020507" pitchFamily="18" charset="2"/>
              </a:rPr>
              <a:t>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sym typeface="Symbol" panose="05050102010706020507" pitchFamily="18" charset="2"/>
              </a:rPr>
              <a:t>#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E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F. </a:t>
            </a:r>
            <a:r>
              <a:rPr lang="en-US" altLang="zh-CN" sz="1800" b="1" i="1">
                <a:solidFill>
                  <a:srgbClr val="993366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i="1">
                <a:sym typeface="Symbol" panose="05050102010706020507" pitchFamily="18" charset="2"/>
              </a:rPr>
              <a:t> ,</a:t>
            </a:r>
          </a:p>
        </p:txBody>
      </p:sp>
      <p:sp>
        <p:nvSpPr>
          <p:cNvPr id="560152" name="Rectangle 24"/>
          <p:cNvSpPr>
            <a:spLocks noChangeArrowheads="1"/>
          </p:cNvSpPr>
          <p:nvPr/>
        </p:nvSpPr>
        <p:spPr bwMode="auto">
          <a:xfrm>
            <a:off x="5027613" y="5651500"/>
            <a:ext cx="550862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kumimoji="0" lang="en-US" altLang="zh-CN" sz="1800" b="1">
                <a:solidFill>
                  <a:srgbClr val="800080"/>
                </a:solidFill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solidFill>
                  <a:srgbClr val="800080"/>
                </a:solidFill>
                <a:sym typeface="Symbol" panose="05050102010706020507" pitchFamily="18" charset="2"/>
              </a:rPr>
              <a:t>7-15</a:t>
            </a:r>
            <a:endParaRPr kumimoji="0" lang="en-US" altLang="zh-CN" sz="1800" b="1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180" name="Rectangle 4"/>
          <p:cNvSpPr>
            <a:spLocks noChangeArrowheads="1"/>
          </p:cNvSpPr>
          <p:nvPr/>
        </p:nvSpPr>
        <p:spPr bwMode="auto">
          <a:xfrm>
            <a:off x="35496" y="188913"/>
            <a:ext cx="5976938" cy="585787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zh-CN" altLang="en-US" sz="3600" b="1" dirty="0">
                <a:solidFill>
                  <a:srgbClr val="800080"/>
                </a:solidFill>
                <a:ea typeface="华文行楷" pitchFamily="2" charset="-122"/>
              </a:rPr>
              <a:t>二义文法在</a:t>
            </a:r>
            <a:r>
              <a:rPr lang="en-US" altLang="zh-CN" sz="3600" dirty="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en-US" altLang="zh-CN" sz="3600" b="1" dirty="0">
                <a:solidFill>
                  <a:srgbClr val="800080"/>
                </a:solidFill>
                <a:ea typeface="华文行楷" pitchFamily="2" charset="-122"/>
              </a:rPr>
              <a:t> </a:t>
            </a:r>
            <a:r>
              <a:rPr lang="zh-CN" altLang="en-US" sz="3600" b="1" dirty="0">
                <a:solidFill>
                  <a:srgbClr val="800080"/>
                </a:solidFill>
                <a:ea typeface="华文行楷" pitchFamily="2" charset="-122"/>
              </a:rPr>
              <a:t>分析中的应用</a:t>
            </a:r>
          </a:p>
        </p:txBody>
      </p:sp>
      <p:sp>
        <p:nvSpPr>
          <p:cNvPr id="562181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2182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2183" name="AutoShape 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2184" name="AutoShape 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2185" name="Text Box 9"/>
          <p:cNvSpPr txBox="1">
            <a:spLocks noChangeArrowheads="1"/>
          </p:cNvSpPr>
          <p:nvPr/>
        </p:nvSpPr>
        <p:spPr bwMode="auto">
          <a:xfrm>
            <a:off x="539750" y="1298575"/>
            <a:ext cx="8424863" cy="320087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kumimoji="0" lang="en-US" altLang="zh-CN" sz="3200" b="1" dirty="0">
                <a:solidFill>
                  <a:srgbClr val="800080"/>
                </a:solidFill>
              </a:rPr>
              <a:t> </a:t>
            </a:r>
            <a:r>
              <a:rPr kumimoji="0" lang="zh-CN" altLang="en-US" sz="3200" b="1" dirty="0">
                <a:solidFill>
                  <a:srgbClr val="800080"/>
                </a:solidFill>
              </a:rPr>
              <a:t>某些二义文法可以构造出高效的</a:t>
            </a:r>
            <a:r>
              <a:rPr lang="en-US" altLang="zh-CN" sz="3200" dirty="0">
                <a:solidFill>
                  <a:srgbClr val="800080"/>
                </a:solidFill>
              </a:rPr>
              <a:t>LR</a:t>
            </a:r>
            <a:r>
              <a:rPr lang="en-US" altLang="zh-CN" sz="3200" b="1" dirty="0">
                <a:solidFill>
                  <a:srgbClr val="800080"/>
                </a:solidFill>
              </a:rPr>
              <a:t> </a:t>
            </a:r>
            <a:r>
              <a:rPr lang="zh-CN" altLang="en-US" sz="3200" b="1" dirty="0">
                <a:solidFill>
                  <a:srgbClr val="800080"/>
                </a:solidFill>
              </a:rPr>
              <a:t>分析器</a:t>
            </a:r>
            <a:endParaRPr lang="zh-CN" altLang="en-US" sz="3200" b="1" dirty="0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endParaRPr lang="zh-CN" altLang="en-US" sz="1000" b="1" dirty="0">
              <a:solidFill>
                <a:srgbClr val="800080"/>
              </a:solidFill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zh-CN" altLang="en-US" sz="2800" b="1" dirty="0"/>
              <a:t>  </a:t>
            </a:r>
            <a:r>
              <a:rPr kumimoji="0" lang="zh-CN" altLang="en-US" sz="2800" b="1" dirty="0"/>
              <a:t>二义性文法不是</a:t>
            </a:r>
            <a:r>
              <a:rPr kumimoji="0" lang="en-US" altLang="zh-CN" sz="2800" dirty="0"/>
              <a:t>LR</a:t>
            </a:r>
            <a:r>
              <a:rPr kumimoji="0" lang="zh-CN" altLang="en-US" sz="2800" b="1" dirty="0"/>
              <a:t>文法，但是对某些二义性文</a:t>
            </a:r>
          </a:p>
          <a:p>
            <a:pPr lvl="1">
              <a:buFont typeface="Symbol" panose="05050102010706020507" pitchFamily="18" charset="2"/>
              <a:buNone/>
            </a:pPr>
            <a:r>
              <a:rPr kumimoji="0" lang="zh-CN" altLang="en-US" sz="2800" b="1" dirty="0"/>
              <a:t>    法， 人为地给出</a:t>
            </a:r>
            <a:r>
              <a:rPr kumimoji="0" lang="zh-CN" altLang="en-US" sz="2800" b="1" dirty="0">
                <a:solidFill>
                  <a:srgbClr val="800080"/>
                </a:solidFill>
              </a:rPr>
              <a:t>合理的限定规则</a:t>
            </a:r>
            <a:r>
              <a:rPr kumimoji="0" lang="zh-CN" altLang="en-US" sz="2800" b="1" dirty="0"/>
              <a:t>，可能构造出</a:t>
            </a:r>
          </a:p>
          <a:p>
            <a:pPr lvl="1">
              <a:buFont typeface="Symbol" panose="05050102010706020507" pitchFamily="18" charset="2"/>
              <a:buNone/>
            </a:pPr>
            <a:r>
              <a:rPr kumimoji="0" lang="zh-CN" altLang="en-US" sz="2800" b="1" dirty="0"/>
              <a:t>    高效的</a:t>
            </a:r>
            <a:r>
              <a:rPr kumimoji="0" lang="en-US" altLang="zh-CN" sz="2800" dirty="0"/>
              <a:t>LR</a:t>
            </a:r>
            <a:r>
              <a:rPr kumimoji="0" lang="zh-CN" altLang="en-US" sz="2800" b="1" dirty="0"/>
              <a:t>分析器</a:t>
            </a:r>
          </a:p>
          <a:p>
            <a:pPr lvl="1">
              <a:buFont typeface="Symbol" panose="05050102010706020507" pitchFamily="18" charset="2"/>
              <a:buNone/>
            </a:pPr>
            <a:endParaRPr kumimoji="0" lang="zh-CN" altLang="en-US" sz="1000" b="1" dirty="0">
              <a:solidFill>
                <a:schemeClr val="tx1"/>
              </a:solidFill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kumimoji="0" lang="zh-CN" altLang="en-US" sz="2800" b="1" dirty="0">
                <a:solidFill>
                  <a:schemeClr val="tx1"/>
                </a:solidFill>
              </a:rPr>
              <a:t>  </a:t>
            </a:r>
            <a:r>
              <a:rPr kumimoji="0" lang="zh-CN" altLang="en-US" sz="2800" b="1" dirty="0">
                <a:solidFill>
                  <a:srgbClr val="800080"/>
                </a:solidFill>
              </a:rPr>
              <a:t>例</a:t>
            </a:r>
            <a:r>
              <a:rPr lang="zh-CN" altLang="en-US" sz="2800" b="1" dirty="0">
                <a:solidFill>
                  <a:srgbClr val="800080"/>
                </a:solidFill>
              </a:rPr>
              <a:t>：</a:t>
            </a:r>
            <a:r>
              <a:rPr lang="zh-CN" altLang="en-US" sz="2800" b="1" dirty="0"/>
              <a:t>规定优先级和结合性可构造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zh-CN" altLang="en-US" sz="2800" b="1" dirty="0"/>
              <a:t>    右边文法的 </a:t>
            </a:r>
            <a:r>
              <a:rPr lang="en-US" altLang="zh-CN" sz="2800" dirty="0"/>
              <a:t>SLR</a:t>
            </a: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</a:t>
            </a:r>
            <a:r>
              <a:rPr lang="zh-CN" altLang="en-US" sz="2800" b="1" dirty="0"/>
              <a:t>分析器</a:t>
            </a:r>
          </a:p>
          <a:p>
            <a:pPr lvl="1">
              <a:buFont typeface="Symbol" panose="05050102010706020507" pitchFamily="18" charset="2"/>
              <a:buNone/>
            </a:pPr>
            <a:endParaRPr lang="zh-CN" altLang="en-US" sz="1000" b="1" dirty="0"/>
          </a:p>
        </p:txBody>
      </p:sp>
      <p:sp>
        <p:nvSpPr>
          <p:cNvPr id="562186" name="Text Box 10"/>
          <p:cNvSpPr txBox="1">
            <a:spLocks noChangeArrowheads="1"/>
          </p:cNvSpPr>
          <p:nvPr/>
        </p:nvSpPr>
        <p:spPr bwMode="auto">
          <a:xfrm>
            <a:off x="6877050" y="3500438"/>
            <a:ext cx="1979613" cy="2176462"/>
          </a:xfrm>
          <a:prstGeom prst="rect">
            <a:avLst/>
          </a:prstGeom>
          <a:noFill/>
          <a:ln w="9525" cap="rnd">
            <a:solidFill>
              <a:srgbClr val="990099"/>
            </a:solidFill>
            <a:prstDash val="sysDot"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zh-CN" altLang="en-US" sz="2000" b="1">
                <a:solidFill>
                  <a:srgbClr val="800080"/>
                </a:solidFill>
                <a:sym typeface="Symbol" panose="05050102010706020507" pitchFamily="18" charset="2"/>
              </a:rPr>
              <a:t>增广</a:t>
            </a:r>
            <a:r>
              <a:rPr kumimoji="0" lang="zh-CN" altLang="en-US" sz="2000" b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文法</a:t>
            </a:r>
            <a:r>
              <a:rPr kumimoji="0" lang="en-US" altLang="zh-CN" sz="20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G’ </a:t>
            </a:r>
            <a:r>
              <a:rPr kumimoji="0" lang="en-US" altLang="zh-CN" sz="20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kumimoji="0" lang="en-US" altLang="zh-CN" sz="20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kumimoji="0" lang="en-US" altLang="zh-CN" sz="20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]:</a:t>
            </a:r>
          </a:p>
          <a:p>
            <a:pPr>
              <a:buClrTx/>
              <a:buFont typeface="Wingdings" panose="05000000000000000000" pitchFamily="2" charset="2"/>
              <a:buNone/>
            </a:pPr>
            <a:endParaRPr kumimoji="0" lang="en-US" altLang="zh-CN" sz="800">
              <a:solidFill>
                <a:srgbClr val="80008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(0)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S 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E</a:t>
            </a:r>
            <a:endParaRPr kumimoji="0" lang="en-US" altLang="zh-CN" sz="1800">
              <a:solidFill>
                <a:srgbClr val="80008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(1)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E + E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(2)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E 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E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(3)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( E 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(4)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v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(5)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d</a:t>
            </a:r>
          </a:p>
        </p:txBody>
      </p:sp>
    </p:spTree>
  </p:cSld>
  <p:clrMapOvr>
    <a:masterClrMapping/>
  </p:clrMapOvr>
  <p:transition spd="med">
    <p:wipe dir="r"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04" name="Rectangle 4"/>
          <p:cNvSpPr>
            <a:spLocks noChangeArrowheads="1"/>
          </p:cNvSpPr>
          <p:nvPr/>
        </p:nvSpPr>
        <p:spPr bwMode="auto">
          <a:xfrm>
            <a:off x="35496" y="188913"/>
            <a:ext cx="5976938" cy="585787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zh-CN" altLang="en-US" sz="3600" b="1" dirty="0">
                <a:solidFill>
                  <a:srgbClr val="800080"/>
                </a:solidFill>
                <a:ea typeface="华文行楷" pitchFamily="2" charset="-122"/>
              </a:rPr>
              <a:t>二义文法在</a:t>
            </a:r>
            <a:r>
              <a:rPr lang="en-US" altLang="zh-CN" sz="3600" dirty="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en-US" altLang="zh-CN" sz="3600" b="1" dirty="0">
                <a:solidFill>
                  <a:srgbClr val="800080"/>
                </a:solidFill>
                <a:ea typeface="华文行楷" pitchFamily="2" charset="-122"/>
              </a:rPr>
              <a:t> </a:t>
            </a:r>
            <a:r>
              <a:rPr lang="zh-CN" altLang="en-US" sz="3600" b="1" dirty="0">
                <a:solidFill>
                  <a:srgbClr val="800080"/>
                </a:solidFill>
                <a:ea typeface="华文行楷" pitchFamily="2" charset="-122"/>
              </a:rPr>
              <a:t>分析中的应用</a:t>
            </a:r>
          </a:p>
        </p:txBody>
      </p:sp>
      <p:sp>
        <p:nvSpPr>
          <p:cNvPr id="563209" name="Text Box 9"/>
          <p:cNvSpPr txBox="1">
            <a:spLocks noChangeArrowheads="1"/>
          </p:cNvSpPr>
          <p:nvPr/>
        </p:nvSpPr>
        <p:spPr bwMode="auto">
          <a:xfrm>
            <a:off x="682625" y="1125538"/>
            <a:ext cx="5761038" cy="9461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kumimoji="0" lang="en-US" altLang="zh-CN" sz="2800" b="1">
                <a:solidFill>
                  <a:srgbClr val="800080"/>
                </a:solidFill>
              </a:rPr>
              <a:t> </a:t>
            </a:r>
            <a:r>
              <a:rPr kumimoji="0" lang="zh-CN" altLang="en-US" sz="2800" b="1">
                <a:solidFill>
                  <a:srgbClr val="800080"/>
                </a:solidFill>
              </a:rPr>
              <a:t>例</a:t>
            </a:r>
            <a:r>
              <a:rPr lang="zh-CN" altLang="en-US" sz="2800" b="1">
                <a:solidFill>
                  <a:srgbClr val="800080"/>
                </a:solidFill>
              </a:rPr>
              <a:t>：</a:t>
            </a:r>
            <a:r>
              <a:rPr lang="zh-CN" altLang="en-US" sz="2800" b="1"/>
              <a:t>对右边文法</a:t>
            </a:r>
            <a:r>
              <a:rPr kumimoji="0" lang="en-US" altLang="zh-CN" sz="2800" i="1">
                <a:sym typeface="Symbol" panose="05050102010706020507" pitchFamily="18" charset="2"/>
              </a:rPr>
              <a:t>G’ </a:t>
            </a:r>
            <a:r>
              <a:rPr kumimoji="0" lang="en-US" altLang="zh-CN" sz="2800">
                <a:sym typeface="Symbol" panose="05050102010706020507" pitchFamily="18" charset="2"/>
              </a:rPr>
              <a:t>[</a:t>
            </a:r>
            <a:r>
              <a:rPr kumimoji="0" lang="en-US" altLang="zh-CN" sz="2800" i="1">
                <a:sym typeface="Symbol" panose="05050102010706020507" pitchFamily="18" charset="2"/>
              </a:rPr>
              <a:t>S</a:t>
            </a:r>
            <a:r>
              <a:rPr kumimoji="0" lang="en-US" altLang="zh-CN" sz="2800">
                <a:sym typeface="Symbol" panose="05050102010706020507" pitchFamily="18" charset="2"/>
              </a:rPr>
              <a:t>]</a:t>
            </a:r>
            <a:r>
              <a:rPr kumimoji="0" lang="zh-CN" altLang="en-US" sz="2800">
                <a:sym typeface="Symbol" panose="05050102010706020507" pitchFamily="18" charset="2"/>
              </a:rPr>
              <a:t>，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sz="2800" b="1"/>
              <a:t>           先构造其</a:t>
            </a:r>
            <a:r>
              <a:rPr lang="zh-CN" altLang="en-US" sz="2800" b="1">
                <a:solidFill>
                  <a:srgbClr val="800080"/>
                </a:solidFill>
              </a:rPr>
              <a:t> </a:t>
            </a:r>
            <a:r>
              <a:rPr lang="en-US" altLang="zh-CN" sz="2800">
                <a:solidFill>
                  <a:srgbClr val="800080"/>
                </a:solidFill>
              </a:rPr>
              <a:t>LR</a:t>
            </a:r>
            <a:r>
              <a:rPr lang="zh-CN" altLang="en-US" sz="2800">
                <a:solidFill>
                  <a:srgbClr val="800080"/>
                </a:solidFill>
              </a:rPr>
              <a:t>（</a:t>
            </a:r>
            <a:r>
              <a:rPr lang="en-US" altLang="zh-CN" sz="2800">
                <a:solidFill>
                  <a:srgbClr val="800080"/>
                </a:solidFill>
              </a:rPr>
              <a:t>0</a:t>
            </a:r>
            <a:r>
              <a:rPr lang="zh-CN" altLang="en-US" sz="2800">
                <a:solidFill>
                  <a:srgbClr val="800080"/>
                </a:solidFill>
              </a:rPr>
              <a:t>）</a:t>
            </a:r>
            <a:r>
              <a:rPr lang="en-US" altLang="zh-CN" sz="2800">
                <a:solidFill>
                  <a:srgbClr val="800080"/>
                </a:solidFill>
              </a:rPr>
              <a:t>FSM</a:t>
            </a:r>
          </a:p>
        </p:txBody>
      </p:sp>
      <p:sp>
        <p:nvSpPr>
          <p:cNvPr id="563210" name="Text Box 10"/>
          <p:cNvSpPr txBox="1">
            <a:spLocks noChangeArrowheads="1"/>
          </p:cNvSpPr>
          <p:nvPr/>
        </p:nvSpPr>
        <p:spPr bwMode="auto">
          <a:xfrm>
            <a:off x="7094538" y="1268413"/>
            <a:ext cx="1798637" cy="1749425"/>
          </a:xfrm>
          <a:prstGeom prst="rect">
            <a:avLst/>
          </a:prstGeom>
          <a:noFill/>
          <a:ln w="9525" cap="rnd">
            <a:solidFill>
              <a:srgbClr val="990099"/>
            </a:solidFill>
            <a:prstDash val="sysDot"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(0)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S 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E</a:t>
            </a:r>
            <a:endParaRPr kumimoji="0" lang="en-US" altLang="zh-CN" sz="1800">
              <a:solidFill>
                <a:srgbClr val="80008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(1)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E + E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(2)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E 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E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(3)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( E 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(4)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v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(5)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d</a:t>
            </a:r>
          </a:p>
        </p:txBody>
      </p:sp>
      <p:sp>
        <p:nvSpPr>
          <p:cNvPr id="563218" name="Text Box 18"/>
          <p:cNvSpPr txBox="1">
            <a:spLocks noChangeArrowheads="1"/>
          </p:cNvSpPr>
          <p:nvPr/>
        </p:nvSpPr>
        <p:spPr bwMode="auto">
          <a:xfrm>
            <a:off x="827088" y="2133600"/>
            <a:ext cx="1657350" cy="174942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kumimoji="0"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.E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.E</a:t>
            </a:r>
            <a:r>
              <a:rPr lang="en-US" altLang="zh-CN" sz="1800" i="1">
                <a:sym typeface="Symbol" panose="05050102010706020507" pitchFamily="18" charset="2"/>
              </a:rPr>
              <a:t>+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E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     </a:t>
            </a:r>
            <a:r>
              <a:rPr lang="en-US" altLang="zh-CN" sz="1800" b="1" i="1">
                <a:sym typeface="Symbol" panose="05050102010706020507" pitchFamily="18" charset="2"/>
              </a:rPr>
              <a:t>E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.E</a:t>
            </a:r>
            <a:r>
              <a:rPr lang="en-US" altLang="zh-CN" sz="1800">
                <a:sym typeface="Symbol" panose="05050102010706020507" pitchFamily="18" charset="2"/>
              </a:rPr>
              <a:t> </a:t>
            </a:r>
            <a:r>
              <a:rPr lang="en-US" altLang="zh-CN" sz="1800" b="1" i="1">
                <a:sym typeface="Symbol" panose="05050102010706020507" pitchFamily="18" charset="2"/>
              </a:rPr>
              <a:t>E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ea typeface="华文行楷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.(E)</a:t>
            </a:r>
            <a:endParaRPr lang="en-US" altLang="zh-CN" sz="1800" b="1" i="1"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sym typeface="Symbol" panose="05050102010706020507" pitchFamily="18" charset="2"/>
              </a:rPr>
              <a:t>v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563219" name="Text Box 19"/>
          <p:cNvSpPr txBox="1">
            <a:spLocks noChangeArrowheads="1"/>
          </p:cNvSpPr>
          <p:nvPr/>
        </p:nvSpPr>
        <p:spPr bwMode="auto">
          <a:xfrm>
            <a:off x="3128963" y="2133600"/>
            <a:ext cx="1298575" cy="925513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S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E. </a:t>
            </a:r>
            <a:endParaRPr lang="en-US" altLang="zh-CN" sz="1800" b="1" i="1">
              <a:solidFill>
                <a:srgbClr val="993366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E.</a:t>
            </a:r>
            <a:r>
              <a:rPr lang="en-US" altLang="zh-CN" sz="1800" i="1"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E.</a:t>
            </a:r>
            <a:r>
              <a:rPr lang="en-US" altLang="zh-CN" sz="1800">
                <a:cs typeface="Times New Roman" panose="02020603050405020304" pitchFamily="18" charset="0"/>
                <a:sym typeface="Symbol" panose="05050102010706020507" pitchFamily="18" charset="2"/>
              </a:rPr>
              <a:t> 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563220" name="Line 20"/>
          <p:cNvSpPr>
            <a:spLocks noChangeShapeType="1"/>
          </p:cNvSpPr>
          <p:nvPr/>
        </p:nvSpPr>
        <p:spPr bwMode="auto">
          <a:xfrm>
            <a:off x="2484438" y="2620963"/>
            <a:ext cx="647700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3221" name="Rectangle 21"/>
          <p:cNvSpPr>
            <a:spLocks noChangeArrowheads="1"/>
          </p:cNvSpPr>
          <p:nvPr/>
        </p:nvSpPr>
        <p:spPr bwMode="auto">
          <a:xfrm>
            <a:off x="2628900" y="2306638"/>
            <a:ext cx="287338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E</a:t>
            </a:r>
          </a:p>
        </p:txBody>
      </p:sp>
      <p:sp>
        <p:nvSpPr>
          <p:cNvPr id="563222" name="Line 22"/>
          <p:cNvSpPr>
            <a:spLocks noChangeShapeType="1"/>
          </p:cNvSpPr>
          <p:nvPr/>
        </p:nvSpPr>
        <p:spPr bwMode="auto">
          <a:xfrm>
            <a:off x="1258888" y="3860800"/>
            <a:ext cx="0" cy="1081088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3224" name="Rectangle 24"/>
          <p:cNvSpPr>
            <a:spLocks noChangeArrowheads="1"/>
          </p:cNvSpPr>
          <p:nvPr/>
        </p:nvSpPr>
        <p:spPr bwMode="auto">
          <a:xfrm>
            <a:off x="2627313" y="3213100"/>
            <a:ext cx="287337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v</a:t>
            </a:r>
          </a:p>
        </p:txBody>
      </p:sp>
      <p:sp>
        <p:nvSpPr>
          <p:cNvPr id="563225" name="Rectangle 25"/>
          <p:cNvSpPr>
            <a:spLocks noChangeArrowheads="1"/>
          </p:cNvSpPr>
          <p:nvPr/>
        </p:nvSpPr>
        <p:spPr bwMode="auto">
          <a:xfrm>
            <a:off x="971550" y="4214813"/>
            <a:ext cx="287338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(</a:t>
            </a:r>
          </a:p>
        </p:txBody>
      </p:sp>
      <p:sp>
        <p:nvSpPr>
          <p:cNvPr id="563227" name="Rectangle 27"/>
          <p:cNvSpPr>
            <a:spLocks noChangeArrowheads="1"/>
          </p:cNvSpPr>
          <p:nvPr/>
        </p:nvSpPr>
        <p:spPr bwMode="auto">
          <a:xfrm>
            <a:off x="2700338" y="3644900"/>
            <a:ext cx="287337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563230" name="Text Box 30"/>
          <p:cNvSpPr txBox="1">
            <a:spLocks noChangeArrowheads="1"/>
          </p:cNvSpPr>
          <p:nvPr/>
        </p:nvSpPr>
        <p:spPr bwMode="auto">
          <a:xfrm>
            <a:off x="3133725" y="3916363"/>
            <a:ext cx="1150938" cy="376237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sym typeface="Symbol" panose="05050102010706020507" pitchFamily="18" charset="2"/>
              </a:rPr>
              <a:t>4</a:t>
            </a:r>
            <a:r>
              <a:rPr kumimoji="0" lang="en-US" altLang="zh-CN" sz="1800" b="1">
                <a:sym typeface="Symbol" panose="05050102010706020507" pitchFamily="18" charset="2"/>
              </a:rPr>
              <a:t>:</a:t>
            </a:r>
            <a:r>
              <a:rPr kumimoji="0" lang="en-US" altLang="zh-CN" sz="1800"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d. </a:t>
            </a:r>
          </a:p>
        </p:txBody>
      </p:sp>
      <p:sp>
        <p:nvSpPr>
          <p:cNvPr id="563234" name="Text Box 34"/>
          <p:cNvSpPr txBox="1">
            <a:spLocks noChangeArrowheads="1"/>
          </p:cNvSpPr>
          <p:nvPr/>
        </p:nvSpPr>
        <p:spPr bwMode="auto">
          <a:xfrm>
            <a:off x="3132138" y="3284538"/>
            <a:ext cx="1150937" cy="376237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sym typeface="Symbol" panose="05050102010706020507" pitchFamily="18" charset="2"/>
              </a:rPr>
              <a:t>3</a:t>
            </a:r>
            <a:r>
              <a:rPr kumimoji="0" lang="en-US" altLang="zh-CN" sz="1800" b="1">
                <a:sym typeface="Symbol" panose="05050102010706020507" pitchFamily="18" charset="2"/>
              </a:rPr>
              <a:t>:</a:t>
            </a:r>
            <a:r>
              <a:rPr kumimoji="0" lang="en-US" altLang="zh-CN" sz="1800">
                <a:sym typeface="Symbol" panose="05050102010706020507" pitchFamily="18" charset="2"/>
              </a:rPr>
              <a:t>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v. </a:t>
            </a:r>
          </a:p>
        </p:txBody>
      </p:sp>
      <p:sp>
        <p:nvSpPr>
          <p:cNvPr id="563235" name="Text Box 35"/>
          <p:cNvSpPr txBox="1">
            <a:spLocks noChangeArrowheads="1"/>
          </p:cNvSpPr>
          <p:nvPr/>
        </p:nvSpPr>
        <p:spPr bwMode="auto">
          <a:xfrm>
            <a:off x="825500" y="4941888"/>
            <a:ext cx="1657350" cy="174942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kumimoji="0"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(.E)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.E</a:t>
            </a:r>
            <a:r>
              <a:rPr lang="en-US" altLang="zh-CN" sz="1800" i="1">
                <a:sym typeface="Symbol" panose="05050102010706020507" pitchFamily="18" charset="2"/>
              </a:rPr>
              <a:t>+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E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     </a:t>
            </a:r>
            <a:r>
              <a:rPr lang="en-US" altLang="zh-CN" sz="1800" b="1" i="1">
                <a:sym typeface="Symbol" panose="05050102010706020507" pitchFamily="18" charset="2"/>
              </a:rPr>
              <a:t>E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.E</a:t>
            </a:r>
            <a:r>
              <a:rPr lang="en-US" altLang="zh-CN" sz="1800">
                <a:sym typeface="Symbol" panose="05050102010706020507" pitchFamily="18" charset="2"/>
              </a:rPr>
              <a:t> </a:t>
            </a:r>
            <a:r>
              <a:rPr lang="en-US" altLang="zh-CN" sz="1800" b="1" i="1">
                <a:sym typeface="Symbol" panose="05050102010706020507" pitchFamily="18" charset="2"/>
              </a:rPr>
              <a:t>E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ea typeface="华文行楷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.(E)</a:t>
            </a:r>
            <a:endParaRPr lang="en-US" altLang="zh-CN" sz="1800" b="1" i="1"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sym typeface="Symbol" panose="05050102010706020507" pitchFamily="18" charset="2"/>
              </a:rPr>
              <a:t>v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563236" name="Text Box 36"/>
          <p:cNvSpPr txBox="1">
            <a:spLocks noChangeArrowheads="1"/>
          </p:cNvSpPr>
          <p:nvPr/>
        </p:nvSpPr>
        <p:spPr bwMode="auto">
          <a:xfrm>
            <a:off x="2986088" y="4645025"/>
            <a:ext cx="1657350" cy="1016000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7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kumimoji="0"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(E.)</a:t>
            </a: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kumimoji="0" lang="en-US" altLang="zh-CN" sz="1800" b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 </a:t>
            </a:r>
            <a:r>
              <a:rPr lang="en-US" altLang="zh-CN" sz="1800" b="1" i="1">
                <a:sym typeface="Symbol" panose="05050102010706020507" pitchFamily="18" charset="2"/>
              </a:rPr>
              <a:t>E.</a:t>
            </a:r>
            <a:r>
              <a:rPr lang="en-US" altLang="zh-CN" sz="1800" i="1">
                <a:sym typeface="Symbol" panose="05050102010706020507" pitchFamily="18" charset="2"/>
              </a:rPr>
              <a:t>+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E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     </a:t>
            </a:r>
            <a:r>
              <a:rPr lang="en-US" altLang="zh-CN" sz="1800" b="1" i="1">
                <a:sym typeface="Symbol" panose="05050102010706020507" pitchFamily="18" charset="2"/>
              </a:rPr>
              <a:t>E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E.</a:t>
            </a:r>
            <a:r>
              <a:rPr lang="en-US" altLang="zh-CN" sz="1800">
                <a:sym typeface="Symbol" panose="05050102010706020507" pitchFamily="18" charset="2"/>
              </a:rPr>
              <a:t> </a:t>
            </a:r>
            <a:r>
              <a:rPr lang="en-US" altLang="zh-CN" sz="1800" b="1" i="1">
                <a:sym typeface="Symbol" panose="05050102010706020507" pitchFamily="18" charset="2"/>
              </a:rPr>
              <a:t>E</a:t>
            </a:r>
          </a:p>
        </p:txBody>
      </p:sp>
      <p:sp>
        <p:nvSpPr>
          <p:cNvPr id="563237" name="Rectangle 37"/>
          <p:cNvSpPr>
            <a:spLocks noChangeArrowheads="1"/>
          </p:cNvSpPr>
          <p:nvPr/>
        </p:nvSpPr>
        <p:spPr bwMode="auto">
          <a:xfrm>
            <a:off x="2555875" y="5222875"/>
            <a:ext cx="287338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E</a:t>
            </a:r>
          </a:p>
        </p:txBody>
      </p:sp>
      <p:sp>
        <p:nvSpPr>
          <p:cNvPr id="563238" name="Line 38"/>
          <p:cNvSpPr>
            <a:spLocks noChangeShapeType="1"/>
          </p:cNvSpPr>
          <p:nvPr/>
        </p:nvSpPr>
        <p:spPr bwMode="auto">
          <a:xfrm flipV="1">
            <a:off x="2484438" y="5516563"/>
            <a:ext cx="503237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3240" name="Text Box 40"/>
          <p:cNvSpPr txBox="1">
            <a:spLocks noChangeArrowheads="1"/>
          </p:cNvSpPr>
          <p:nvPr/>
        </p:nvSpPr>
        <p:spPr bwMode="auto">
          <a:xfrm>
            <a:off x="5075238" y="2133600"/>
            <a:ext cx="1584325" cy="174942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 </a:t>
            </a:r>
            <a:r>
              <a:rPr lang="en-US" altLang="zh-CN" sz="1800" b="1" i="1">
                <a:sym typeface="Symbol" panose="05050102010706020507" pitchFamily="18" charset="2"/>
              </a:rPr>
              <a:t>E</a:t>
            </a:r>
            <a:r>
              <a:rPr lang="en-US" altLang="zh-CN" sz="1800" i="1">
                <a:sym typeface="Symbol" panose="05050102010706020507" pitchFamily="18" charset="2"/>
              </a:rPr>
              <a:t>+</a:t>
            </a:r>
            <a:r>
              <a:rPr lang="en-US" altLang="zh-CN" sz="1800" b="1" i="1">
                <a:sym typeface="Symbol" panose="05050102010706020507" pitchFamily="18" charset="2"/>
              </a:rPr>
              <a:t>.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.E</a:t>
            </a:r>
            <a:r>
              <a:rPr lang="en-US" altLang="zh-CN" sz="1800" i="1">
                <a:sym typeface="Symbol" panose="05050102010706020507" pitchFamily="18" charset="2"/>
              </a:rPr>
              <a:t>+</a:t>
            </a:r>
            <a:r>
              <a:rPr lang="en-US" altLang="zh-CN" sz="1800" b="1" i="1">
                <a:sym typeface="Symbol" panose="05050102010706020507" pitchFamily="18" charset="2"/>
              </a:rPr>
              <a:t>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.E</a:t>
            </a:r>
            <a:r>
              <a:rPr lang="en-US" altLang="zh-CN" sz="1800">
                <a:sym typeface="Symbol" panose="05050102010706020507" pitchFamily="18" charset="2"/>
              </a:rPr>
              <a:t> </a:t>
            </a:r>
            <a:r>
              <a:rPr lang="en-US" altLang="zh-CN" sz="1800" b="1" i="1">
                <a:sym typeface="Symbol" panose="05050102010706020507" pitchFamily="18" charset="2"/>
              </a:rPr>
              <a:t>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.(E)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sym typeface="Symbol" panose="05050102010706020507" pitchFamily="18" charset="2"/>
              </a:rPr>
              <a:t>v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563241" name="Text Box 41"/>
          <p:cNvSpPr txBox="1">
            <a:spLocks noChangeArrowheads="1"/>
          </p:cNvSpPr>
          <p:nvPr/>
        </p:nvSpPr>
        <p:spPr bwMode="auto">
          <a:xfrm>
            <a:off x="5075238" y="4941888"/>
            <a:ext cx="1584325" cy="174942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6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 </a:t>
            </a:r>
            <a:r>
              <a:rPr lang="en-US" altLang="zh-CN" sz="1800" b="1" i="1">
                <a:sym typeface="Symbol" panose="05050102010706020507" pitchFamily="18" charset="2"/>
              </a:rPr>
              <a:t>E</a:t>
            </a:r>
            <a:r>
              <a:rPr lang="en-US" altLang="zh-CN" sz="1800">
                <a:sym typeface="Symbol" panose="05050102010706020507" pitchFamily="18" charset="2"/>
              </a:rPr>
              <a:t></a:t>
            </a:r>
            <a:r>
              <a:rPr lang="en-US" altLang="zh-CN" sz="1800" b="1" i="1">
                <a:sym typeface="Symbol" panose="05050102010706020507" pitchFamily="18" charset="2"/>
              </a:rPr>
              <a:t>.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.E</a:t>
            </a:r>
            <a:r>
              <a:rPr lang="en-US" altLang="zh-CN" sz="1800" i="1">
                <a:sym typeface="Symbol" panose="05050102010706020507" pitchFamily="18" charset="2"/>
              </a:rPr>
              <a:t>+</a:t>
            </a:r>
            <a:r>
              <a:rPr lang="en-US" altLang="zh-CN" sz="1800" b="1" i="1">
                <a:sym typeface="Symbol" panose="05050102010706020507" pitchFamily="18" charset="2"/>
              </a:rPr>
              <a:t>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.E</a:t>
            </a:r>
            <a:r>
              <a:rPr lang="en-US" altLang="zh-CN" sz="1800">
                <a:sym typeface="Symbol" panose="05050102010706020507" pitchFamily="18" charset="2"/>
              </a:rPr>
              <a:t></a:t>
            </a:r>
            <a:r>
              <a:rPr lang="en-US" altLang="zh-CN" sz="1800" b="1" i="1">
                <a:sym typeface="Symbol" panose="05050102010706020507" pitchFamily="18" charset="2"/>
              </a:rPr>
              <a:t>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.(E)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sym typeface="Symbol" panose="05050102010706020507" pitchFamily="18" charset="2"/>
              </a:rPr>
              <a:t>v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sym typeface="Symbol" panose="05050102010706020507" pitchFamily="18" charset="2"/>
              </a:rPr>
              <a:t> .</a:t>
            </a:r>
            <a:r>
              <a:rPr lang="en-US" altLang="zh-CN" sz="1800" b="1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563242" name="Line 42"/>
          <p:cNvSpPr>
            <a:spLocks noChangeShapeType="1"/>
          </p:cNvSpPr>
          <p:nvPr/>
        </p:nvSpPr>
        <p:spPr bwMode="auto">
          <a:xfrm>
            <a:off x="2484438" y="3508375"/>
            <a:ext cx="647700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3243" name="Line 43"/>
          <p:cNvSpPr>
            <a:spLocks noChangeShapeType="1"/>
          </p:cNvSpPr>
          <p:nvPr/>
        </p:nvSpPr>
        <p:spPr bwMode="auto">
          <a:xfrm>
            <a:off x="2484438" y="3890963"/>
            <a:ext cx="647700" cy="11430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3246" name="Line 46"/>
          <p:cNvSpPr>
            <a:spLocks noChangeShapeType="1"/>
          </p:cNvSpPr>
          <p:nvPr/>
        </p:nvSpPr>
        <p:spPr bwMode="auto">
          <a:xfrm flipH="1">
            <a:off x="4427538" y="5662613"/>
            <a:ext cx="0" cy="287337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3247" name="Rectangle 47"/>
          <p:cNvSpPr>
            <a:spLocks noChangeArrowheads="1"/>
          </p:cNvSpPr>
          <p:nvPr/>
        </p:nvSpPr>
        <p:spPr bwMode="auto">
          <a:xfrm>
            <a:off x="4284663" y="5942013"/>
            <a:ext cx="360362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I</a:t>
            </a:r>
            <a:r>
              <a:rPr lang="en-US" altLang="zh-CN" sz="1800" b="1" baseline="-25000">
                <a:sym typeface="Symbol" panose="05050102010706020507" pitchFamily="18" charset="2"/>
              </a:rPr>
              <a:t>5</a:t>
            </a:r>
          </a:p>
        </p:txBody>
      </p:sp>
      <p:sp>
        <p:nvSpPr>
          <p:cNvPr id="563248" name="Rectangle 48"/>
          <p:cNvSpPr>
            <a:spLocks noChangeArrowheads="1"/>
          </p:cNvSpPr>
          <p:nvPr/>
        </p:nvSpPr>
        <p:spPr bwMode="auto">
          <a:xfrm>
            <a:off x="4678363" y="4933950"/>
            <a:ext cx="254000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</a:t>
            </a:r>
          </a:p>
        </p:txBody>
      </p:sp>
      <p:sp>
        <p:nvSpPr>
          <p:cNvPr id="563249" name="Line 49"/>
          <p:cNvSpPr>
            <a:spLocks noChangeShapeType="1"/>
          </p:cNvSpPr>
          <p:nvPr/>
        </p:nvSpPr>
        <p:spPr bwMode="auto">
          <a:xfrm>
            <a:off x="4643438" y="5221288"/>
            <a:ext cx="433387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3251" name="Rectangle 51"/>
          <p:cNvSpPr>
            <a:spLocks noChangeArrowheads="1"/>
          </p:cNvSpPr>
          <p:nvPr/>
        </p:nvSpPr>
        <p:spPr bwMode="auto">
          <a:xfrm>
            <a:off x="4140200" y="5589588"/>
            <a:ext cx="254000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i="1">
                <a:sym typeface="Symbol" panose="05050102010706020507" pitchFamily="18" charset="2"/>
              </a:rPr>
              <a:t>+</a:t>
            </a:r>
          </a:p>
        </p:txBody>
      </p:sp>
      <p:sp>
        <p:nvSpPr>
          <p:cNvPr id="563252" name="Rectangle 52"/>
          <p:cNvSpPr>
            <a:spLocks noChangeArrowheads="1"/>
          </p:cNvSpPr>
          <p:nvPr/>
        </p:nvSpPr>
        <p:spPr bwMode="auto">
          <a:xfrm>
            <a:off x="4572000" y="3386138"/>
            <a:ext cx="254000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</a:t>
            </a:r>
          </a:p>
        </p:txBody>
      </p:sp>
      <p:sp>
        <p:nvSpPr>
          <p:cNvPr id="563253" name="Line 53"/>
          <p:cNvSpPr>
            <a:spLocks noChangeShapeType="1"/>
          </p:cNvSpPr>
          <p:nvPr/>
        </p:nvSpPr>
        <p:spPr bwMode="auto">
          <a:xfrm>
            <a:off x="4427538" y="3068638"/>
            <a:ext cx="792162" cy="187325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3254" name="Line 54"/>
          <p:cNvSpPr>
            <a:spLocks noChangeShapeType="1"/>
          </p:cNvSpPr>
          <p:nvPr/>
        </p:nvSpPr>
        <p:spPr bwMode="auto">
          <a:xfrm>
            <a:off x="4427538" y="2665413"/>
            <a:ext cx="647700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3255" name="Rectangle 55"/>
          <p:cNvSpPr>
            <a:spLocks noChangeArrowheads="1"/>
          </p:cNvSpPr>
          <p:nvPr/>
        </p:nvSpPr>
        <p:spPr bwMode="auto">
          <a:xfrm>
            <a:off x="4533900" y="2378075"/>
            <a:ext cx="254000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i="1">
                <a:sym typeface="Symbol" panose="05050102010706020507" pitchFamily="18" charset="2"/>
              </a:rPr>
              <a:t>+</a:t>
            </a:r>
          </a:p>
        </p:txBody>
      </p:sp>
      <p:sp>
        <p:nvSpPr>
          <p:cNvPr id="563256" name="Text Box 56"/>
          <p:cNvSpPr txBox="1">
            <a:spLocks noChangeArrowheads="1"/>
          </p:cNvSpPr>
          <p:nvPr/>
        </p:nvSpPr>
        <p:spPr bwMode="auto">
          <a:xfrm>
            <a:off x="7235825" y="3457575"/>
            <a:ext cx="1584325" cy="925513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9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 </a:t>
            </a:r>
            <a:r>
              <a:rPr lang="en-US" altLang="zh-CN" sz="1800" b="1" i="1">
                <a:sym typeface="Symbol" panose="05050102010706020507" pitchFamily="18" charset="2"/>
              </a:rPr>
              <a:t>E</a:t>
            </a:r>
            <a:r>
              <a:rPr lang="en-US" altLang="zh-CN" sz="1800" i="1">
                <a:sym typeface="Symbol" panose="05050102010706020507" pitchFamily="18" charset="2"/>
              </a:rPr>
              <a:t>+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E</a:t>
            </a:r>
            <a:r>
              <a:rPr lang="en-US" altLang="zh-CN" sz="1800" b="1" i="1">
                <a:sym typeface="Symbol" panose="05050102010706020507" pitchFamily="18" charset="2"/>
              </a:rPr>
              <a:t>.</a:t>
            </a:r>
            <a:endParaRPr lang="en-US" altLang="zh-CN" sz="1800" b="1" i="1">
              <a:ea typeface="华文行楷" pitchFamily="2" charset="-122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E.</a:t>
            </a:r>
            <a:r>
              <a:rPr lang="en-US" altLang="zh-CN" sz="1800" i="1">
                <a:sym typeface="Symbol" panose="05050102010706020507" pitchFamily="18" charset="2"/>
              </a:rPr>
              <a:t>+</a:t>
            </a:r>
            <a:r>
              <a:rPr lang="en-US" altLang="zh-CN" sz="1800" b="1" i="1">
                <a:sym typeface="Symbol" panose="05050102010706020507" pitchFamily="18" charset="2"/>
              </a:rPr>
              <a:t>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E</a:t>
            </a:r>
            <a:r>
              <a:rPr lang="en-US" altLang="zh-CN" sz="1800" b="1">
                <a:sym typeface="Symbol" panose="05050102010706020507" pitchFamily="18" charset="2"/>
              </a:rPr>
              <a:t>.</a:t>
            </a:r>
            <a:r>
              <a:rPr lang="en-US" altLang="zh-CN" sz="1800">
                <a:sym typeface="Symbol" panose="05050102010706020507" pitchFamily="18" charset="2"/>
              </a:rPr>
              <a:t></a:t>
            </a:r>
            <a:r>
              <a:rPr lang="en-US" altLang="zh-CN" sz="1800" b="1" i="1">
                <a:sym typeface="Symbol" panose="05050102010706020507" pitchFamily="18" charset="2"/>
              </a:rPr>
              <a:t>E</a:t>
            </a:r>
          </a:p>
        </p:txBody>
      </p:sp>
      <p:sp>
        <p:nvSpPr>
          <p:cNvPr id="563257" name="Text Box 57"/>
          <p:cNvSpPr txBox="1">
            <a:spLocks noChangeArrowheads="1"/>
          </p:cNvSpPr>
          <p:nvPr/>
        </p:nvSpPr>
        <p:spPr bwMode="auto">
          <a:xfrm>
            <a:off x="7235825" y="5268913"/>
            <a:ext cx="1657350" cy="925512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10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 </a:t>
            </a:r>
            <a:r>
              <a:rPr lang="en-US" altLang="zh-CN" sz="1800" b="1" i="1">
                <a:sym typeface="Symbol" panose="05050102010706020507" pitchFamily="18" charset="2"/>
              </a:rPr>
              <a:t>E</a:t>
            </a:r>
            <a:r>
              <a:rPr lang="en-US" altLang="zh-CN" sz="1800">
                <a:sym typeface="Symbol" panose="05050102010706020507" pitchFamily="18" charset="2"/>
              </a:rPr>
              <a:t>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E</a:t>
            </a:r>
            <a:r>
              <a:rPr lang="en-US" altLang="zh-CN" sz="1800" b="1" i="1">
                <a:sym typeface="Symbol" panose="05050102010706020507" pitchFamily="18" charset="2"/>
              </a:rPr>
              <a:t>.</a:t>
            </a:r>
            <a:endParaRPr lang="en-US" altLang="zh-CN" sz="1800" b="1" i="1">
              <a:ea typeface="华文行楷" pitchFamily="2" charset="-122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E.</a:t>
            </a:r>
            <a:r>
              <a:rPr lang="en-US" altLang="zh-CN" sz="1800" i="1">
                <a:sym typeface="Symbol" panose="05050102010706020507" pitchFamily="18" charset="2"/>
              </a:rPr>
              <a:t>+</a:t>
            </a:r>
            <a:r>
              <a:rPr lang="en-US" altLang="zh-CN" sz="1800" b="1" i="1">
                <a:sym typeface="Symbol" panose="05050102010706020507" pitchFamily="18" charset="2"/>
              </a:rPr>
              <a:t>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E</a:t>
            </a:r>
            <a:r>
              <a:rPr lang="en-US" altLang="zh-CN" sz="1800" b="1">
                <a:sym typeface="Symbol" panose="05050102010706020507" pitchFamily="18" charset="2"/>
              </a:rPr>
              <a:t>.</a:t>
            </a:r>
            <a:r>
              <a:rPr lang="en-US" altLang="zh-CN" sz="1800">
                <a:sym typeface="Symbol" panose="05050102010706020507" pitchFamily="18" charset="2"/>
              </a:rPr>
              <a:t></a:t>
            </a:r>
            <a:r>
              <a:rPr lang="en-US" altLang="zh-CN" sz="1800" b="1" i="1">
                <a:sym typeface="Symbol" panose="05050102010706020507" pitchFamily="18" charset="2"/>
              </a:rPr>
              <a:t>E</a:t>
            </a:r>
          </a:p>
        </p:txBody>
      </p:sp>
      <p:sp>
        <p:nvSpPr>
          <p:cNvPr id="563258" name="Line 58"/>
          <p:cNvSpPr>
            <a:spLocks noChangeShapeType="1"/>
          </p:cNvSpPr>
          <p:nvPr/>
        </p:nvSpPr>
        <p:spPr bwMode="auto">
          <a:xfrm>
            <a:off x="6659563" y="5997575"/>
            <a:ext cx="576262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3259" name="Rectangle 59"/>
          <p:cNvSpPr>
            <a:spLocks noChangeArrowheads="1"/>
          </p:cNvSpPr>
          <p:nvPr/>
        </p:nvSpPr>
        <p:spPr bwMode="auto">
          <a:xfrm>
            <a:off x="6732588" y="5683250"/>
            <a:ext cx="287337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E</a:t>
            </a:r>
          </a:p>
        </p:txBody>
      </p:sp>
      <p:sp>
        <p:nvSpPr>
          <p:cNvPr id="563260" name="Line 60"/>
          <p:cNvSpPr>
            <a:spLocks noChangeShapeType="1"/>
          </p:cNvSpPr>
          <p:nvPr/>
        </p:nvSpPr>
        <p:spPr bwMode="auto">
          <a:xfrm>
            <a:off x="6659563" y="3694113"/>
            <a:ext cx="576262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3261" name="Rectangle 61"/>
          <p:cNvSpPr>
            <a:spLocks noChangeArrowheads="1"/>
          </p:cNvSpPr>
          <p:nvPr/>
        </p:nvSpPr>
        <p:spPr bwMode="auto">
          <a:xfrm>
            <a:off x="6732588" y="3379788"/>
            <a:ext cx="287337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E</a:t>
            </a:r>
          </a:p>
        </p:txBody>
      </p:sp>
      <p:sp>
        <p:nvSpPr>
          <p:cNvPr id="563262" name="Line 62"/>
          <p:cNvSpPr>
            <a:spLocks noChangeShapeType="1"/>
          </p:cNvSpPr>
          <p:nvPr/>
        </p:nvSpPr>
        <p:spPr bwMode="auto">
          <a:xfrm>
            <a:off x="5435600" y="3883025"/>
            <a:ext cx="0" cy="360363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3263" name="Rectangle 63"/>
          <p:cNvSpPr>
            <a:spLocks noChangeArrowheads="1"/>
          </p:cNvSpPr>
          <p:nvPr/>
        </p:nvSpPr>
        <p:spPr bwMode="auto">
          <a:xfrm>
            <a:off x="5148263" y="3876675"/>
            <a:ext cx="287337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(</a:t>
            </a:r>
          </a:p>
        </p:txBody>
      </p:sp>
      <p:sp>
        <p:nvSpPr>
          <p:cNvPr id="563264" name="Rectangle 64"/>
          <p:cNvSpPr>
            <a:spLocks noChangeArrowheads="1"/>
          </p:cNvSpPr>
          <p:nvPr/>
        </p:nvSpPr>
        <p:spPr bwMode="auto">
          <a:xfrm>
            <a:off x="5291138" y="4171950"/>
            <a:ext cx="360362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I</a:t>
            </a:r>
            <a:r>
              <a:rPr lang="en-US" altLang="zh-CN" sz="1800" b="1" baseline="-25000">
                <a:sym typeface="Symbol" panose="05050102010706020507" pitchFamily="18" charset="2"/>
              </a:rPr>
              <a:t>2</a:t>
            </a:r>
          </a:p>
        </p:txBody>
      </p:sp>
      <p:sp>
        <p:nvSpPr>
          <p:cNvPr id="563265" name="Rectangle 65"/>
          <p:cNvSpPr>
            <a:spLocks noChangeArrowheads="1"/>
          </p:cNvSpPr>
          <p:nvPr/>
        </p:nvSpPr>
        <p:spPr bwMode="auto">
          <a:xfrm>
            <a:off x="7885113" y="4532313"/>
            <a:ext cx="360362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I</a:t>
            </a:r>
            <a:r>
              <a:rPr lang="en-US" altLang="zh-CN" sz="1800" b="1" baseline="-25000">
                <a:sym typeface="Symbol" panose="05050102010706020507" pitchFamily="18" charset="2"/>
              </a:rPr>
              <a:t>5</a:t>
            </a:r>
          </a:p>
        </p:txBody>
      </p:sp>
      <p:sp>
        <p:nvSpPr>
          <p:cNvPr id="563266" name="Rectangle 66"/>
          <p:cNvSpPr>
            <a:spLocks noChangeArrowheads="1"/>
          </p:cNvSpPr>
          <p:nvPr/>
        </p:nvSpPr>
        <p:spPr bwMode="auto">
          <a:xfrm>
            <a:off x="5795963" y="4171950"/>
            <a:ext cx="360362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I</a:t>
            </a:r>
            <a:r>
              <a:rPr lang="en-US" altLang="zh-CN" sz="1800" b="1" baseline="-25000">
                <a:sym typeface="Symbol" panose="05050102010706020507" pitchFamily="18" charset="2"/>
              </a:rPr>
              <a:t>3</a:t>
            </a:r>
          </a:p>
        </p:txBody>
      </p:sp>
      <p:sp>
        <p:nvSpPr>
          <p:cNvPr id="563267" name="Rectangle 67"/>
          <p:cNvSpPr>
            <a:spLocks noChangeArrowheads="1"/>
          </p:cNvSpPr>
          <p:nvPr/>
        </p:nvSpPr>
        <p:spPr bwMode="auto">
          <a:xfrm>
            <a:off x="6299200" y="4164013"/>
            <a:ext cx="360363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I</a:t>
            </a:r>
            <a:r>
              <a:rPr lang="en-US" altLang="zh-CN" sz="1800" b="1" baseline="-25000">
                <a:sym typeface="Symbol" panose="05050102010706020507" pitchFamily="18" charset="2"/>
              </a:rPr>
              <a:t>4</a:t>
            </a:r>
          </a:p>
        </p:txBody>
      </p:sp>
      <p:sp>
        <p:nvSpPr>
          <p:cNvPr id="563268" name="Line 68"/>
          <p:cNvSpPr>
            <a:spLocks noChangeShapeType="1"/>
          </p:cNvSpPr>
          <p:nvPr/>
        </p:nvSpPr>
        <p:spPr bwMode="auto">
          <a:xfrm>
            <a:off x="4284663" y="3644900"/>
            <a:ext cx="863600" cy="1296988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head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3269" name="Rectangle 69"/>
          <p:cNvSpPr>
            <a:spLocks noChangeArrowheads="1"/>
          </p:cNvSpPr>
          <p:nvPr/>
        </p:nvSpPr>
        <p:spPr bwMode="auto">
          <a:xfrm>
            <a:off x="4356100" y="3567113"/>
            <a:ext cx="287338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v</a:t>
            </a:r>
          </a:p>
        </p:txBody>
      </p:sp>
      <p:sp>
        <p:nvSpPr>
          <p:cNvPr id="563270" name="Line 70"/>
          <p:cNvSpPr>
            <a:spLocks noChangeShapeType="1"/>
          </p:cNvSpPr>
          <p:nvPr/>
        </p:nvSpPr>
        <p:spPr bwMode="auto">
          <a:xfrm>
            <a:off x="4284663" y="4292600"/>
            <a:ext cx="792162" cy="649288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head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3271" name="Rectangle 71"/>
          <p:cNvSpPr>
            <a:spLocks noChangeArrowheads="1"/>
          </p:cNvSpPr>
          <p:nvPr/>
        </p:nvSpPr>
        <p:spPr bwMode="auto">
          <a:xfrm>
            <a:off x="4356100" y="4141788"/>
            <a:ext cx="287338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563273" name="Line 73"/>
          <p:cNvSpPr>
            <a:spLocks noChangeShapeType="1"/>
          </p:cNvSpPr>
          <p:nvPr/>
        </p:nvSpPr>
        <p:spPr bwMode="auto">
          <a:xfrm>
            <a:off x="2484438" y="6597650"/>
            <a:ext cx="2592387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head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3274" name="Rectangle 74"/>
          <p:cNvSpPr>
            <a:spLocks noChangeArrowheads="1"/>
          </p:cNvSpPr>
          <p:nvPr/>
        </p:nvSpPr>
        <p:spPr bwMode="auto">
          <a:xfrm>
            <a:off x="4789488" y="6230938"/>
            <a:ext cx="287337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(</a:t>
            </a:r>
          </a:p>
        </p:txBody>
      </p:sp>
      <p:sp>
        <p:nvSpPr>
          <p:cNvPr id="563275" name="Line 75"/>
          <p:cNvSpPr>
            <a:spLocks noChangeShapeType="1"/>
          </p:cNvSpPr>
          <p:nvPr/>
        </p:nvSpPr>
        <p:spPr bwMode="auto">
          <a:xfrm>
            <a:off x="5938838" y="3883025"/>
            <a:ext cx="0" cy="360363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3276" name="Line 76"/>
          <p:cNvSpPr>
            <a:spLocks noChangeShapeType="1"/>
          </p:cNvSpPr>
          <p:nvPr/>
        </p:nvSpPr>
        <p:spPr bwMode="auto">
          <a:xfrm>
            <a:off x="6443663" y="3883025"/>
            <a:ext cx="0" cy="360363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3277" name="Rectangle 77"/>
          <p:cNvSpPr>
            <a:spLocks noChangeArrowheads="1"/>
          </p:cNvSpPr>
          <p:nvPr/>
        </p:nvSpPr>
        <p:spPr bwMode="auto">
          <a:xfrm>
            <a:off x="5651500" y="3876675"/>
            <a:ext cx="287338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v</a:t>
            </a:r>
          </a:p>
        </p:txBody>
      </p:sp>
      <p:sp>
        <p:nvSpPr>
          <p:cNvPr id="563278" name="Rectangle 78"/>
          <p:cNvSpPr>
            <a:spLocks noChangeArrowheads="1"/>
          </p:cNvSpPr>
          <p:nvPr/>
        </p:nvSpPr>
        <p:spPr bwMode="auto">
          <a:xfrm>
            <a:off x="6156325" y="3883025"/>
            <a:ext cx="287338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563279" name="Line 79"/>
          <p:cNvSpPr>
            <a:spLocks noChangeShapeType="1"/>
          </p:cNvSpPr>
          <p:nvPr/>
        </p:nvSpPr>
        <p:spPr bwMode="auto">
          <a:xfrm>
            <a:off x="6659563" y="2954338"/>
            <a:ext cx="576262" cy="504825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head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3280" name="Rectangle 80"/>
          <p:cNvSpPr>
            <a:spLocks noChangeArrowheads="1"/>
          </p:cNvSpPr>
          <p:nvPr/>
        </p:nvSpPr>
        <p:spPr bwMode="auto">
          <a:xfrm>
            <a:off x="6732588" y="2874963"/>
            <a:ext cx="254000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i="1">
                <a:sym typeface="Symbol" panose="05050102010706020507" pitchFamily="18" charset="2"/>
              </a:rPr>
              <a:t>+</a:t>
            </a:r>
          </a:p>
        </p:txBody>
      </p:sp>
      <p:sp>
        <p:nvSpPr>
          <p:cNvPr id="563281" name="Line 81"/>
          <p:cNvSpPr>
            <a:spLocks noChangeShapeType="1"/>
          </p:cNvSpPr>
          <p:nvPr/>
        </p:nvSpPr>
        <p:spPr bwMode="auto">
          <a:xfrm flipV="1">
            <a:off x="6659563" y="4394200"/>
            <a:ext cx="576262" cy="576263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head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3282" name="Rectangle 82"/>
          <p:cNvSpPr>
            <a:spLocks noChangeArrowheads="1"/>
          </p:cNvSpPr>
          <p:nvPr/>
        </p:nvSpPr>
        <p:spPr bwMode="auto">
          <a:xfrm>
            <a:off x="6838950" y="4316413"/>
            <a:ext cx="254000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</a:t>
            </a:r>
          </a:p>
        </p:txBody>
      </p:sp>
      <p:sp>
        <p:nvSpPr>
          <p:cNvPr id="563283" name="Line 83"/>
          <p:cNvSpPr>
            <a:spLocks noChangeShapeType="1"/>
          </p:cNvSpPr>
          <p:nvPr/>
        </p:nvSpPr>
        <p:spPr bwMode="auto">
          <a:xfrm flipV="1">
            <a:off x="6659563" y="5618163"/>
            <a:ext cx="576262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head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3284" name="Rectangle 84"/>
          <p:cNvSpPr>
            <a:spLocks noChangeArrowheads="1"/>
          </p:cNvSpPr>
          <p:nvPr/>
        </p:nvSpPr>
        <p:spPr bwMode="auto">
          <a:xfrm>
            <a:off x="6804025" y="5324475"/>
            <a:ext cx="254000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</a:t>
            </a:r>
          </a:p>
        </p:txBody>
      </p:sp>
      <p:sp>
        <p:nvSpPr>
          <p:cNvPr id="563285" name="Line 85"/>
          <p:cNvSpPr>
            <a:spLocks noChangeShapeType="1"/>
          </p:cNvSpPr>
          <p:nvPr/>
        </p:nvSpPr>
        <p:spPr bwMode="auto">
          <a:xfrm>
            <a:off x="8027988" y="4897438"/>
            <a:ext cx="0" cy="360362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head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3286" name="AutoShape 8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287" name="AutoShape 8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288" name="AutoShape 88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289" name="AutoShape 8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291" name="Text Box 91"/>
          <p:cNvSpPr txBox="1">
            <a:spLocks noChangeArrowheads="1"/>
          </p:cNvSpPr>
          <p:nvPr/>
        </p:nvSpPr>
        <p:spPr bwMode="auto">
          <a:xfrm>
            <a:off x="2771775" y="6021388"/>
            <a:ext cx="1368425" cy="46672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8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kumimoji="0"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(E).</a:t>
            </a:r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1800" b="1" i="1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63292" name="Line 92"/>
          <p:cNvSpPr>
            <a:spLocks noChangeShapeType="1"/>
          </p:cNvSpPr>
          <p:nvPr/>
        </p:nvSpPr>
        <p:spPr bwMode="auto">
          <a:xfrm flipH="1">
            <a:off x="3492500" y="5661025"/>
            <a:ext cx="0" cy="360363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3293" name="Rectangle 93"/>
          <p:cNvSpPr>
            <a:spLocks noChangeArrowheads="1"/>
          </p:cNvSpPr>
          <p:nvPr/>
        </p:nvSpPr>
        <p:spPr bwMode="auto">
          <a:xfrm>
            <a:off x="3276600" y="5589588"/>
            <a:ext cx="287338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563294" name="Arc 94"/>
          <p:cNvSpPr/>
          <p:nvPr/>
        </p:nvSpPr>
        <p:spPr bwMode="auto">
          <a:xfrm flipH="1">
            <a:off x="2195513" y="4652963"/>
            <a:ext cx="288925" cy="2889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63295" name="Arc 95"/>
          <p:cNvSpPr/>
          <p:nvPr/>
        </p:nvSpPr>
        <p:spPr bwMode="auto">
          <a:xfrm rot="-16200000">
            <a:off x="2520157" y="4906169"/>
            <a:ext cx="215900" cy="287337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000080"/>
            </a:solidFill>
            <a:rou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63297" name="Rectangle 97"/>
          <p:cNvSpPr>
            <a:spLocks noChangeArrowheads="1"/>
          </p:cNvSpPr>
          <p:nvPr/>
        </p:nvSpPr>
        <p:spPr bwMode="auto">
          <a:xfrm>
            <a:off x="2582863" y="4357688"/>
            <a:ext cx="260350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(</a:t>
            </a:r>
          </a:p>
        </p:txBody>
      </p:sp>
      <p:sp>
        <p:nvSpPr>
          <p:cNvPr id="563299" name="Arc 99"/>
          <p:cNvSpPr/>
          <p:nvPr/>
        </p:nvSpPr>
        <p:spPr bwMode="auto">
          <a:xfrm>
            <a:off x="2484438" y="4652963"/>
            <a:ext cx="287337" cy="2889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000080"/>
            </a:solidFill>
            <a:rou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63300" name="Line 100"/>
          <p:cNvSpPr>
            <a:spLocks noChangeShapeType="1"/>
          </p:cNvSpPr>
          <p:nvPr/>
        </p:nvSpPr>
        <p:spPr bwMode="auto">
          <a:xfrm flipV="1">
            <a:off x="1979613" y="4221163"/>
            <a:ext cx="0" cy="720725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3301" name="Line 101"/>
          <p:cNvSpPr>
            <a:spLocks noChangeShapeType="1"/>
          </p:cNvSpPr>
          <p:nvPr/>
        </p:nvSpPr>
        <p:spPr bwMode="auto">
          <a:xfrm>
            <a:off x="1979613" y="4221163"/>
            <a:ext cx="1152525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3302" name="Rectangle 102"/>
          <p:cNvSpPr>
            <a:spLocks noChangeArrowheads="1"/>
          </p:cNvSpPr>
          <p:nvPr/>
        </p:nvSpPr>
        <p:spPr bwMode="auto">
          <a:xfrm>
            <a:off x="2124075" y="3925888"/>
            <a:ext cx="287338" cy="3667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563303" name="Rectangle 103"/>
          <p:cNvSpPr>
            <a:spLocks noChangeArrowheads="1"/>
          </p:cNvSpPr>
          <p:nvPr/>
        </p:nvSpPr>
        <p:spPr bwMode="auto">
          <a:xfrm>
            <a:off x="1547813" y="4156075"/>
            <a:ext cx="360362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>
                <a:sym typeface="Symbol" panose="05050102010706020507" pitchFamily="18" charset="2"/>
              </a:rPr>
              <a:t>I</a:t>
            </a:r>
            <a:r>
              <a:rPr lang="en-US" altLang="zh-CN" sz="1800" b="1" baseline="-25000">
                <a:sym typeface="Symbol" panose="05050102010706020507" pitchFamily="18" charset="2"/>
              </a:rPr>
              <a:t>3</a:t>
            </a:r>
          </a:p>
        </p:txBody>
      </p:sp>
      <p:sp>
        <p:nvSpPr>
          <p:cNvPr id="563304" name="Line 104"/>
          <p:cNvSpPr>
            <a:spLocks noChangeShapeType="1"/>
          </p:cNvSpPr>
          <p:nvPr/>
        </p:nvSpPr>
        <p:spPr bwMode="auto">
          <a:xfrm flipV="1">
            <a:off x="1692275" y="4581525"/>
            <a:ext cx="0" cy="360363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3305" name="Rectangle 105"/>
          <p:cNvSpPr>
            <a:spLocks noChangeArrowheads="1"/>
          </p:cNvSpPr>
          <p:nvPr/>
        </p:nvSpPr>
        <p:spPr bwMode="auto">
          <a:xfrm>
            <a:off x="1403350" y="4575175"/>
            <a:ext cx="287338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v</a:t>
            </a:r>
          </a:p>
        </p:txBody>
      </p:sp>
      <p:sp>
        <p:nvSpPr>
          <p:cNvPr id="563306" name="Rectangle 106"/>
          <p:cNvSpPr>
            <a:spLocks noChangeArrowheads="1"/>
          </p:cNvSpPr>
          <p:nvPr/>
        </p:nvSpPr>
        <p:spPr bwMode="auto">
          <a:xfrm>
            <a:off x="7740650" y="4933950"/>
            <a:ext cx="254000" cy="3667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i="1">
                <a:sym typeface="Symbol" panose="05050102010706020507" pitchFamily="18" charset="2"/>
              </a:rPr>
              <a:t>+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63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63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63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63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63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63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63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63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63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63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563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563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563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56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56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563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56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56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563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563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563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563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563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563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563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563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563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563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563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563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563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563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563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563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56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563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563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563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563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563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563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563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500"/>
                                        <p:tgtEl>
                                          <p:spTgt spid="563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4" dur="500"/>
                                        <p:tgtEl>
                                          <p:spTgt spid="563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0"/>
                                        <p:tgtEl>
                                          <p:spTgt spid="56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0"/>
                                        <p:tgtEl>
                                          <p:spTgt spid="56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5" dur="500"/>
                                        <p:tgtEl>
                                          <p:spTgt spid="56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0" dur="500"/>
                                        <p:tgtEl>
                                          <p:spTgt spid="563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500"/>
                                        <p:tgtEl>
                                          <p:spTgt spid="563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8" dur="500"/>
                                        <p:tgtEl>
                                          <p:spTgt spid="563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1" dur="500"/>
                                        <p:tgtEl>
                                          <p:spTgt spid="563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500"/>
                                        <p:tgtEl>
                                          <p:spTgt spid="563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9" dur="500"/>
                                        <p:tgtEl>
                                          <p:spTgt spid="563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4" dur="500"/>
                                        <p:tgtEl>
                                          <p:spTgt spid="563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7" dur="500"/>
                                        <p:tgtEl>
                                          <p:spTgt spid="563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0" dur="500"/>
                                        <p:tgtEl>
                                          <p:spTgt spid="563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5" dur="500"/>
                                        <p:tgtEl>
                                          <p:spTgt spid="563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8" dur="500"/>
                                        <p:tgtEl>
                                          <p:spTgt spid="563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1" dur="500"/>
                                        <p:tgtEl>
                                          <p:spTgt spid="56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6" dur="500"/>
                                        <p:tgtEl>
                                          <p:spTgt spid="563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9" dur="500"/>
                                        <p:tgtEl>
                                          <p:spTgt spid="563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4" dur="500"/>
                                        <p:tgtEl>
                                          <p:spTgt spid="563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7" dur="500"/>
                                        <p:tgtEl>
                                          <p:spTgt spid="563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2" dur="500"/>
                                        <p:tgtEl>
                                          <p:spTgt spid="563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5" dur="500"/>
                                        <p:tgtEl>
                                          <p:spTgt spid="563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0" dur="500"/>
                                        <p:tgtEl>
                                          <p:spTgt spid="563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3" dur="500"/>
                                        <p:tgtEl>
                                          <p:spTgt spid="563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6" dur="500"/>
                                        <p:tgtEl>
                                          <p:spTgt spid="563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1" dur="500"/>
                                        <p:tgtEl>
                                          <p:spTgt spid="563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4" dur="500"/>
                                        <p:tgtEl>
                                          <p:spTgt spid="563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18" grpId="0" animBg="1"/>
      <p:bldP spid="563219" grpId="0" animBg="1"/>
      <p:bldP spid="563220" grpId="0" animBg="1"/>
      <p:bldP spid="563221" grpId="0"/>
      <p:bldP spid="563222" grpId="0" animBg="1"/>
      <p:bldP spid="563224" grpId="0"/>
      <p:bldP spid="563225" grpId="0"/>
      <p:bldP spid="563227" grpId="0"/>
      <p:bldP spid="563230" grpId="0" animBg="1"/>
      <p:bldP spid="563234" grpId="0" animBg="1"/>
      <p:bldP spid="563235" grpId="0" animBg="1"/>
      <p:bldP spid="563236" grpId="0" animBg="1"/>
      <p:bldP spid="563237" grpId="0"/>
      <p:bldP spid="563238" grpId="0" animBg="1"/>
      <p:bldP spid="563240" grpId="0" animBg="1"/>
      <p:bldP spid="563241" grpId="0" animBg="1"/>
      <p:bldP spid="563242" grpId="0" animBg="1"/>
      <p:bldP spid="563243" grpId="0" animBg="1"/>
      <p:bldP spid="563246" grpId="0" animBg="1"/>
      <p:bldP spid="563247" grpId="0"/>
      <p:bldP spid="563248" grpId="0"/>
      <p:bldP spid="563249" grpId="0" animBg="1"/>
      <p:bldP spid="563251" grpId="0"/>
      <p:bldP spid="563252" grpId="0"/>
      <p:bldP spid="563253" grpId="0" animBg="1"/>
      <p:bldP spid="563254" grpId="0" animBg="1"/>
      <p:bldP spid="563255" grpId="0"/>
      <p:bldP spid="563256" grpId="0" animBg="1"/>
      <p:bldP spid="563257" grpId="0" animBg="1"/>
      <p:bldP spid="563258" grpId="0" animBg="1"/>
      <p:bldP spid="563259" grpId="0"/>
      <p:bldP spid="563260" grpId="0" animBg="1"/>
      <p:bldP spid="563261" grpId="0"/>
      <p:bldP spid="563262" grpId="0" animBg="1"/>
      <p:bldP spid="563263" grpId="0"/>
      <p:bldP spid="563264" grpId="0"/>
      <p:bldP spid="563265" grpId="0"/>
      <p:bldP spid="563266" grpId="0"/>
      <p:bldP spid="563267" grpId="0"/>
      <p:bldP spid="563268" grpId="0" animBg="1"/>
      <p:bldP spid="563269" grpId="0"/>
      <p:bldP spid="563270" grpId="0" animBg="1"/>
      <p:bldP spid="563271" grpId="0"/>
      <p:bldP spid="563273" grpId="0" animBg="1"/>
      <p:bldP spid="563274" grpId="0"/>
      <p:bldP spid="563275" grpId="0" animBg="1"/>
      <p:bldP spid="563276" grpId="0" animBg="1"/>
      <p:bldP spid="563277" grpId="0"/>
      <p:bldP spid="563278" grpId="0"/>
      <p:bldP spid="563279" grpId="0" animBg="1"/>
      <p:bldP spid="563280" grpId="0"/>
      <p:bldP spid="563281" grpId="0" animBg="1"/>
      <p:bldP spid="563282" grpId="0"/>
      <p:bldP spid="563283" grpId="0" animBg="1"/>
      <p:bldP spid="563284" grpId="0"/>
      <p:bldP spid="563285" grpId="0" animBg="1"/>
      <p:bldP spid="563291" grpId="0" animBg="1"/>
      <p:bldP spid="563292" grpId="0" animBg="1"/>
      <p:bldP spid="563293" grpId="0"/>
      <p:bldP spid="563294" grpId="0" animBg="1"/>
      <p:bldP spid="563295" grpId="0" animBg="1"/>
      <p:bldP spid="563297" grpId="0"/>
      <p:bldP spid="563299" grpId="0" animBg="1"/>
      <p:bldP spid="563300" grpId="0" animBg="1"/>
      <p:bldP spid="563301" grpId="0" animBg="1"/>
      <p:bldP spid="563302" grpId="0"/>
      <p:bldP spid="563303" grpId="0"/>
      <p:bldP spid="563304" grpId="0" animBg="1"/>
      <p:bldP spid="563305" grpId="0"/>
      <p:bldP spid="563306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253" name="Rectangle 29"/>
          <p:cNvSpPr>
            <a:spLocks noChangeArrowheads="1"/>
          </p:cNvSpPr>
          <p:nvPr/>
        </p:nvSpPr>
        <p:spPr bwMode="auto">
          <a:xfrm>
            <a:off x="35496" y="188913"/>
            <a:ext cx="5976938" cy="585787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zh-CN" altLang="en-US" sz="3600" b="1" dirty="0">
                <a:solidFill>
                  <a:srgbClr val="800080"/>
                </a:solidFill>
                <a:ea typeface="华文行楷" pitchFamily="2" charset="-122"/>
              </a:rPr>
              <a:t>二义文法在</a:t>
            </a:r>
            <a:r>
              <a:rPr lang="en-US" altLang="zh-CN" sz="3600" dirty="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en-US" altLang="zh-CN" sz="3600" b="1" dirty="0">
                <a:solidFill>
                  <a:srgbClr val="800080"/>
                </a:solidFill>
                <a:ea typeface="华文行楷" pitchFamily="2" charset="-122"/>
              </a:rPr>
              <a:t> </a:t>
            </a:r>
            <a:r>
              <a:rPr lang="zh-CN" altLang="en-US" sz="3600" b="1" dirty="0">
                <a:solidFill>
                  <a:srgbClr val="800080"/>
                </a:solidFill>
                <a:ea typeface="华文行楷" pitchFamily="2" charset="-122"/>
              </a:rPr>
              <a:t>分析中的应用</a:t>
            </a:r>
          </a:p>
        </p:txBody>
      </p:sp>
      <p:sp>
        <p:nvSpPr>
          <p:cNvPr id="564258" name="Text Box 34"/>
          <p:cNvSpPr txBox="1">
            <a:spLocks noChangeArrowheads="1"/>
          </p:cNvSpPr>
          <p:nvPr/>
        </p:nvSpPr>
        <p:spPr bwMode="auto">
          <a:xfrm>
            <a:off x="684213" y="1212850"/>
            <a:ext cx="6480175" cy="49466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kumimoji="0" lang="en-US" altLang="zh-CN" sz="3200" b="1">
                <a:solidFill>
                  <a:srgbClr val="800080"/>
                </a:solidFill>
              </a:rPr>
              <a:t> </a:t>
            </a:r>
            <a:r>
              <a:rPr kumimoji="0" lang="zh-CN" altLang="en-US" sz="3200" b="1">
                <a:solidFill>
                  <a:srgbClr val="800080"/>
                </a:solidFill>
              </a:rPr>
              <a:t>例</a:t>
            </a:r>
            <a:r>
              <a:rPr lang="zh-CN" altLang="en-US" sz="3200" b="1">
                <a:solidFill>
                  <a:srgbClr val="800080"/>
                </a:solidFill>
              </a:rPr>
              <a:t>：</a:t>
            </a:r>
            <a:r>
              <a:rPr lang="zh-CN" altLang="en-US" b="1"/>
              <a:t>右边文法</a:t>
            </a:r>
            <a:r>
              <a:rPr kumimoji="0" lang="en-US" altLang="zh-CN" i="1">
                <a:sym typeface="Symbol" panose="05050102010706020507" pitchFamily="18" charset="2"/>
              </a:rPr>
              <a:t>G’ </a:t>
            </a:r>
            <a:r>
              <a:rPr kumimoji="0" lang="en-US" altLang="zh-CN">
                <a:sym typeface="Symbol" panose="05050102010706020507" pitchFamily="18" charset="2"/>
              </a:rPr>
              <a:t>[</a:t>
            </a:r>
            <a:r>
              <a:rPr kumimoji="0" lang="en-US" altLang="zh-CN" i="1">
                <a:sym typeface="Symbol" panose="05050102010706020507" pitchFamily="18" charset="2"/>
              </a:rPr>
              <a:t>S</a:t>
            </a:r>
            <a:r>
              <a:rPr kumimoji="0" lang="en-US" altLang="zh-CN">
                <a:sym typeface="Symbol" panose="05050102010706020507" pitchFamily="18" charset="2"/>
              </a:rPr>
              <a:t>] </a:t>
            </a:r>
            <a:r>
              <a:rPr kumimoji="0" lang="zh-CN" altLang="en-US" b="1">
                <a:sym typeface="Symbol" panose="05050102010706020507" pitchFamily="18" charset="2"/>
              </a:rPr>
              <a:t>的</a:t>
            </a:r>
            <a:r>
              <a:rPr lang="zh-CN" altLang="en-US" b="1">
                <a:solidFill>
                  <a:srgbClr val="800080"/>
                </a:solidFill>
              </a:rPr>
              <a:t> </a:t>
            </a:r>
            <a:r>
              <a:rPr lang="en-US" altLang="zh-CN"/>
              <a:t>LR</a:t>
            </a:r>
            <a:r>
              <a:rPr lang="zh-CN" altLang="en-US"/>
              <a:t>（</a:t>
            </a:r>
            <a:r>
              <a:rPr lang="en-US" altLang="zh-CN"/>
              <a:t>0</a:t>
            </a:r>
            <a:r>
              <a:rPr lang="zh-CN" altLang="en-US"/>
              <a:t>）</a:t>
            </a:r>
            <a:r>
              <a:rPr lang="en-US" altLang="zh-CN"/>
              <a:t>FSM </a:t>
            </a:r>
            <a:r>
              <a:rPr lang="zh-CN" altLang="en-US" b="1"/>
              <a:t>中，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zh-CN" altLang="en-US" b="1"/>
              <a:t>          因为</a:t>
            </a:r>
            <a:r>
              <a:rPr lang="en-US" altLang="zh-CN" i="1">
                <a:sym typeface="Symbol" panose="05050102010706020507" pitchFamily="18" charset="2"/>
              </a:rPr>
              <a:t>+, </a:t>
            </a:r>
            <a:r>
              <a:rPr lang="en-US" altLang="zh-CN">
                <a:sym typeface="Symbol" panose="05050102010706020507" pitchFamily="18" charset="2"/>
              </a:rPr>
              <a:t></a:t>
            </a:r>
            <a:r>
              <a:rPr lang="en-US" altLang="zh-CN"/>
              <a:t>Follow(</a:t>
            </a:r>
            <a:r>
              <a:rPr lang="en-US" altLang="zh-CN" i="1"/>
              <a:t>E</a:t>
            </a:r>
            <a:r>
              <a:rPr lang="en-US" altLang="zh-CN"/>
              <a:t>)={</a:t>
            </a:r>
            <a:r>
              <a:rPr lang="en-US" altLang="zh-CN" i="1">
                <a:sym typeface="Symbol" panose="05050102010706020507" pitchFamily="18" charset="2"/>
              </a:rPr>
              <a:t>+, </a:t>
            </a:r>
            <a:r>
              <a:rPr lang="en-US" altLang="zh-CN">
                <a:sym typeface="Symbol" panose="05050102010706020507" pitchFamily="18" charset="2"/>
              </a:rPr>
              <a:t>, </a:t>
            </a:r>
            <a:r>
              <a:rPr lang="en-US" altLang="zh-CN" i="1">
                <a:sym typeface="Symbol" panose="05050102010706020507" pitchFamily="18" charset="2"/>
              </a:rPr>
              <a:t>)</a:t>
            </a:r>
            <a:r>
              <a:rPr lang="en-US" altLang="zh-CN">
                <a:sym typeface="Symbol" panose="05050102010706020507" pitchFamily="18" charset="2"/>
              </a:rPr>
              <a:t>,#</a:t>
            </a:r>
            <a:r>
              <a:rPr lang="en-US" altLang="zh-CN"/>
              <a:t>}</a:t>
            </a:r>
            <a:r>
              <a:rPr lang="en-US" altLang="zh-CN" b="1"/>
              <a:t>,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en-US" altLang="zh-CN" b="1"/>
              <a:t>          </a:t>
            </a:r>
            <a:r>
              <a:rPr lang="zh-CN" altLang="en-US" b="1"/>
              <a:t>状态 </a:t>
            </a:r>
            <a:r>
              <a:rPr kumimoji="0" lang="en-US" altLang="zh-CN" b="1">
                <a:sym typeface="Symbol" panose="05050102010706020507" pitchFamily="18" charset="2"/>
              </a:rPr>
              <a:t>I</a:t>
            </a:r>
            <a:r>
              <a:rPr kumimoji="0" lang="en-US" altLang="zh-CN" b="1" baseline="-25000">
                <a:sym typeface="Symbol" panose="05050102010706020507" pitchFamily="18" charset="2"/>
              </a:rPr>
              <a:t>9</a:t>
            </a:r>
            <a:r>
              <a:rPr kumimoji="0" lang="en-US" altLang="zh-CN">
                <a:sym typeface="Symbol" panose="05050102010706020507" pitchFamily="18" charset="2"/>
              </a:rPr>
              <a:t> </a:t>
            </a:r>
            <a:r>
              <a:rPr lang="zh-CN" altLang="en-US" b="1"/>
              <a:t>和 </a:t>
            </a:r>
            <a:r>
              <a:rPr kumimoji="0" lang="en-US" altLang="zh-CN" b="1">
                <a:sym typeface="Symbol" panose="05050102010706020507" pitchFamily="18" charset="2"/>
              </a:rPr>
              <a:t>I</a:t>
            </a:r>
            <a:r>
              <a:rPr kumimoji="0" lang="en-US" altLang="zh-CN" b="1" baseline="-25000">
                <a:sym typeface="Symbol" panose="05050102010706020507" pitchFamily="18" charset="2"/>
              </a:rPr>
              <a:t>10</a:t>
            </a:r>
            <a:r>
              <a:rPr kumimoji="0" lang="en-US" altLang="zh-CN">
                <a:sym typeface="Symbol" panose="05050102010706020507" pitchFamily="18" charset="2"/>
              </a:rPr>
              <a:t> </a:t>
            </a:r>
            <a:r>
              <a:rPr lang="zh-CN" altLang="en-US" b="1"/>
              <a:t>存在移进</a:t>
            </a:r>
            <a:r>
              <a:rPr lang="zh-CN" altLang="en-US" b="1">
                <a:sym typeface="Symbol" panose="05050102010706020507" pitchFamily="18" charset="2"/>
              </a:rPr>
              <a:t></a:t>
            </a:r>
            <a:r>
              <a:rPr lang="zh-CN" altLang="en-US" b="1"/>
              <a:t>归约冲突</a:t>
            </a:r>
            <a:r>
              <a:rPr lang="en-US" altLang="zh-CN" b="1"/>
              <a:t>,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en-US" altLang="zh-CN" b="1"/>
              <a:t>          </a:t>
            </a:r>
            <a:r>
              <a:rPr lang="zh-CN" altLang="en-US" b="1"/>
              <a:t>所以，该文法不是</a:t>
            </a:r>
            <a:r>
              <a:rPr lang="en-US" altLang="zh-CN"/>
              <a:t>SLR</a:t>
            </a: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zh-CN" altLang="en-US" b="1"/>
              <a:t>文法</a:t>
            </a:r>
          </a:p>
          <a:p>
            <a:pPr lvl="1">
              <a:buFont typeface="Symbol" panose="05050102010706020507" pitchFamily="18" charset="2"/>
              <a:buNone/>
            </a:pPr>
            <a:endParaRPr lang="zh-CN" altLang="en-US" sz="1000" b="1"/>
          </a:p>
          <a:p>
            <a:pPr lvl="1">
              <a:buFont typeface="Symbol" panose="05050102010706020507" pitchFamily="18" charset="2"/>
              <a:buNone/>
            </a:pPr>
            <a:r>
              <a:rPr lang="zh-CN" altLang="en-US" b="1"/>
              <a:t>          但如果</a:t>
            </a:r>
            <a:r>
              <a:rPr lang="zh-CN" altLang="en-US" b="1">
                <a:solidFill>
                  <a:srgbClr val="800080"/>
                </a:solidFill>
              </a:rPr>
              <a:t>规定 </a:t>
            </a:r>
            <a:r>
              <a:rPr lang="zh-CN" altLang="en-US">
                <a:solidFill>
                  <a:srgbClr val="800080"/>
                </a:solidFill>
                <a:sym typeface="Symbol" panose="05050102010706020507" pitchFamily="18" charset="2"/>
              </a:rPr>
              <a:t> </a:t>
            </a:r>
            <a:r>
              <a:rPr lang="zh-CN" altLang="en-US" b="1">
                <a:solidFill>
                  <a:srgbClr val="800080"/>
                </a:solidFill>
              </a:rPr>
              <a:t>的优先级高于</a:t>
            </a:r>
            <a:r>
              <a:rPr lang="en-US" altLang="zh-CN" i="1">
                <a:solidFill>
                  <a:srgbClr val="800080"/>
                </a:solidFill>
                <a:sym typeface="Symbol" panose="05050102010706020507" pitchFamily="18" charset="2"/>
              </a:rPr>
              <a:t>+</a:t>
            </a:r>
            <a:r>
              <a:rPr lang="zh-CN" altLang="en-US" b="1">
                <a:solidFill>
                  <a:srgbClr val="800080"/>
                </a:solidFill>
              </a:rPr>
              <a:t>， 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zh-CN" altLang="en-US" b="1">
                <a:solidFill>
                  <a:srgbClr val="800080"/>
                </a:solidFill>
              </a:rPr>
              <a:t>           </a:t>
            </a:r>
            <a:r>
              <a:rPr lang="zh-CN" altLang="en-US">
                <a:solidFill>
                  <a:srgbClr val="800080"/>
                </a:solidFill>
                <a:sym typeface="Symbol" panose="05050102010706020507" pitchFamily="18" charset="2"/>
              </a:rPr>
              <a:t> </a:t>
            </a:r>
            <a:r>
              <a:rPr lang="zh-CN" altLang="en-US" b="1">
                <a:solidFill>
                  <a:srgbClr val="800080"/>
                </a:solidFill>
              </a:rPr>
              <a:t>和 </a:t>
            </a:r>
            <a:r>
              <a:rPr lang="en-US" altLang="zh-CN" i="1">
                <a:solidFill>
                  <a:srgbClr val="800080"/>
                </a:solidFill>
                <a:sym typeface="Symbol" panose="05050102010706020507" pitchFamily="18" charset="2"/>
              </a:rPr>
              <a:t>+</a:t>
            </a:r>
            <a:r>
              <a:rPr lang="zh-CN" altLang="en-US" b="1">
                <a:solidFill>
                  <a:srgbClr val="800080"/>
                </a:solidFill>
              </a:rPr>
              <a:t>都服从左结合性</a:t>
            </a:r>
            <a:r>
              <a:rPr lang="en-US" altLang="zh-CN" b="1"/>
              <a:t>,</a:t>
            </a:r>
            <a:r>
              <a:rPr lang="zh-CN" altLang="en-US" b="1"/>
              <a:t>则可以解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zh-CN" altLang="en-US" b="1"/>
              <a:t>          决 </a:t>
            </a:r>
            <a:r>
              <a:rPr kumimoji="0" lang="en-US" altLang="zh-CN" b="1">
                <a:sym typeface="Symbol" panose="05050102010706020507" pitchFamily="18" charset="2"/>
              </a:rPr>
              <a:t>I</a:t>
            </a:r>
            <a:r>
              <a:rPr kumimoji="0" lang="en-US" altLang="zh-CN" b="1" baseline="-25000">
                <a:sym typeface="Symbol" panose="05050102010706020507" pitchFamily="18" charset="2"/>
              </a:rPr>
              <a:t>9</a:t>
            </a:r>
            <a:r>
              <a:rPr kumimoji="0" lang="en-US" altLang="zh-CN">
                <a:sym typeface="Symbol" panose="05050102010706020507" pitchFamily="18" charset="2"/>
              </a:rPr>
              <a:t> </a:t>
            </a:r>
            <a:r>
              <a:rPr lang="zh-CN" altLang="en-US" b="1"/>
              <a:t>和 </a:t>
            </a:r>
            <a:r>
              <a:rPr kumimoji="0" lang="en-US" altLang="zh-CN" b="1">
                <a:sym typeface="Symbol" panose="05050102010706020507" pitchFamily="18" charset="2"/>
              </a:rPr>
              <a:t>I</a:t>
            </a:r>
            <a:r>
              <a:rPr kumimoji="0" lang="en-US" altLang="zh-CN" b="1" baseline="-25000">
                <a:sym typeface="Symbol" panose="05050102010706020507" pitchFamily="18" charset="2"/>
              </a:rPr>
              <a:t>10</a:t>
            </a:r>
            <a:r>
              <a:rPr kumimoji="0" lang="en-US" altLang="zh-CN">
                <a:sym typeface="Symbol" panose="05050102010706020507" pitchFamily="18" charset="2"/>
              </a:rPr>
              <a:t> </a:t>
            </a:r>
            <a:r>
              <a:rPr kumimoji="0" lang="zh-CN" altLang="en-US" b="1">
                <a:sym typeface="Symbol" panose="05050102010706020507" pitchFamily="18" charset="2"/>
              </a:rPr>
              <a:t>中</a:t>
            </a:r>
            <a:r>
              <a:rPr lang="zh-CN" altLang="en-US" b="1"/>
              <a:t>的移进</a:t>
            </a:r>
            <a:r>
              <a:rPr lang="zh-CN" altLang="en-US" b="1">
                <a:sym typeface="Symbol" panose="05050102010706020507" pitchFamily="18" charset="2"/>
              </a:rPr>
              <a:t></a:t>
            </a:r>
            <a:r>
              <a:rPr lang="zh-CN" altLang="en-US" b="1"/>
              <a:t>归约冲突：</a:t>
            </a:r>
          </a:p>
          <a:p>
            <a:pPr lvl="1">
              <a:buFont typeface="Symbol" panose="05050102010706020507" pitchFamily="18" charset="2"/>
              <a:buNone/>
            </a:pPr>
            <a:endParaRPr lang="zh-CN" altLang="en-US" sz="1000" b="1"/>
          </a:p>
          <a:p>
            <a:pPr lvl="2">
              <a:buFontTx/>
              <a:buChar char="•"/>
            </a:pPr>
            <a:r>
              <a:rPr lang="zh-CN" altLang="en-US" b="1"/>
              <a:t>   对于 </a:t>
            </a:r>
            <a:r>
              <a:rPr kumimoji="0" lang="en-US" altLang="zh-CN" b="1">
                <a:sym typeface="Symbol" panose="05050102010706020507" pitchFamily="18" charset="2"/>
              </a:rPr>
              <a:t>I</a:t>
            </a:r>
            <a:r>
              <a:rPr kumimoji="0" lang="en-US" altLang="zh-CN" b="1" baseline="-25000">
                <a:sym typeface="Symbol" panose="05050102010706020507" pitchFamily="18" charset="2"/>
              </a:rPr>
              <a:t>9</a:t>
            </a:r>
          </a:p>
          <a:p>
            <a:pPr lvl="2">
              <a:buFontTx/>
              <a:buNone/>
            </a:pPr>
            <a:endParaRPr kumimoji="0" lang="en-US" altLang="zh-CN" sz="1000">
              <a:sym typeface="Symbol" panose="05050102010706020507" pitchFamily="18" charset="2"/>
            </a:endParaRPr>
          </a:p>
          <a:p>
            <a:pPr lvl="2">
              <a:buFontTx/>
              <a:buNone/>
            </a:pPr>
            <a:r>
              <a:rPr kumimoji="0" lang="en-US" altLang="zh-CN" b="1">
                <a:sym typeface="Symbol" panose="05050102010706020507" pitchFamily="18" charset="2"/>
              </a:rPr>
              <a:t>       </a:t>
            </a:r>
            <a:r>
              <a:rPr kumimoji="0" lang="zh-CN" altLang="en-US" b="1">
                <a:sym typeface="Symbol" panose="05050102010706020507" pitchFamily="18" charset="2"/>
              </a:rPr>
              <a:t>若遇</a:t>
            </a:r>
            <a:r>
              <a:rPr lang="zh-CN" altLang="en-US">
                <a:sym typeface="Symbol" panose="05050102010706020507" pitchFamily="18" charset="2"/>
              </a:rPr>
              <a:t></a:t>
            </a:r>
            <a:r>
              <a:rPr kumimoji="0" lang="zh-CN" altLang="en-US" b="1">
                <a:sym typeface="Symbol" panose="05050102010706020507" pitchFamily="18" charset="2"/>
              </a:rPr>
              <a:t>，则移进；若遇</a:t>
            </a:r>
            <a:r>
              <a:rPr lang="en-US" altLang="zh-CN" i="1">
                <a:sym typeface="Symbol" panose="05050102010706020507" pitchFamily="18" charset="2"/>
              </a:rPr>
              <a:t>+</a:t>
            </a:r>
            <a:r>
              <a:rPr kumimoji="0" lang="zh-CN" altLang="en-US" b="1">
                <a:sym typeface="Symbol" panose="05050102010706020507" pitchFamily="18" charset="2"/>
              </a:rPr>
              <a:t>，则归约</a:t>
            </a:r>
          </a:p>
          <a:p>
            <a:pPr lvl="2">
              <a:buFontTx/>
              <a:buNone/>
            </a:pPr>
            <a:endParaRPr kumimoji="0" lang="zh-CN" altLang="en-US" sz="1000" b="1">
              <a:sym typeface="Symbol" panose="05050102010706020507" pitchFamily="18" charset="2"/>
            </a:endParaRPr>
          </a:p>
          <a:p>
            <a:pPr lvl="2">
              <a:buFontTx/>
              <a:buChar char="•"/>
            </a:pPr>
            <a:r>
              <a:rPr lang="zh-CN" altLang="en-US"/>
              <a:t>  </a:t>
            </a:r>
            <a:r>
              <a:rPr lang="zh-CN" altLang="en-US" b="1"/>
              <a:t>对于 </a:t>
            </a:r>
            <a:r>
              <a:rPr kumimoji="0" lang="en-US" altLang="zh-CN" b="1">
                <a:sym typeface="Symbol" panose="05050102010706020507" pitchFamily="18" charset="2"/>
              </a:rPr>
              <a:t>I</a:t>
            </a:r>
            <a:r>
              <a:rPr kumimoji="0" lang="en-US" altLang="zh-CN" b="1" baseline="-25000">
                <a:sym typeface="Symbol" panose="05050102010706020507" pitchFamily="18" charset="2"/>
              </a:rPr>
              <a:t>10</a:t>
            </a:r>
          </a:p>
          <a:p>
            <a:pPr lvl="2">
              <a:buFontTx/>
              <a:buNone/>
            </a:pPr>
            <a:endParaRPr kumimoji="0" lang="en-US" altLang="zh-CN" sz="1000" baseline="-25000">
              <a:sym typeface="Symbol" panose="05050102010706020507" pitchFamily="18" charset="2"/>
            </a:endParaRPr>
          </a:p>
          <a:p>
            <a:pPr lvl="2">
              <a:buFontTx/>
              <a:buNone/>
            </a:pPr>
            <a:r>
              <a:rPr kumimoji="0" lang="en-US" altLang="zh-CN" b="1">
                <a:sym typeface="Symbol" panose="05050102010706020507" pitchFamily="18" charset="2"/>
              </a:rPr>
              <a:t>       </a:t>
            </a:r>
            <a:r>
              <a:rPr kumimoji="0" lang="zh-CN" altLang="en-US" b="1">
                <a:sym typeface="Symbol" panose="05050102010706020507" pitchFamily="18" charset="2"/>
              </a:rPr>
              <a:t>无论遇</a:t>
            </a:r>
            <a:r>
              <a:rPr lang="zh-CN" altLang="en-US">
                <a:sym typeface="Symbol" panose="05050102010706020507" pitchFamily="18" charset="2"/>
              </a:rPr>
              <a:t></a:t>
            </a:r>
            <a:r>
              <a:rPr kumimoji="0" lang="zh-CN" altLang="en-US" b="1">
                <a:sym typeface="Symbol" panose="05050102010706020507" pitchFamily="18" charset="2"/>
              </a:rPr>
              <a:t>，还是遇</a:t>
            </a:r>
            <a:r>
              <a:rPr lang="en-US" altLang="zh-CN" i="1">
                <a:sym typeface="Symbol" panose="05050102010706020507" pitchFamily="18" charset="2"/>
              </a:rPr>
              <a:t>+</a:t>
            </a:r>
            <a:r>
              <a:rPr kumimoji="0" lang="zh-CN" altLang="en-US" b="1">
                <a:sym typeface="Symbol" panose="05050102010706020507" pitchFamily="18" charset="2"/>
              </a:rPr>
              <a:t>，都归约</a:t>
            </a:r>
          </a:p>
        </p:txBody>
      </p:sp>
      <p:sp>
        <p:nvSpPr>
          <p:cNvPr id="564259" name="Text Box 35"/>
          <p:cNvSpPr txBox="1">
            <a:spLocks noChangeArrowheads="1"/>
          </p:cNvSpPr>
          <p:nvPr/>
        </p:nvSpPr>
        <p:spPr bwMode="auto">
          <a:xfrm>
            <a:off x="7094538" y="1484313"/>
            <a:ext cx="1798637" cy="2114550"/>
          </a:xfrm>
          <a:prstGeom prst="rect">
            <a:avLst/>
          </a:prstGeom>
          <a:noFill/>
          <a:ln w="9525" cap="rnd">
            <a:solidFill>
              <a:srgbClr val="990099"/>
            </a:solidFill>
            <a:prstDash val="sysDot"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800080"/>
                </a:solidFill>
              </a:rPr>
              <a:t>文法</a:t>
            </a:r>
            <a:r>
              <a:rPr kumimoji="0" lang="en-US" altLang="zh-CN" i="1">
                <a:solidFill>
                  <a:srgbClr val="800080"/>
                </a:solidFill>
                <a:sym typeface="Symbol" panose="05050102010706020507" pitchFamily="18" charset="2"/>
              </a:rPr>
              <a:t>G’ </a:t>
            </a:r>
            <a:r>
              <a:rPr kumimoji="0" lang="en-US" altLang="zh-CN">
                <a:solidFill>
                  <a:srgbClr val="800080"/>
                </a:solidFill>
                <a:sym typeface="Symbol" panose="05050102010706020507" pitchFamily="18" charset="2"/>
              </a:rPr>
              <a:t>[</a:t>
            </a:r>
            <a:r>
              <a:rPr kumimoji="0" lang="en-US" altLang="zh-CN" i="1">
                <a:solidFill>
                  <a:srgbClr val="800080"/>
                </a:solidFill>
                <a:sym typeface="Symbol" panose="05050102010706020507" pitchFamily="18" charset="2"/>
              </a:rPr>
              <a:t>S</a:t>
            </a:r>
            <a:r>
              <a:rPr kumimoji="0" lang="en-US" altLang="zh-CN">
                <a:solidFill>
                  <a:srgbClr val="800080"/>
                </a:solidFill>
                <a:sym typeface="Symbol" panose="05050102010706020507" pitchFamily="18" charset="2"/>
              </a:rPr>
              <a:t>]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(0)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S 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E</a:t>
            </a:r>
            <a:endParaRPr kumimoji="0" lang="en-US" altLang="zh-CN" sz="1800">
              <a:solidFill>
                <a:srgbClr val="80008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(1)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E + E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(2)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E 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E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(3)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( E 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(4)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v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(5)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d</a:t>
            </a:r>
          </a:p>
        </p:txBody>
      </p:sp>
      <p:sp>
        <p:nvSpPr>
          <p:cNvPr id="564288" name="Text Box 64"/>
          <p:cNvSpPr txBox="1">
            <a:spLocks noChangeArrowheads="1"/>
          </p:cNvSpPr>
          <p:nvPr/>
        </p:nvSpPr>
        <p:spPr bwMode="auto">
          <a:xfrm>
            <a:off x="7092950" y="4149725"/>
            <a:ext cx="1727200" cy="925513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9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 </a:t>
            </a:r>
            <a:r>
              <a:rPr lang="en-US" altLang="zh-CN" sz="1800" b="1" i="1">
                <a:sym typeface="Symbol" panose="05050102010706020507" pitchFamily="18" charset="2"/>
              </a:rPr>
              <a:t>E</a:t>
            </a:r>
            <a:r>
              <a:rPr lang="en-US" altLang="zh-CN" sz="1800" i="1">
                <a:sym typeface="Symbol" panose="05050102010706020507" pitchFamily="18" charset="2"/>
              </a:rPr>
              <a:t>+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E</a:t>
            </a:r>
            <a:r>
              <a:rPr lang="en-US" altLang="zh-CN" sz="1800" b="1" i="1">
                <a:sym typeface="Symbol" panose="05050102010706020507" pitchFamily="18" charset="2"/>
              </a:rPr>
              <a:t>.</a:t>
            </a:r>
            <a:endParaRPr lang="en-US" altLang="zh-CN" sz="1800" b="1" i="1">
              <a:ea typeface="华文行楷" pitchFamily="2" charset="-122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E.</a:t>
            </a:r>
            <a:r>
              <a:rPr lang="en-US" altLang="zh-CN" sz="1800" i="1">
                <a:sym typeface="Symbol" panose="05050102010706020507" pitchFamily="18" charset="2"/>
              </a:rPr>
              <a:t>+</a:t>
            </a:r>
            <a:r>
              <a:rPr lang="en-US" altLang="zh-CN" sz="1800" b="1" i="1">
                <a:sym typeface="Symbol" panose="05050102010706020507" pitchFamily="18" charset="2"/>
              </a:rPr>
              <a:t>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E</a:t>
            </a:r>
            <a:r>
              <a:rPr lang="en-US" altLang="zh-CN" sz="1800" b="1">
                <a:sym typeface="Symbol" panose="05050102010706020507" pitchFamily="18" charset="2"/>
              </a:rPr>
              <a:t>.</a:t>
            </a:r>
            <a:r>
              <a:rPr lang="en-US" altLang="zh-CN" sz="1800">
                <a:sym typeface="Symbol" panose="05050102010706020507" pitchFamily="18" charset="2"/>
              </a:rPr>
              <a:t></a:t>
            </a:r>
            <a:r>
              <a:rPr lang="en-US" altLang="zh-CN" sz="1800" b="1" i="1">
                <a:sym typeface="Symbol" panose="05050102010706020507" pitchFamily="18" charset="2"/>
              </a:rPr>
              <a:t>E</a:t>
            </a:r>
          </a:p>
        </p:txBody>
      </p:sp>
      <p:sp>
        <p:nvSpPr>
          <p:cNvPr id="564317" name="Text Box 93"/>
          <p:cNvSpPr txBox="1">
            <a:spLocks noChangeArrowheads="1"/>
          </p:cNvSpPr>
          <p:nvPr/>
        </p:nvSpPr>
        <p:spPr bwMode="auto">
          <a:xfrm>
            <a:off x="7092950" y="5456238"/>
            <a:ext cx="1727200" cy="925512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1800" b="1" baseline="-25000">
                <a:cs typeface="Times New Roman" panose="02020603050405020304" pitchFamily="18" charset="0"/>
                <a:sym typeface="Symbol" panose="05050102010706020507" pitchFamily="18" charset="2"/>
              </a:rPr>
              <a:t>10</a:t>
            </a:r>
            <a:r>
              <a:rPr kumimoji="0" lang="en-US" altLang="zh-CN" sz="1800" b="1"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1800" b="1" i="1"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 b="1"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 </a:t>
            </a:r>
            <a:r>
              <a:rPr lang="en-US" altLang="zh-CN" sz="1800" b="1" i="1">
                <a:sym typeface="Symbol" panose="05050102010706020507" pitchFamily="18" charset="2"/>
              </a:rPr>
              <a:t>E </a:t>
            </a:r>
            <a:r>
              <a:rPr lang="en-US" altLang="zh-CN" sz="1800">
                <a:sym typeface="Symbol" panose="05050102010706020507" pitchFamily="18" charset="2"/>
              </a:rPr>
              <a:t></a:t>
            </a:r>
            <a:r>
              <a:rPr lang="en-US" altLang="zh-CN" sz="1800" b="1" i="1">
                <a:ea typeface="华文行楷" pitchFamily="2" charset="-122"/>
                <a:sym typeface="Symbol" panose="05050102010706020507" pitchFamily="18" charset="2"/>
              </a:rPr>
              <a:t>E</a:t>
            </a:r>
            <a:r>
              <a:rPr lang="en-US" altLang="zh-CN" sz="1800" b="1" i="1">
                <a:sym typeface="Symbol" panose="05050102010706020507" pitchFamily="18" charset="2"/>
              </a:rPr>
              <a:t>.</a:t>
            </a:r>
            <a:endParaRPr lang="en-US" altLang="zh-CN" sz="1800" b="1" i="1">
              <a:ea typeface="华文行楷" pitchFamily="2" charset="-122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sym typeface="Symbol" panose="05050102010706020507" pitchFamily="18" charset="2"/>
              </a:rPr>
              <a:t> </a:t>
            </a:r>
            <a:r>
              <a:rPr lang="en-US" altLang="zh-CN" sz="1800" b="1" i="1">
                <a:sym typeface="Symbol" panose="05050102010706020507" pitchFamily="18" charset="2"/>
              </a:rPr>
              <a:t>E.</a:t>
            </a:r>
            <a:r>
              <a:rPr lang="en-US" altLang="zh-CN" sz="1800" i="1">
                <a:sym typeface="Symbol" panose="05050102010706020507" pitchFamily="18" charset="2"/>
              </a:rPr>
              <a:t>+</a:t>
            </a:r>
            <a:r>
              <a:rPr lang="en-US" altLang="zh-CN" sz="1800" b="1" i="1">
                <a:sym typeface="Symbol" panose="05050102010706020507" pitchFamily="18" charset="2"/>
              </a:rPr>
              <a:t>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1" i="1">
                <a:sym typeface="Symbol" panose="05050102010706020507" pitchFamily="18" charset="2"/>
              </a:rPr>
              <a:t>     E </a:t>
            </a:r>
            <a:r>
              <a:rPr lang="en-US" altLang="zh-CN" sz="1800" b="1">
                <a:sym typeface="Symbol" panose="05050102010706020507" pitchFamily="18" charset="2"/>
              </a:rPr>
              <a:t></a:t>
            </a:r>
            <a:r>
              <a:rPr lang="en-US" altLang="zh-CN" sz="1800" b="1" i="1">
                <a:sym typeface="Symbol" panose="05050102010706020507" pitchFamily="18" charset="2"/>
              </a:rPr>
              <a:t> E</a:t>
            </a:r>
            <a:r>
              <a:rPr lang="en-US" altLang="zh-CN" sz="1800" b="1">
                <a:sym typeface="Symbol" panose="05050102010706020507" pitchFamily="18" charset="2"/>
              </a:rPr>
              <a:t>.</a:t>
            </a:r>
            <a:r>
              <a:rPr lang="en-US" altLang="zh-CN" sz="1800">
                <a:sym typeface="Symbol" panose="05050102010706020507" pitchFamily="18" charset="2"/>
              </a:rPr>
              <a:t></a:t>
            </a:r>
            <a:r>
              <a:rPr lang="en-US" altLang="zh-CN" sz="1800" b="1" i="1">
                <a:sym typeface="Symbol" panose="05050102010706020507" pitchFamily="18" charset="2"/>
              </a:rPr>
              <a:t>E</a:t>
            </a:r>
          </a:p>
        </p:txBody>
      </p:sp>
      <p:sp>
        <p:nvSpPr>
          <p:cNvPr id="564254" name="AutoShape 3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4255" name="AutoShape 3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4256" name="AutoShape 32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4257" name="AutoShape 33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2" name="Rectangle 4"/>
          <p:cNvSpPr>
            <a:spLocks noChangeArrowheads="1"/>
          </p:cNvSpPr>
          <p:nvPr/>
        </p:nvSpPr>
        <p:spPr bwMode="auto">
          <a:xfrm>
            <a:off x="35222" y="188913"/>
            <a:ext cx="5976938" cy="585787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zh-CN" altLang="en-US" sz="3600" b="1" dirty="0">
                <a:solidFill>
                  <a:srgbClr val="800080"/>
                </a:solidFill>
                <a:ea typeface="华文行楷" pitchFamily="2" charset="-122"/>
              </a:rPr>
              <a:t>二义文法在</a:t>
            </a:r>
            <a:r>
              <a:rPr lang="en-US" altLang="zh-CN" sz="3600" dirty="0">
                <a:solidFill>
                  <a:srgbClr val="800080"/>
                </a:solidFill>
                <a:ea typeface="华文行楷" pitchFamily="2" charset="-122"/>
              </a:rPr>
              <a:t>LR</a:t>
            </a:r>
            <a:r>
              <a:rPr lang="en-US" altLang="zh-CN" sz="3600" b="1" dirty="0">
                <a:solidFill>
                  <a:srgbClr val="800080"/>
                </a:solidFill>
                <a:ea typeface="华文行楷" pitchFamily="2" charset="-122"/>
              </a:rPr>
              <a:t> </a:t>
            </a:r>
            <a:r>
              <a:rPr lang="zh-CN" altLang="en-US" sz="3600" b="1" dirty="0">
                <a:solidFill>
                  <a:srgbClr val="800080"/>
                </a:solidFill>
                <a:ea typeface="华文行楷" pitchFamily="2" charset="-122"/>
              </a:rPr>
              <a:t>分析中的应用</a:t>
            </a:r>
          </a:p>
        </p:txBody>
      </p:sp>
      <p:sp>
        <p:nvSpPr>
          <p:cNvPr id="565257" name="Text Box 9"/>
          <p:cNvSpPr txBox="1">
            <a:spLocks noChangeArrowheads="1"/>
          </p:cNvSpPr>
          <p:nvPr/>
        </p:nvSpPr>
        <p:spPr bwMode="auto">
          <a:xfrm>
            <a:off x="755650" y="1341438"/>
            <a:ext cx="6192838" cy="11874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kumimoji="0" lang="en-US" altLang="zh-CN" b="1">
                <a:solidFill>
                  <a:srgbClr val="800080"/>
                </a:solidFill>
              </a:rPr>
              <a:t> </a:t>
            </a:r>
            <a:r>
              <a:rPr kumimoji="0" lang="zh-CN" altLang="en-US" b="1">
                <a:solidFill>
                  <a:srgbClr val="800080"/>
                </a:solidFill>
              </a:rPr>
              <a:t>例</a:t>
            </a:r>
            <a:r>
              <a:rPr lang="zh-CN" altLang="en-US" b="1">
                <a:solidFill>
                  <a:srgbClr val="800080"/>
                </a:solidFill>
              </a:rPr>
              <a:t>：</a:t>
            </a:r>
            <a:r>
              <a:rPr lang="zh-CN" altLang="en-US" b="1"/>
              <a:t>对右边文法</a:t>
            </a:r>
            <a:r>
              <a:rPr kumimoji="0" lang="en-US" altLang="zh-CN" i="1">
                <a:sym typeface="Symbol" panose="05050102010706020507" pitchFamily="18" charset="2"/>
              </a:rPr>
              <a:t>G’ </a:t>
            </a:r>
            <a:r>
              <a:rPr kumimoji="0" lang="en-US" altLang="zh-CN">
                <a:sym typeface="Symbol" panose="05050102010706020507" pitchFamily="18" charset="2"/>
              </a:rPr>
              <a:t>[</a:t>
            </a:r>
            <a:r>
              <a:rPr kumimoji="0" lang="en-US" altLang="zh-CN" i="1">
                <a:sym typeface="Symbol" panose="05050102010706020507" pitchFamily="18" charset="2"/>
              </a:rPr>
              <a:t>S</a:t>
            </a:r>
            <a:r>
              <a:rPr kumimoji="0" lang="en-US" altLang="zh-CN">
                <a:sym typeface="Symbol" panose="05050102010706020507" pitchFamily="18" charset="2"/>
              </a:rPr>
              <a:t>]</a:t>
            </a:r>
            <a:r>
              <a:rPr kumimoji="0" lang="zh-CN" altLang="en-US">
                <a:sym typeface="Symbol" panose="05050102010706020507" pitchFamily="18" charset="2"/>
              </a:rPr>
              <a:t>，</a:t>
            </a:r>
            <a:r>
              <a:rPr lang="zh-CN" altLang="en-US" b="1"/>
              <a:t>从其</a:t>
            </a:r>
            <a:r>
              <a:rPr lang="en-US" altLang="zh-CN"/>
              <a:t>LR</a:t>
            </a:r>
            <a:r>
              <a:rPr lang="zh-CN" altLang="en-US"/>
              <a:t>（</a:t>
            </a:r>
            <a:r>
              <a:rPr lang="en-US" altLang="zh-CN"/>
              <a:t>0</a:t>
            </a:r>
            <a:r>
              <a:rPr lang="zh-CN" altLang="en-US"/>
              <a:t>）</a:t>
            </a:r>
            <a:r>
              <a:rPr lang="en-US" altLang="zh-CN"/>
              <a:t>FSM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/>
              <a:t>    </a:t>
            </a:r>
            <a:r>
              <a:rPr lang="zh-CN" altLang="en-US" b="1"/>
              <a:t>和前述移进</a:t>
            </a:r>
            <a:r>
              <a:rPr lang="zh-CN" altLang="en-US" b="1">
                <a:sym typeface="Symbol" panose="05050102010706020507" pitchFamily="18" charset="2"/>
              </a:rPr>
              <a:t></a:t>
            </a:r>
            <a:r>
              <a:rPr lang="zh-CN" altLang="en-US" b="1"/>
              <a:t>归约冲突的解决方法，可构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zh-CN" altLang="en-US" b="1"/>
              <a:t>    造该文法的</a:t>
            </a:r>
            <a:r>
              <a:rPr lang="en-US" altLang="zh-CN"/>
              <a:t>LR</a:t>
            </a:r>
            <a:r>
              <a:rPr lang="zh-CN" altLang="en-US" b="1"/>
              <a:t>分析表如下</a:t>
            </a:r>
          </a:p>
        </p:txBody>
      </p:sp>
      <p:sp>
        <p:nvSpPr>
          <p:cNvPr id="565258" name="Text Box 10"/>
          <p:cNvSpPr txBox="1">
            <a:spLocks noChangeArrowheads="1"/>
          </p:cNvSpPr>
          <p:nvPr/>
        </p:nvSpPr>
        <p:spPr bwMode="auto">
          <a:xfrm>
            <a:off x="7021513" y="1103313"/>
            <a:ext cx="1798637" cy="1749425"/>
          </a:xfrm>
          <a:prstGeom prst="rect">
            <a:avLst/>
          </a:prstGeom>
          <a:noFill/>
          <a:ln w="9525" cap="rnd">
            <a:solidFill>
              <a:srgbClr val="990099"/>
            </a:solidFill>
            <a:prstDash val="sysDot"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(0)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S 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E</a:t>
            </a:r>
            <a:endParaRPr kumimoji="0" lang="en-US" altLang="zh-CN" sz="1800">
              <a:solidFill>
                <a:srgbClr val="80008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(1)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E + E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(2)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E 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E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(3)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ea typeface="华文行楷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( E )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(4)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v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(5) 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180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d</a:t>
            </a:r>
          </a:p>
        </p:txBody>
      </p:sp>
      <p:sp>
        <p:nvSpPr>
          <p:cNvPr id="565316" name="AutoShape 68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5317" name="AutoShape 6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5318" name="AutoShape 7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5319" name="AutoShape 7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5320" name="Line 72"/>
          <p:cNvSpPr>
            <a:spLocks noChangeShapeType="1"/>
          </p:cNvSpPr>
          <p:nvPr/>
        </p:nvSpPr>
        <p:spPr bwMode="auto">
          <a:xfrm>
            <a:off x="1979613" y="3289300"/>
            <a:ext cx="61214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5321" name="Text Box 73"/>
          <p:cNvSpPr txBox="1">
            <a:spLocks noChangeArrowheads="1"/>
          </p:cNvSpPr>
          <p:nvPr/>
        </p:nvSpPr>
        <p:spPr bwMode="auto">
          <a:xfrm>
            <a:off x="1189038" y="2889250"/>
            <a:ext cx="863600" cy="701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kumimoji="0" lang="zh-CN" altLang="en-US" sz="2000" b="1">
                <a:solidFill>
                  <a:srgbClr val="800080"/>
                </a:solidFill>
                <a:latin typeface="Times New Roman" panose="02020603050405020304" pitchFamily="18" charset="0"/>
              </a:rPr>
              <a:t>栈顶状态</a:t>
            </a:r>
          </a:p>
        </p:txBody>
      </p:sp>
      <p:sp>
        <p:nvSpPr>
          <p:cNvPr id="565322" name="Text Box 74"/>
          <p:cNvSpPr txBox="1">
            <a:spLocks noChangeArrowheads="1"/>
          </p:cNvSpPr>
          <p:nvPr/>
        </p:nvSpPr>
        <p:spPr bwMode="auto">
          <a:xfrm>
            <a:off x="3679825" y="2852738"/>
            <a:ext cx="1181100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kumimoji="0" lang="en-US" altLang="zh-CN" sz="2000">
                <a:solidFill>
                  <a:srgbClr val="800080"/>
                </a:solidFill>
              </a:rPr>
              <a:t>ACTION</a:t>
            </a:r>
          </a:p>
        </p:txBody>
      </p:sp>
      <p:sp>
        <p:nvSpPr>
          <p:cNvPr id="565323" name="Text Box 75"/>
          <p:cNvSpPr txBox="1">
            <a:spLocks noChangeArrowheads="1"/>
          </p:cNvSpPr>
          <p:nvPr/>
        </p:nvSpPr>
        <p:spPr bwMode="auto">
          <a:xfrm>
            <a:off x="6877050" y="2924175"/>
            <a:ext cx="1114425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kumimoji="0" lang="en-US" altLang="zh-CN" sz="2000">
                <a:solidFill>
                  <a:srgbClr val="800080"/>
                </a:solidFill>
              </a:rPr>
              <a:t>GOTO</a:t>
            </a:r>
          </a:p>
        </p:txBody>
      </p:sp>
      <p:sp>
        <p:nvSpPr>
          <p:cNvPr id="565324" name="Line 76"/>
          <p:cNvSpPr>
            <a:spLocks noChangeShapeType="1"/>
          </p:cNvSpPr>
          <p:nvPr/>
        </p:nvSpPr>
        <p:spPr bwMode="auto">
          <a:xfrm>
            <a:off x="1979613" y="2852738"/>
            <a:ext cx="0" cy="3744912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5325" name="Line 77"/>
          <p:cNvSpPr>
            <a:spLocks noChangeShapeType="1"/>
          </p:cNvSpPr>
          <p:nvPr/>
        </p:nvSpPr>
        <p:spPr bwMode="auto">
          <a:xfrm>
            <a:off x="6659563" y="2852738"/>
            <a:ext cx="0" cy="3744912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5326" name="Line 78"/>
          <p:cNvSpPr>
            <a:spLocks noChangeShapeType="1"/>
          </p:cNvSpPr>
          <p:nvPr/>
        </p:nvSpPr>
        <p:spPr bwMode="auto">
          <a:xfrm>
            <a:off x="1152525" y="3649663"/>
            <a:ext cx="6948488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5327" name="Rectangle 79"/>
          <p:cNvSpPr>
            <a:spLocks noChangeArrowheads="1"/>
          </p:cNvSpPr>
          <p:nvPr/>
        </p:nvSpPr>
        <p:spPr bwMode="auto">
          <a:xfrm>
            <a:off x="2219325" y="3217863"/>
            <a:ext cx="3365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>
                <a:sym typeface="Symbol" panose="05050102010706020507" pitchFamily="18" charset="2"/>
              </a:rPr>
              <a:t>v</a:t>
            </a:r>
          </a:p>
        </p:txBody>
      </p:sp>
      <p:sp>
        <p:nvSpPr>
          <p:cNvPr id="565328" name="Rectangle 80"/>
          <p:cNvSpPr>
            <a:spLocks noChangeArrowheads="1"/>
          </p:cNvSpPr>
          <p:nvPr/>
        </p:nvSpPr>
        <p:spPr bwMode="auto">
          <a:xfrm>
            <a:off x="2794000" y="3217863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565329" name="Rectangle 81"/>
          <p:cNvSpPr>
            <a:spLocks noChangeArrowheads="1"/>
          </p:cNvSpPr>
          <p:nvPr/>
        </p:nvSpPr>
        <p:spPr bwMode="auto">
          <a:xfrm>
            <a:off x="3419475" y="3213100"/>
            <a:ext cx="3365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</a:t>
            </a:r>
          </a:p>
        </p:txBody>
      </p:sp>
      <p:sp>
        <p:nvSpPr>
          <p:cNvPr id="565330" name="Rectangle 82"/>
          <p:cNvSpPr>
            <a:spLocks noChangeArrowheads="1"/>
          </p:cNvSpPr>
          <p:nvPr/>
        </p:nvSpPr>
        <p:spPr bwMode="auto">
          <a:xfrm>
            <a:off x="4019550" y="3217863"/>
            <a:ext cx="3619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+</a:t>
            </a:r>
          </a:p>
        </p:txBody>
      </p:sp>
      <p:sp>
        <p:nvSpPr>
          <p:cNvPr id="565331" name="Rectangle 83"/>
          <p:cNvSpPr>
            <a:spLocks noChangeArrowheads="1"/>
          </p:cNvSpPr>
          <p:nvPr/>
        </p:nvSpPr>
        <p:spPr bwMode="auto">
          <a:xfrm>
            <a:off x="4667250" y="3217863"/>
            <a:ext cx="2857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(</a:t>
            </a:r>
          </a:p>
        </p:txBody>
      </p:sp>
      <p:sp>
        <p:nvSpPr>
          <p:cNvPr id="565332" name="Rectangle 84"/>
          <p:cNvSpPr>
            <a:spLocks noChangeArrowheads="1"/>
          </p:cNvSpPr>
          <p:nvPr/>
        </p:nvSpPr>
        <p:spPr bwMode="auto">
          <a:xfrm>
            <a:off x="5314950" y="3217863"/>
            <a:ext cx="2857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565333" name="Rectangle 85"/>
          <p:cNvSpPr>
            <a:spLocks noChangeArrowheads="1"/>
          </p:cNvSpPr>
          <p:nvPr/>
        </p:nvSpPr>
        <p:spPr bwMode="auto">
          <a:xfrm>
            <a:off x="5938838" y="3217863"/>
            <a:ext cx="354012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#</a:t>
            </a:r>
          </a:p>
        </p:txBody>
      </p:sp>
      <p:sp>
        <p:nvSpPr>
          <p:cNvPr id="565334" name="Rectangle 86"/>
          <p:cNvSpPr>
            <a:spLocks noChangeArrowheads="1"/>
          </p:cNvSpPr>
          <p:nvPr/>
        </p:nvSpPr>
        <p:spPr bwMode="auto">
          <a:xfrm>
            <a:off x="7164388" y="3217863"/>
            <a:ext cx="3873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>
                <a:sym typeface="Symbol" panose="05050102010706020507" pitchFamily="18" charset="2"/>
              </a:rPr>
              <a:t>E</a:t>
            </a:r>
          </a:p>
        </p:txBody>
      </p:sp>
      <p:sp>
        <p:nvSpPr>
          <p:cNvPr id="565337" name="Rectangle 89"/>
          <p:cNvSpPr>
            <a:spLocks noChangeArrowheads="1"/>
          </p:cNvSpPr>
          <p:nvPr/>
        </p:nvSpPr>
        <p:spPr bwMode="auto">
          <a:xfrm>
            <a:off x="1366838" y="3608388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0</a:t>
            </a:r>
          </a:p>
        </p:txBody>
      </p:sp>
      <p:sp>
        <p:nvSpPr>
          <p:cNvPr id="565338" name="Rectangle 90"/>
          <p:cNvSpPr>
            <a:spLocks noChangeArrowheads="1"/>
          </p:cNvSpPr>
          <p:nvPr/>
        </p:nvSpPr>
        <p:spPr bwMode="auto">
          <a:xfrm>
            <a:off x="1366838" y="3862388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1</a:t>
            </a:r>
          </a:p>
        </p:txBody>
      </p:sp>
      <p:sp>
        <p:nvSpPr>
          <p:cNvPr id="565339" name="Rectangle 91"/>
          <p:cNvSpPr>
            <a:spLocks noChangeArrowheads="1"/>
          </p:cNvSpPr>
          <p:nvPr/>
        </p:nvSpPr>
        <p:spPr bwMode="auto">
          <a:xfrm>
            <a:off x="1366838" y="4149725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2</a:t>
            </a:r>
          </a:p>
        </p:txBody>
      </p:sp>
      <p:sp>
        <p:nvSpPr>
          <p:cNvPr id="565340" name="Rectangle 92"/>
          <p:cNvSpPr>
            <a:spLocks noChangeArrowheads="1"/>
          </p:cNvSpPr>
          <p:nvPr/>
        </p:nvSpPr>
        <p:spPr bwMode="auto">
          <a:xfrm>
            <a:off x="1366838" y="4438650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3</a:t>
            </a:r>
          </a:p>
        </p:txBody>
      </p:sp>
      <p:sp>
        <p:nvSpPr>
          <p:cNvPr id="565341" name="Rectangle 93"/>
          <p:cNvSpPr>
            <a:spLocks noChangeArrowheads="1"/>
          </p:cNvSpPr>
          <p:nvPr/>
        </p:nvSpPr>
        <p:spPr bwMode="auto">
          <a:xfrm>
            <a:off x="1366838" y="4725988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4</a:t>
            </a:r>
          </a:p>
        </p:txBody>
      </p:sp>
      <p:sp>
        <p:nvSpPr>
          <p:cNvPr id="565342" name="Rectangle 94"/>
          <p:cNvSpPr>
            <a:spLocks noChangeArrowheads="1"/>
          </p:cNvSpPr>
          <p:nvPr/>
        </p:nvSpPr>
        <p:spPr bwMode="auto">
          <a:xfrm>
            <a:off x="1366838" y="5013325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5</a:t>
            </a:r>
          </a:p>
        </p:txBody>
      </p:sp>
      <p:sp>
        <p:nvSpPr>
          <p:cNvPr id="565343" name="Rectangle 95"/>
          <p:cNvSpPr>
            <a:spLocks noChangeArrowheads="1"/>
          </p:cNvSpPr>
          <p:nvPr/>
        </p:nvSpPr>
        <p:spPr bwMode="auto">
          <a:xfrm>
            <a:off x="1366838" y="5302250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6</a:t>
            </a:r>
          </a:p>
        </p:txBody>
      </p:sp>
      <p:sp>
        <p:nvSpPr>
          <p:cNvPr id="565344" name="Rectangle 96"/>
          <p:cNvSpPr>
            <a:spLocks noChangeArrowheads="1"/>
          </p:cNvSpPr>
          <p:nvPr/>
        </p:nvSpPr>
        <p:spPr bwMode="auto">
          <a:xfrm>
            <a:off x="1366838" y="5553075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7</a:t>
            </a:r>
          </a:p>
        </p:txBody>
      </p:sp>
      <p:sp>
        <p:nvSpPr>
          <p:cNvPr id="565345" name="Rectangle 97"/>
          <p:cNvSpPr>
            <a:spLocks noChangeArrowheads="1"/>
          </p:cNvSpPr>
          <p:nvPr/>
        </p:nvSpPr>
        <p:spPr bwMode="auto">
          <a:xfrm>
            <a:off x="1366838" y="5805488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8</a:t>
            </a:r>
          </a:p>
        </p:txBody>
      </p:sp>
      <p:sp>
        <p:nvSpPr>
          <p:cNvPr id="565346" name="Rectangle 98"/>
          <p:cNvSpPr>
            <a:spLocks noChangeArrowheads="1"/>
          </p:cNvSpPr>
          <p:nvPr/>
        </p:nvSpPr>
        <p:spPr bwMode="auto">
          <a:xfrm>
            <a:off x="1366838" y="6056313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9</a:t>
            </a:r>
          </a:p>
        </p:txBody>
      </p:sp>
      <p:sp>
        <p:nvSpPr>
          <p:cNvPr id="565350" name="Rectangle 102"/>
          <p:cNvSpPr>
            <a:spLocks noChangeArrowheads="1"/>
          </p:cNvSpPr>
          <p:nvPr/>
        </p:nvSpPr>
        <p:spPr bwMode="auto">
          <a:xfrm>
            <a:off x="7199313" y="3606800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1</a:t>
            </a:r>
          </a:p>
        </p:txBody>
      </p:sp>
      <p:sp>
        <p:nvSpPr>
          <p:cNvPr id="565353" name="Rectangle 105"/>
          <p:cNvSpPr>
            <a:spLocks noChangeArrowheads="1"/>
          </p:cNvSpPr>
          <p:nvPr/>
        </p:nvSpPr>
        <p:spPr bwMode="auto">
          <a:xfrm>
            <a:off x="5864225" y="3822700"/>
            <a:ext cx="579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acc</a:t>
            </a:r>
          </a:p>
        </p:txBody>
      </p:sp>
      <p:sp>
        <p:nvSpPr>
          <p:cNvPr id="565354" name="Rectangle 106"/>
          <p:cNvSpPr>
            <a:spLocks noChangeArrowheads="1"/>
          </p:cNvSpPr>
          <p:nvPr/>
        </p:nvSpPr>
        <p:spPr bwMode="auto">
          <a:xfrm>
            <a:off x="3995738" y="3859213"/>
            <a:ext cx="452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s5</a:t>
            </a:r>
          </a:p>
        </p:txBody>
      </p:sp>
      <p:sp>
        <p:nvSpPr>
          <p:cNvPr id="565355" name="Rectangle 107"/>
          <p:cNvSpPr>
            <a:spLocks noChangeArrowheads="1"/>
          </p:cNvSpPr>
          <p:nvPr/>
        </p:nvSpPr>
        <p:spPr bwMode="auto">
          <a:xfrm>
            <a:off x="4572000" y="4146550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s2</a:t>
            </a:r>
          </a:p>
        </p:txBody>
      </p:sp>
      <p:sp>
        <p:nvSpPr>
          <p:cNvPr id="565359" name="Rectangle 111"/>
          <p:cNvSpPr>
            <a:spLocks noChangeArrowheads="1"/>
          </p:cNvSpPr>
          <p:nvPr/>
        </p:nvSpPr>
        <p:spPr bwMode="auto">
          <a:xfrm>
            <a:off x="4017963" y="443547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r4</a:t>
            </a:r>
          </a:p>
        </p:txBody>
      </p:sp>
      <p:sp>
        <p:nvSpPr>
          <p:cNvPr id="565360" name="Rectangle 112"/>
          <p:cNvSpPr>
            <a:spLocks noChangeArrowheads="1"/>
          </p:cNvSpPr>
          <p:nvPr/>
        </p:nvSpPr>
        <p:spPr bwMode="auto">
          <a:xfrm>
            <a:off x="5219700" y="443547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r4</a:t>
            </a:r>
          </a:p>
        </p:txBody>
      </p:sp>
      <p:sp>
        <p:nvSpPr>
          <p:cNvPr id="565361" name="Rectangle 113"/>
          <p:cNvSpPr>
            <a:spLocks noChangeArrowheads="1"/>
          </p:cNvSpPr>
          <p:nvPr/>
        </p:nvSpPr>
        <p:spPr bwMode="auto">
          <a:xfrm>
            <a:off x="5938838" y="443547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r4</a:t>
            </a:r>
          </a:p>
        </p:txBody>
      </p:sp>
      <p:sp>
        <p:nvSpPr>
          <p:cNvPr id="565362" name="Rectangle 114"/>
          <p:cNvSpPr>
            <a:spLocks noChangeArrowheads="1"/>
          </p:cNvSpPr>
          <p:nvPr/>
        </p:nvSpPr>
        <p:spPr bwMode="auto">
          <a:xfrm>
            <a:off x="4572000" y="3606800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s2</a:t>
            </a:r>
          </a:p>
        </p:txBody>
      </p:sp>
      <p:sp>
        <p:nvSpPr>
          <p:cNvPr id="565363" name="Rectangle 115"/>
          <p:cNvSpPr>
            <a:spLocks noChangeArrowheads="1"/>
          </p:cNvSpPr>
          <p:nvPr/>
        </p:nvSpPr>
        <p:spPr bwMode="auto">
          <a:xfrm>
            <a:off x="2174875" y="3606800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s3</a:t>
            </a:r>
          </a:p>
        </p:txBody>
      </p:sp>
      <p:sp>
        <p:nvSpPr>
          <p:cNvPr id="565364" name="Rectangle 116"/>
          <p:cNvSpPr>
            <a:spLocks noChangeArrowheads="1"/>
          </p:cNvSpPr>
          <p:nvPr/>
        </p:nvSpPr>
        <p:spPr bwMode="auto">
          <a:xfrm>
            <a:off x="2751138" y="3606800"/>
            <a:ext cx="452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s4</a:t>
            </a:r>
          </a:p>
        </p:txBody>
      </p:sp>
      <p:sp>
        <p:nvSpPr>
          <p:cNvPr id="565366" name="Rectangle 118"/>
          <p:cNvSpPr>
            <a:spLocks noChangeArrowheads="1"/>
          </p:cNvSpPr>
          <p:nvPr/>
        </p:nvSpPr>
        <p:spPr bwMode="auto">
          <a:xfrm>
            <a:off x="3348038" y="3862388"/>
            <a:ext cx="452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s6</a:t>
            </a:r>
          </a:p>
        </p:txBody>
      </p:sp>
      <p:sp>
        <p:nvSpPr>
          <p:cNvPr id="565371" name="Rectangle 123"/>
          <p:cNvSpPr>
            <a:spLocks noChangeArrowheads="1"/>
          </p:cNvSpPr>
          <p:nvPr/>
        </p:nvSpPr>
        <p:spPr bwMode="auto">
          <a:xfrm>
            <a:off x="3370263" y="443547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r4</a:t>
            </a:r>
          </a:p>
        </p:txBody>
      </p:sp>
      <p:sp>
        <p:nvSpPr>
          <p:cNvPr id="565372" name="Rectangle 124"/>
          <p:cNvSpPr>
            <a:spLocks noChangeArrowheads="1"/>
          </p:cNvSpPr>
          <p:nvPr/>
        </p:nvSpPr>
        <p:spPr bwMode="auto">
          <a:xfrm>
            <a:off x="4041775" y="472598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r5</a:t>
            </a:r>
          </a:p>
        </p:txBody>
      </p:sp>
      <p:sp>
        <p:nvSpPr>
          <p:cNvPr id="565373" name="Rectangle 125"/>
          <p:cNvSpPr>
            <a:spLocks noChangeArrowheads="1"/>
          </p:cNvSpPr>
          <p:nvPr/>
        </p:nvSpPr>
        <p:spPr bwMode="auto">
          <a:xfrm>
            <a:off x="5243513" y="472598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r5</a:t>
            </a:r>
          </a:p>
        </p:txBody>
      </p:sp>
      <p:sp>
        <p:nvSpPr>
          <p:cNvPr id="565374" name="Rectangle 126"/>
          <p:cNvSpPr>
            <a:spLocks noChangeArrowheads="1"/>
          </p:cNvSpPr>
          <p:nvPr/>
        </p:nvSpPr>
        <p:spPr bwMode="auto">
          <a:xfrm>
            <a:off x="5962650" y="472598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r5</a:t>
            </a:r>
          </a:p>
        </p:txBody>
      </p:sp>
      <p:sp>
        <p:nvSpPr>
          <p:cNvPr id="565375" name="Rectangle 127"/>
          <p:cNvSpPr>
            <a:spLocks noChangeArrowheads="1"/>
          </p:cNvSpPr>
          <p:nvPr/>
        </p:nvSpPr>
        <p:spPr bwMode="auto">
          <a:xfrm>
            <a:off x="3394075" y="472598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r5</a:t>
            </a:r>
          </a:p>
        </p:txBody>
      </p:sp>
      <p:sp>
        <p:nvSpPr>
          <p:cNvPr id="565380" name="Rectangle 132"/>
          <p:cNvSpPr>
            <a:spLocks noChangeArrowheads="1"/>
          </p:cNvSpPr>
          <p:nvPr/>
        </p:nvSpPr>
        <p:spPr bwMode="auto">
          <a:xfrm>
            <a:off x="3995738" y="5553075"/>
            <a:ext cx="452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s5</a:t>
            </a:r>
          </a:p>
        </p:txBody>
      </p:sp>
      <p:sp>
        <p:nvSpPr>
          <p:cNvPr id="565381" name="Rectangle 133"/>
          <p:cNvSpPr>
            <a:spLocks noChangeArrowheads="1"/>
          </p:cNvSpPr>
          <p:nvPr/>
        </p:nvSpPr>
        <p:spPr bwMode="auto">
          <a:xfrm>
            <a:off x="3398838" y="5553075"/>
            <a:ext cx="452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s6</a:t>
            </a:r>
          </a:p>
        </p:txBody>
      </p:sp>
      <p:sp>
        <p:nvSpPr>
          <p:cNvPr id="565382" name="Rectangle 134"/>
          <p:cNvSpPr>
            <a:spLocks noChangeArrowheads="1"/>
          </p:cNvSpPr>
          <p:nvPr/>
        </p:nvSpPr>
        <p:spPr bwMode="auto">
          <a:xfrm>
            <a:off x="5219700" y="5553075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s8</a:t>
            </a:r>
          </a:p>
        </p:txBody>
      </p:sp>
      <p:sp>
        <p:nvSpPr>
          <p:cNvPr id="565402" name="Rectangle 154"/>
          <p:cNvSpPr>
            <a:spLocks noChangeArrowheads="1"/>
          </p:cNvSpPr>
          <p:nvPr/>
        </p:nvSpPr>
        <p:spPr bwMode="auto">
          <a:xfrm>
            <a:off x="3398838" y="6094413"/>
            <a:ext cx="452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s6</a:t>
            </a:r>
          </a:p>
        </p:txBody>
      </p:sp>
      <p:sp>
        <p:nvSpPr>
          <p:cNvPr id="565403" name="Rectangle 155"/>
          <p:cNvSpPr>
            <a:spLocks noChangeArrowheads="1"/>
          </p:cNvSpPr>
          <p:nvPr/>
        </p:nvSpPr>
        <p:spPr bwMode="auto">
          <a:xfrm>
            <a:off x="1258888" y="6345238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10</a:t>
            </a:r>
          </a:p>
        </p:txBody>
      </p:sp>
      <p:sp>
        <p:nvSpPr>
          <p:cNvPr id="565406" name="Rectangle 158"/>
          <p:cNvSpPr>
            <a:spLocks noChangeArrowheads="1"/>
          </p:cNvSpPr>
          <p:nvPr/>
        </p:nvSpPr>
        <p:spPr bwMode="auto">
          <a:xfrm>
            <a:off x="7199313" y="4149725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7</a:t>
            </a:r>
          </a:p>
        </p:txBody>
      </p:sp>
      <p:sp>
        <p:nvSpPr>
          <p:cNvPr id="565407" name="Rectangle 159"/>
          <p:cNvSpPr>
            <a:spLocks noChangeArrowheads="1"/>
          </p:cNvSpPr>
          <p:nvPr/>
        </p:nvSpPr>
        <p:spPr bwMode="auto">
          <a:xfrm>
            <a:off x="2195513" y="4149725"/>
            <a:ext cx="452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s3</a:t>
            </a:r>
          </a:p>
        </p:txBody>
      </p:sp>
      <p:sp>
        <p:nvSpPr>
          <p:cNvPr id="565408" name="Rectangle 160"/>
          <p:cNvSpPr>
            <a:spLocks noChangeArrowheads="1"/>
          </p:cNvSpPr>
          <p:nvPr/>
        </p:nvSpPr>
        <p:spPr bwMode="auto">
          <a:xfrm>
            <a:off x="2771775" y="4149725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s4</a:t>
            </a:r>
          </a:p>
        </p:txBody>
      </p:sp>
      <p:sp>
        <p:nvSpPr>
          <p:cNvPr id="565409" name="Rectangle 161"/>
          <p:cNvSpPr>
            <a:spLocks noChangeArrowheads="1"/>
          </p:cNvSpPr>
          <p:nvPr/>
        </p:nvSpPr>
        <p:spPr bwMode="auto">
          <a:xfrm>
            <a:off x="4572000" y="5045075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s2</a:t>
            </a:r>
          </a:p>
        </p:txBody>
      </p:sp>
      <p:sp>
        <p:nvSpPr>
          <p:cNvPr id="565410" name="Rectangle 162"/>
          <p:cNvSpPr>
            <a:spLocks noChangeArrowheads="1"/>
          </p:cNvSpPr>
          <p:nvPr/>
        </p:nvSpPr>
        <p:spPr bwMode="auto">
          <a:xfrm>
            <a:off x="7199313" y="5048250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9</a:t>
            </a:r>
          </a:p>
        </p:txBody>
      </p:sp>
      <p:sp>
        <p:nvSpPr>
          <p:cNvPr id="565411" name="Rectangle 163"/>
          <p:cNvSpPr>
            <a:spLocks noChangeArrowheads="1"/>
          </p:cNvSpPr>
          <p:nvPr/>
        </p:nvSpPr>
        <p:spPr bwMode="auto">
          <a:xfrm>
            <a:off x="2195513" y="5048250"/>
            <a:ext cx="452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s3</a:t>
            </a:r>
          </a:p>
        </p:txBody>
      </p:sp>
      <p:sp>
        <p:nvSpPr>
          <p:cNvPr id="565412" name="Rectangle 164"/>
          <p:cNvSpPr>
            <a:spLocks noChangeArrowheads="1"/>
          </p:cNvSpPr>
          <p:nvPr/>
        </p:nvSpPr>
        <p:spPr bwMode="auto">
          <a:xfrm>
            <a:off x="2771775" y="5048250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s4</a:t>
            </a:r>
          </a:p>
        </p:txBody>
      </p:sp>
      <p:sp>
        <p:nvSpPr>
          <p:cNvPr id="565413" name="Rectangle 165"/>
          <p:cNvSpPr>
            <a:spLocks noChangeArrowheads="1"/>
          </p:cNvSpPr>
          <p:nvPr/>
        </p:nvSpPr>
        <p:spPr bwMode="auto">
          <a:xfrm>
            <a:off x="4572000" y="5302250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s2</a:t>
            </a:r>
          </a:p>
        </p:txBody>
      </p:sp>
      <p:sp>
        <p:nvSpPr>
          <p:cNvPr id="565414" name="Rectangle 166"/>
          <p:cNvSpPr>
            <a:spLocks noChangeArrowheads="1"/>
          </p:cNvSpPr>
          <p:nvPr/>
        </p:nvSpPr>
        <p:spPr bwMode="auto">
          <a:xfrm>
            <a:off x="7092950" y="5305425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10</a:t>
            </a:r>
          </a:p>
        </p:txBody>
      </p:sp>
      <p:sp>
        <p:nvSpPr>
          <p:cNvPr id="565415" name="Rectangle 167"/>
          <p:cNvSpPr>
            <a:spLocks noChangeArrowheads="1"/>
          </p:cNvSpPr>
          <p:nvPr/>
        </p:nvSpPr>
        <p:spPr bwMode="auto">
          <a:xfrm>
            <a:off x="2195513" y="5305425"/>
            <a:ext cx="452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s3</a:t>
            </a:r>
          </a:p>
        </p:txBody>
      </p:sp>
      <p:sp>
        <p:nvSpPr>
          <p:cNvPr id="565416" name="Rectangle 168"/>
          <p:cNvSpPr>
            <a:spLocks noChangeArrowheads="1"/>
          </p:cNvSpPr>
          <p:nvPr/>
        </p:nvSpPr>
        <p:spPr bwMode="auto">
          <a:xfrm>
            <a:off x="2771775" y="5305425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s4</a:t>
            </a:r>
          </a:p>
        </p:txBody>
      </p:sp>
      <p:sp>
        <p:nvSpPr>
          <p:cNvPr id="565417" name="Rectangle 169"/>
          <p:cNvSpPr>
            <a:spLocks noChangeArrowheads="1"/>
          </p:cNvSpPr>
          <p:nvPr/>
        </p:nvSpPr>
        <p:spPr bwMode="auto">
          <a:xfrm>
            <a:off x="4041775" y="5840413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r3</a:t>
            </a:r>
          </a:p>
        </p:txBody>
      </p:sp>
      <p:sp>
        <p:nvSpPr>
          <p:cNvPr id="565418" name="Rectangle 170"/>
          <p:cNvSpPr>
            <a:spLocks noChangeArrowheads="1"/>
          </p:cNvSpPr>
          <p:nvPr/>
        </p:nvSpPr>
        <p:spPr bwMode="auto">
          <a:xfrm>
            <a:off x="5243513" y="5840413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r3</a:t>
            </a:r>
          </a:p>
        </p:txBody>
      </p:sp>
      <p:sp>
        <p:nvSpPr>
          <p:cNvPr id="565419" name="Rectangle 171"/>
          <p:cNvSpPr>
            <a:spLocks noChangeArrowheads="1"/>
          </p:cNvSpPr>
          <p:nvPr/>
        </p:nvSpPr>
        <p:spPr bwMode="auto">
          <a:xfrm>
            <a:off x="5962650" y="5840413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r3</a:t>
            </a:r>
          </a:p>
        </p:txBody>
      </p:sp>
      <p:sp>
        <p:nvSpPr>
          <p:cNvPr id="565420" name="Rectangle 172"/>
          <p:cNvSpPr>
            <a:spLocks noChangeArrowheads="1"/>
          </p:cNvSpPr>
          <p:nvPr/>
        </p:nvSpPr>
        <p:spPr bwMode="auto">
          <a:xfrm>
            <a:off x="3394075" y="5840413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r3</a:t>
            </a:r>
          </a:p>
        </p:txBody>
      </p:sp>
      <p:sp>
        <p:nvSpPr>
          <p:cNvPr id="565421" name="Rectangle 173"/>
          <p:cNvSpPr>
            <a:spLocks noChangeArrowheads="1"/>
          </p:cNvSpPr>
          <p:nvPr/>
        </p:nvSpPr>
        <p:spPr bwMode="auto">
          <a:xfrm>
            <a:off x="4041775" y="6094413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r1</a:t>
            </a:r>
          </a:p>
        </p:txBody>
      </p:sp>
      <p:sp>
        <p:nvSpPr>
          <p:cNvPr id="565422" name="Rectangle 174"/>
          <p:cNvSpPr>
            <a:spLocks noChangeArrowheads="1"/>
          </p:cNvSpPr>
          <p:nvPr/>
        </p:nvSpPr>
        <p:spPr bwMode="auto">
          <a:xfrm>
            <a:off x="5243513" y="6094413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r1</a:t>
            </a:r>
          </a:p>
        </p:txBody>
      </p:sp>
      <p:sp>
        <p:nvSpPr>
          <p:cNvPr id="565423" name="Rectangle 175"/>
          <p:cNvSpPr>
            <a:spLocks noChangeArrowheads="1"/>
          </p:cNvSpPr>
          <p:nvPr/>
        </p:nvSpPr>
        <p:spPr bwMode="auto">
          <a:xfrm>
            <a:off x="5962650" y="6094413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r1</a:t>
            </a:r>
          </a:p>
        </p:txBody>
      </p:sp>
      <p:sp>
        <p:nvSpPr>
          <p:cNvPr id="565424" name="Rectangle 176"/>
          <p:cNvSpPr>
            <a:spLocks noChangeArrowheads="1"/>
          </p:cNvSpPr>
          <p:nvPr/>
        </p:nvSpPr>
        <p:spPr bwMode="auto">
          <a:xfrm>
            <a:off x="4041775" y="634523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r2</a:t>
            </a:r>
          </a:p>
        </p:txBody>
      </p:sp>
      <p:sp>
        <p:nvSpPr>
          <p:cNvPr id="565425" name="Rectangle 177"/>
          <p:cNvSpPr>
            <a:spLocks noChangeArrowheads="1"/>
          </p:cNvSpPr>
          <p:nvPr/>
        </p:nvSpPr>
        <p:spPr bwMode="auto">
          <a:xfrm>
            <a:off x="5243513" y="634523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r2</a:t>
            </a:r>
          </a:p>
        </p:txBody>
      </p:sp>
      <p:sp>
        <p:nvSpPr>
          <p:cNvPr id="565426" name="Rectangle 178"/>
          <p:cNvSpPr>
            <a:spLocks noChangeArrowheads="1"/>
          </p:cNvSpPr>
          <p:nvPr/>
        </p:nvSpPr>
        <p:spPr bwMode="auto">
          <a:xfrm>
            <a:off x="5962650" y="634523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r2</a:t>
            </a:r>
          </a:p>
        </p:txBody>
      </p:sp>
      <p:sp>
        <p:nvSpPr>
          <p:cNvPr id="565427" name="Rectangle 179"/>
          <p:cNvSpPr>
            <a:spLocks noChangeArrowheads="1"/>
          </p:cNvSpPr>
          <p:nvPr/>
        </p:nvSpPr>
        <p:spPr bwMode="auto">
          <a:xfrm>
            <a:off x="3394075" y="634523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r2</a:t>
            </a:r>
          </a:p>
        </p:txBody>
      </p:sp>
    </p:spTree>
  </p:cSld>
  <p:clrMapOvr>
    <a:masterClrMapping/>
  </p:clrMapOvr>
  <p:transition spd="med">
    <p:wipe dir="r"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41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0742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0743" name="AutoShape 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0744" name="AutoShape 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0749" name="Rectangle 13"/>
          <p:cNvSpPr>
            <a:spLocks noChangeArrowheads="1"/>
          </p:cNvSpPr>
          <p:nvPr/>
        </p:nvSpPr>
        <p:spPr bwMode="auto">
          <a:xfrm>
            <a:off x="35496" y="188913"/>
            <a:ext cx="5110163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LR 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分析中的出错处理</a:t>
            </a:r>
          </a:p>
        </p:txBody>
      </p:sp>
      <p:sp>
        <p:nvSpPr>
          <p:cNvPr id="500751" name="Text Box 15"/>
          <p:cNvSpPr txBox="1">
            <a:spLocks noChangeArrowheads="1"/>
          </p:cNvSpPr>
          <p:nvPr/>
        </p:nvSpPr>
        <p:spPr bwMode="auto">
          <a:xfrm>
            <a:off x="827088" y="1196975"/>
            <a:ext cx="7920037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3200" b="1">
                <a:solidFill>
                  <a:srgbClr val="800080"/>
                </a:solidFill>
                <a:latin typeface="楷体_GB2312" pitchFamily="49" charset="-122"/>
              </a:rPr>
              <a:t>简单的</a:t>
            </a:r>
            <a:r>
              <a:rPr lang="en-US" altLang="zh-CN" sz="3200">
                <a:solidFill>
                  <a:srgbClr val="800080"/>
                </a:solidFill>
              </a:rPr>
              <a:t>LR </a:t>
            </a:r>
            <a:r>
              <a:rPr lang="zh-CN" altLang="en-US" sz="3200" b="1">
                <a:solidFill>
                  <a:srgbClr val="800080"/>
                </a:solidFill>
              </a:rPr>
              <a:t>分析出</a:t>
            </a:r>
            <a:r>
              <a:rPr lang="zh-CN" altLang="en-US" sz="3200" b="1">
                <a:solidFill>
                  <a:srgbClr val="800080"/>
                </a:solidFill>
                <a:latin typeface="楷体_GB2312" pitchFamily="49" charset="-122"/>
              </a:rPr>
              <a:t>错处理</a:t>
            </a:r>
          </a:p>
        </p:txBody>
      </p:sp>
      <p:sp>
        <p:nvSpPr>
          <p:cNvPr id="500752" name="Rectangle 16"/>
          <p:cNvSpPr>
            <a:spLocks noChangeArrowheads="1"/>
          </p:cNvSpPr>
          <p:nvPr/>
        </p:nvSpPr>
        <p:spPr bwMode="auto">
          <a:xfrm>
            <a:off x="1116013" y="1900238"/>
            <a:ext cx="7056437" cy="15255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anose="05050102010706020507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</a:rPr>
              <a:t>  </a:t>
            </a:r>
            <a:r>
              <a:rPr lang="en-US" altLang="zh-CN" sz="2800"/>
              <a:t>LR</a:t>
            </a:r>
            <a:r>
              <a:rPr lang="zh-CN" altLang="en-US" sz="2800" b="1"/>
              <a:t>分析表的空表项对应一个出错位置</a:t>
            </a:r>
          </a:p>
          <a:p>
            <a:pPr>
              <a:buClrTx/>
              <a:buFont typeface="Symbol" panose="05050102010706020507" pitchFamily="18" charset="2"/>
              <a:buNone/>
            </a:pPr>
            <a:endParaRPr lang="zh-CN" altLang="en-US" sz="1000" b="1"/>
          </a:p>
          <a:p>
            <a:pPr>
              <a:buClrTx/>
              <a:buFont typeface="Symbol" panose="05050102010706020507" pitchFamily="18" charset="2"/>
              <a:buChar char="-"/>
            </a:pPr>
            <a:r>
              <a:rPr lang="zh-CN" altLang="en-US" sz="2800" b="1"/>
              <a:t>  可根据相应的堆栈状态和输入符号设置报</a:t>
            </a:r>
          </a:p>
          <a:p>
            <a:pPr>
              <a:buClrTx/>
              <a:buFont typeface="Symbol" panose="05050102010706020507" pitchFamily="18" charset="2"/>
              <a:buNone/>
            </a:pPr>
            <a:r>
              <a:rPr lang="zh-CN" altLang="en-US" sz="2800" b="1"/>
              <a:t>    错信息，进行简单的恢复工作</a:t>
            </a:r>
          </a:p>
        </p:txBody>
      </p:sp>
    </p:spTree>
  </p:cSld>
  <p:clrMapOvr>
    <a:masterClrMapping/>
  </p:clrMapOvr>
  <p:transition spd="med">
    <p:wipe dir="r"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276" name="AutoShape 4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6277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6278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6279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6281" name="Text Box 9"/>
          <p:cNvSpPr txBox="1">
            <a:spLocks noChangeArrowheads="1"/>
          </p:cNvSpPr>
          <p:nvPr/>
        </p:nvSpPr>
        <p:spPr bwMode="auto">
          <a:xfrm>
            <a:off x="827088" y="1052513"/>
            <a:ext cx="5976937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3200" b="1">
                <a:solidFill>
                  <a:srgbClr val="800080"/>
                </a:solidFill>
                <a:latin typeface="楷体_GB2312" pitchFamily="49" charset="-122"/>
              </a:rPr>
              <a:t>简单的</a:t>
            </a:r>
            <a:r>
              <a:rPr lang="en-US" altLang="zh-CN" sz="3200">
                <a:solidFill>
                  <a:srgbClr val="800080"/>
                </a:solidFill>
              </a:rPr>
              <a:t>LR </a:t>
            </a:r>
            <a:r>
              <a:rPr lang="zh-CN" altLang="en-US" sz="3200" b="1">
                <a:solidFill>
                  <a:srgbClr val="800080"/>
                </a:solidFill>
              </a:rPr>
              <a:t>分析出</a:t>
            </a:r>
            <a:r>
              <a:rPr lang="zh-CN" altLang="en-US" sz="3200" b="1">
                <a:solidFill>
                  <a:srgbClr val="800080"/>
                </a:solidFill>
                <a:latin typeface="楷体_GB2312" pitchFamily="49" charset="-122"/>
              </a:rPr>
              <a:t>错处理举例</a:t>
            </a:r>
          </a:p>
        </p:txBody>
      </p:sp>
      <p:sp>
        <p:nvSpPr>
          <p:cNvPr id="566282" name="Rectangle 10"/>
          <p:cNvSpPr>
            <a:spLocks noChangeArrowheads="1"/>
          </p:cNvSpPr>
          <p:nvPr/>
        </p:nvSpPr>
        <p:spPr bwMode="auto">
          <a:xfrm>
            <a:off x="1116013" y="1536700"/>
            <a:ext cx="7704137" cy="8842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anose="05050102010706020507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</a:rPr>
              <a:t>  </a:t>
            </a:r>
            <a:r>
              <a:rPr lang="zh-CN" altLang="en-US" sz="2800" b="1">
                <a:solidFill>
                  <a:srgbClr val="800080"/>
                </a:solidFill>
              </a:rPr>
              <a:t>可能的报错信息</a:t>
            </a:r>
            <a:r>
              <a:rPr lang="zh-CN" altLang="en-US" sz="2800" b="1"/>
              <a:t>    </a:t>
            </a:r>
            <a:r>
              <a:rPr lang="en-US" altLang="zh-CN" b="1" i="1"/>
              <a:t>e1</a:t>
            </a:r>
            <a:r>
              <a:rPr lang="en-US" altLang="zh-CN" b="1">
                <a:sym typeface="Symbol" panose="05050102010706020507" pitchFamily="18" charset="2"/>
              </a:rPr>
              <a:t></a:t>
            </a:r>
            <a:r>
              <a:rPr lang="zh-CN" altLang="en-US" b="1"/>
              <a:t>缺少运算数</a:t>
            </a:r>
          </a:p>
          <a:p>
            <a:pPr>
              <a:buClrTx/>
              <a:buFont typeface="Symbol" panose="05050102010706020507" pitchFamily="18" charset="2"/>
              <a:buNone/>
            </a:pPr>
            <a:r>
              <a:rPr lang="zh-CN" altLang="en-US" b="1"/>
              <a:t>     </a:t>
            </a:r>
            <a:r>
              <a:rPr lang="en-US" altLang="zh-CN" b="1" i="1"/>
              <a:t>e2</a:t>
            </a:r>
            <a:r>
              <a:rPr lang="en-US" altLang="zh-CN" b="1">
                <a:sym typeface="Symbol" panose="05050102010706020507" pitchFamily="18" charset="2"/>
              </a:rPr>
              <a:t></a:t>
            </a:r>
            <a:r>
              <a:rPr lang="zh-CN" altLang="en-US" b="1"/>
              <a:t>右括号未匹配    </a:t>
            </a:r>
            <a:r>
              <a:rPr lang="en-US" altLang="zh-CN" b="1" i="1"/>
              <a:t>e3</a:t>
            </a:r>
            <a:r>
              <a:rPr lang="en-US" altLang="zh-CN" b="1">
                <a:sym typeface="Symbol" panose="05050102010706020507" pitchFamily="18" charset="2"/>
              </a:rPr>
              <a:t></a:t>
            </a:r>
            <a:r>
              <a:rPr lang="zh-CN" altLang="en-US" b="1"/>
              <a:t>缺少运算符    </a:t>
            </a:r>
            <a:r>
              <a:rPr lang="en-US" altLang="zh-CN" b="1" i="1"/>
              <a:t>e4</a:t>
            </a:r>
            <a:r>
              <a:rPr lang="en-US" altLang="zh-CN" b="1">
                <a:sym typeface="Symbol" panose="05050102010706020507" pitchFamily="18" charset="2"/>
              </a:rPr>
              <a:t></a:t>
            </a:r>
            <a:r>
              <a:rPr lang="zh-CN" altLang="en-US" b="1"/>
              <a:t>缺少右括号</a:t>
            </a:r>
          </a:p>
        </p:txBody>
      </p:sp>
      <p:sp>
        <p:nvSpPr>
          <p:cNvPr id="566283" name="Line 11"/>
          <p:cNvSpPr>
            <a:spLocks noChangeShapeType="1"/>
          </p:cNvSpPr>
          <p:nvPr/>
        </p:nvSpPr>
        <p:spPr bwMode="auto">
          <a:xfrm>
            <a:off x="1979613" y="3289300"/>
            <a:ext cx="6121400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6284" name="Text Box 12"/>
          <p:cNvSpPr txBox="1">
            <a:spLocks noChangeArrowheads="1"/>
          </p:cNvSpPr>
          <p:nvPr/>
        </p:nvSpPr>
        <p:spPr bwMode="auto">
          <a:xfrm>
            <a:off x="1189038" y="2889250"/>
            <a:ext cx="863600" cy="701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kumimoji="0" lang="zh-CN" altLang="en-US" sz="2000" b="1">
                <a:solidFill>
                  <a:srgbClr val="800080"/>
                </a:solidFill>
                <a:latin typeface="Times New Roman" panose="02020603050405020304" pitchFamily="18" charset="0"/>
              </a:rPr>
              <a:t>栈顶状态</a:t>
            </a:r>
          </a:p>
        </p:txBody>
      </p:sp>
      <p:sp>
        <p:nvSpPr>
          <p:cNvPr id="566285" name="Text Box 13"/>
          <p:cNvSpPr txBox="1">
            <a:spLocks noChangeArrowheads="1"/>
          </p:cNvSpPr>
          <p:nvPr/>
        </p:nvSpPr>
        <p:spPr bwMode="auto">
          <a:xfrm>
            <a:off x="3679825" y="2852738"/>
            <a:ext cx="1181100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kumimoji="0" lang="en-US" altLang="zh-CN" sz="2000">
                <a:solidFill>
                  <a:srgbClr val="800080"/>
                </a:solidFill>
              </a:rPr>
              <a:t>ACTION</a:t>
            </a:r>
          </a:p>
        </p:txBody>
      </p:sp>
      <p:sp>
        <p:nvSpPr>
          <p:cNvPr id="566286" name="Text Box 14"/>
          <p:cNvSpPr txBox="1">
            <a:spLocks noChangeArrowheads="1"/>
          </p:cNvSpPr>
          <p:nvPr/>
        </p:nvSpPr>
        <p:spPr bwMode="auto">
          <a:xfrm>
            <a:off x="6877050" y="2924175"/>
            <a:ext cx="1114425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kumimoji="0" lang="en-US" altLang="zh-CN" sz="2000">
                <a:solidFill>
                  <a:srgbClr val="800080"/>
                </a:solidFill>
              </a:rPr>
              <a:t>GOTO</a:t>
            </a:r>
          </a:p>
        </p:txBody>
      </p:sp>
      <p:sp>
        <p:nvSpPr>
          <p:cNvPr id="566287" name="Line 15"/>
          <p:cNvSpPr>
            <a:spLocks noChangeShapeType="1"/>
          </p:cNvSpPr>
          <p:nvPr/>
        </p:nvSpPr>
        <p:spPr bwMode="auto">
          <a:xfrm>
            <a:off x="1979613" y="2852738"/>
            <a:ext cx="0" cy="3744912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6288" name="Line 16"/>
          <p:cNvSpPr>
            <a:spLocks noChangeShapeType="1"/>
          </p:cNvSpPr>
          <p:nvPr/>
        </p:nvSpPr>
        <p:spPr bwMode="auto">
          <a:xfrm>
            <a:off x="6659563" y="2852738"/>
            <a:ext cx="0" cy="3744912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6289" name="Line 17"/>
          <p:cNvSpPr>
            <a:spLocks noChangeShapeType="1"/>
          </p:cNvSpPr>
          <p:nvPr/>
        </p:nvSpPr>
        <p:spPr bwMode="auto">
          <a:xfrm>
            <a:off x="1152525" y="3649663"/>
            <a:ext cx="6948488" cy="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66290" name="Rectangle 18"/>
          <p:cNvSpPr>
            <a:spLocks noChangeArrowheads="1"/>
          </p:cNvSpPr>
          <p:nvPr/>
        </p:nvSpPr>
        <p:spPr bwMode="auto">
          <a:xfrm>
            <a:off x="2219325" y="3217863"/>
            <a:ext cx="3365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>
                <a:sym typeface="Symbol" panose="05050102010706020507" pitchFamily="18" charset="2"/>
              </a:rPr>
              <a:t>v</a:t>
            </a:r>
          </a:p>
        </p:txBody>
      </p:sp>
      <p:sp>
        <p:nvSpPr>
          <p:cNvPr id="566291" name="Rectangle 19"/>
          <p:cNvSpPr>
            <a:spLocks noChangeArrowheads="1"/>
          </p:cNvSpPr>
          <p:nvPr/>
        </p:nvSpPr>
        <p:spPr bwMode="auto">
          <a:xfrm>
            <a:off x="2794000" y="3217863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>
                <a:sym typeface="Symbol" panose="05050102010706020507" pitchFamily="18" charset="2"/>
              </a:rPr>
              <a:t>d</a:t>
            </a:r>
          </a:p>
        </p:txBody>
      </p:sp>
      <p:sp>
        <p:nvSpPr>
          <p:cNvPr id="566292" name="Rectangle 20"/>
          <p:cNvSpPr>
            <a:spLocks noChangeArrowheads="1"/>
          </p:cNvSpPr>
          <p:nvPr/>
        </p:nvSpPr>
        <p:spPr bwMode="auto">
          <a:xfrm>
            <a:off x="3419475" y="3213100"/>
            <a:ext cx="3365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</a:t>
            </a:r>
          </a:p>
        </p:txBody>
      </p:sp>
      <p:sp>
        <p:nvSpPr>
          <p:cNvPr id="566293" name="Rectangle 21"/>
          <p:cNvSpPr>
            <a:spLocks noChangeArrowheads="1"/>
          </p:cNvSpPr>
          <p:nvPr/>
        </p:nvSpPr>
        <p:spPr bwMode="auto">
          <a:xfrm>
            <a:off x="4019550" y="3217863"/>
            <a:ext cx="3619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+</a:t>
            </a:r>
          </a:p>
        </p:txBody>
      </p:sp>
      <p:sp>
        <p:nvSpPr>
          <p:cNvPr id="566294" name="Rectangle 22"/>
          <p:cNvSpPr>
            <a:spLocks noChangeArrowheads="1"/>
          </p:cNvSpPr>
          <p:nvPr/>
        </p:nvSpPr>
        <p:spPr bwMode="auto">
          <a:xfrm>
            <a:off x="4667250" y="3217863"/>
            <a:ext cx="2857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(</a:t>
            </a:r>
          </a:p>
        </p:txBody>
      </p:sp>
      <p:sp>
        <p:nvSpPr>
          <p:cNvPr id="566295" name="Rectangle 23"/>
          <p:cNvSpPr>
            <a:spLocks noChangeArrowheads="1"/>
          </p:cNvSpPr>
          <p:nvPr/>
        </p:nvSpPr>
        <p:spPr bwMode="auto">
          <a:xfrm>
            <a:off x="5314950" y="3217863"/>
            <a:ext cx="2857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566296" name="Rectangle 24"/>
          <p:cNvSpPr>
            <a:spLocks noChangeArrowheads="1"/>
          </p:cNvSpPr>
          <p:nvPr/>
        </p:nvSpPr>
        <p:spPr bwMode="auto">
          <a:xfrm>
            <a:off x="5938838" y="3217863"/>
            <a:ext cx="354012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#</a:t>
            </a:r>
          </a:p>
        </p:txBody>
      </p:sp>
      <p:sp>
        <p:nvSpPr>
          <p:cNvPr id="566297" name="Rectangle 25"/>
          <p:cNvSpPr>
            <a:spLocks noChangeArrowheads="1"/>
          </p:cNvSpPr>
          <p:nvPr/>
        </p:nvSpPr>
        <p:spPr bwMode="auto">
          <a:xfrm>
            <a:off x="7164388" y="3217863"/>
            <a:ext cx="3873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>
                <a:sym typeface="Symbol" panose="05050102010706020507" pitchFamily="18" charset="2"/>
              </a:rPr>
              <a:t>E</a:t>
            </a:r>
          </a:p>
        </p:txBody>
      </p:sp>
      <p:sp>
        <p:nvSpPr>
          <p:cNvPr id="566298" name="Rectangle 26"/>
          <p:cNvSpPr>
            <a:spLocks noChangeArrowheads="1"/>
          </p:cNvSpPr>
          <p:nvPr/>
        </p:nvSpPr>
        <p:spPr bwMode="auto">
          <a:xfrm>
            <a:off x="1366838" y="3608388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0</a:t>
            </a:r>
          </a:p>
        </p:txBody>
      </p:sp>
      <p:sp>
        <p:nvSpPr>
          <p:cNvPr id="566299" name="Rectangle 27"/>
          <p:cNvSpPr>
            <a:spLocks noChangeArrowheads="1"/>
          </p:cNvSpPr>
          <p:nvPr/>
        </p:nvSpPr>
        <p:spPr bwMode="auto">
          <a:xfrm>
            <a:off x="1366838" y="3862388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1</a:t>
            </a:r>
          </a:p>
        </p:txBody>
      </p:sp>
      <p:sp>
        <p:nvSpPr>
          <p:cNvPr id="566300" name="Rectangle 28"/>
          <p:cNvSpPr>
            <a:spLocks noChangeArrowheads="1"/>
          </p:cNvSpPr>
          <p:nvPr/>
        </p:nvSpPr>
        <p:spPr bwMode="auto">
          <a:xfrm>
            <a:off x="1366838" y="4149725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2</a:t>
            </a:r>
          </a:p>
        </p:txBody>
      </p:sp>
      <p:sp>
        <p:nvSpPr>
          <p:cNvPr id="566301" name="Rectangle 29"/>
          <p:cNvSpPr>
            <a:spLocks noChangeArrowheads="1"/>
          </p:cNvSpPr>
          <p:nvPr/>
        </p:nvSpPr>
        <p:spPr bwMode="auto">
          <a:xfrm>
            <a:off x="1366838" y="4438650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3</a:t>
            </a:r>
          </a:p>
        </p:txBody>
      </p:sp>
      <p:sp>
        <p:nvSpPr>
          <p:cNvPr id="566302" name="Rectangle 30"/>
          <p:cNvSpPr>
            <a:spLocks noChangeArrowheads="1"/>
          </p:cNvSpPr>
          <p:nvPr/>
        </p:nvSpPr>
        <p:spPr bwMode="auto">
          <a:xfrm>
            <a:off x="1366838" y="4725988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4</a:t>
            </a:r>
          </a:p>
        </p:txBody>
      </p:sp>
      <p:sp>
        <p:nvSpPr>
          <p:cNvPr id="566303" name="Rectangle 31"/>
          <p:cNvSpPr>
            <a:spLocks noChangeArrowheads="1"/>
          </p:cNvSpPr>
          <p:nvPr/>
        </p:nvSpPr>
        <p:spPr bwMode="auto">
          <a:xfrm>
            <a:off x="1366838" y="5013325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5</a:t>
            </a:r>
          </a:p>
        </p:txBody>
      </p:sp>
      <p:sp>
        <p:nvSpPr>
          <p:cNvPr id="566304" name="Rectangle 32"/>
          <p:cNvSpPr>
            <a:spLocks noChangeArrowheads="1"/>
          </p:cNvSpPr>
          <p:nvPr/>
        </p:nvSpPr>
        <p:spPr bwMode="auto">
          <a:xfrm>
            <a:off x="1366838" y="5302250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6</a:t>
            </a:r>
          </a:p>
        </p:txBody>
      </p:sp>
      <p:sp>
        <p:nvSpPr>
          <p:cNvPr id="566305" name="Rectangle 33"/>
          <p:cNvSpPr>
            <a:spLocks noChangeArrowheads="1"/>
          </p:cNvSpPr>
          <p:nvPr/>
        </p:nvSpPr>
        <p:spPr bwMode="auto">
          <a:xfrm>
            <a:off x="1366838" y="5553075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7</a:t>
            </a:r>
          </a:p>
        </p:txBody>
      </p:sp>
      <p:sp>
        <p:nvSpPr>
          <p:cNvPr id="566306" name="Rectangle 34"/>
          <p:cNvSpPr>
            <a:spLocks noChangeArrowheads="1"/>
          </p:cNvSpPr>
          <p:nvPr/>
        </p:nvSpPr>
        <p:spPr bwMode="auto">
          <a:xfrm>
            <a:off x="1366838" y="5805488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8</a:t>
            </a:r>
          </a:p>
        </p:txBody>
      </p:sp>
      <p:sp>
        <p:nvSpPr>
          <p:cNvPr id="566307" name="Rectangle 35"/>
          <p:cNvSpPr>
            <a:spLocks noChangeArrowheads="1"/>
          </p:cNvSpPr>
          <p:nvPr/>
        </p:nvSpPr>
        <p:spPr bwMode="auto">
          <a:xfrm>
            <a:off x="1366838" y="6092825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9</a:t>
            </a:r>
          </a:p>
        </p:txBody>
      </p:sp>
      <p:sp>
        <p:nvSpPr>
          <p:cNvPr id="566308" name="Rectangle 36"/>
          <p:cNvSpPr>
            <a:spLocks noChangeArrowheads="1"/>
          </p:cNvSpPr>
          <p:nvPr/>
        </p:nvSpPr>
        <p:spPr bwMode="auto">
          <a:xfrm>
            <a:off x="7199313" y="3606800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1</a:t>
            </a:r>
          </a:p>
        </p:txBody>
      </p:sp>
      <p:sp>
        <p:nvSpPr>
          <p:cNvPr id="566309" name="Rectangle 37"/>
          <p:cNvSpPr>
            <a:spLocks noChangeArrowheads="1"/>
          </p:cNvSpPr>
          <p:nvPr/>
        </p:nvSpPr>
        <p:spPr bwMode="auto">
          <a:xfrm>
            <a:off x="5864225" y="3822700"/>
            <a:ext cx="579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acc</a:t>
            </a:r>
          </a:p>
        </p:txBody>
      </p:sp>
      <p:sp>
        <p:nvSpPr>
          <p:cNvPr id="566310" name="Rectangle 38"/>
          <p:cNvSpPr>
            <a:spLocks noChangeArrowheads="1"/>
          </p:cNvSpPr>
          <p:nvPr/>
        </p:nvSpPr>
        <p:spPr bwMode="auto">
          <a:xfrm>
            <a:off x="3995738" y="3859213"/>
            <a:ext cx="452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s5</a:t>
            </a:r>
          </a:p>
        </p:txBody>
      </p:sp>
      <p:sp>
        <p:nvSpPr>
          <p:cNvPr id="566311" name="Rectangle 39"/>
          <p:cNvSpPr>
            <a:spLocks noChangeArrowheads="1"/>
          </p:cNvSpPr>
          <p:nvPr/>
        </p:nvSpPr>
        <p:spPr bwMode="auto">
          <a:xfrm>
            <a:off x="4572000" y="4146550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s2</a:t>
            </a:r>
          </a:p>
        </p:txBody>
      </p:sp>
      <p:sp>
        <p:nvSpPr>
          <p:cNvPr id="566312" name="Rectangle 40"/>
          <p:cNvSpPr>
            <a:spLocks noChangeArrowheads="1"/>
          </p:cNvSpPr>
          <p:nvPr/>
        </p:nvSpPr>
        <p:spPr bwMode="auto">
          <a:xfrm>
            <a:off x="4017963" y="443547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r4</a:t>
            </a:r>
          </a:p>
        </p:txBody>
      </p:sp>
      <p:sp>
        <p:nvSpPr>
          <p:cNvPr id="566313" name="Rectangle 41"/>
          <p:cNvSpPr>
            <a:spLocks noChangeArrowheads="1"/>
          </p:cNvSpPr>
          <p:nvPr/>
        </p:nvSpPr>
        <p:spPr bwMode="auto">
          <a:xfrm>
            <a:off x="5219700" y="443547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r4</a:t>
            </a:r>
          </a:p>
        </p:txBody>
      </p:sp>
      <p:sp>
        <p:nvSpPr>
          <p:cNvPr id="566314" name="Rectangle 42"/>
          <p:cNvSpPr>
            <a:spLocks noChangeArrowheads="1"/>
          </p:cNvSpPr>
          <p:nvPr/>
        </p:nvSpPr>
        <p:spPr bwMode="auto">
          <a:xfrm>
            <a:off x="5938838" y="443547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r4</a:t>
            </a:r>
          </a:p>
        </p:txBody>
      </p:sp>
      <p:sp>
        <p:nvSpPr>
          <p:cNvPr id="566315" name="Rectangle 43"/>
          <p:cNvSpPr>
            <a:spLocks noChangeArrowheads="1"/>
          </p:cNvSpPr>
          <p:nvPr/>
        </p:nvSpPr>
        <p:spPr bwMode="auto">
          <a:xfrm>
            <a:off x="4572000" y="3606800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s2</a:t>
            </a:r>
          </a:p>
        </p:txBody>
      </p:sp>
      <p:sp>
        <p:nvSpPr>
          <p:cNvPr id="566316" name="Rectangle 44"/>
          <p:cNvSpPr>
            <a:spLocks noChangeArrowheads="1"/>
          </p:cNvSpPr>
          <p:nvPr/>
        </p:nvSpPr>
        <p:spPr bwMode="auto">
          <a:xfrm>
            <a:off x="2174875" y="3606800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s3</a:t>
            </a:r>
          </a:p>
        </p:txBody>
      </p:sp>
      <p:sp>
        <p:nvSpPr>
          <p:cNvPr id="566317" name="Rectangle 45"/>
          <p:cNvSpPr>
            <a:spLocks noChangeArrowheads="1"/>
          </p:cNvSpPr>
          <p:nvPr/>
        </p:nvSpPr>
        <p:spPr bwMode="auto">
          <a:xfrm>
            <a:off x="2751138" y="3606800"/>
            <a:ext cx="452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s4</a:t>
            </a:r>
          </a:p>
        </p:txBody>
      </p:sp>
      <p:sp>
        <p:nvSpPr>
          <p:cNvPr id="566318" name="Rectangle 46"/>
          <p:cNvSpPr>
            <a:spLocks noChangeArrowheads="1"/>
          </p:cNvSpPr>
          <p:nvPr/>
        </p:nvSpPr>
        <p:spPr bwMode="auto">
          <a:xfrm>
            <a:off x="3348038" y="3862388"/>
            <a:ext cx="452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s6</a:t>
            </a:r>
          </a:p>
        </p:txBody>
      </p:sp>
      <p:sp>
        <p:nvSpPr>
          <p:cNvPr id="566319" name="Rectangle 47"/>
          <p:cNvSpPr>
            <a:spLocks noChangeArrowheads="1"/>
          </p:cNvSpPr>
          <p:nvPr/>
        </p:nvSpPr>
        <p:spPr bwMode="auto">
          <a:xfrm>
            <a:off x="3370263" y="4435475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r4</a:t>
            </a:r>
          </a:p>
        </p:txBody>
      </p:sp>
      <p:sp>
        <p:nvSpPr>
          <p:cNvPr id="566320" name="Rectangle 48"/>
          <p:cNvSpPr>
            <a:spLocks noChangeArrowheads="1"/>
          </p:cNvSpPr>
          <p:nvPr/>
        </p:nvSpPr>
        <p:spPr bwMode="auto">
          <a:xfrm>
            <a:off x="4041775" y="472598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r5</a:t>
            </a:r>
          </a:p>
        </p:txBody>
      </p:sp>
      <p:sp>
        <p:nvSpPr>
          <p:cNvPr id="566321" name="Rectangle 49"/>
          <p:cNvSpPr>
            <a:spLocks noChangeArrowheads="1"/>
          </p:cNvSpPr>
          <p:nvPr/>
        </p:nvSpPr>
        <p:spPr bwMode="auto">
          <a:xfrm>
            <a:off x="5243513" y="472598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r5</a:t>
            </a:r>
          </a:p>
        </p:txBody>
      </p:sp>
      <p:sp>
        <p:nvSpPr>
          <p:cNvPr id="566322" name="Rectangle 50"/>
          <p:cNvSpPr>
            <a:spLocks noChangeArrowheads="1"/>
          </p:cNvSpPr>
          <p:nvPr/>
        </p:nvSpPr>
        <p:spPr bwMode="auto">
          <a:xfrm>
            <a:off x="5962650" y="472598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r5</a:t>
            </a:r>
          </a:p>
        </p:txBody>
      </p:sp>
      <p:sp>
        <p:nvSpPr>
          <p:cNvPr id="566323" name="Rectangle 51"/>
          <p:cNvSpPr>
            <a:spLocks noChangeArrowheads="1"/>
          </p:cNvSpPr>
          <p:nvPr/>
        </p:nvSpPr>
        <p:spPr bwMode="auto">
          <a:xfrm>
            <a:off x="3394075" y="472598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r5</a:t>
            </a:r>
          </a:p>
        </p:txBody>
      </p:sp>
      <p:sp>
        <p:nvSpPr>
          <p:cNvPr id="566324" name="Rectangle 52"/>
          <p:cNvSpPr>
            <a:spLocks noChangeArrowheads="1"/>
          </p:cNvSpPr>
          <p:nvPr/>
        </p:nvSpPr>
        <p:spPr bwMode="auto">
          <a:xfrm>
            <a:off x="3995738" y="5553075"/>
            <a:ext cx="452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s5</a:t>
            </a:r>
          </a:p>
        </p:txBody>
      </p:sp>
      <p:sp>
        <p:nvSpPr>
          <p:cNvPr id="566325" name="Rectangle 53"/>
          <p:cNvSpPr>
            <a:spLocks noChangeArrowheads="1"/>
          </p:cNvSpPr>
          <p:nvPr/>
        </p:nvSpPr>
        <p:spPr bwMode="auto">
          <a:xfrm>
            <a:off x="3348038" y="5553075"/>
            <a:ext cx="452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s6</a:t>
            </a:r>
          </a:p>
        </p:txBody>
      </p:sp>
      <p:sp>
        <p:nvSpPr>
          <p:cNvPr id="566326" name="Rectangle 54"/>
          <p:cNvSpPr>
            <a:spLocks noChangeArrowheads="1"/>
          </p:cNvSpPr>
          <p:nvPr/>
        </p:nvSpPr>
        <p:spPr bwMode="auto">
          <a:xfrm>
            <a:off x="5219700" y="5553075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s8</a:t>
            </a:r>
          </a:p>
        </p:txBody>
      </p:sp>
      <p:sp>
        <p:nvSpPr>
          <p:cNvPr id="566327" name="Rectangle 55"/>
          <p:cNvSpPr>
            <a:spLocks noChangeArrowheads="1"/>
          </p:cNvSpPr>
          <p:nvPr/>
        </p:nvSpPr>
        <p:spPr bwMode="auto">
          <a:xfrm>
            <a:off x="3348038" y="6094413"/>
            <a:ext cx="452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s6</a:t>
            </a:r>
          </a:p>
        </p:txBody>
      </p:sp>
      <p:sp>
        <p:nvSpPr>
          <p:cNvPr id="566328" name="Rectangle 56"/>
          <p:cNvSpPr>
            <a:spLocks noChangeArrowheads="1"/>
          </p:cNvSpPr>
          <p:nvPr/>
        </p:nvSpPr>
        <p:spPr bwMode="auto">
          <a:xfrm>
            <a:off x="1258888" y="6381750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10</a:t>
            </a:r>
          </a:p>
        </p:txBody>
      </p:sp>
      <p:sp>
        <p:nvSpPr>
          <p:cNvPr id="566329" name="Rectangle 57"/>
          <p:cNvSpPr>
            <a:spLocks noChangeArrowheads="1"/>
          </p:cNvSpPr>
          <p:nvPr/>
        </p:nvSpPr>
        <p:spPr bwMode="auto">
          <a:xfrm>
            <a:off x="7199313" y="4149725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7</a:t>
            </a:r>
          </a:p>
        </p:txBody>
      </p:sp>
      <p:sp>
        <p:nvSpPr>
          <p:cNvPr id="566330" name="Rectangle 58"/>
          <p:cNvSpPr>
            <a:spLocks noChangeArrowheads="1"/>
          </p:cNvSpPr>
          <p:nvPr/>
        </p:nvSpPr>
        <p:spPr bwMode="auto">
          <a:xfrm>
            <a:off x="2195513" y="4149725"/>
            <a:ext cx="452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s3</a:t>
            </a:r>
          </a:p>
        </p:txBody>
      </p:sp>
      <p:sp>
        <p:nvSpPr>
          <p:cNvPr id="566331" name="Rectangle 59"/>
          <p:cNvSpPr>
            <a:spLocks noChangeArrowheads="1"/>
          </p:cNvSpPr>
          <p:nvPr/>
        </p:nvSpPr>
        <p:spPr bwMode="auto">
          <a:xfrm>
            <a:off x="2771775" y="4149725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s4</a:t>
            </a:r>
          </a:p>
        </p:txBody>
      </p:sp>
      <p:sp>
        <p:nvSpPr>
          <p:cNvPr id="566332" name="Rectangle 60"/>
          <p:cNvSpPr>
            <a:spLocks noChangeArrowheads="1"/>
          </p:cNvSpPr>
          <p:nvPr/>
        </p:nvSpPr>
        <p:spPr bwMode="auto">
          <a:xfrm>
            <a:off x="4572000" y="5013325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s2</a:t>
            </a:r>
          </a:p>
        </p:txBody>
      </p:sp>
      <p:sp>
        <p:nvSpPr>
          <p:cNvPr id="566333" name="Rectangle 61"/>
          <p:cNvSpPr>
            <a:spLocks noChangeArrowheads="1"/>
          </p:cNvSpPr>
          <p:nvPr/>
        </p:nvSpPr>
        <p:spPr bwMode="auto">
          <a:xfrm>
            <a:off x="7199313" y="5048250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9</a:t>
            </a:r>
          </a:p>
        </p:txBody>
      </p:sp>
      <p:sp>
        <p:nvSpPr>
          <p:cNvPr id="566334" name="Rectangle 62"/>
          <p:cNvSpPr>
            <a:spLocks noChangeArrowheads="1"/>
          </p:cNvSpPr>
          <p:nvPr/>
        </p:nvSpPr>
        <p:spPr bwMode="auto">
          <a:xfrm>
            <a:off x="2195513" y="5013325"/>
            <a:ext cx="452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s3</a:t>
            </a:r>
          </a:p>
        </p:txBody>
      </p:sp>
      <p:sp>
        <p:nvSpPr>
          <p:cNvPr id="566335" name="Rectangle 63"/>
          <p:cNvSpPr>
            <a:spLocks noChangeArrowheads="1"/>
          </p:cNvSpPr>
          <p:nvPr/>
        </p:nvSpPr>
        <p:spPr bwMode="auto">
          <a:xfrm>
            <a:off x="2771775" y="5013325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s4</a:t>
            </a:r>
          </a:p>
        </p:txBody>
      </p:sp>
      <p:sp>
        <p:nvSpPr>
          <p:cNvPr id="566336" name="Rectangle 64"/>
          <p:cNvSpPr>
            <a:spLocks noChangeArrowheads="1"/>
          </p:cNvSpPr>
          <p:nvPr/>
        </p:nvSpPr>
        <p:spPr bwMode="auto">
          <a:xfrm>
            <a:off x="4572000" y="5302250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s2</a:t>
            </a:r>
          </a:p>
        </p:txBody>
      </p:sp>
      <p:sp>
        <p:nvSpPr>
          <p:cNvPr id="566337" name="Rectangle 65"/>
          <p:cNvSpPr>
            <a:spLocks noChangeArrowheads="1"/>
          </p:cNvSpPr>
          <p:nvPr/>
        </p:nvSpPr>
        <p:spPr bwMode="auto">
          <a:xfrm>
            <a:off x="7092950" y="5305425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10</a:t>
            </a:r>
          </a:p>
        </p:txBody>
      </p:sp>
      <p:sp>
        <p:nvSpPr>
          <p:cNvPr id="566338" name="Rectangle 66"/>
          <p:cNvSpPr>
            <a:spLocks noChangeArrowheads="1"/>
          </p:cNvSpPr>
          <p:nvPr/>
        </p:nvSpPr>
        <p:spPr bwMode="auto">
          <a:xfrm>
            <a:off x="2195513" y="5305425"/>
            <a:ext cx="452437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s3</a:t>
            </a:r>
          </a:p>
        </p:txBody>
      </p:sp>
      <p:sp>
        <p:nvSpPr>
          <p:cNvPr id="566339" name="Rectangle 67"/>
          <p:cNvSpPr>
            <a:spLocks noChangeArrowheads="1"/>
          </p:cNvSpPr>
          <p:nvPr/>
        </p:nvSpPr>
        <p:spPr bwMode="auto">
          <a:xfrm>
            <a:off x="2771775" y="5305425"/>
            <a:ext cx="45243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s4</a:t>
            </a:r>
          </a:p>
        </p:txBody>
      </p:sp>
      <p:sp>
        <p:nvSpPr>
          <p:cNvPr id="566340" name="Rectangle 68"/>
          <p:cNvSpPr>
            <a:spLocks noChangeArrowheads="1"/>
          </p:cNvSpPr>
          <p:nvPr/>
        </p:nvSpPr>
        <p:spPr bwMode="auto">
          <a:xfrm>
            <a:off x="4017963" y="5840413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r3</a:t>
            </a:r>
          </a:p>
        </p:txBody>
      </p:sp>
      <p:sp>
        <p:nvSpPr>
          <p:cNvPr id="566341" name="Rectangle 69"/>
          <p:cNvSpPr>
            <a:spLocks noChangeArrowheads="1"/>
          </p:cNvSpPr>
          <p:nvPr/>
        </p:nvSpPr>
        <p:spPr bwMode="auto">
          <a:xfrm>
            <a:off x="5243513" y="5840413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r3</a:t>
            </a:r>
          </a:p>
        </p:txBody>
      </p:sp>
      <p:sp>
        <p:nvSpPr>
          <p:cNvPr id="566342" name="Rectangle 70"/>
          <p:cNvSpPr>
            <a:spLocks noChangeArrowheads="1"/>
          </p:cNvSpPr>
          <p:nvPr/>
        </p:nvSpPr>
        <p:spPr bwMode="auto">
          <a:xfrm>
            <a:off x="5962650" y="5840413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r3</a:t>
            </a:r>
          </a:p>
        </p:txBody>
      </p:sp>
      <p:sp>
        <p:nvSpPr>
          <p:cNvPr id="566343" name="Rectangle 71"/>
          <p:cNvSpPr>
            <a:spLocks noChangeArrowheads="1"/>
          </p:cNvSpPr>
          <p:nvPr/>
        </p:nvSpPr>
        <p:spPr bwMode="auto">
          <a:xfrm>
            <a:off x="3348038" y="5840413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r3</a:t>
            </a:r>
          </a:p>
        </p:txBody>
      </p:sp>
      <p:sp>
        <p:nvSpPr>
          <p:cNvPr id="566344" name="Rectangle 72"/>
          <p:cNvSpPr>
            <a:spLocks noChangeArrowheads="1"/>
          </p:cNvSpPr>
          <p:nvPr/>
        </p:nvSpPr>
        <p:spPr bwMode="auto">
          <a:xfrm>
            <a:off x="4041775" y="6094413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r1</a:t>
            </a:r>
          </a:p>
        </p:txBody>
      </p:sp>
      <p:sp>
        <p:nvSpPr>
          <p:cNvPr id="566345" name="Rectangle 73"/>
          <p:cNvSpPr>
            <a:spLocks noChangeArrowheads="1"/>
          </p:cNvSpPr>
          <p:nvPr/>
        </p:nvSpPr>
        <p:spPr bwMode="auto">
          <a:xfrm>
            <a:off x="5243513" y="6094413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r1</a:t>
            </a:r>
          </a:p>
        </p:txBody>
      </p:sp>
      <p:sp>
        <p:nvSpPr>
          <p:cNvPr id="566346" name="Rectangle 74"/>
          <p:cNvSpPr>
            <a:spLocks noChangeArrowheads="1"/>
          </p:cNvSpPr>
          <p:nvPr/>
        </p:nvSpPr>
        <p:spPr bwMode="auto">
          <a:xfrm>
            <a:off x="5962650" y="6094413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r1</a:t>
            </a:r>
          </a:p>
        </p:txBody>
      </p:sp>
      <p:sp>
        <p:nvSpPr>
          <p:cNvPr id="566347" name="Rectangle 75"/>
          <p:cNvSpPr>
            <a:spLocks noChangeArrowheads="1"/>
          </p:cNvSpPr>
          <p:nvPr/>
        </p:nvSpPr>
        <p:spPr bwMode="auto">
          <a:xfrm>
            <a:off x="4041775" y="634523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r2</a:t>
            </a:r>
          </a:p>
        </p:txBody>
      </p:sp>
      <p:sp>
        <p:nvSpPr>
          <p:cNvPr id="566348" name="Rectangle 76"/>
          <p:cNvSpPr>
            <a:spLocks noChangeArrowheads="1"/>
          </p:cNvSpPr>
          <p:nvPr/>
        </p:nvSpPr>
        <p:spPr bwMode="auto">
          <a:xfrm>
            <a:off x="5243513" y="634523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r2</a:t>
            </a:r>
          </a:p>
        </p:txBody>
      </p:sp>
      <p:sp>
        <p:nvSpPr>
          <p:cNvPr id="566349" name="Rectangle 77"/>
          <p:cNvSpPr>
            <a:spLocks noChangeArrowheads="1"/>
          </p:cNvSpPr>
          <p:nvPr/>
        </p:nvSpPr>
        <p:spPr bwMode="auto">
          <a:xfrm>
            <a:off x="5962650" y="634523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r2</a:t>
            </a:r>
          </a:p>
        </p:txBody>
      </p:sp>
      <p:sp>
        <p:nvSpPr>
          <p:cNvPr id="566350" name="Rectangle 78"/>
          <p:cNvSpPr>
            <a:spLocks noChangeArrowheads="1"/>
          </p:cNvSpPr>
          <p:nvPr/>
        </p:nvSpPr>
        <p:spPr bwMode="auto">
          <a:xfrm>
            <a:off x="3348038" y="6345238"/>
            <a:ext cx="40957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ym typeface="Symbol" panose="05050102010706020507" pitchFamily="18" charset="2"/>
              </a:rPr>
              <a:t>r2</a:t>
            </a:r>
          </a:p>
        </p:txBody>
      </p:sp>
      <p:sp>
        <p:nvSpPr>
          <p:cNvPr id="566351" name="Rectangle 79"/>
          <p:cNvSpPr>
            <a:spLocks noChangeArrowheads="1"/>
          </p:cNvSpPr>
          <p:nvPr/>
        </p:nvSpPr>
        <p:spPr bwMode="auto">
          <a:xfrm>
            <a:off x="3348038" y="3608388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e1</a:t>
            </a:r>
          </a:p>
        </p:txBody>
      </p:sp>
      <p:sp>
        <p:nvSpPr>
          <p:cNvPr id="566352" name="Rectangle 80"/>
          <p:cNvSpPr>
            <a:spLocks noChangeArrowheads="1"/>
          </p:cNvSpPr>
          <p:nvPr/>
        </p:nvSpPr>
        <p:spPr bwMode="auto">
          <a:xfrm>
            <a:off x="3995738" y="3608388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e1</a:t>
            </a:r>
          </a:p>
        </p:txBody>
      </p:sp>
      <p:sp>
        <p:nvSpPr>
          <p:cNvPr id="566353" name="Rectangle 81"/>
          <p:cNvSpPr>
            <a:spLocks noChangeArrowheads="1"/>
          </p:cNvSpPr>
          <p:nvPr/>
        </p:nvSpPr>
        <p:spPr bwMode="auto">
          <a:xfrm>
            <a:off x="5905500" y="3608388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e1</a:t>
            </a:r>
          </a:p>
        </p:txBody>
      </p:sp>
      <p:sp>
        <p:nvSpPr>
          <p:cNvPr id="566354" name="Rectangle 82"/>
          <p:cNvSpPr>
            <a:spLocks noChangeArrowheads="1"/>
          </p:cNvSpPr>
          <p:nvPr/>
        </p:nvSpPr>
        <p:spPr bwMode="auto">
          <a:xfrm>
            <a:off x="3348038" y="4149725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e1</a:t>
            </a:r>
          </a:p>
        </p:txBody>
      </p:sp>
      <p:sp>
        <p:nvSpPr>
          <p:cNvPr id="566355" name="Rectangle 83"/>
          <p:cNvSpPr>
            <a:spLocks noChangeArrowheads="1"/>
          </p:cNvSpPr>
          <p:nvPr/>
        </p:nvSpPr>
        <p:spPr bwMode="auto">
          <a:xfrm>
            <a:off x="3995738" y="4149725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e1</a:t>
            </a:r>
          </a:p>
        </p:txBody>
      </p:sp>
      <p:sp>
        <p:nvSpPr>
          <p:cNvPr id="566356" name="Rectangle 84"/>
          <p:cNvSpPr>
            <a:spLocks noChangeArrowheads="1"/>
          </p:cNvSpPr>
          <p:nvPr/>
        </p:nvSpPr>
        <p:spPr bwMode="auto">
          <a:xfrm>
            <a:off x="5219700" y="4149725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e2</a:t>
            </a:r>
          </a:p>
        </p:txBody>
      </p:sp>
      <p:sp>
        <p:nvSpPr>
          <p:cNvPr id="566357" name="Rectangle 85"/>
          <p:cNvSpPr>
            <a:spLocks noChangeArrowheads="1"/>
          </p:cNvSpPr>
          <p:nvPr/>
        </p:nvSpPr>
        <p:spPr bwMode="auto">
          <a:xfrm>
            <a:off x="5940425" y="4149725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e1</a:t>
            </a:r>
          </a:p>
        </p:txBody>
      </p:sp>
      <p:sp>
        <p:nvSpPr>
          <p:cNvPr id="566358" name="Rectangle 86"/>
          <p:cNvSpPr>
            <a:spLocks noChangeArrowheads="1"/>
          </p:cNvSpPr>
          <p:nvPr/>
        </p:nvSpPr>
        <p:spPr bwMode="auto">
          <a:xfrm>
            <a:off x="3348038" y="5013325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e1</a:t>
            </a:r>
          </a:p>
        </p:txBody>
      </p:sp>
      <p:sp>
        <p:nvSpPr>
          <p:cNvPr id="566359" name="Rectangle 87"/>
          <p:cNvSpPr>
            <a:spLocks noChangeArrowheads="1"/>
          </p:cNvSpPr>
          <p:nvPr/>
        </p:nvSpPr>
        <p:spPr bwMode="auto">
          <a:xfrm>
            <a:off x="3995738" y="5013325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e1</a:t>
            </a:r>
          </a:p>
        </p:txBody>
      </p:sp>
      <p:sp>
        <p:nvSpPr>
          <p:cNvPr id="566360" name="Rectangle 88"/>
          <p:cNvSpPr>
            <a:spLocks noChangeArrowheads="1"/>
          </p:cNvSpPr>
          <p:nvPr/>
        </p:nvSpPr>
        <p:spPr bwMode="auto">
          <a:xfrm>
            <a:off x="5219700" y="5013325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e2</a:t>
            </a:r>
          </a:p>
        </p:txBody>
      </p:sp>
      <p:sp>
        <p:nvSpPr>
          <p:cNvPr id="566361" name="Rectangle 89"/>
          <p:cNvSpPr>
            <a:spLocks noChangeArrowheads="1"/>
          </p:cNvSpPr>
          <p:nvPr/>
        </p:nvSpPr>
        <p:spPr bwMode="auto">
          <a:xfrm>
            <a:off x="5940425" y="5013325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e1</a:t>
            </a:r>
          </a:p>
        </p:txBody>
      </p:sp>
      <p:sp>
        <p:nvSpPr>
          <p:cNvPr id="566362" name="Rectangle 90"/>
          <p:cNvSpPr>
            <a:spLocks noChangeArrowheads="1"/>
          </p:cNvSpPr>
          <p:nvPr/>
        </p:nvSpPr>
        <p:spPr bwMode="auto">
          <a:xfrm>
            <a:off x="3348038" y="5300663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e1</a:t>
            </a:r>
          </a:p>
        </p:txBody>
      </p:sp>
      <p:sp>
        <p:nvSpPr>
          <p:cNvPr id="566363" name="Rectangle 91"/>
          <p:cNvSpPr>
            <a:spLocks noChangeArrowheads="1"/>
          </p:cNvSpPr>
          <p:nvPr/>
        </p:nvSpPr>
        <p:spPr bwMode="auto">
          <a:xfrm>
            <a:off x="3995738" y="5300663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e1</a:t>
            </a:r>
          </a:p>
        </p:txBody>
      </p:sp>
      <p:sp>
        <p:nvSpPr>
          <p:cNvPr id="566364" name="Rectangle 92"/>
          <p:cNvSpPr>
            <a:spLocks noChangeArrowheads="1"/>
          </p:cNvSpPr>
          <p:nvPr/>
        </p:nvSpPr>
        <p:spPr bwMode="auto">
          <a:xfrm>
            <a:off x="5219700" y="5300663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e2</a:t>
            </a:r>
          </a:p>
        </p:txBody>
      </p:sp>
      <p:sp>
        <p:nvSpPr>
          <p:cNvPr id="566365" name="Rectangle 93"/>
          <p:cNvSpPr>
            <a:spLocks noChangeArrowheads="1"/>
          </p:cNvSpPr>
          <p:nvPr/>
        </p:nvSpPr>
        <p:spPr bwMode="auto">
          <a:xfrm>
            <a:off x="5940425" y="5300663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e1</a:t>
            </a:r>
          </a:p>
        </p:txBody>
      </p:sp>
      <p:sp>
        <p:nvSpPr>
          <p:cNvPr id="566366" name="Rectangle 94"/>
          <p:cNvSpPr>
            <a:spLocks noChangeArrowheads="1"/>
          </p:cNvSpPr>
          <p:nvPr/>
        </p:nvSpPr>
        <p:spPr bwMode="auto">
          <a:xfrm>
            <a:off x="5219700" y="3608388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e2</a:t>
            </a:r>
          </a:p>
        </p:txBody>
      </p:sp>
      <p:sp>
        <p:nvSpPr>
          <p:cNvPr id="566367" name="Rectangle 95"/>
          <p:cNvSpPr>
            <a:spLocks noChangeArrowheads="1"/>
          </p:cNvSpPr>
          <p:nvPr/>
        </p:nvSpPr>
        <p:spPr bwMode="auto">
          <a:xfrm>
            <a:off x="5219700" y="3895725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e2</a:t>
            </a:r>
          </a:p>
        </p:txBody>
      </p:sp>
      <p:sp>
        <p:nvSpPr>
          <p:cNvPr id="566368" name="Rectangle 96"/>
          <p:cNvSpPr>
            <a:spLocks noChangeArrowheads="1"/>
          </p:cNvSpPr>
          <p:nvPr/>
        </p:nvSpPr>
        <p:spPr bwMode="auto">
          <a:xfrm>
            <a:off x="2195513" y="4437063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e3</a:t>
            </a:r>
          </a:p>
        </p:txBody>
      </p:sp>
      <p:sp>
        <p:nvSpPr>
          <p:cNvPr id="566369" name="Rectangle 97"/>
          <p:cNvSpPr>
            <a:spLocks noChangeArrowheads="1"/>
          </p:cNvSpPr>
          <p:nvPr/>
        </p:nvSpPr>
        <p:spPr bwMode="auto">
          <a:xfrm>
            <a:off x="2771775" y="4437063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e3</a:t>
            </a:r>
          </a:p>
        </p:txBody>
      </p:sp>
      <p:sp>
        <p:nvSpPr>
          <p:cNvPr id="566370" name="Rectangle 98"/>
          <p:cNvSpPr>
            <a:spLocks noChangeArrowheads="1"/>
          </p:cNvSpPr>
          <p:nvPr/>
        </p:nvSpPr>
        <p:spPr bwMode="auto">
          <a:xfrm>
            <a:off x="4572000" y="4437063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e3</a:t>
            </a:r>
          </a:p>
        </p:txBody>
      </p:sp>
      <p:sp>
        <p:nvSpPr>
          <p:cNvPr id="566371" name="Rectangle 99"/>
          <p:cNvSpPr>
            <a:spLocks noChangeArrowheads="1"/>
          </p:cNvSpPr>
          <p:nvPr/>
        </p:nvSpPr>
        <p:spPr bwMode="auto">
          <a:xfrm>
            <a:off x="2195513" y="3860800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e3</a:t>
            </a:r>
          </a:p>
        </p:txBody>
      </p:sp>
      <p:sp>
        <p:nvSpPr>
          <p:cNvPr id="566372" name="Rectangle 100"/>
          <p:cNvSpPr>
            <a:spLocks noChangeArrowheads="1"/>
          </p:cNvSpPr>
          <p:nvPr/>
        </p:nvSpPr>
        <p:spPr bwMode="auto">
          <a:xfrm>
            <a:off x="2771775" y="3860800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e3</a:t>
            </a:r>
          </a:p>
        </p:txBody>
      </p:sp>
      <p:sp>
        <p:nvSpPr>
          <p:cNvPr id="566373" name="Rectangle 101"/>
          <p:cNvSpPr>
            <a:spLocks noChangeArrowheads="1"/>
          </p:cNvSpPr>
          <p:nvPr/>
        </p:nvSpPr>
        <p:spPr bwMode="auto">
          <a:xfrm>
            <a:off x="4572000" y="3860800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e3</a:t>
            </a:r>
          </a:p>
        </p:txBody>
      </p:sp>
      <p:sp>
        <p:nvSpPr>
          <p:cNvPr id="566374" name="Rectangle 102"/>
          <p:cNvSpPr>
            <a:spLocks noChangeArrowheads="1"/>
          </p:cNvSpPr>
          <p:nvPr/>
        </p:nvSpPr>
        <p:spPr bwMode="auto">
          <a:xfrm>
            <a:off x="2195513" y="4724400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e3</a:t>
            </a:r>
          </a:p>
        </p:txBody>
      </p:sp>
      <p:sp>
        <p:nvSpPr>
          <p:cNvPr id="566375" name="Rectangle 103"/>
          <p:cNvSpPr>
            <a:spLocks noChangeArrowheads="1"/>
          </p:cNvSpPr>
          <p:nvPr/>
        </p:nvSpPr>
        <p:spPr bwMode="auto">
          <a:xfrm>
            <a:off x="2771775" y="4724400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e3</a:t>
            </a:r>
          </a:p>
        </p:txBody>
      </p:sp>
      <p:sp>
        <p:nvSpPr>
          <p:cNvPr id="566376" name="Rectangle 104"/>
          <p:cNvSpPr>
            <a:spLocks noChangeArrowheads="1"/>
          </p:cNvSpPr>
          <p:nvPr/>
        </p:nvSpPr>
        <p:spPr bwMode="auto">
          <a:xfrm>
            <a:off x="4572000" y="4724400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e3</a:t>
            </a:r>
          </a:p>
        </p:txBody>
      </p:sp>
      <p:sp>
        <p:nvSpPr>
          <p:cNvPr id="566377" name="Rectangle 105"/>
          <p:cNvSpPr>
            <a:spLocks noChangeArrowheads="1"/>
          </p:cNvSpPr>
          <p:nvPr/>
        </p:nvSpPr>
        <p:spPr bwMode="auto">
          <a:xfrm>
            <a:off x="5940425" y="5553075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e4</a:t>
            </a:r>
          </a:p>
        </p:txBody>
      </p:sp>
      <p:sp>
        <p:nvSpPr>
          <p:cNvPr id="566378" name="Rectangle 106"/>
          <p:cNvSpPr>
            <a:spLocks noChangeArrowheads="1"/>
          </p:cNvSpPr>
          <p:nvPr/>
        </p:nvSpPr>
        <p:spPr bwMode="auto">
          <a:xfrm>
            <a:off x="2195513" y="5553075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e3</a:t>
            </a:r>
          </a:p>
        </p:txBody>
      </p:sp>
      <p:sp>
        <p:nvSpPr>
          <p:cNvPr id="566379" name="Rectangle 107"/>
          <p:cNvSpPr>
            <a:spLocks noChangeArrowheads="1"/>
          </p:cNvSpPr>
          <p:nvPr/>
        </p:nvSpPr>
        <p:spPr bwMode="auto">
          <a:xfrm>
            <a:off x="2771775" y="5553075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e3</a:t>
            </a:r>
          </a:p>
        </p:txBody>
      </p:sp>
      <p:sp>
        <p:nvSpPr>
          <p:cNvPr id="566380" name="Rectangle 108"/>
          <p:cNvSpPr>
            <a:spLocks noChangeArrowheads="1"/>
          </p:cNvSpPr>
          <p:nvPr/>
        </p:nvSpPr>
        <p:spPr bwMode="auto">
          <a:xfrm>
            <a:off x="4572000" y="5553075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e3</a:t>
            </a:r>
          </a:p>
        </p:txBody>
      </p:sp>
      <p:sp>
        <p:nvSpPr>
          <p:cNvPr id="566381" name="Rectangle 109"/>
          <p:cNvSpPr>
            <a:spLocks noChangeArrowheads="1"/>
          </p:cNvSpPr>
          <p:nvPr/>
        </p:nvSpPr>
        <p:spPr bwMode="auto">
          <a:xfrm>
            <a:off x="2195513" y="5805488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e3</a:t>
            </a:r>
          </a:p>
        </p:txBody>
      </p:sp>
      <p:sp>
        <p:nvSpPr>
          <p:cNvPr id="566382" name="Rectangle 110"/>
          <p:cNvSpPr>
            <a:spLocks noChangeArrowheads="1"/>
          </p:cNvSpPr>
          <p:nvPr/>
        </p:nvSpPr>
        <p:spPr bwMode="auto">
          <a:xfrm>
            <a:off x="2771775" y="5805488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e3</a:t>
            </a:r>
          </a:p>
        </p:txBody>
      </p:sp>
      <p:sp>
        <p:nvSpPr>
          <p:cNvPr id="566383" name="Rectangle 111"/>
          <p:cNvSpPr>
            <a:spLocks noChangeArrowheads="1"/>
          </p:cNvSpPr>
          <p:nvPr/>
        </p:nvSpPr>
        <p:spPr bwMode="auto">
          <a:xfrm>
            <a:off x="4572000" y="5805488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e3</a:t>
            </a:r>
          </a:p>
        </p:txBody>
      </p:sp>
      <p:sp>
        <p:nvSpPr>
          <p:cNvPr id="566384" name="Rectangle 112"/>
          <p:cNvSpPr>
            <a:spLocks noChangeArrowheads="1"/>
          </p:cNvSpPr>
          <p:nvPr/>
        </p:nvSpPr>
        <p:spPr bwMode="auto">
          <a:xfrm>
            <a:off x="2195513" y="6056313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e3</a:t>
            </a:r>
          </a:p>
        </p:txBody>
      </p:sp>
      <p:sp>
        <p:nvSpPr>
          <p:cNvPr id="566385" name="Rectangle 113"/>
          <p:cNvSpPr>
            <a:spLocks noChangeArrowheads="1"/>
          </p:cNvSpPr>
          <p:nvPr/>
        </p:nvSpPr>
        <p:spPr bwMode="auto">
          <a:xfrm>
            <a:off x="2771775" y="6056313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e3</a:t>
            </a:r>
          </a:p>
        </p:txBody>
      </p:sp>
      <p:sp>
        <p:nvSpPr>
          <p:cNvPr id="566386" name="Rectangle 114"/>
          <p:cNvSpPr>
            <a:spLocks noChangeArrowheads="1"/>
          </p:cNvSpPr>
          <p:nvPr/>
        </p:nvSpPr>
        <p:spPr bwMode="auto">
          <a:xfrm>
            <a:off x="4572000" y="6056313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e3</a:t>
            </a:r>
          </a:p>
        </p:txBody>
      </p:sp>
      <p:sp>
        <p:nvSpPr>
          <p:cNvPr id="566387" name="Rectangle 115"/>
          <p:cNvSpPr>
            <a:spLocks noChangeArrowheads="1"/>
          </p:cNvSpPr>
          <p:nvPr/>
        </p:nvSpPr>
        <p:spPr bwMode="auto">
          <a:xfrm>
            <a:off x="2195513" y="6345238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e3</a:t>
            </a:r>
          </a:p>
        </p:txBody>
      </p:sp>
      <p:sp>
        <p:nvSpPr>
          <p:cNvPr id="566388" name="Rectangle 116"/>
          <p:cNvSpPr>
            <a:spLocks noChangeArrowheads="1"/>
          </p:cNvSpPr>
          <p:nvPr/>
        </p:nvSpPr>
        <p:spPr bwMode="auto">
          <a:xfrm>
            <a:off x="2771775" y="6345238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e3</a:t>
            </a:r>
          </a:p>
        </p:txBody>
      </p:sp>
      <p:sp>
        <p:nvSpPr>
          <p:cNvPr id="566389" name="Rectangle 117"/>
          <p:cNvSpPr>
            <a:spLocks noChangeArrowheads="1"/>
          </p:cNvSpPr>
          <p:nvPr/>
        </p:nvSpPr>
        <p:spPr bwMode="auto">
          <a:xfrm>
            <a:off x="4572000" y="6345238"/>
            <a:ext cx="4667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800080"/>
                </a:solidFill>
                <a:sym typeface="Symbol" panose="05050102010706020507" pitchFamily="18" charset="2"/>
              </a:rPr>
              <a:t>e3</a:t>
            </a:r>
          </a:p>
        </p:txBody>
      </p:sp>
      <p:sp>
        <p:nvSpPr>
          <p:cNvPr id="566390" name="Rectangle 118"/>
          <p:cNvSpPr>
            <a:spLocks noChangeArrowheads="1"/>
          </p:cNvSpPr>
          <p:nvPr/>
        </p:nvSpPr>
        <p:spPr bwMode="auto">
          <a:xfrm>
            <a:off x="1116013" y="2349500"/>
            <a:ext cx="7704137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anose="05050102010706020507" pitchFamily="18" charset="2"/>
              <a:buChar char="-"/>
            </a:pPr>
            <a:r>
              <a:rPr lang="en-US" altLang="zh-CN" sz="2800" b="1">
                <a:solidFill>
                  <a:srgbClr val="800080"/>
                </a:solidFill>
              </a:rPr>
              <a:t>  </a:t>
            </a:r>
            <a:r>
              <a:rPr lang="zh-CN" altLang="en-US" sz="2800" b="1">
                <a:solidFill>
                  <a:srgbClr val="800080"/>
                </a:solidFill>
              </a:rPr>
              <a:t>可能的恢复措施</a:t>
            </a:r>
            <a:r>
              <a:rPr lang="zh-CN" altLang="en-US" sz="2800" b="1"/>
              <a:t>  </a:t>
            </a:r>
            <a:r>
              <a:rPr lang="en-US" altLang="zh-CN" b="1" i="1"/>
              <a:t>e1</a:t>
            </a:r>
            <a:r>
              <a:rPr lang="zh-CN" altLang="en-US" b="1">
                <a:sym typeface="Symbol" panose="05050102010706020507" pitchFamily="18" charset="2"/>
              </a:rPr>
              <a:t>？</a:t>
            </a:r>
            <a:r>
              <a:rPr lang="en-US" altLang="zh-CN" b="1" i="1"/>
              <a:t>e2</a:t>
            </a:r>
            <a:r>
              <a:rPr lang="zh-CN" altLang="en-US" b="1">
                <a:sym typeface="Symbol" panose="05050102010706020507" pitchFamily="18" charset="2"/>
              </a:rPr>
              <a:t>？</a:t>
            </a:r>
            <a:r>
              <a:rPr lang="en-US" altLang="zh-CN" b="1" i="1"/>
              <a:t>e3</a:t>
            </a:r>
            <a:r>
              <a:rPr lang="zh-CN" altLang="en-US" b="1">
                <a:sym typeface="Symbol" panose="05050102010706020507" pitchFamily="18" charset="2"/>
              </a:rPr>
              <a:t>？</a:t>
            </a:r>
            <a:r>
              <a:rPr lang="en-US" altLang="zh-CN" b="1" i="1"/>
              <a:t>e4</a:t>
            </a:r>
            <a:r>
              <a:rPr lang="zh-CN" altLang="en-US" b="1">
                <a:sym typeface="Symbol" panose="05050102010706020507" pitchFamily="18" charset="2"/>
              </a:rPr>
              <a:t>？</a:t>
            </a:r>
            <a:endParaRPr lang="zh-CN" altLang="en-US" b="1"/>
          </a:p>
        </p:txBody>
      </p:sp>
      <p:sp>
        <p:nvSpPr>
          <p:cNvPr id="566391" name="Rectangle 119"/>
          <p:cNvSpPr>
            <a:spLocks noChangeArrowheads="1"/>
          </p:cNvSpPr>
          <p:nvPr/>
        </p:nvSpPr>
        <p:spPr bwMode="auto">
          <a:xfrm>
            <a:off x="35496" y="188913"/>
            <a:ext cx="5110163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en-US" altLang="zh-CN" sz="4000" dirty="0">
                <a:solidFill>
                  <a:srgbClr val="800080"/>
                </a:solidFill>
                <a:ea typeface="华文行楷" pitchFamily="2" charset="-122"/>
              </a:rPr>
              <a:t>LR </a:t>
            </a: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分析中的出错处理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6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6390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50" name="Rectangle 10"/>
          <p:cNvSpPr>
            <a:spLocks noChangeArrowheads="1"/>
          </p:cNvSpPr>
          <p:nvPr/>
        </p:nvSpPr>
        <p:spPr bwMode="auto">
          <a:xfrm>
            <a:off x="35496" y="188913"/>
            <a:ext cx="5903912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ClrTx/>
              <a:buFontTx/>
              <a:buNone/>
            </a:pPr>
            <a:r>
              <a:rPr lang="zh-CN" altLang="en-US" sz="4000" b="1" dirty="0">
                <a:solidFill>
                  <a:srgbClr val="800080"/>
                </a:solidFill>
                <a:ea typeface="华文行楷" pitchFamily="2" charset="-122"/>
              </a:rPr>
              <a:t>几类分析文法之间的关系</a:t>
            </a:r>
          </a:p>
        </p:txBody>
      </p:sp>
      <p:sp>
        <p:nvSpPr>
          <p:cNvPr id="189453" name="AutoShape 1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9454" name="AutoShape 1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9455" name="AutoShape 1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9456" name="AutoShape 1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9457" name="Oval 17"/>
          <p:cNvSpPr>
            <a:spLocks noChangeArrowheads="1"/>
          </p:cNvSpPr>
          <p:nvPr/>
        </p:nvSpPr>
        <p:spPr bwMode="auto">
          <a:xfrm>
            <a:off x="3492500" y="4076700"/>
            <a:ext cx="1727200" cy="792163"/>
          </a:xfrm>
          <a:prstGeom prst="ellipse">
            <a:avLst/>
          </a:prstGeom>
          <a:noFill/>
          <a:ln w="9525" algn="ctr">
            <a:solidFill>
              <a:srgbClr val="800080"/>
            </a:solidFill>
            <a:rou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9458" name="Text Box 18"/>
          <p:cNvSpPr txBox="1">
            <a:spLocks noChangeArrowheads="1"/>
          </p:cNvSpPr>
          <p:nvPr/>
        </p:nvSpPr>
        <p:spPr bwMode="auto">
          <a:xfrm>
            <a:off x="3995738" y="4292600"/>
            <a:ext cx="1223962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kumimoji="0" lang="en-US" altLang="zh-CN" sz="2000">
                <a:solidFill>
                  <a:srgbClr val="800080"/>
                </a:solidFill>
              </a:rPr>
              <a:t>LR</a:t>
            </a:r>
            <a:r>
              <a:rPr kumimoji="0" lang="zh-CN" altLang="en-US" sz="2000">
                <a:solidFill>
                  <a:srgbClr val="800080"/>
                </a:solidFill>
              </a:rPr>
              <a:t>（</a:t>
            </a:r>
            <a:r>
              <a:rPr kumimoji="0" lang="en-US" altLang="zh-CN" sz="2000">
                <a:solidFill>
                  <a:srgbClr val="800080"/>
                </a:solidFill>
              </a:rPr>
              <a:t>0</a:t>
            </a:r>
            <a:r>
              <a:rPr kumimoji="0" lang="zh-CN" altLang="en-US" sz="2000">
                <a:solidFill>
                  <a:srgbClr val="800080"/>
                </a:solidFill>
              </a:rPr>
              <a:t>）</a:t>
            </a:r>
          </a:p>
        </p:txBody>
      </p:sp>
      <p:sp>
        <p:nvSpPr>
          <p:cNvPr id="189459" name="Oval 19"/>
          <p:cNvSpPr>
            <a:spLocks noChangeArrowheads="1"/>
          </p:cNvSpPr>
          <p:nvPr/>
        </p:nvSpPr>
        <p:spPr bwMode="auto">
          <a:xfrm>
            <a:off x="2916238" y="3571875"/>
            <a:ext cx="2735262" cy="1439863"/>
          </a:xfrm>
          <a:prstGeom prst="ellipse">
            <a:avLst/>
          </a:prstGeom>
          <a:noFill/>
          <a:ln w="9525" algn="ctr">
            <a:solidFill>
              <a:srgbClr val="800080"/>
            </a:solidFill>
            <a:rou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9460" name="Text Box 20"/>
          <p:cNvSpPr txBox="1">
            <a:spLocks noChangeArrowheads="1"/>
          </p:cNvSpPr>
          <p:nvPr/>
        </p:nvSpPr>
        <p:spPr bwMode="auto">
          <a:xfrm>
            <a:off x="3924300" y="3679825"/>
            <a:ext cx="1368425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kumimoji="0" lang="en-US" altLang="zh-CN" sz="2000">
                <a:solidFill>
                  <a:srgbClr val="800080"/>
                </a:solidFill>
              </a:rPr>
              <a:t>SLR</a:t>
            </a:r>
            <a:r>
              <a:rPr kumimoji="0" lang="zh-CN" altLang="en-US" sz="2000">
                <a:solidFill>
                  <a:srgbClr val="800080"/>
                </a:solidFill>
              </a:rPr>
              <a:t>（</a:t>
            </a:r>
            <a:r>
              <a:rPr kumimoji="0" lang="en-US" altLang="zh-CN" sz="2000">
                <a:solidFill>
                  <a:srgbClr val="800080"/>
                </a:solidFill>
              </a:rPr>
              <a:t>1</a:t>
            </a:r>
            <a:r>
              <a:rPr kumimoji="0" lang="zh-CN" altLang="en-US" sz="2000">
                <a:solidFill>
                  <a:srgbClr val="800080"/>
                </a:solidFill>
              </a:rPr>
              <a:t>）</a:t>
            </a:r>
          </a:p>
        </p:txBody>
      </p:sp>
      <p:sp>
        <p:nvSpPr>
          <p:cNvPr id="189461" name="Oval 21"/>
          <p:cNvSpPr>
            <a:spLocks noChangeArrowheads="1"/>
          </p:cNvSpPr>
          <p:nvPr/>
        </p:nvSpPr>
        <p:spPr bwMode="auto">
          <a:xfrm>
            <a:off x="2268538" y="3211513"/>
            <a:ext cx="4824412" cy="2305050"/>
          </a:xfrm>
          <a:prstGeom prst="ellipse">
            <a:avLst/>
          </a:prstGeom>
          <a:noFill/>
          <a:ln w="9525" algn="ctr">
            <a:solidFill>
              <a:srgbClr val="800080"/>
            </a:solidFill>
            <a:rou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9462" name="Text Box 22"/>
          <p:cNvSpPr txBox="1">
            <a:spLocks noChangeArrowheads="1"/>
          </p:cNvSpPr>
          <p:nvPr/>
        </p:nvSpPr>
        <p:spPr bwMode="auto">
          <a:xfrm>
            <a:off x="5653088" y="3895725"/>
            <a:ext cx="1511300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kumimoji="0" lang="en-US" altLang="zh-CN" sz="2000">
                <a:solidFill>
                  <a:srgbClr val="800080"/>
                </a:solidFill>
              </a:rPr>
              <a:t>LALR</a:t>
            </a:r>
            <a:r>
              <a:rPr kumimoji="0" lang="zh-CN" altLang="en-US" sz="2000">
                <a:solidFill>
                  <a:srgbClr val="800080"/>
                </a:solidFill>
              </a:rPr>
              <a:t>（</a:t>
            </a:r>
            <a:r>
              <a:rPr kumimoji="0" lang="en-US" altLang="zh-CN" sz="2000">
                <a:solidFill>
                  <a:srgbClr val="800080"/>
                </a:solidFill>
              </a:rPr>
              <a:t>1</a:t>
            </a:r>
            <a:r>
              <a:rPr kumimoji="0" lang="zh-CN" altLang="en-US" sz="2000">
                <a:solidFill>
                  <a:srgbClr val="800080"/>
                </a:solidFill>
              </a:rPr>
              <a:t>）</a:t>
            </a:r>
          </a:p>
        </p:txBody>
      </p:sp>
      <p:sp>
        <p:nvSpPr>
          <p:cNvPr id="189463" name="Oval 23"/>
          <p:cNvSpPr>
            <a:spLocks noChangeArrowheads="1"/>
          </p:cNvSpPr>
          <p:nvPr/>
        </p:nvSpPr>
        <p:spPr bwMode="auto">
          <a:xfrm>
            <a:off x="1258888" y="2133600"/>
            <a:ext cx="7058025" cy="3887788"/>
          </a:xfrm>
          <a:prstGeom prst="ellipse">
            <a:avLst/>
          </a:prstGeom>
          <a:noFill/>
          <a:ln w="9525" algn="ctr">
            <a:solidFill>
              <a:srgbClr val="800080"/>
            </a:solidFill>
            <a:rou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9464" name="Text Box 24"/>
          <p:cNvSpPr txBox="1">
            <a:spLocks noChangeArrowheads="1"/>
          </p:cNvSpPr>
          <p:nvPr/>
        </p:nvSpPr>
        <p:spPr bwMode="auto">
          <a:xfrm>
            <a:off x="5868988" y="2816225"/>
            <a:ext cx="1295400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kumimoji="0" lang="en-US" altLang="zh-CN" sz="2000">
                <a:solidFill>
                  <a:srgbClr val="800080"/>
                </a:solidFill>
              </a:rPr>
              <a:t>LR</a:t>
            </a:r>
            <a:r>
              <a:rPr kumimoji="0" lang="zh-CN" altLang="en-US" sz="2000">
                <a:solidFill>
                  <a:srgbClr val="800080"/>
                </a:solidFill>
              </a:rPr>
              <a:t>（</a:t>
            </a:r>
            <a:r>
              <a:rPr kumimoji="0" lang="en-US" altLang="zh-CN" sz="2000">
                <a:solidFill>
                  <a:srgbClr val="800080"/>
                </a:solidFill>
              </a:rPr>
              <a:t>1</a:t>
            </a:r>
            <a:r>
              <a:rPr kumimoji="0" lang="zh-CN" altLang="en-US" sz="2000">
                <a:solidFill>
                  <a:srgbClr val="800080"/>
                </a:solidFill>
              </a:rPr>
              <a:t>）</a:t>
            </a:r>
          </a:p>
        </p:txBody>
      </p:sp>
      <p:sp>
        <p:nvSpPr>
          <p:cNvPr id="189465" name="Oval 25"/>
          <p:cNvSpPr>
            <a:spLocks noChangeArrowheads="1"/>
          </p:cNvSpPr>
          <p:nvPr/>
        </p:nvSpPr>
        <p:spPr bwMode="auto">
          <a:xfrm flipH="1">
            <a:off x="2486025" y="2779713"/>
            <a:ext cx="1509713" cy="2736850"/>
          </a:xfrm>
          <a:prstGeom prst="ellipse">
            <a:avLst/>
          </a:prstGeom>
          <a:noFill/>
          <a:ln w="9525" algn="ctr">
            <a:solidFill>
              <a:srgbClr val="800080"/>
            </a:solidFill>
            <a:rou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9466" name="Text Box 26"/>
          <p:cNvSpPr txBox="1">
            <a:spLocks noChangeArrowheads="1"/>
          </p:cNvSpPr>
          <p:nvPr/>
        </p:nvSpPr>
        <p:spPr bwMode="auto">
          <a:xfrm>
            <a:off x="2771775" y="2959100"/>
            <a:ext cx="1295400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kumimoji="0" lang="en-US" altLang="zh-CN" sz="2000">
                <a:solidFill>
                  <a:srgbClr val="800080"/>
                </a:solidFill>
              </a:rPr>
              <a:t>LL</a:t>
            </a:r>
            <a:r>
              <a:rPr kumimoji="0" lang="zh-CN" altLang="en-US" sz="2000">
                <a:solidFill>
                  <a:srgbClr val="800080"/>
                </a:solidFill>
              </a:rPr>
              <a:t>（</a:t>
            </a:r>
            <a:r>
              <a:rPr kumimoji="0" lang="en-US" altLang="zh-CN" sz="2000">
                <a:solidFill>
                  <a:srgbClr val="800080"/>
                </a:solidFill>
              </a:rPr>
              <a:t>1</a:t>
            </a:r>
            <a:r>
              <a:rPr kumimoji="0" lang="zh-CN" altLang="en-US" sz="2000">
                <a:solidFill>
                  <a:srgbClr val="800080"/>
                </a:solidFill>
              </a:rPr>
              <a:t>）</a:t>
            </a:r>
          </a:p>
        </p:txBody>
      </p:sp>
      <p:sp>
        <p:nvSpPr>
          <p:cNvPr id="189470" name="Rectangle 30"/>
          <p:cNvSpPr>
            <a:spLocks noChangeArrowheads="1"/>
          </p:cNvSpPr>
          <p:nvPr/>
        </p:nvSpPr>
        <p:spPr bwMode="auto">
          <a:xfrm>
            <a:off x="900113" y="1771650"/>
            <a:ext cx="7704137" cy="4465638"/>
          </a:xfrm>
          <a:prstGeom prst="rect">
            <a:avLst/>
          </a:prstGeom>
          <a:noFill/>
          <a:ln w="9525" cap="rnd" algn="ctr">
            <a:solidFill>
              <a:srgbClr val="800080"/>
            </a:solidFill>
            <a:prstDash val="sysDot"/>
            <a:miter lim="800000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9471" name="Text Box 31"/>
          <p:cNvSpPr txBox="1">
            <a:spLocks noChangeArrowheads="1"/>
          </p:cNvSpPr>
          <p:nvPr/>
        </p:nvSpPr>
        <p:spPr bwMode="auto">
          <a:xfrm>
            <a:off x="6659563" y="1844675"/>
            <a:ext cx="1871662" cy="67710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kumimoji="0" lang="zh-CN" altLang="en-US" sz="2000" b="1" dirty="0">
                <a:solidFill>
                  <a:srgbClr val="800080"/>
                </a:solidFill>
              </a:rPr>
              <a:t>无二义的</a:t>
            </a:r>
            <a:r>
              <a:rPr kumimoji="0" lang="zh-CN" altLang="en-US" sz="1800" dirty="0">
                <a:solidFill>
                  <a:srgbClr val="800080"/>
                </a:solidFill>
              </a:rPr>
              <a:t>上下文无关文法</a:t>
            </a:r>
            <a:endParaRPr kumimoji="0" lang="en-US" altLang="zh-CN" sz="1800" dirty="0">
              <a:solidFill>
                <a:srgbClr val="800080"/>
              </a:solidFill>
            </a:endParaRPr>
          </a:p>
        </p:txBody>
      </p:sp>
      <p:sp>
        <p:nvSpPr>
          <p:cNvPr id="189472" name="Text Box 32"/>
          <p:cNvSpPr txBox="1">
            <a:spLocks noChangeArrowheads="1"/>
          </p:cNvSpPr>
          <p:nvPr/>
        </p:nvSpPr>
        <p:spPr bwMode="auto">
          <a:xfrm>
            <a:off x="6600032" y="1273245"/>
            <a:ext cx="1871662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kumimoji="0" lang="zh-CN" altLang="en-US" sz="1800" dirty="0">
                <a:solidFill>
                  <a:srgbClr val="800080"/>
                </a:solidFill>
              </a:rPr>
              <a:t>上下文无关文法</a:t>
            </a:r>
            <a:endParaRPr kumimoji="0" lang="en-US" altLang="zh-CN" sz="1800" dirty="0">
              <a:solidFill>
                <a:srgbClr val="800080"/>
              </a:solidFill>
            </a:endParaRPr>
          </a:p>
        </p:txBody>
      </p:sp>
      <p:sp>
        <p:nvSpPr>
          <p:cNvPr id="189473" name="Rectangle 33"/>
          <p:cNvSpPr>
            <a:spLocks noChangeArrowheads="1"/>
          </p:cNvSpPr>
          <p:nvPr/>
        </p:nvSpPr>
        <p:spPr bwMode="auto">
          <a:xfrm>
            <a:off x="611188" y="1341438"/>
            <a:ext cx="8353425" cy="5040312"/>
          </a:xfrm>
          <a:prstGeom prst="rect">
            <a:avLst/>
          </a:prstGeom>
          <a:noFill/>
          <a:ln w="9525" cap="rnd" algn="ctr">
            <a:solidFill>
              <a:srgbClr val="800080"/>
            </a:solidFill>
            <a:prstDash val="sysDot"/>
            <a:miter lim="800000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5627df1-13e8-472e-942c-d6d623bae17f"/>
  <p:tag name="COMMONDATA" val="eyJoZGlkIjoiMDQ2OWFiMTE1N2EyZmRkNmYzODI2ZTI4ZjdmNTNkMWIifQ=="/>
</p:tagLst>
</file>

<file path=ppt/theme/theme1.xml><?xml version="1.0" encoding="utf-8"?>
<a:theme xmlns:a="http://schemas.openxmlformats.org/drawingml/2006/main" name="Capsules">
  <a:themeElements>
    <a:clrScheme name="Capsules 2">
      <a:dk1>
        <a:srgbClr val="003366"/>
      </a:dk1>
      <a:lt1>
        <a:srgbClr val="FFFFFF"/>
      </a:lt1>
      <a:dk2>
        <a:srgbClr val="006666"/>
      </a:dk2>
      <a:lt2>
        <a:srgbClr val="003366"/>
      </a:lt2>
      <a:accent1>
        <a:srgbClr val="99CC99"/>
      </a:accent1>
      <a:accent2>
        <a:srgbClr val="33CCCC"/>
      </a:accent2>
      <a:accent3>
        <a:srgbClr val="FFFFFF"/>
      </a:accent3>
      <a:accent4>
        <a:srgbClr val="002A56"/>
      </a:accent4>
      <a:accent5>
        <a:srgbClr val="CAE2CA"/>
      </a:accent5>
      <a:accent6>
        <a:srgbClr val="2DB9B9"/>
      </a:accent6>
      <a:hlink>
        <a:srgbClr val="666699"/>
      </a:hlink>
      <a:folHlink>
        <a:srgbClr val="CC99FF"/>
      </a:folHlink>
    </a:clrScheme>
    <a:fontScheme name="Capsules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800080"/>
          </a:buClr>
          <a:buSzTx/>
          <a:buFont typeface="Wingdings" panose="05000000000000000000" pitchFamily="2" charset="2"/>
          <a:buChar char="²"/>
          <a:defRPr kumimoji="1" lang="zh-CN" altLang="en-US" sz="2400" b="0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800080"/>
          </a:buClr>
          <a:buSzTx/>
          <a:buFont typeface="Wingdings" panose="05000000000000000000" pitchFamily="2" charset="2"/>
          <a:buChar char="²"/>
          <a:defRPr kumimoji="1" lang="zh-CN" altLang="en-US" sz="2400" b="0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Capsules 1">
        <a:dk1>
          <a:srgbClr val="000066"/>
        </a:dk1>
        <a:lt1>
          <a:srgbClr val="FFFFEB"/>
        </a:lt1>
        <a:dk2>
          <a:srgbClr val="336699"/>
        </a:dk2>
        <a:lt2>
          <a:srgbClr val="FFFFEB"/>
        </a:lt2>
        <a:accent1>
          <a:srgbClr val="666699"/>
        </a:accent1>
        <a:accent2>
          <a:srgbClr val="99CCFF"/>
        </a:accent2>
        <a:accent3>
          <a:srgbClr val="ADB8CA"/>
        </a:accent3>
        <a:accent4>
          <a:srgbClr val="DADAC9"/>
        </a:accent4>
        <a:accent5>
          <a:srgbClr val="B8B8CA"/>
        </a:accent5>
        <a:accent6>
          <a:srgbClr val="8AB9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2">
        <a:dk1>
          <a:srgbClr val="003366"/>
        </a:dk1>
        <a:lt1>
          <a:srgbClr val="FFFFFF"/>
        </a:lt1>
        <a:dk2>
          <a:srgbClr val="006666"/>
        </a:dk2>
        <a:lt2>
          <a:srgbClr val="003366"/>
        </a:lt2>
        <a:accent1>
          <a:srgbClr val="99CC99"/>
        </a:accent1>
        <a:accent2>
          <a:srgbClr val="33CCCC"/>
        </a:accent2>
        <a:accent3>
          <a:srgbClr val="FFFFFF"/>
        </a:accent3>
        <a:accent4>
          <a:srgbClr val="002A56"/>
        </a:accent4>
        <a:accent5>
          <a:srgbClr val="CAE2CA"/>
        </a:accent5>
        <a:accent6>
          <a:srgbClr val="2DB9B9"/>
        </a:accent6>
        <a:hlink>
          <a:srgbClr val="666699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33CC"/>
        </a:lt2>
        <a:accent1>
          <a:srgbClr val="FFCC66"/>
        </a:accent1>
        <a:accent2>
          <a:srgbClr val="33CC33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2DB92D"/>
        </a:accent6>
        <a:hlink>
          <a:srgbClr val="9900CC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Designs\Capsules.pot</Template>
  <TotalTime>0</TotalTime>
  <Words>15443</Words>
  <Application>Microsoft Office PowerPoint</Application>
  <PresentationFormat>全屏显示(4:3)</PresentationFormat>
  <Paragraphs>2786</Paragraphs>
  <Slides>104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104</vt:i4>
      </vt:variant>
    </vt:vector>
  </HeadingPairs>
  <TitlesOfParts>
    <vt:vector size="115" baseType="lpstr">
      <vt:lpstr>PMingLiU</vt:lpstr>
      <vt:lpstr>华文行楷</vt:lpstr>
      <vt:lpstr>楷体_GB2312</vt:lpstr>
      <vt:lpstr>宋体</vt:lpstr>
      <vt:lpstr>Arial</vt:lpstr>
      <vt:lpstr>Book Antiqua</vt:lpstr>
      <vt:lpstr>Symbol</vt:lpstr>
      <vt:lpstr>Times New Roman</vt:lpstr>
      <vt:lpstr>Wingdings</vt:lpstr>
      <vt:lpstr>Capsules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wyy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</dc:creator>
  <cp:lastModifiedBy>wanglc</cp:lastModifiedBy>
  <cp:revision>1336</cp:revision>
  <dcterms:created xsi:type="dcterms:W3CDTF">2002-02-03T03:17:00Z</dcterms:created>
  <dcterms:modified xsi:type="dcterms:W3CDTF">2024-11-19T02:15:50Z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30577BE452A8443E8C7CF8C525C5C1C2</vt:lpwstr>
  </property>
</Properties>
</file>