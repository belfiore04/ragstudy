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" ContentType="application/vnd.ms-excel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62"/>
  </p:notesMasterIdLst>
  <p:handoutMasterIdLst>
    <p:handoutMasterId r:id="rId63"/>
  </p:handoutMasterIdLst>
  <p:sldIdLst>
    <p:sldId id="292" r:id="rId4"/>
    <p:sldId id="293" r:id="rId5"/>
    <p:sldId id="294" r:id="rId6"/>
    <p:sldId id="295" r:id="rId7"/>
    <p:sldId id="355" r:id="rId8"/>
    <p:sldId id="441" r:id="rId9"/>
    <p:sldId id="442" r:id="rId10"/>
    <p:sldId id="356" r:id="rId11"/>
    <p:sldId id="300" r:id="rId12"/>
    <p:sldId id="443" r:id="rId13"/>
    <p:sldId id="375" r:id="rId14"/>
    <p:sldId id="382" r:id="rId15"/>
    <p:sldId id="303" r:id="rId16"/>
    <p:sldId id="352" r:id="rId17"/>
    <p:sldId id="304" r:id="rId18"/>
    <p:sldId id="305" r:id="rId19"/>
    <p:sldId id="384" r:id="rId20"/>
    <p:sldId id="385" r:id="rId21"/>
    <p:sldId id="357" r:id="rId22"/>
    <p:sldId id="373" r:id="rId23"/>
    <p:sldId id="358" r:id="rId24"/>
    <p:sldId id="581" r:id="rId25"/>
    <p:sldId id="582" r:id="rId26"/>
    <p:sldId id="583" r:id="rId27"/>
    <p:sldId id="584" r:id="rId28"/>
    <p:sldId id="585" r:id="rId29"/>
    <p:sldId id="586" r:id="rId30"/>
    <p:sldId id="587" r:id="rId31"/>
    <p:sldId id="588" r:id="rId32"/>
    <p:sldId id="589" r:id="rId33"/>
    <p:sldId id="590" r:id="rId34"/>
    <p:sldId id="591" r:id="rId35"/>
    <p:sldId id="592" r:id="rId36"/>
    <p:sldId id="312" r:id="rId37"/>
    <p:sldId id="313" r:id="rId38"/>
    <p:sldId id="393" r:id="rId39"/>
    <p:sldId id="394" r:id="rId40"/>
    <p:sldId id="314" r:id="rId41"/>
    <p:sldId id="315" r:id="rId42"/>
    <p:sldId id="471" r:id="rId43"/>
    <p:sldId id="472" r:id="rId44"/>
    <p:sldId id="473" r:id="rId45"/>
    <p:sldId id="474" r:id="rId46"/>
    <p:sldId id="316" r:id="rId47"/>
    <p:sldId id="335" r:id="rId48"/>
    <p:sldId id="318" r:id="rId49"/>
    <p:sldId id="368" r:id="rId50"/>
    <p:sldId id="611" r:id="rId51"/>
    <p:sldId id="612" r:id="rId52"/>
    <p:sldId id="613" r:id="rId53"/>
    <p:sldId id="614" r:id="rId54"/>
    <p:sldId id="615" r:id="rId55"/>
    <p:sldId id="616" r:id="rId56"/>
    <p:sldId id="617" r:id="rId57"/>
    <p:sldId id="618" r:id="rId58"/>
    <p:sldId id="365" r:id="rId59"/>
    <p:sldId id="367" r:id="rId60"/>
    <p:sldId id="461" r:id="rId61"/>
  </p:sldIdLst>
  <p:sldSz cx="9144000" cy="6858000" type="screen4x3"/>
  <p:notesSz cx="6858000" cy="9144000"/>
  <p:custDataLst>
    <p:tags r:id="rId67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Font typeface="Monotype Sorts" pitchFamily="2" charset="2"/>
      <a:buChar char="z"/>
      <a:defRPr sz="3200" b="0" i="0" u="sng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Font typeface="Monotype Sorts" pitchFamily="2" charset="2"/>
      <a:buChar char="z"/>
      <a:defRPr sz="3200" b="0" i="0" u="sng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Font typeface="Monotype Sorts" pitchFamily="2" charset="2"/>
      <a:buChar char="z"/>
      <a:defRPr sz="3200" b="0" i="0" u="sng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Font typeface="Monotype Sorts" pitchFamily="2" charset="2"/>
      <a:buChar char="z"/>
      <a:defRPr sz="3200" b="0" i="0" u="sng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Font typeface="Monotype Sorts" pitchFamily="2" charset="2"/>
      <a:buChar char="z"/>
      <a:defRPr sz="3200" b="0" i="0" u="sng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Font typeface="Monotype Sorts" pitchFamily="2" charset="2"/>
      <a:buChar char="z"/>
      <a:defRPr sz="3200" b="0" i="0" u="sng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Font typeface="Monotype Sorts" pitchFamily="2" charset="2"/>
      <a:buChar char="z"/>
      <a:defRPr sz="3200" b="0" i="0" u="sng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Font typeface="Monotype Sorts" pitchFamily="2" charset="2"/>
      <a:buChar char="z"/>
      <a:defRPr sz="3200" b="0" i="0" u="sng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Font typeface="Monotype Sorts" pitchFamily="2" charset="2"/>
      <a:buChar char="z"/>
      <a:defRPr sz="3200" b="0" i="0" u="sng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29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CCCFF"/>
    <a:srgbClr val="000000"/>
    <a:srgbClr val="CCFFFF"/>
    <a:srgbClr val="CCECFF"/>
    <a:srgbClr val="99CCFF"/>
    <a:srgbClr val="9999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8448"/>
    <p:restoredTop sz="94668"/>
  </p:normalViewPr>
  <p:slideViewPr>
    <p:cSldViewPr showGuides="1">
      <p:cViewPr>
        <p:scale>
          <a:sx n="50" d="100"/>
          <a:sy n="50" d="100"/>
        </p:scale>
        <p:origin x="-1452" y="-540"/>
      </p:cViewPr>
      <p:guideLst>
        <p:guide orient="horz" pos="2112"/>
        <p:guide pos="29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25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7" Type="http://schemas.openxmlformats.org/officeDocument/2006/relationships/tags" Target="tags/tag1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notesMaster" Target="notesMasters/notesMaster1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buClrTx/>
              <a:buFontTx/>
              <a:buNone/>
              <a:defRPr sz="1200" u="none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 u="none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buClrTx/>
              <a:buFontTx/>
              <a:buNone/>
              <a:defRPr sz="1200" u="none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200" u="none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u="none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buClrTx/>
              <a:buFontTx/>
              <a:buNone/>
              <a:defRPr sz="1200" u="none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 u="none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buClrTx/>
              <a:buFontTx/>
              <a:buNone/>
              <a:defRPr sz="1200" u="none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200" u="none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u="none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>
          <a:outerShdw dist="107763" dir="2699999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paint"/>
          <p:cNvPicPr>
            <a:picLocks noChangeAspect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4400" y="1828800"/>
            <a:ext cx="8229600" cy="384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4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zh-CN" strike="noStrike" noProof="1"/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>
                <a:latin typeface="Arial Black" panose="020B0A040201020202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1200" y="6229350"/>
            <a:ext cx="1930400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49600" y="6229350"/>
            <a:ext cx="2844800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04000" y="6229350"/>
            <a:ext cx="1828800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solidFill>
                  <a:srgbClr val="5E574E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rgbClr val="5E574E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Monotype Sorts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8600" y="228600"/>
            <a:ext cx="2057400" cy="58293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019800" cy="58293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8178800" cy="20097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4048125"/>
            <a:ext cx="8178800" cy="20097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22800" y="1885950"/>
            <a:ext cx="4013200" cy="4171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Monotype Sorts" pitchFamily="2" charset="2"/>
              <a:buChar char="z"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标题，文本与图表">
    <p:bg>
      <p:bgPr>
        <a:solidFill>
          <a:schemeClr val="bg1"/>
        </a:solidFill>
        <a:effectLst>
          <a:outerShdw dist="107763" dir="2699999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22800" y="1885950"/>
            <a:ext cx="4013200" cy="4171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Monotype Sorts" pitchFamily="2" charset="2"/>
              <a:buChar char="z"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7310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fontAlgn="base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>
          <a:outerShdw dist="107763" dir="2699999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paint"/>
          <p:cNvPicPr>
            <a:picLocks noChangeAspect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4400" y="1828800"/>
            <a:ext cx="8229600" cy="384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4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zh-CN" strike="noStrike" noProof="1"/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>
                <a:latin typeface="Arial Black" panose="020B0A040201020202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1200" y="6229350"/>
            <a:ext cx="1930400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49600" y="6229350"/>
            <a:ext cx="2844800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04000" y="6229350"/>
            <a:ext cx="1828800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solidFill>
                  <a:srgbClr val="5E574E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rgbClr val="5E574E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Monotype Sorts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8600" y="228600"/>
            <a:ext cx="2057400" cy="58293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019800" cy="58293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8178800" cy="20097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4048125"/>
            <a:ext cx="8178800" cy="20097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22800" y="1885950"/>
            <a:ext cx="4013200" cy="4171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Monotype Sorts" pitchFamily="2" charset="2"/>
              <a:buChar char="z"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699999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885950"/>
            <a:ext cx="8178800" cy="4171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539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50000"/>
              </a:spcBef>
              <a:buClrTx/>
              <a:buFontTx/>
              <a:buNone/>
              <a:defRPr sz="1400" u="none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39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50000"/>
              </a:spcBef>
              <a:buClrTx/>
              <a:buFontTx/>
              <a:buNone/>
              <a:defRPr sz="1400" u="none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39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buFontTx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  <p:pic>
        <p:nvPicPr>
          <p:cNvPr id="1031" name="Picture 7" descr="paint"/>
          <p:cNvPicPr>
            <a:picLocks noChangeAspect="1"/>
          </p:cNvPicPr>
          <p:nvPr/>
        </p:nvPicPr>
        <p:blipFill>
          <a:blip r:embed="rId15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4400" y="1314450"/>
            <a:ext cx="8229600" cy="3841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z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y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x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699999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885950"/>
            <a:ext cx="8178800" cy="4171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539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50000"/>
              </a:spcBef>
              <a:buClrTx/>
              <a:buFontTx/>
              <a:buNone/>
              <a:defRPr sz="1400" u="none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39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50000"/>
              </a:spcBef>
              <a:buClrTx/>
              <a:buFontTx/>
              <a:buNone/>
              <a:defRPr sz="1400" u="none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39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buFontTx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eaLnBrk="1" fontAlgn="base" hangingPunct="1">
              <a:spcBef>
                <a:spcPct val="50000"/>
              </a:spcBef>
              <a:buClrTx/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  <p:pic>
        <p:nvPicPr>
          <p:cNvPr id="1031" name="Picture 7" descr="paint"/>
          <p:cNvPicPr>
            <a:picLocks noChangeAspect="1"/>
          </p:cNvPicPr>
          <p:nvPr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4400" y="1314450"/>
            <a:ext cx="8229600" cy="3841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z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y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x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emf"/><Relationship Id="rId3" Type="http://schemas.openxmlformats.org/officeDocument/2006/relationships/oleObject" Target="../embeddings/Workbook2.xls"/><Relationship Id="rId2" Type="http://schemas.openxmlformats.org/officeDocument/2006/relationships/image" Target="../media/image4.emf"/><Relationship Id="rId1" Type="http://schemas.openxmlformats.org/officeDocument/2006/relationships/oleObject" Target="../embeddings/Workbook1.xls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slide" Target="slid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1.xml"/><Relationship Id="rId7" Type="http://schemas.openxmlformats.org/officeDocument/2006/relationships/oleObject" Target="../embeddings/oleObject5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21.xml"/><Relationship Id="rId7" Type="http://schemas.openxmlformats.org/officeDocument/2006/relationships/oleObject" Target="../embeddings/oleObject9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6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0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确定的有穷自动机</a:t>
            </a:r>
            <a:r>
              <a:rPr lang="en-US" altLang="zh-CN" dirty="0"/>
              <a:t>DFA</a:t>
            </a:r>
            <a:endParaRPr lang="zh-CN" altLang="en-US" dirty="0"/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spcBef>
                <a:spcPct val="50000"/>
              </a:spcBef>
              <a:buNone/>
            </a:pPr>
            <a:r>
              <a:rPr lang="en-US" altLang="zh-CN" dirty="0"/>
              <a:t>DFA</a:t>
            </a:r>
            <a:r>
              <a:rPr lang="zh-CN" altLang="en-US" dirty="0"/>
              <a:t>定义：</a:t>
            </a:r>
            <a:endParaRPr lang="zh-CN" altLang="en-US" sz="2800" dirty="0"/>
          </a:p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dirty="0"/>
              <a:t>一个确定的有穷自动机（</a:t>
            </a:r>
            <a:r>
              <a:rPr lang="en-US" altLang="zh-CN" dirty="0"/>
              <a:t>DFA）M</a:t>
            </a:r>
            <a:r>
              <a:rPr lang="zh-CN" altLang="en-US" dirty="0"/>
              <a:t>是一个五元组：</a:t>
            </a:r>
            <a:r>
              <a:rPr lang="en-US" altLang="zh-CN" dirty="0"/>
              <a:t>M=（K，Σ，f，S，Z</a:t>
            </a:r>
            <a:r>
              <a:rPr lang="en-US" altLang="zh-CN" dirty="0">
                <a:latin typeface="宋体" panose="02010600030101010101" pitchFamily="2" charset="-122"/>
              </a:rPr>
              <a:t>）</a:t>
            </a:r>
            <a:r>
              <a:rPr lang="zh-CN" altLang="en-US" dirty="0">
                <a:latin typeface="宋体" panose="02010600030101010101" pitchFamily="2" charset="-122"/>
              </a:rPr>
              <a:t>其中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dirty="0">
                <a:latin typeface="宋体" panose="02010600030101010101" pitchFamily="2" charset="-122"/>
              </a:rPr>
              <a:t>1. </a:t>
            </a:r>
            <a:r>
              <a:rPr lang="en-US" altLang="zh-CN" dirty="0"/>
              <a:t>K</a:t>
            </a:r>
            <a:r>
              <a:rPr lang="zh-CN" altLang="en-US" dirty="0">
                <a:latin typeface="宋体" panose="02010600030101010101" pitchFamily="2" charset="-122"/>
              </a:rPr>
              <a:t>是一个有穷集，它的每个元素称为一个状态；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dirty="0">
                <a:latin typeface="宋体" panose="02010600030101010101" pitchFamily="2" charset="-122"/>
              </a:rPr>
              <a:t>2.</a:t>
            </a:r>
            <a:r>
              <a:rPr lang="en-US" altLang="zh-CN" dirty="0">
                <a:latin typeface="宋体" panose="02010600030101010101" pitchFamily="2" charset="-122"/>
              </a:rPr>
              <a:t>Σ</a:t>
            </a:r>
            <a:r>
              <a:rPr lang="zh-CN" altLang="en-US" dirty="0">
                <a:latin typeface="宋体" panose="02010600030101010101" pitchFamily="2" charset="-122"/>
              </a:rPr>
              <a:t>是一个有穷字母表，它的每个元素称为一个输入符号，所以也称</a:t>
            </a:r>
            <a:r>
              <a:rPr lang="en-US" altLang="zh-CN" dirty="0">
                <a:latin typeface="宋体" panose="02010600030101010101" pitchFamily="2" charset="-122"/>
              </a:rPr>
              <a:t>Σ</a:t>
            </a:r>
            <a:r>
              <a:rPr lang="zh-CN" altLang="en-US" dirty="0">
                <a:latin typeface="宋体" panose="02010600030101010101" pitchFamily="2" charset="-122"/>
              </a:rPr>
              <a:t>为输入符号表；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7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419">
                                            <p:txEl>
                                              <p:charRg st="7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19">
                                            <p:txEl>
                                              <p:charRg st="7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4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0419">
                                            <p:txEl>
                                              <p:charRg st="4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419">
                                            <p:txEl>
                                              <p:charRg st="4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7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19">
                                            <p:txEl>
                                              <p:charRg st="7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19">
                                            <p:txEl>
                                              <p:charRg st="7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DFA</a:t>
            </a:r>
            <a:r>
              <a:rPr lang="zh-CN" altLang="en-US" dirty="0"/>
              <a:t>定义</a:t>
            </a:r>
            <a:endParaRPr lang="zh-CN" altLang="en-US" dirty="0"/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dirty="0">
                <a:latin typeface="宋体" panose="02010600030101010101" pitchFamily="2" charset="-122"/>
              </a:rPr>
              <a:t>3.</a:t>
            </a:r>
            <a:r>
              <a:rPr lang="en-US" altLang="zh-CN" dirty="0"/>
              <a:t>f</a:t>
            </a:r>
            <a:r>
              <a:rPr lang="zh-CN" altLang="en-US" dirty="0">
                <a:latin typeface="宋体" panose="02010600030101010101" pitchFamily="2" charset="-122"/>
              </a:rPr>
              <a:t>是转换函数，是在</a:t>
            </a:r>
            <a:r>
              <a:rPr lang="en-US" altLang="zh-CN" dirty="0"/>
              <a:t>K</a:t>
            </a:r>
            <a:r>
              <a:rPr lang="zh-CN" altLang="en-US" dirty="0"/>
              <a:t>×</a:t>
            </a:r>
            <a:r>
              <a:rPr lang="en-US" altLang="zh-CN" dirty="0"/>
              <a:t>Σ</a:t>
            </a:r>
            <a:r>
              <a:rPr lang="zh-CN" altLang="en-US" dirty="0"/>
              <a:t>→</a:t>
            </a:r>
            <a:r>
              <a:rPr lang="en-US" altLang="zh-CN" dirty="0"/>
              <a:t>K</a:t>
            </a:r>
            <a:r>
              <a:rPr lang="zh-CN" altLang="en-US" dirty="0">
                <a:latin typeface="宋体" panose="02010600030101010101" pitchFamily="2" charset="-122"/>
              </a:rPr>
              <a:t>上的映射，即，如    </a:t>
            </a:r>
            <a:r>
              <a:rPr lang="en-US" altLang="zh-CN" dirty="0"/>
              <a:t>f（k</a:t>
            </a:r>
            <a:r>
              <a:rPr lang="en-US" altLang="zh-CN" baseline="-25000" dirty="0"/>
              <a:t>i</a:t>
            </a:r>
            <a:r>
              <a:rPr lang="en-US" altLang="zh-CN" dirty="0"/>
              <a:t>，a）=k</a:t>
            </a:r>
            <a:r>
              <a:rPr lang="en-US" altLang="zh-CN" baseline="-25000" dirty="0"/>
              <a:t>j</a:t>
            </a:r>
            <a:r>
              <a:rPr lang="en-US" altLang="zh-CN" dirty="0"/>
              <a:t>，（k</a:t>
            </a:r>
            <a:r>
              <a:rPr lang="en-US" altLang="zh-CN" baseline="-25000" dirty="0"/>
              <a:t>i</a:t>
            </a:r>
            <a:r>
              <a:rPr lang="zh-CN" altLang="en-US" dirty="0"/>
              <a:t>∈</a:t>
            </a:r>
            <a:r>
              <a:rPr lang="en-US" altLang="zh-CN" dirty="0"/>
              <a:t>K，k</a:t>
            </a:r>
            <a:r>
              <a:rPr lang="en-US" altLang="zh-CN" baseline="-25000" dirty="0"/>
              <a:t>j</a:t>
            </a:r>
            <a:r>
              <a:rPr lang="zh-CN" altLang="en-US" dirty="0"/>
              <a:t>∈</a:t>
            </a:r>
            <a:r>
              <a:rPr lang="en-US" altLang="zh-CN" dirty="0"/>
              <a:t>K）</a:t>
            </a:r>
            <a:r>
              <a:rPr lang="zh-CN" altLang="en-US" dirty="0">
                <a:latin typeface="宋体" panose="02010600030101010101" pitchFamily="2" charset="-122"/>
              </a:rPr>
              <a:t>就意味着，当前状态为</a:t>
            </a:r>
            <a:r>
              <a:rPr lang="en-US" altLang="zh-CN" dirty="0"/>
              <a:t>k</a:t>
            </a:r>
            <a:r>
              <a:rPr lang="en-US" altLang="zh-CN" baseline="-25000" dirty="0"/>
              <a:t>i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输入符为</a:t>
            </a:r>
            <a:r>
              <a:rPr lang="en-US" altLang="zh-CN" dirty="0"/>
              <a:t>a</a:t>
            </a:r>
            <a:r>
              <a:rPr lang="zh-CN" altLang="en-US" dirty="0">
                <a:latin typeface="宋体" panose="02010600030101010101" pitchFamily="2" charset="-122"/>
              </a:rPr>
              <a:t>时，将转换为下一个状态</a:t>
            </a:r>
            <a:r>
              <a:rPr lang="en-US" altLang="zh-CN" dirty="0"/>
              <a:t>k</a:t>
            </a:r>
            <a:r>
              <a:rPr lang="en-US" altLang="zh-CN" baseline="-25000" dirty="0"/>
              <a:t>j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我们把</a:t>
            </a:r>
            <a:r>
              <a:rPr lang="en-US" altLang="zh-CN" dirty="0"/>
              <a:t>k</a:t>
            </a:r>
            <a:r>
              <a:rPr lang="en-US" altLang="zh-CN" baseline="-25000" dirty="0"/>
              <a:t>j</a:t>
            </a:r>
            <a:r>
              <a:rPr lang="zh-CN" altLang="en-US" dirty="0">
                <a:latin typeface="宋体" panose="02010600030101010101" pitchFamily="2" charset="-122"/>
              </a:rPr>
              <a:t>称作</a:t>
            </a:r>
            <a:r>
              <a:rPr lang="en-US" altLang="zh-CN" dirty="0"/>
              <a:t>k</a:t>
            </a:r>
            <a:r>
              <a:rPr lang="en-US" altLang="zh-CN" baseline="-25000" dirty="0">
                <a:latin typeface="宋体" panose="02010600030101010101" pitchFamily="2" charset="-122"/>
              </a:rPr>
              <a:t>i</a:t>
            </a:r>
            <a:r>
              <a:rPr lang="zh-CN" altLang="en-US" dirty="0">
                <a:latin typeface="宋体" panose="02010600030101010101" pitchFamily="2" charset="-122"/>
              </a:rPr>
              <a:t>的一个后继状态；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dirty="0"/>
              <a:t>4.</a:t>
            </a:r>
            <a:r>
              <a:rPr lang="en-US" altLang="zh-CN" dirty="0"/>
              <a:t>S</a:t>
            </a:r>
            <a:r>
              <a:rPr lang="zh-CN" altLang="en-US" dirty="0">
                <a:latin typeface="宋体" panose="02010600030101010101" pitchFamily="2" charset="-122"/>
              </a:rPr>
              <a:t>∈</a:t>
            </a:r>
            <a:r>
              <a:rPr lang="en-US" altLang="zh-CN" dirty="0"/>
              <a:t>K</a:t>
            </a:r>
            <a:r>
              <a:rPr lang="zh-CN" altLang="en-US" dirty="0">
                <a:latin typeface="宋体" panose="02010600030101010101" pitchFamily="2" charset="-122"/>
              </a:rPr>
              <a:t>是唯一的一个初态；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dirty="0">
                <a:latin typeface="宋体" panose="02010600030101010101" pitchFamily="2" charset="-122"/>
              </a:rPr>
              <a:t>5.</a:t>
            </a:r>
            <a:r>
              <a:rPr lang="en-US" altLang="zh-CN" dirty="0"/>
              <a:t>Z</a:t>
            </a:r>
            <a:r>
              <a:rPr lang="en-US" altLang="zh-CN" dirty="0">
                <a:sym typeface="Symbol" panose="05050102010706020507" pitchFamily="18" charset="2"/>
              </a:rPr>
              <a:t></a:t>
            </a:r>
            <a:r>
              <a:rPr lang="en-US" altLang="zh-CN" dirty="0"/>
              <a:t> K</a:t>
            </a:r>
            <a:r>
              <a:rPr lang="zh-CN" altLang="en-US" dirty="0">
                <a:latin typeface="宋体" panose="02010600030101010101" pitchFamily="2" charset="-122"/>
              </a:rPr>
              <a:t>是一个终态集，终态也称可接受状态或结束状态。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charRg st="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charRg st="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100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43">
                                            <p:txEl>
                                              <p:charRg st="100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43">
                                            <p:txEl>
                                              <p:charRg st="100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115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43">
                                            <p:txEl>
                                              <p:charRg st="115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43">
                                            <p:txEl>
                                              <p:charRg st="115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一个</a:t>
            </a:r>
            <a:r>
              <a:rPr lang="en-US" altLang="zh-CN" dirty="0"/>
              <a:t>DFA </a:t>
            </a:r>
            <a:r>
              <a:rPr lang="zh-CN" altLang="en-US" dirty="0"/>
              <a:t>的例子：</a:t>
            </a:r>
            <a:endParaRPr lang="zh-CN" altLang="en-US" dirty="0"/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 eaLnBrk="1" hangingPunct="1">
              <a:spcBef>
                <a:spcPct val="50000"/>
              </a:spcBef>
              <a:buNone/>
            </a:pPr>
            <a:r>
              <a:rPr lang="en-US" altLang="zh-CN" dirty="0"/>
              <a:t>DFA   M=（{S，U，V，Q}，{a，b}，f，S，{Q}）</a:t>
            </a:r>
            <a:r>
              <a:rPr lang="zh-CN" altLang="en-US" dirty="0"/>
              <a:t>其中</a:t>
            </a:r>
            <a:r>
              <a:rPr lang="en-US" altLang="zh-CN" dirty="0"/>
              <a:t>f</a:t>
            </a:r>
            <a:r>
              <a:rPr lang="zh-CN" altLang="en-US" dirty="0"/>
              <a:t>定义为：</a:t>
            </a:r>
            <a:endParaRPr lang="zh-CN" altLang="en-US" dirty="0"/>
          </a:p>
          <a:p>
            <a:pPr lvl="1" eaLnBrk="1" hangingPunct="1">
              <a:spcBef>
                <a:spcPct val="50000"/>
              </a:spcBef>
              <a:buNone/>
            </a:pPr>
            <a:r>
              <a:rPr lang="en-US" altLang="zh-CN" dirty="0"/>
              <a:t>f（S，a）=U	        f（V，a）=U</a:t>
            </a:r>
            <a:endParaRPr lang="en-US" altLang="zh-CN" dirty="0"/>
          </a:p>
          <a:p>
            <a:pPr lvl="1" eaLnBrk="1" hangingPunct="1">
              <a:spcBef>
                <a:spcPct val="50000"/>
              </a:spcBef>
              <a:buNone/>
            </a:pPr>
            <a:r>
              <a:rPr lang="en-US" altLang="zh-CN" dirty="0"/>
              <a:t>f（S，b）=V		f（V，b）=Q</a:t>
            </a:r>
            <a:endParaRPr lang="en-US" altLang="zh-CN" dirty="0"/>
          </a:p>
          <a:p>
            <a:pPr lvl="1" eaLnBrk="1" hangingPunct="1">
              <a:spcBef>
                <a:spcPct val="50000"/>
              </a:spcBef>
              <a:buNone/>
            </a:pPr>
            <a:r>
              <a:rPr lang="en-US" altLang="zh-CN" dirty="0"/>
              <a:t>f（U，a）=Q		f（Q，a）=Q</a:t>
            </a:r>
            <a:endParaRPr lang="en-US" altLang="zh-CN" dirty="0"/>
          </a:p>
          <a:p>
            <a:pPr lvl="1" eaLnBrk="1" hangingPunct="1">
              <a:spcBef>
                <a:spcPct val="50000"/>
              </a:spcBef>
              <a:buNone/>
            </a:pPr>
            <a:r>
              <a:rPr lang="en-US" altLang="zh-CN" dirty="0"/>
              <a:t>f（U，b）=V		f（Q，b）=Q</a:t>
            </a:r>
            <a:endParaRPr lang="en-US" altLang="zh-CN" dirty="0"/>
          </a:p>
          <a:p>
            <a:pPr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7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7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4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467">
                                            <p:txEl>
                                              <p:charRg st="4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67">
                                            <p:txEl>
                                              <p:charRg st="4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67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467">
                                            <p:txEl>
                                              <p:charRg st="67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467">
                                            <p:txEl>
                                              <p:charRg st="67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86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467">
                                            <p:txEl>
                                              <p:charRg st="86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467">
                                            <p:txEl>
                                              <p:charRg st="86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05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467">
                                            <p:txEl>
                                              <p:charRg st="105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2467">
                                            <p:txEl>
                                              <p:charRg st="105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zh-CN" altLang="zh-CN" dirty="0"/>
              <a:t>DFA 的状态图表示</a:t>
            </a:r>
            <a:endParaRPr lang="zh-CN" altLang="en-US" dirty="0"/>
          </a:p>
        </p:txBody>
      </p:sp>
      <p:grpSp>
        <p:nvGrpSpPr>
          <p:cNvPr id="33794" name="Group 7"/>
          <p:cNvGrpSpPr/>
          <p:nvPr/>
        </p:nvGrpSpPr>
        <p:grpSpPr>
          <a:xfrm>
            <a:off x="2184400" y="3352800"/>
            <a:ext cx="6194425" cy="3276600"/>
            <a:chOff x="1440" y="1440"/>
            <a:chExt cx="3792" cy="2064"/>
          </a:xfrm>
        </p:grpSpPr>
        <p:sp>
          <p:nvSpPr>
            <p:cNvPr id="33795" name="Text Box 8"/>
            <p:cNvSpPr txBox="1"/>
            <p:nvPr/>
          </p:nvSpPr>
          <p:spPr>
            <a:xfrm>
              <a:off x="4032" y="3120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3796" name="Group 9"/>
            <p:cNvGrpSpPr/>
            <p:nvPr/>
          </p:nvGrpSpPr>
          <p:grpSpPr>
            <a:xfrm>
              <a:off x="1440" y="1440"/>
              <a:ext cx="3600" cy="2064"/>
              <a:chOff x="1488" y="1344"/>
              <a:chExt cx="3600" cy="2064"/>
            </a:xfrm>
          </p:grpSpPr>
          <p:sp>
            <p:nvSpPr>
              <p:cNvPr id="33797" name="Oval 10"/>
              <p:cNvSpPr/>
              <p:nvPr/>
            </p:nvSpPr>
            <p:spPr>
              <a:xfrm>
                <a:off x="1488" y="2112"/>
                <a:ext cx="480" cy="48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u="none" dirty="0">
                    <a:latin typeface="Times New Roman" panose="02020603050405020304" pitchFamily="18" charset="0"/>
                  </a:rPr>
                  <a:t>S</a:t>
                </a:r>
                <a:endParaRPr lang="en-US" altLang="zh-CN" sz="2400" u="none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3798" name="Group 11"/>
              <p:cNvGrpSpPr/>
              <p:nvPr/>
            </p:nvGrpSpPr>
            <p:grpSpPr>
              <a:xfrm>
                <a:off x="2976" y="1344"/>
                <a:ext cx="528" cy="2064"/>
                <a:chOff x="2976" y="1344"/>
                <a:chExt cx="528" cy="2064"/>
              </a:xfrm>
            </p:grpSpPr>
            <p:grpSp>
              <p:nvGrpSpPr>
                <p:cNvPr id="33799" name="Group 12"/>
                <p:cNvGrpSpPr/>
                <p:nvPr/>
              </p:nvGrpSpPr>
              <p:grpSpPr>
                <a:xfrm>
                  <a:off x="2976" y="1584"/>
                  <a:ext cx="528" cy="1584"/>
                  <a:chOff x="2976" y="1584"/>
                  <a:chExt cx="528" cy="1584"/>
                </a:xfrm>
              </p:grpSpPr>
              <p:cxnSp>
                <p:nvCxnSpPr>
                  <p:cNvPr id="33800" name="AutoShape 13"/>
                  <p:cNvCxnSpPr>
                    <a:stCxn id="33802" idx="2"/>
                    <a:endCxn id="33803" idx="2"/>
                  </p:cNvCxnSpPr>
                  <p:nvPr/>
                </p:nvCxnSpPr>
                <p:spPr>
                  <a:xfrm rot="-10800000" flipV="1">
                    <a:off x="2976" y="1584"/>
                    <a:ext cx="48" cy="1584"/>
                  </a:xfrm>
                  <a:prstGeom prst="curvedConnector3">
                    <a:avLst>
                      <a:gd name="adj1" fmla="val 789583"/>
                    </a:avLst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33801" name="AutoShape 14"/>
                  <p:cNvCxnSpPr>
                    <a:stCxn id="33803" idx="6"/>
                    <a:endCxn id="33802" idx="6"/>
                  </p:cNvCxnSpPr>
                  <p:nvPr/>
                </p:nvCxnSpPr>
                <p:spPr>
                  <a:xfrm flipV="1">
                    <a:off x="3456" y="1584"/>
                    <a:ext cx="48" cy="1584"/>
                  </a:xfrm>
                  <a:prstGeom prst="curvedConnector3">
                    <a:avLst>
                      <a:gd name="adj1" fmla="val 756245"/>
                    </a:avLst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  <p:sp>
              <p:nvSpPr>
                <p:cNvPr id="33802" name="Oval 15"/>
                <p:cNvSpPr/>
                <p:nvPr/>
              </p:nvSpPr>
              <p:spPr>
                <a:xfrm>
                  <a:off x="3024" y="1344"/>
                  <a:ext cx="480" cy="4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u="none" dirty="0">
                      <a:latin typeface="Times New Roman" panose="02020603050405020304" pitchFamily="18" charset="0"/>
                    </a:rPr>
                    <a:t>U</a:t>
                  </a:r>
                  <a:endParaRPr lang="en-US" altLang="zh-CN" sz="2400" u="none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803" name="Oval 16"/>
                <p:cNvSpPr/>
                <p:nvPr/>
              </p:nvSpPr>
              <p:spPr>
                <a:xfrm>
                  <a:off x="2976" y="2928"/>
                  <a:ext cx="480" cy="4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u="none" dirty="0">
                      <a:latin typeface="Times New Roman" panose="02020603050405020304" pitchFamily="18" charset="0"/>
                    </a:rPr>
                    <a:t>V</a:t>
                  </a:r>
                  <a:endParaRPr lang="en-US" altLang="zh-CN" sz="2400" u="none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804" name="Group 17"/>
              <p:cNvGrpSpPr/>
              <p:nvPr/>
            </p:nvGrpSpPr>
            <p:grpSpPr>
              <a:xfrm>
                <a:off x="4512" y="2160"/>
                <a:ext cx="576" cy="576"/>
                <a:chOff x="4032" y="2160"/>
                <a:chExt cx="576" cy="576"/>
              </a:xfrm>
            </p:grpSpPr>
            <p:sp>
              <p:nvSpPr>
                <p:cNvPr id="33805" name="Oval 18"/>
                <p:cNvSpPr/>
                <p:nvPr/>
              </p:nvSpPr>
              <p:spPr>
                <a:xfrm>
                  <a:off x="4032" y="2160"/>
                  <a:ext cx="576" cy="57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 eaLnBrk="0" hangingPunct="0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3806" name="Oval 19"/>
                <p:cNvSpPr/>
                <p:nvPr/>
              </p:nvSpPr>
              <p:spPr>
                <a:xfrm>
                  <a:off x="4080" y="2208"/>
                  <a:ext cx="480" cy="4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u="none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sz="2400" u="none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33807" name="AutoShape 20"/>
            <p:cNvCxnSpPr>
              <a:stCxn id="33797" idx="0"/>
              <a:endCxn id="33802" idx="2"/>
            </p:cNvCxnSpPr>
            <p:nvPr/>
          </p:nvCxnSpPr>
          <p:spPr>
            <a:xfrm rot="-5400000">
              <a:off x="2064" y="1296"/>
              <a:ext cx="528" cy="1296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3808" name="Text Box 21"/>
            <p:cNvSpPr txBox="1"/>
            <p:nvPr/>
          </p:nvSpPr>
          <p:spPr>
            <a:xfrm>
              <a:off x="1920" y="158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33809" name="Text Box 22"/>
            <p:cNvSpPr txBox="1"/>
            <p:nvPr/>
          </p:nvSpPr>
          <p:spPr>
            <a:xfrm>
              <a:off x="3984" y="1536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33810" name="Text Box 23"/>
            <p:cNvSpPr txBox="1"/>
            <p:nvPr/>
          </p:nvSpPr>
          <p:spPr>
            <a:xfrm>
              <a:off x="3792" y="2160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33811" name="Text Box 24"/>
            <p:cNvSpPr txBox="1"/>
            <p:nvPr/>
          </p:nvSpPr>
          <p:spPr>
            <a:xfrm>
              <a:off x="1968" y="3024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33812" name="Text Box 25"/>
            <p:cNvSpPr txBox="1"/>
            <p:nvPr/>
          </p:nvSpPr>
          <p:spPr>
            <a:xfrm>
              <a:off x="4704" y="1872"/>
              <a:ext cx="5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a，b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813" name="Group 26"/>
          <p:cNvGrpSpPr/>
          <p:nvPr/>
        </p:nvGrpSpPr>
        <p:grpSpPr>
          <a:xfrm>
            <a:off x="5384800" y="3657600"/>
            <a:ext cx="2195513" cy="2514600"/>
            <a:chOff x="3408" y="1680"/>
            <a:chExt cx="1344" cy="1584"/>
          </a:xfrm>
        </p:grpSpPr>
        <p:cxnSp>
          <p:nvCxnSpPr>
            <p:cNvPr id="33814" name="AutoShape 27"/>
            <p:cNvCxnSpPr>
              <a:stCxn id="33802" idx="6"/>
              <a:endCxn id="33806" idx="0"/>
            </p:cNvCxnSpPr>
            <p:nvPr/>
          </p:nvCxnSpPr>
          <p:spPr>
            <a:xfrm>
              <a:off x="3456" y="1680"/>
              <a:ext cx="1296" cy="624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815" name="AutoShape 28"/>
            <p:cNvCxnSpPr>
              <a:stCxn id="33803" idx="6"/>
              <a:endCxn id="33806" idx="4"/>
            </p:cNvCxnSpPr>
            <p:nvPr/>
          </p:nvCxnSpPr>
          <p:spPr>
            <a:xfrm flipV="1">
              <a:off x="3408" y="2784"/>
              <a:ext cx="1344" cy="480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3816" name="AutoShape 29"/>
          <p:cNvSpPr/>
          <p:nvPr/>
        </p:nvSpPr>
        <p:spPr>
          <a:xfrm>
            <a:off x="1165225" y="4648200"/>
            <a:ext cx="784225" cy="609600"/>
          </a:xfrm>
          <a:prstGeom prst="rightArrow">
            <a:avLst>
              <a:gd name="adj1" fmla="val 50000"/>
              <a:gd name="adj2" fmla="val 3213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grpSp>
        <p:nvGrpSpPr>
          <p:cNvPr id="33817" name="Group 30"/>
          <p:cNvGrpSpPr/>
          <p:nvPr/>
        </p:nvGrpSpPr>
        <p:grpSpPr>
          <a:xfrm>
            <a:off x="2565400" y="4495800"/>
            <a:ext cx="5410200" cy="1600200"/>
            <a:chOff x="1680" y="2256"/>
            <a:chExt cx="3312" cy="1008"/>
          </a:xfrm>
        </p:grpSpPr>
        <p:cxnSp>
          <p:nvCxnSpPr>
            <p:cNvPr id="33818" name="AutoShape 31"/>
            <p:cNvCxnSpPr>
              <a:stCxn id="33797" idx="4"/>
              <a:endCxn id="33803" idx="2"/>
            </p:cNvCxnSpPr>
            <p:nvPr/>
          </p:nvCxnSpPr>
          <p:spPr>
            <a:xfrm rot="-5400000" flipH="1">
              <a:off x="2016" y="2352"/>
              <a:ext cx="576" cy="1248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819" name="AutoShape 32"/>
            <p:cNvCxnSpPr>
              <a:stCxn id="33805" idx="0"/>
              <a:endCxn id="33806" idx="6"/>
            </p:cNvCxnSpPr>
            <p:nvPr/>
          </p:nvCxnSpPr>
          <p:spPr>
            <a:xfrm rot="5400000" flipV="1">
              <a:off x="4728" y="2280"/>
              <a:ext cx="288" cy="240"/>
            </a:xfrm>
            <a:prstGeom prst="curvedConnector4">
              <a:avLst>
                <a:gd name="adj1" fmla="val -50000"/>
                <a:gd name="adj2" fmla="val 180000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3820" name="Text Box 36"/>
          <p:cNvSpPr txBox="1"/>
          <p:nvPr/>
        </p:nvSpPr>
        <p:spPr>
          <a:xfrm>
            <a:off x="3708400" y="4868863"/>
            <a:ext cx="28257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i="1" u="none" dirty="0">
                <a:latin typeface="Times New Roman" panose="02020603050405020304" pitchFamily="18" charset="0"/>
              </a:rPr>
              <a:t>b</a:t>
            </a:r>
            <a:endParaRPr lang="en-US" altLang="zh-CN" i="1" u="none" dirty="0">
              <a:latin typeface="Times New Roman" panose="02020603050405020304" pitchFamily="18" charset="0"/>
            </a:endParaRPr>
          </a:p>
        </p:txBody>
      </p:sp>
      <p:sp>
        <p:nvSpPr>
          <p:cNvPr id="33821" name="Text Box 37"/>
          <p:cNvSpPr txBox="1"/>
          <p:nvPr/>
        </p:nvSpPr>
        <p:spPr>
          <a:xfrm>
            <a:off x="1042988" y="1484313"/>
            <a:ext cx="7561262" cy="2057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pPr lvl="1" indent="0" algn="ctr" eaLnBrk="0" hangingPunct="0">
              <a:buNone/>
            </a:pPr>
            <a:r>
              <a:rPr lang="en-US" altLang="zh-CN" sz="2800" u="none" dirty="0">
                <a:latin typeface="Tahoma" panose="020B0604030504040204" pitchFamily="34" charset="0"/>
              </a:rPr>
              <a:t>f（S，a）=U	        f（V，a）=U</a:t>
            </a:r>
            <a:endParaRPr lang="en-US" altLang="zh-CN" sz="2800" u="none" dirty="0">
              <a:latin typeface="Tahoma" panose="020B0604030504040204" pitchFamily="34" charset="0"/>
            </a:endParaRPr>
          </a:p>
          <a:p>
            <a:pPr lvl="1" indent="0" algn="ctr" eaLnBrk="0" hangingPunct="0">
              <a:buNone/>
            </a:pPr>
            <a:r>
              <a:rPr lang="en-US" altLang="zh-CN" sz="2800" u="none" dirty="0">
                <a:latin typeface="Tahoma" panose="020B0604030504040204" pitchFamily="34" charset="0"/>
              </a:rPr>
              <a:t>f（S，b）=V		f（V，b）=Q</a:t>
            </a:r>
            <a:endParaRPr lang="en-US" altLang="zh-CN" sz="2800" u="none" dirty="0">
              <a:latin typeface="Tahoma" panose="020B0604030504040204" pitchFamily="34" charset="0"/>
            </a:endParaRPr>
          </a:p>
          <a:p>
            <a:pPr lvl="1" indent="0" algn="ctr" eaLnBrk="0" hangingPunct="0">
              <a:buNone/>
            </a:pPr>
            <a:r>
              <a:rPr lang="en-US" altLang="zh-CN" sz="2800" u="none" dirty="0">
                <a:latin typeface="Tahoma" panose="020B0604030504040204" pitchFamily="34" charset="0"/>
              </a:rPr>
              <a:t>f（U，a）=Q		f（Q，a）=Q</a:t>
            </a:r>
            <a:endParaRPr lang="en-US" altLang="zh-CN" sz="2800" u="none" dirty="0">
              <a:latin typeface="Tahoma" panose="020B0604030504040204" pitchFamily="34" charset="0"/>
            </a:endParaRPr>
          </a:p>
          <a:p>
            <a:pPr lvl="1" indent="0" algn="ctr" eaLnBrk="0" hangingPunct="0">
              <a:buNone/>
            </a:pPr>
            <a:r>
              <a:rPr lang="en-US" altLang="zh-CN" sz="2800" u="none" dirty="0">
                <a:latin typeface="Tahoma" panose="020B0604030504040204" pitchFamily="34" charset="0"/>
              </a:rPr>
              <a:t>f（U，b）=V		f（Q，b）=Q</a:t>
            </a:r>
            <a:endParaRPr lang="zh-CN" altLang="en-US" sz="2800" u="none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/>
              <a:t>DFA </a:t>
            </a:r>
            <a:r>
              <a:rPr lang="zh-CN" altLang="en-US" b="1" dirty="0"/>
              <a:t>的矩阵表示</a:t>
            </a:r>
            <a:endParaRPr lang="zh-CN" altLang="en-US" dirty="0"/>
          </a:p>
        </p:txBody>
      </p:sp>
      <p:sp>
        <p:nvSpPr>
          <p:cNvPr id="154627" name="Rectangle 3"/>
          <p:cNvSpPr>
            <a:spLocks noGrp="1"/>
          </p:cNvSpPr>
          <p:nvPr>
            <p:ph idx="1"/>
          </p:nvPr>
        </p:nvSpPr>
        <p:spPr>
          <a:xfrm>
            <a:off x="990600" y="1676400"/>
            <a:ext cx="7772400" cy="48768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endParaRPr lang="zh-CN" altLang="en-US" b="1" dirty="0"/>
          </a:p>
        </p:txBody>
      </p:sp>
      <p:grpSp>
        <p:nvGrpSpPr>
          <p:cNvPr id="2" name="Group 4"/>
          <p:cNvGrpSpPr/>
          <p:nvPr/>
        </p:nvGrpSpPr>
        <p:grpSpPr>
          <a:xfrm>
            <a:off x="1828800" y="2819400"/>
            <a:ext cx="6257925" cy="2768600"/>
            <a:chOff x="1152" y="1776"/>
            <a:chExt cx="3942" cy="1744"/>
          </a:xfrm>
        </p:grpSpPr>
        <p:graphicFrame>
          <p:nvGraphicFramePr>
            <p:cNvPr id="34820" name="Object 5"/>
            <p:cNvGraphicFramePr/>
            <p:nvPr/>
          </p:nvGraphicFramePr>
          <p:xfrm>
            <a:off x="1152" y="1776"/>
            <a:ext cx="3942" cy="1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2076450" imgH="1019175" progId="Excel.Sheet.8">
                    <p:embed/>
                  </p:oleObj>
                </mc:Choice>
                <mc:Fallback>
                  <p:oleObj name="" r:id="rId1" imgW="2076450" imgH="1019175" progId="Excel.Sheet.8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152" y="1776"/>
                          <a:ext cx="3942" cy="1744"/>
                        </a:xfrm>
                        <a:prstGeom prst="rect">
                          <a:avLst/>
                        </a:prstGeom>
                        <a:solidFill>
                          <a:srgbClr val="4EC1C4"/>
                        </a:solidFill>
                        <a:ln w="9525" cap="flat" cmpd="sng">
                          <a:solidFill>
                            <a:srgbClr val="6699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1" name="Line 6"/>
            <p:cNvSpPr/>
            <p:nvPr/>
          </p:nvSpPr>
          <p:spPr>
            <a:xfrm>
              <a:off x="1152" y="1776"/>
              <a:ext cx="1296" cy="336"/>
            </a:xfrm>
            <a:prstGeom prst="line">
              <a:avLst/>
            </a:prstGeom>
            <a:ln w="9525" cap="flat" cmpd="sng">
              <a:solidFill>
                <a:srgbClr val="CCCC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22" name="Text Box 7"/>
            <p:cNvSpPr txBox="1"/>
            <p:nvPr/>
          </p:nvSpPr>
          <p:spPr>
            <a:xfrm>
              <a:off x="2064" y="1785"/>
              <a:ext cx="576" cy="231"/>
            </a:xfrm>
            <a:prstGeom prst="rect">
              <a:avLst/>
            </a:prstGeom>
            <a:solidFill>
              <a:srgbClr val="4EC1C4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1" u="none" dirty="0">
                  <a:latin typeface="Times New Roman" panose="02020603050405020304" pitchFamily="18" charset="0"/>
                </a:rPr>
                <a:t>字符</a:t>
              </a:r>
              <a:endParaRPr lang="zh-CN" altLang="en-US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34823" name="Text Box 8"/>
            <p:cNvSpPr txBox="1"/>
            <p:nvPr/>
          </p:nvSpPr>
          <p:spPr>
            <a:xfrm>
              <a:off x="1296" y="1881"/>
              <a:ext cx="576" cy="231"/>
            </a:xfrm>
            <a:prstGeom prst="rect">
              <a:avLst/>
            </a:prstGeom>
            <a:solidFill>
              <a:srgbClr val="4EC1C4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1" u="none" dirty="0">
                  <a:latin typeface="Times New Roman" panose="02020603050405020304" pitchFamily="18" charset="0"/>
                </a:rPr>
                <a:t>状态</a:t>
              </a:r>
              <a:endParaRPr lang="zh-CN" altLang="en-US" sz="1800" b="1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4824" name="Text Box 9"/>
          <p:cNvSpPr txBox="1"/>
          <p:nvPr/>
        </p:nvSpPr>
        <p:spPr>
          <a:xfrm>
            <a:off x="8153400" y="3429000"/>
            <a:ext cx="387350" cy="204152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u="none" dirty="0">
                <a:latin typeface="Times New Roman" panose="02020603050405020304" pitchFamily="18" charset="0"/>
              </a:rPr>
              <a:t>0</a:t>
            </a:r>
            <a:endParaRPr lang="zh-CN" altLang="en-US" u="none" dirty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u="none" dirty="0">
                <a:latin typeface="Times New Roman" panose="02020603050405020304" pitchFamily="18" charset="0"/>
              </a:rPr>
              <a:t>0</a:t>
            </a:r>
            <a:endParaRPr lang="zh-CN" altLang="en-US" u="none" dirty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u="none" dirty="0">
                <a:latin typeface="Times New Roman" panose="02020603050405020304" pitchFamily="18" charset="0"/>
              </a:rPr>
              <a:t>0</a:t>
            </a:r>
            <a:endParaRPr lang="zh-CN" altLang="en-US" u="none" dirty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u="none" dirty="0">
                <a:latin typeface="Times New Roman" panose="02020603050405020304" pitchFamily="18" charset="0"/>
              </a:rPr>
              <a:t>1</a:t>
            </a:r>
            <a:endParaRPr lang="zh-CN" altLang="en-US" sz="2400" u="none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27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27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br>
              <a:rPr lang="zh-CN" altLang="en-US" sz="4800" b="1" dirty="0">
                <a:solidFill>
                  <a:schemeClr val="bg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4800" b="1" dirty="0">
                <a:solidFill>
                  <a:schemeClr val="bg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为了说明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DFA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如何作为一种识别机制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我们还要理解下面的定义</a:t>
            </a:r>
            <a:endParaRPr lang="zh-CN" altLang="en-US" sz="4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62147" name="Rectangle 3"/>
          <p:cNvSpPr>
            <a:spLocks noGrp="1"/>
          </p:cNvSpPr>
          <p:nvPr>
            <p:ph idx="1"/>
          </p:nvPr>
        </p:nvSpPr>
        <p:spPr>
          <a:xfrm>
            <a:off x="0" y="1676400"/>
            <a:ext cx="8893175" cy="48006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∑</a:t>
            </a:r>
            <a:r>
              <a:rPr lang="en-US" altLang="zh-CN" sz="3600" b="1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*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上的符号串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t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在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DFA  M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上运行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一个输入符号串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t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，（将它表示成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Tt</a:t>
            </a:r>
            <a:r>
              <a:rPr lang="en-US" altLang="zh-CN" sz="3200" b="1" baseline="-25000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的形式，其中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T∈∑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t</a:t>
            </a:r>
            <a:r>
              <a:rPr lang="en-US" altLang="zh-CN" sz="3200" b="1" baseline="-25000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∈ ∑</a:t>
            </a:r>
            <a:r>
              <a:rPr lang="en-US" altLang="zh-CN" sz="3200" b="1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*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）在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DFA   M=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K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Σ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f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S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Z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）上运行的定义为：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f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Q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Tt</a:t>
            </a:r>
            <a:r>
              <a:rPr lang="en-US" altLang="zh-CN" sz="3200" b="1" baseline="-25000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=f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f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Q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T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），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t</a:t>
            </a:r>
            <a:r>
              <a:rPr lang="en-US" altLang="zh-CN" sz="3200" b="1" baseline="-25000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  其中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Q∈K                                                  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扩充转换函数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f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为 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K×Σ</a:t>
            </a:r>
            <a:r>
              <a:rPr lang="en-US" altLang="zh-CN" sz="3200" b="1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*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→K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上的映射，且：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f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ki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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= ki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214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charRg st="19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2147">
                                            <p:txEl>
                                              <p:charRg st="19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charRg st="83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2147">
                                            <p:txEl>
                                              <p:charRg st="83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charRg st="162" end="1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2147">
                                            <p:txEl>
                                              <p:charRg st="162" end="1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63171" name="Rectangle 3"/>
          <p:cNvSpPr>
            <a:spLocks noGrp="1"/>
          </p:cNvSpPr>
          <p:nvPr>
            <p:ph idx="1"/>
          </p:nvPr>
        </p:nvSpPr>
        <p:spPr>
          <a:xfrm>
            <a:off x="495300" y="441325"/>
            <a:ext cx="8153400" cy="5638800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∑</a:t>
            </a:r>
            <a:r>
              <a:rPr lang="en-US" altLang="zh-CN" sz="4400" b="1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*</a:t>
            </a: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上的符号串</a:t>
            </a:r>
            <a:r>
              <a:rPr lang="en-US" altLang="zh-CN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t</a:t>
            </a: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被</a:t>
            </a:r>
            <a:r>
              <a:rPr lang="en-US" altLang="zh-CN" sz="44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DFA</a:t>
            </a:r>
            <a:r>
              <a:rPr lang="en-US" altLang="zh-CN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 M</a:t>
            </a: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接受</a:t>
            </a:r>
            <a:endParaRPr lang="zh-CN" altLang="en-US" sz="44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M=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K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Σ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f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S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Z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zh-CN" altLang="en-US" sz="40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若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t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∑</a:t>
            </a:r>
            <a:r>
              <a:rPr lang="en-US" altLang="zh-CN" sz="4000" b="1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*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f(S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t)=P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，其中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S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为</a:t>
            </a:r>
            <a:r>
              <a:rPr lang="zh-CN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M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的开始状态，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P 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 Z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Z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为终态集。</a:t>
            </a:r>
            <a:endParaRPr lang="zh-CN" altLang="en-US" sz="4000" b="1" dirty="0"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则称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t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为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DFA M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所接受（识别）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.</a:t>
            </a:r>
            <a:endParaRPr lang="en-US" altLang="zh-CN" sz="4000" b="1" dirty="0"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317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charRg st="17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63171">
                                            <p:txEl>
                                              <p:charRg st="17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charRg st="31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63171">
                                            <p:txEl>
                                              <p:charRg st="31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charRg st="72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63171">
                                            <p:txEl>
                                              <p:charRg st="72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533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1" dirty="0">
                <a:latin typeface="方正舒体" pitchFamily="2" charset="-122"/>
                <a:ea typeface="方正舒体" pitchFamily="2" charset="-122"/>
              </a:rPr>
              <a:t>∑*上的符号串</a:t>
            </a:r>
            <a:r>
              <a:rPr lang="en-US" altLang="zh-CN" b="1" dirty="0">
                <a:latin typeface="方正舒体" pitchFamily="2" charset="-122"/>
                <a:ea typeface="方正舒体" pitchFamily="2" charset="-122"/>
              </a:rPr>
              <a:t>t</a:t>
            </a:r>
            <a:r>
              <a:rPr lang="zh-CN" altLang="en-US" b="1" dirty="0">
                <a:latin typeface="方正舒体" pitchFamily="2" charset="-122"/>
                <a:ea typeface="方正舒体" pitchFamily="2" charset="-122"/>
              </a:rPr>
              <a:t>被</a:t>
            </a:r>
            <a:r>
              <a:rPr lang="en-US" altLang="zh-CN" b="1" dirty="0">
                <a:latin typeface="方正舒体" pitchFamily="2" charset="-122"/>
                <a:ea typeface="方正舒体" pitchFamily="2" charset="-122"/>
                <a:sym typeface="Symbol" panose="05050102010706020507" pitchFamily="18" charset="2"/>
              </a:rPr>
              <a:t>DFA</a:t>
            </a:r>
            <a:r>
              <a:rPr lang="zh-CN" altLang="en-US" b="1" dirty="0">
                <a:latin typeface="方正舒体" pitchFamily="2" charset="-122"/>
                <a:ea typeface="方正舒体" pitchFamily="2" charset="-122"/>
              </a:rPr>
              <a:t> </a:t>
            </a:r>
            <a:r>
              <a:rPr lang="en-US" altLang="zh-CN" b="1" dirty="0">
                <a:latin typeface="方正舒体" pitchFamily="2" charset="-122"/>
                <a:ea typeface="方正舒体" pitchFamily="2" charset="-122"/>
              </a:rPr>
              <a:t>M</a:t>
            </a:r>
            <a:r>
              <a:rPr lang="zh-CN" altLang="en-US" b="1" dirty="0">
                <a:latin typeface="方正舒体" pitchFamily="2" charset="-122"/>
                <a:ea typeface="方正舒体" pitchFamily="2" charset="-122"/>
              </a:rPr>
              <a:t>接受</a:t>
            </a:r>
            <a:endParaRPr lang="zh-CN" altLang="en-US" b="1" dirty="0">
              <a:latin typeface="方正舒体" pitchFamily="2" charset="-122"/>
              <a:ea typeface="方正舒体" pitchFamily="2" charset="-122"/>
            </a:endParaRPr>
          </a:p>
        </p:txBody>
      </p:sp>
      <p:sp>
        <p:nvSpPr>
          <p:cNvPr id="156675" name="Rectangle 3"/>
          <p:cNvSpPr>
            <a:spLocks noGrp="1"/>
          </p:cNvSpPr>
          <p:nvPr>
            <p:ph idx="1"/>
          </p:nvPr>
        </p:nvSpPr>
        <p:spPr>
          <a:xfrm>
            <a:off x="990600" y="1219200"/>
            <a:ext cx="7772400" cy="4876800"/>
          </a:xfrm>
          <a:solidFill>
            <a:srgbClr val="CCCCFF"/>
          </a:solidFill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spcBef>
                <a:spcPct val="25000"/>
              </a:spcBef>
              <a:buNone/>
            </a:pPr>
            <a:r>
              <a:rPr lang="zh-CN" altLang="en-US" b="1" dirty="0"/>
              <a:t>例</a:t>
            </a:r>
            <a:r>
              <a:rPr lang="zh-CN" altLang="en-US" dirty="0"/>
              <a:t>：</a:t>
            </a:r>
            <a:r>
              <a:rPr lang="zh-CN" altLang="en-US" b="1" dirty="0"/>
              <a:t>证明</a:t>
            </a:r>
            <a:r>
              <a:rPr lang="en-US" altLang="zh-CN" b="1" dirty="0">
                <a:solidFill>
                  <a:srgbClr val="FF0066"/>
                </a:solidFill>
              </a:rPr>
              <a:t>t</a:t>
            </a:r>
            <a:r>
              <a:rPr lang="en-US" altLang="zh-CN" b="1" dirty="0"/>
              <a:t>=</a:t>
            </a:r>
            <a:r>
              <a:rPr lang="en-US" altLang="zh-CN" b="1" dirty="0">
                <a:solidFill>
                  <a:srgbClr val="FF0066"/>
                </a:solidFill>
              </a:rPr>
              <a:t>baab</a:t>
            </a:r>
            <a:r>
              <a:rPr lang="zh-CN" altLang="en-US" b="1" dirty="0"/>
              <a:t>被下图的</a:t>
            </a:r>
            <a:r>
              <a:rPr lang="en-US" altLang="zh-CN" b="1" dirty="0">
                <a:solidFill>
                  <a:srgbClr val="FF0066"/>
                </a:solidFill>
              </a:rPr>
              <a:t>DFA</a:t>
            </a:r>
            <a:r>
              <a:rPr lang="zh-CN" altLang="en-US" b="1" dirty="0">
                <a:solidFill>
                  <a:srgbClr val="280FE1"/>
                </a:solidFill>
              </a:rPr>
              <a:t>所接受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lvl="1" eaLnBrk="1" hangingPunct="1">
              <a:lnSpc>
                <a:spcPct val="80000"/>
              </a:lnSpc>
              <a:spcBef>
                <a:spcPct val="25000"/>
              </a:spcBef>
              <a:buNone/>
            </a:pPr>
            <a:r>
              <a:rPr lang="en-US" altLang="zh-CN" sz="3200" b="1" dirty="0"/>
              <a:t>f（S，baab）=f（f（S，b），aab）</a:t>
            </a:r>
            <a:endParaRPr lang="en-US" altLang="zh-CN" sz="3200" b="1" dirty="0"/>
          </a:p>
          <a:p>
            <a:pPr lvl="1" eaLnBrk="1" hangingPunct="1">
              <a:lnSpc>
                <a:spcPct val="80000"/>
              </a:lnSpc>
              <a:spcBef>
                <a:spcPct val="25000"/>
              </a:spcBef>
              <a:buNone/>
            </a:pPr>
            <a:r>
              <a:rPr lang="en-US" altLang="zh-CN" sz="3200" b="1" dirty="0"/>
              <a:t>  =  f（V，aab）= f（f（V，a），ab）</a:t>
            </a:r>
            <a:endParaRPr lang="en-US" altLang="zh-CN" sz="3200" b="1" dirty="0"/>
          </a:p>
          <a:p>
            <a:pPr lvl="1" eaLnBrk="1" hangingPunct="1">
              <a:lnSpc>
                <a:spcPct val="80000"/>
              </a:lnSpc>
              <a:spcBef>
                <a:spcPct val="25000"/>
              </a:spcBef>
              <a:buNone/>
            </a:pPr>
            <a:r>
              <a:rPr lang="en-US" altLang="zh-CN" sz="3200" b="1" dirty="0"/>
              <a:t>  =f（U，ab）=f（f（U，a），b）</a:t>
            </a:r>
            <a:endParaRPr lang="en-US" altLang="zh-CN" sz="3200" b="1" dirty="0"/>
          </a:p>
          <a:p>
            <a:pPr lvl="1" eaLnBrk="1" hangingPunct="1">
              <a:lnSpc>
                <a:spcPct val="80000"/>
              </a:lnSpc>
              <a:spcBef>
                <a:spcPct val="25000"/>
              </a:spcBef>
              <a:buNone/>
            </a:pPr>
            <a:r>
              <a:rPr lang="en-US" altLang="zh-CN" sz="3200" b="1" dirty="0"/>
              <a:t>  =f（Q，b）=Q</a:t>
            </a:r>
            <a:endParaRPr lang="en-US" altLang="zh-CN" sz="3200" b="1" dirty="0"/>
          </a:p>
          <a:p>
            <a:pPr lvl="1" eaLnBrk="1" hangingPunct="1">
              <a:lnSpc>
                <a:spcPct val="80000"/>
              </a:lnSpc>
              <a:spcBef>
                <a:spcPct val="25000"/>
              </a:spcBef>
              <a:buNone/>
            </a:pPr>
            <a:r>
              <a:rPr lang="en-US" altLang="zh-CN" sz="3200" b="1" dirty="0"/>
              <a:t>Q</a:t>
            </a:r>
            <a:r>
              <a:rPr lang="zh-CN" altLang="en-US" sz="3200" b="1" dirty="0"/>
              <a:t>属于终态。</a:t>
            </a:r>
            <a:endParaRPr lang="zh-CN" altLang="en-US" sz="3200" b="1" dirty="0"/>
          </a:p>
          <a:p>
            <a:pPr lvl="1" eaLnBrk="1" hangingPunct="1">
              <a:lnSpc>
                <a:spcPct val="80000"/>
              </a:lnSpc>
              <a:spcBef>
                <a:spcPct val="25000"/>
              </a:spcBef>
              <a:buNone/>
            </a:pPr>
            <a:r>
              <a:rPr lang="zh-CN" altLang="en-US" sz="3200" b="1" dirty="0"/>
              <a:t>得证。</a:t>
            </a:r>
            <a:endParaRPr lang="zh-CN" altLang="en-US" sz="3200" b="1" dirty="0"/>
          </a:p>
        </p:txBody>
      </p:sp>
      <p:grpSp>
        <p:nvGrpSpPr>
          <p:cNvPr id="2" name="Group 4"/>
          <p:cNvGrpSpPr/>
          <p:nvPr/>
        </p:nvGrpSpPr>
        <p:grpSpPr>
          <a:xfrm>
            <a:off x="3657600" y="4114800"/>
            <a:ext cx="4648200" cy="2070100"/>
            <a:chOff x="816" y="1440"/>
            <a:chExt cx="4416" cy="2157"/>
          </a:xfrm>
        </p:grpSpPr>
        <p:grpSp>
          <p:nvGrpSpPr>
            <p:cNvPr id="37892" name="Group 5"/>
            <p:cNvGrpSpPr/>
            <p:nvPr/>
          </p:nvGrpSpPr>
          <p:grpSpPr>
            <a:xfrm>
              <a:off x="1440" y="1440"/>
              <a:ext cx="3792" cy="2157"/>
              <a:chOff x="1296" y="1440"/>
              <a:chExt cx="3792" cy="2157"/>
            </a:xfrm>
          </p:grpSpPr>
          <p:grpSp>
            <p:nvGrpSpPr>
              <p:cNvPr id="37893" name="Group 6"/>
              <p:cNvGrpSpPr/>
              <p:nvPr/>
            </p:nvGrpSpPr>
            <p:grpSpPr>
              <a:xfrm>
                <a:off x="1296" y="1440"/>
                <a:ext cx="3792" cy="2157"/>
                <a:chOff x="1440" y="1440"/>
                <a:chExt cx="3792" cy="2157"/>
              </a:xfrm>
            </p:grpSpPr>
            <p:sp>
              <p:nvSpPr>
                <p:cNvPr id="37894" name="Text Box 7"/>
                <p:cNvSpPr txBox="1"/>
                <p:nvPr/>
              </p:nvSpPr>
              <p:spPr>
                <a:xfrm>
                  <a:off x="4031" y="3120"/>
                  <a:ext cx="289" cy="47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u="none" dirty="0">
                      <a:latin typeface="Times New Roman" panose="02020603050405020304" pitchFamily="18" charset="0"/>
                    </a:rPr>
                    <a:t>b</a:t>
                  </a:r>
                  <a:endParaRPr lang="en-US" altLang="zh-CN" sz="2400" u="none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7895" name="Group 8"/>
                <p:cNvGrpSpPr/>
                <p:nvPr/>
              </p:nvGrpSpPr>
              <p:grpSpPr>
                <a:xfrm>
                  <a:off x="1440" y="1440"/>
                  <a:ext cx="3600" cy="2064"/>
                  <a:chOff x="1488" y="1344"/>
                  <a:chExt cx="3600" cy="2064"/>
                </a:xfrm>
              </p:grpSpPr>
              <p:sp>
                <p:nvSpPr>
                  <p:cNvPr id="37896" name="Oval 9"/>
                  <p:cNvSpPr/>
                  <p:nvPr/>
                </p:nvSpPr>
                <p:spPr>
                  <a:xfrm>
                    <a:off x="1488" y="2112"/>
                    <a:ext cx="480" cy="4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u="none" dirty="0">
                        <a:solidFill>
                          <a:srgbClr val="280FE1"/>
                        </a:solidFill>
                        <a:latin typeface="Times New Roman" panose="02020603050405020304" pitchFamily="18" charset="0"/>
                      </a:rPr>
                      <a:t>S</a:t>
                    </a:r>
                    <a:endParaRPr lang="en-US" altLang="zh-CN" sz="2400" u="none" dirty="0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7897" name="Group 10"/>
                  <p:cNvGrpSpPr/>
                  <p:nvPr/>
                </p:nvGrpSpPr>
                <p:grpSpPr>
                  <a:xfrm>
                    <a:off x="2976" y="1344"/>
                    <a:ext cx="528" cy="2064"/>
                    <a:chOff x="2976" y="1344"/>
                    <a:chExt cx="528" cy="2064"/>
                  </a:xfrm>
                </p:grpSpPr>
                <p:grpSp>
                  <p:nvGrpSpPr>
                    <p:cNvPr id="37898" name="Group 11"/>
                    <p:cNvGrpSpPr/>
                    <p:nvPr/>
                  </p:nvGrpSpPr>
                  <p:grpSpPr>
                    <a:xfrm>
                      <a:off x="2976" y="1584"/>
                      <a:ext cx="528" cy="1584"/>
                      <a:chOff x="2976" y="1584"/>
                      <a:chExt cx="528" cy="1584"/>
                    </a:xfrm>
                  </p:grpSpPr>
                  <p:cxnSp>
                    <p:nvCxnSpPr>
                      <p:cNvPr id="37899" name="AutoShape 12"/>
                      <p:cNvCxnSpPr>
                        <a:stCxn id="37901" idx="2"/>
                        <a:endCxn id="37902" idx="2"/>
                      </p:cNvCxnSpPr>
                      <p:nvPr/>
                    </p:nvCxnSpPr>
                    <p:spPr>
                      <a:xfrm rot="-10800000" flipV="1">
                        <a:off x="2976" y="1584"/>
                        <a:ext cx="48" cy="1584"/>
                      </a:xfrm>
                      <a:prstGeom prst="curvedConnector3">
                        <a:avLst>
                          <a:gd name="adj1" fmla="val 789583"/>
                        </a:avLst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triangle" w="med" len="med"/>
                      </a:ln>
                    </p:spPr>
                  </p:cxnSp>
                  <p:cxnSp>
                    <p:nvCxnSpPr>
                      <p:cNvPr id="37900" name="AutoShape 13"/>
                      <p:cNvCxnSpPr>
                        <a:stCxn id="37902" idx="6"/>
                        <a:endCxn id="37901" idx="6"/>
                      </p:cNvCxnSpPr>
                      <p:nvPr/>
                    </p:nvCxnSpPr>
                    <p:spPr>
                      <a:xfrm flipV="1">
                        <a:off x="3456" y="1584"/>
                        <a:ext cx="48" cy="1584"/>
                      </a:xfrm>
                      <a:prstGeom prst="curvedConnector3">
                        <a:avLst>
                          <a:gd name="adj1" fmla="val 756245"/>
                        </a:avLst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triangle" w="med" len="med"/>
                      </a:ln>
                    </p:spPr>
                  </p:cxnSp>
                </p:grpSp>
                <p:sp>
                  <p:nvSpPr>
                    <p:cNvPr id="37901" name="Oval 14"/>
                    <p:cNvSpPr/>
                    <p:nvPr/>
                  </p:nvSpPr>
                  <p:spPr>
                    <a:xfrm>
                      <a:off x="3024" y="1344"/>
                      <a:ext cx="480" cy="48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u="none" dirty="0">
                          <a:solidFill>
                            <a:srgbClr val="280FE1"/>
                          </a:solidFill>
                          <a:latin typeface="Times New Roman" panose="02020603050405020304" pitchFamily="18" charset="0"/>
                        </a:rPr>
                        <a:t>U</a:t>
                      </a:r>
                      <a:endParaRPr lang="en-US" altLang="zh-CN" sz="2400" u="none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7902" name="Oval 15"/>
                    <p:cNvSpPr/>
                    <p:nvPr/>
                  </p:nvSpPr>
                  <p:spPr>
                    <a:xfrm>
                      <a:off x="2976" y="2928"/>
                      <a:ext cx="480" cy="48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u="none" dirty="0">
                          <a:solidFill>
                            <a:srgbClr val="280FE1"/>
                          </a:solidFill>
                          <a:latin typeface="Times New Roman" panose="02020603050405020304" pitchFamily="18" charset="0"/>
                        </a:rPr>
                        <a:t>V</a:t>
                      </a:r>
                      <a:endParaRPr lang="en-US" altLang="zh-CN" sz="2400" u="none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grpSp>
                <p:nvGrpSpPr>
                  <p:cNvPr id="37903" name="Group 16"/>
                  <p:cNvGrpSpPr/>
                  <p:nvPr/>
                </p:nvGrpSpPr>
                <p:grpSpPr>
                  <a:xfrm>
                    <a:off x="4512" y="2160"/>
                    <a:ext cx="576" cy="576"/>
                    <a:chOff x="4032" y="2160"/>
                    <a:chExt cx="576" cy="576"/>
                  </a:xfrm>
                </p:grpSpPr>
                <p:sp>
                  <p:nvSpPr>
                    <p:cNvPr id="37904" name="Oval 17"/>
                    <p:cNvSpPr/>
                    <p:nvPr/>
                  </p:nvSpPr>
                  <p:spPr>
                    <a:xfrm>
                      <a:off x="4032" y="2160"/>
                      <a:ext cx="576" cy="57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 eaLnBrk="0" hangingPunct="0"/>
                      <a:endParaRPr lang="zh-CN" altLang="en-US" dirty="0">
                        <a:latin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37905" name="Oval 18"/>
                    <p:cNvSpPr/>
                    <p:nvPr/>
                  </p:nvSpPr>
                  <p:spPr>
                    <a:xfrm>
                      <a:off x="4080" y="2208"/>
                      <a:ext cx="480" cy="48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u="none" dirty="0">
                          <a:solidFill>
                            <a:srgbClr val="3F6F5A"/>
                          </a:solidFill>
                          <a:latin typeface="Times New Roman" panose="02020603050405020304" pitchFamily="18" charset="0"/>
                        </a:rPr>
                        <a:t>Q</a:t>
                      </a:r>
                      <a:endParaRPr lang="en-US" altLang="zh-CN" sz="2400" u="none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</p:grpSp>
            <p:cxnSp>
              <p:nvCxnSpPr>
                <p:cNvPr id="37906" name="AutoShape 19"/>
                <p:cNvCxnSpPr>
                  <a:stCxn id="37896" idx="0"/>
                  <a:endCxn id="37901" idx="2"/>
                </p:cNvCxnSpPr>
                <p:nvPr/>
              </p:nvCxnSpPr>
              <p:spPr>
                <a:xfrm rot="-5400000">
                  <a:off x="2064" y="1296"/>
                  <a:ext cx="528" cy="1296"/>
                </a:xfrm>
                <a:prstGeom prst="curvedConnector2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37907" name="Text Box 20"/>
                <p:cNvSpPr txBox="1"/>
                <p:nvPr/>
              </p:nvSpPr>
              <p:spPr>
                <a:xfrm>
                  <a:off x="1920" y="1584"/>
                  <a:ext cx="336" cy="47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zh-CN" sz="2400" u="none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908" name="Text Box 21"/>
                <p:cNvSpPr txBox="1"/>
                <p:nvPr/>
              </p:nvSpPr>
              <p:spPr>
                <a:xfrm>
                  <a:off x="3985" y="1536"/>
                  <a:ext cx="335" cy="47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zh-CN" sz="2400" u="none" dirty="0">
                    <a:solidFill>
                      <a:schemeClr val="accent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909" name="Text Box 22"/>
                <p:cNvSpPr txBox="1"/>
                <p:nvPr/>
              </p:nvSpPr>
              <p:spPr>
                <a:xfrm>
                  <a:off x="3792" y="2159"/>
                  <a:ext cx="336" cy="47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u="none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u="none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910" name="Text Box 23"/>
                <p:cNvSpPr txBox="1"/>
                <p:nvPr/>
              </p:nvSpPr>
              <p:spPr>
                <a:xfrm>
                  <a:off x="1968" y="3024"/>
                  <a:ext cx="288" cy="47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u="none" dirty="0">
                      <a:latin typeface="Times New Roman" panose="02020603050405020304" pitchFamily="18" charset="0"/>
                    </a:rPr>
                    <a:t>b</a:t>
                  </a:r>
                  <a:endParaRPr lang="en-US" altLang="zh-CN" sz="2400" u="none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911" name="Text Box 24"/>
                <p:cNvSpPr txBox="1"/>
                <p:nvPr/>
              </p:nvSpPr>
              <p:spPr>
                <a:xfrm>
                  <a:off x="4704" y="1872"/>
                  <a:ext cx="528" cy="47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zh-CN" sz="2400" u="none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7912" name="Group 25"/>
              <p:cNvGrpSpPr/>
              <p:nvPr/>
            </p:nvGrpSpPr>
            <p:grpSpPr>
              <a:xfrm>
                <a:off x="3264" y="1680"/>
                <a:ext cx="1344" cy="1584"/>
                <a:chOff x="3408" y="1680"/>
                <a:chExt cx="1344" cy="1584"/>
              </a:xfrm>
            </p:grpSpPr>
            <p:cxnSp>
              <p:nvCxnSpPr>
                <p:cNvPr id="37913" name="AutoShape 26"/>
                <p:cNvCxnSpPr>
                  <a:stCxn id="37901" idx="6"/>
                  <a:endCxn id="37905" idx="0"/>
                </p:cNvCxnSpPr>
                <p:nvPr/>
              </p:nvCxnSpPr>
              <p:spPr>
                <a:xfrm>
                  <a:off x="3456" y="1680"/>
                  <a:ext cx="1296" cy="624"/>
                </a:xfrm>
                <a:prstGeom prst="curvedConnector2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7914" name="AutoShape 27"/>
                <p:cNvCxnSpPr>
                  <a:stCxn id="37902" idx="6"/>
                  <a:endCxn id="37905" idx="4"/>
                </p:cNvCxnSpPr>
                <p:nvPr/>
              </p:nvCxnSpPr>
              <p:spPr>
                <a:xfrm flipV="1">
                  <a:off x="3408" y="2784"/>
                  <a:ext cx="1344" cy="480"/>
                </a:xfrm>
                <a:prstGeom prst="curvedConnector2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37915" name="AutoShape 28"/>
            <p:cNvSpPr/>
            <p:nvPr/>
          </p:nvSpPr>
          <p:spPr>
            <a:xfrm>
              <a:off x="816" y="2256"/>
              <a:ext cx="480" cy="384"/>
            </a:xfrm>
            <a:prstGeom prst="right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7916" name="Group 29"/>
          <p:cNvGrpSpPr/>
          <p:nvPr/>
        </p:nvGrpSpPr>
        <p:grpSpPr>
          <a:xfrm>
            <a:off x="4572000" y="4876800"/>
            <a:ext cx="3486150" cy="968375"/>
            <a:chOff x="1680" y="2256"/>
            <a:chExt cx="3312" cy="1008"/>
          </a:xfrm>
        </p:grpSpPr>
        <p:cxnSp>
          <p:nvCxnSpPr>
            <p:cNvPr id="37917" name="AutoShape 30"/>
            <p:cNvCxnSpPr>
              <a:stCxn id="37896" idx="4"/>
              <a:endCxn id="37902" idx="2"/>
            </p:cNvCxnSpPr>
            <p:nvPr/>
          </p:nvCxnSpPr>
          <p:spPr>
            <a:xfrm rot="-5400000" flipH="1">
              <a:off x="2016" y="2352"/>
              <a:ext cx="576" cy="1248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7918" name="AutoShape 31"/>
            <p:cNvCxnSpPr>
              <a:stCxn id="37904" idx="0"/>
              <a:endCxn id="37905" idx="6"/>
            </p:cNvCxnSpPr>
            <p:nvPr/>
          </p:nvCxnSpPr>
          <p:spPr>
            <a:xfrm rot="5400000" flipV="1">
              <a:off x="4728" y="2280"/>
              <a:ext cx="288" cy="240"/>
            </a:xfrm>
            <a:prstGeom prst="curvedConnector4">
              <a:avLst>
                <a:gd name="adj1" fmla="val -50000"/>
                <a:gd name="adj2" fmla="val 180000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7919" name="Text Box 32"/>
          <p:cNvSpPr txBox="1"/>
          <p:nvPr/>
        </p:nvSpPr>
        <p:spPr>
          <a:xfrm>
            <a:off x="5318125" y="491807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endParaRPr lang="zh-CN" altLang="en-US" sz="2400" u="none" dirty="0">
              <a:latin typeface="Times New Roman" panose="02020603050405020304" pitchFamily="18" charset="0"/>
            </a:endParaRPr>
          </a:p>
        </p:txBody>
      </p:sp>
      <p:sp>
        <p:nvSpPr>
          <p:cNvPr id="37920" name="Text Box 33"/>
          <p:cNvSpPr txBox="1"/>
          <p:nvPr/>
        </p:nvSpPr>
        <p:spPr>
          <a:xfrm>
            <a:off x="8229600" y="43434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a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37921" name="Text Box 34"/>
          <p:cNvSpPr txBox="1"/>
          <p:nvPr/>
        </p:nvSpPr>
        <p:spPr>
          <a:xfrm>
            <a:off x="8077200" y="4343400"/>
            <a:ext cx="260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u="none" dirty="0">
                <a:latin typeface="Times New Roman" panose="02020603050405020304" pitchFamily="18" charset="0"/>
              </a:rPr>
              <a:t>,</a:t>
            </a:r>
            <a:endParaRPr lang="zh-CN" altLang="en-US" sz="2400" u="none" dirty="0">
              <a:latin typeface="Times New Roman" panose="02020603050405020304" pitchFamily="18" charset="0"/>
            </a:endParaRPr>
          </a:p>
        </p:txBody>
      </p:sp>
      <p:sp>
        <p:nvSpPr>
          <p:cNvPr id="37922" name="Text Box 35"/>
          <p:cNvSpPr txBox="1"/>
          <p:nvPr/>
        </p:nvSpPr>
        <p:spPr>
          <a:xfrm>
            <a:off x="7924800" y="4343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b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37923" name="Text Box 36"/>
          <p:cNvSpPr txBox="1"/>
          <p:nvPr/>
        </p:nvSpPr>
        <p:spPr>
          <a:xfrm>
            <a:off x="4832350" y="41529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a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37924" name="Text Box 37"/>
          <p:cNvSpPr txBox="1"/>
          <p:nvPr/>
        </p:nvSpPr>
        <p:spPr>
          <a:xfrm>
            <a:off x="6965950" y="40767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2400" u="none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667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charRg st="22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56675">
                                            <p:txEl>
                                              <p:charRg st="22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charRg st="46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6675">
                                            <p:txEl>
                                              <p:charRg st="46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charRg st="74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56675">
                                            <p:txEl>
                                              <p:charRg st="74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charRg st="97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56675">
                                            <p:txEl>
                                              <p:charRg st="97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charRg st="109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6675">
                                            <p:txEl>
                                              <p:charRg st="109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charRg st="116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56675">
                                            <p:txEl>
                                              <p:charRg st="116" end="1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br>
              <a:rPr lang="zh-CN" altLang="en-US" dirty="0">
                <a:solidFill>
                  <a:schemeClr val="bg2"/>
                </a:solidFill>
              </a:rPr>
            </a:br>
            <a:endParaRPr lang="zh-CN" altLang="zh-CN" dirty="0"/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>
          <a:xfrm>
            <a:off x="990600" y="1524000"/>
            <a:ext cx="7772400" cy="49530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/>
              <a:t>DFA M</a:t>
            </a:r>
            <a:r>
              <a:rPr lang="zh-CN" altLang="en-US" dirty="0"/>
              <a:t>所能接受的符</a:t>
            </a:r>
            <a:r>
              <a:rPr lang="zh-CN" altLang="en-US" dirty="0">
                <a:latin typeface="宋体" panose="02010600030101010101" pitchFamily="2" charset="-122"/>
              </a:rPr>
              <a:t>号</a:t>
            </a:r>
            <a:r>
              <a:rPr lang="zh-CN" altLang="en-US" dirty="0"/>
              <a:t>串的全体记为</a:t>
            </a:r>
            <a:r>
              <a:rPr lang="en-US" altLang="zh-CN" dirty="0"/>
              <a:t>L(M).</a:t>
            </a:r>
            <a:endParaRPr lang="en-US" altLang="zh-CN" dirty="0"/>
          </a:p>
          <a:p>
            <a:pPr eaLnBrk="1" hangingPunct="1">
              <a:buNone/>
            </a:pP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结论：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上一个符</a:t>
            </a:r>
            <a:r>
              <a:rPr lang="zh-CN" altLang="en-US" dirty="0">
                <a:latin typeface="宋体" panose="02010600030101010101" pitchFamily="2" charset="-122"/>
              </a:rPr>
              <a:t>号</a:t>
            </a:r>
            <a:r>
              <a:rPr lang="zh-CN" altLang="en-US" dirty="0">
                <a:sym typeface="Symbol" panose="05050102010706020507" pitchFamily="18" charset="2"/>
              </a:rPr>
              <a:t>串集</a:t>
            </a:r>
            <a:r>
              <a:rPr lang="en-US" altLang="zh-CN" dirty="0">
                <a:sym typeface="Symbol" panose="05050102010706020507" pitchFamily="18" charset="2"/>
              </a:rPr>
              <a:t>V</a:t>
            </a:r>
            <a:r>
              <a:rPr lang="en-US" altLang="zh-CN" baseline="30000" dirty="0">
                <a:sym typeface="Symbol" panose="05050102010706020507" pitchFamily="18" charset="2"/>
              </a:rPr>
              <a:t></a:t>
            </a:r>
            <a:r>
              <a:rPr lang="zh-CN" altLang="en-US" dirty="0">
                <a:sym typeface="Symbol" panose="05050102010706020507" pitchFamily="18" charset="2"/>
              </a:rPr>
              <a:t>是正规的，当且仅当存在一个上的确定有穷自动机</a:t>
            </a:r>
            <a:r>
              <a:rPr lang="en-US" altLang="zh-CN" dirty="0">
                <a:sym typeface="Symbol" panose="05050102010706020507" pitchFamily="18" charset="2"/>
              </a:rPr>
              <a:t>M，</a:t>
            </a:r>
            <a:r>
              <a:rPr lang="zh-CN" altLang="en-US" dirty="0">
                <a:sym typeface="Symbol" panose="05050102010706020507" pitchFamily="18" charset="2"/>
              </a:rPr>
              <a:t>使得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V=L(M)。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spcBef>
                <a:spcPct val="50000"/>
              </a:spcBef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1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1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29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8611">
                                            <p:txEl>
                                              <p:charRg st="29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611">
                                            <p:txEl>
                                              <p:charRg st="29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7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8611">
                                            <p:txEl>
                                              <p:charRg st="7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8611">
                                            <p:txEl>
                                              <p:charRg st="7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3"/>
          <p:cNvSpPr>
            <a:spLocks noGrp="1"/>
          </p:cNvSpPr>
          <p:nvPr>
            <p:ph idx="1"/>
          </p:nvPr>
        </p:nvSpPr>
        <p:spPr>
          <a:xfrm>
            <a:off x="609600" y="533400"/>
            <a:ext cx="7848600" cy="59436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DFA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的确定性表现在转换函数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f:K×Σ→K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是一个单值函数，也就是说，对任何状态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k∈K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，和输入符号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a∈Σ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f(k,a)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唯一地确定了下一个状态。从状态转换图来看，若字母表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Σ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含有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n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个输入字符，那末任何一个状态结点最多有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n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条弧射出，而且每条弧以一个不同的输入字符标记。</a:t>
            </a:r>
            <a:endParaRPr lang="zh-CN" altLang="en-US" sz="40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buNone/>
            </a:pPr>
            <a:endParaRPr lang="zh-CN" altLang="zh-CN" sz="40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228600"/>
          </a:xfrm>
        </p:spPr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176131" name="Rectangle 3"/>
          <p:cNvSpPr>
            <a:spLocks noGrp="1"/>
          </p:cNvSpPr>
          <p:nvPr>
            <p:ph idx="1"/>
          </p:nvPr>
        </p:nvSpPr>
        <p:spPr>
          <a:xfrm>
            <a:off x="838200" y="609600"/>
            <a:ext cx="7924800" cy="5029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DFA</a:t>
            </a:r>
            <a:r>
              <a:rPr lang="zh-CN" altLang="en-US" sz="2400" dirty="0"/>
              <a:t>的行为很容易用程序来模拟.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endParaRPr lang="zh-CN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DFA M=（K，Σ，f，S，Z</a:t>
            </a:r>
            <a:r>
              <a:rPr lang="en-US" altLang="zh-CN" sz="2400" dirty="0">
                <a:latin typeface="宋体" panose="02010600030101010101" pitchFamily="2" charset="-122"/>
              </a:rPr>
              <a:t>）</a:t>
            </a:r>
            <a:r>
              <a:rPr lang="zh-CN" altLang="en-US" sz="2400" dirty="0"/>
              <a:t>的行为的模拟程序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K:=S；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c:=getchar;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while c&lt;&gt;eof do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    {K:=f(K,c);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      c:=getchar;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    };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if K is in Z then return (‘yes’)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                  else return (‘no’)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charRg st="1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6131">
                                            <p:txEl>
                                              <p:charRg st="1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6131">
                                            <p:txEl>
                                              <p:charRg st="1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6131">
                                            <p:txEl>
                                              <p:charRg st="1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6131">
                                            <p:txEl>
                                              <p:charRg st="1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charRg st="19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6131">
                                            <p:txEl>
                                              <p:charRg st="19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6131">
                                            <p:txEl>
                                              <p:charRg st="19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6131">
                                            <p:txEl>
                                              <p:charRg st="19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6131">
                                            <p:txEl>
                                              <p:charRg st="19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charRg st="45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6131">
                                            <p:txEl>
                                              <p:charRg st="45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6131">
                                            <p:txEl>
                                              <p:charRg st="45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6131">
                                            <p:txEl>
                                              <p:charRg st="45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6131">
                                            <p:txEl>
                                              <p:charRg st="45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charRg st="51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6131">
                                            <p:txEl>
                                              <p:charRg st="51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6131">
                                            <p:txEl>
                                              <p:charRg st="51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6131">
                                            <p:txEl>
                                              <p:charRg st="51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6131">
                                            <p:txEl>
                                              <p:charRg st="51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charRg st="63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6131">
                                            <p:txEl>
                                              <p:charRg st="63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6131">
                                            <p:txEl>
                                              <p:charRg st="63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6131">
                                            <p:txEl>
                                              <p:charRg st="63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6131">
                                            <p:txEl>
                                              <p:charRg st="63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charRg st="8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6131">
                                            <p:txEl>
                                              <p:charRg st="8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6131">
                                            <p:txEl>
                                              <p:charRg st="8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6131">
                                            <p:txEl>
                                              <p:charRg st="8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6131">
                                            <p:txEl>
                                              <p:charRg st="8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charRg st="9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6131">
                                            <p:txEl>
                                              <p:charRg st="9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6131">
                                            <p:txEl>
                                              <p:charRg st="9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6131">
                                            <p:txEl>
                                              <p:charRg st="9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6131">
                                            <p:txEl>
                                              <p:charRg st="9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charRg st="114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6131">
                                            <p:txEl>
                                              <p:charRg st="114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6131">
                                            <p:txEl>
                                              <p:charRg st="114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6131">
                                            <p:txEl>
                                              <p:charRg st="114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6131">
                                            <p:txEl>
                                              <p:charRg st="114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charRg st="121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6131">
                                            <p:txEl>
                                              <p:charRg st="121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6131">
                                            <p:txEl>
                                              <p:charRg st="121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6131">
                                            <p:txEl>
                                              <p:charRg st="121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6131">
                                            <p:txEl>
                                              <p:charRg st="121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charRg st="154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6131">
                                            <p:txEl>
                                              <p:charRg st="154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6131">
                                            <p:txEl>
                                              <p:charRg st="154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6131">
                                            <p:txEl>
                                              <p:charRg st="154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6131">
                                            <p:txEl>
                                              <p:charRg st="154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2400" dirty="0"/>
              <a:t>DFA                         </a:t>
            </a:r>
            <a:r>
              <a:rPr lang="en-US" altLang="zh-CN" sz="2400" b="1" dirty="0">
                <a:latin typeface="Symbol" panose="05050102010706020507" pitchFamily="18" charset="2"/>
              </a:rPr>
              <a:t>å </a:t>
            </a:r>
            <a:r>
              <a:rPr lang="en-US" altLang="zh-CN" sz="2400" b="1" dirty="0"/>
              <a:t>= </a:t>
            </a:r>
            <a:r>
              <a:rPr lang="en-US" altLang="zh-CN" sz="2400" b="1" dirty="0">
                <a:latin typeface="Courier" pitchFamily="17" charset="0"/>
              </a:rPr>
              <a:t>{</a:t>
            </a:r>
            <a:r>
              <a:rPr lang="en-US" altLang="zh-CN" sz="2400" b="1" u="sng" dirty="0">
                <a:latin typeface="Courier" pitchFamily="17" charset="0"/>
              </a:rPr>
              <a:t>digit</a:t>
            </a:r>
            <a:r>
              <a:rPr lang="en-US" altLang="zh-CN" sz="2400" b="1" dirty="0">
                <a:latin typeface="Courier" pitchFamily="17" charset="0"/>
              </a:rPr>
              <a:t>,</a:t>
            </a:r>
            <a:r>
              <a:rPr lang="en-US" altLang="zh-CN" sz="2400" b="1" u="sng" dirty="0">
                <a:latin typeface="Courier" pitchFamily="17" charset="0"/>
              </a:rPr>
              <a:t>not digit</a:t>
            </a:r>
            <a:r>
              <a:rPr lang="en-US" altLang="zh-CN" sz="2400" b="1" dirty="0">
                <a:latin typeface="Courier" pitchFamily="17" charset="0"/>
              </a:rPr>
              <a:t>}</a:t>
            </a:r>
            <a:br>
              <a:rPr lang="en-US" altLang="zh-CN" sz="2400" b="1" dirty="0">
                <a:latin typeface="Courier" pitchFamily="17" charset="0"/>
              </a:rPr>
            </a:br>
            <a:endParaRPr lang="en-US" altLang="zh-CN" sz="2400" b="1" dirty="0">
              <a:latin typeface="Courier" pitchFamily="17" charset="0"/>
            </a:endParaRPr>
          </a:p>
        </p:txBody>
      </p:sp>
      <p:pic>
        <p:nvPicPr>
          <p:cNvPr id="41986" name="Picture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0600" y="1447800"/>
            <a:ext cx="7772400" cy="449580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不确定的有穷自动机</a:t>
            </a:r>
            <a:r>
              <a:rPr lang="en-US" altLang="zh-CN" sz="2800" dirty="0"/>
              <a:t>NFA</a:t>
            </a:r>
            <a:endParaRPr lang="en-US" altLang="zh-CN" sz="2800" dirty="0"/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定义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sz="2400" dirty="0"/>
              <a:t>NFA M</a:t>
            </a:r>
            <a:r>
              <a:rPr lang="en-US" altLang="zh-CN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K，，f，S，Z，</a:t>
            </a:r>
            <a:r>
              <a:rPr lang="zh-CN" altLang="en-US" dirty="0">
                <a:sym typeface="Symbol" panose="05050102010706020507" pitchFamily="18" charset="2"/>
              </a:rPr>
              <a:t>其中</a:t>
            </a:r>
            <a:r>
              <a:rPr lang="en-US" altLang="zh-CN" dirty="0">
                <a:sym typeface="Symbol" panose="05050102010706020507" pitchFamily="18" charset="2"/>
              </a:rPr>
              <a:t>K</a:t>
            </a:r>
            <a:r>
              <a:rPr lang="zh-CN" altLang="en-US" dirty="0">
                <a:sym typeface="Symbol" panose="05050102010706020507" pitchFamily="18" charset="2"/>
              </a:rPr>
              <a:t>为状态的有穷非空集， </a:t>
            </a:r>
            <a:r>
              <a:rPr lang="zh-CN" altLang="zh-CN" dirty="0">
                <a:sym typeface="Symbol" panose="05050102010706020507" pitchFamily="18" charset="2"/>
              </a:rPr>
              <a:t></a:t>
            </a:r>
            <a:r>
              <a:rPr lang="zh-CN" altLang="en-US" dirty="0">
                <a:sym typeface="Symbol" panose="05050102010706020507" pitchFamily="18" charset="2"/>
              </a:rPr>
              <a:t> 为有穷输入字母表，</a:t>
            </a:r>
            <a:r>
              <a:rPr lang="en-US" altLang="zh-CN" dirty="0">
                <a:sym typeface="Symbol" panose="05050102010706020507" pitchFamily="18" charset="2"/>
              </a:rPr>
              <a:t>f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K * </a:t>
            </a:r>
            <a:r>
              <a:rPr lang="zh-CN" altLang="en-US" dirty="0">
                <a:sym typeface="Symbol" panose="05050102010706020507" pitchFamily="18" charset="2"/>
              </a:rPr>
              <a:t>到</a:t>
            </a:r>
            <a:r>
              <a:rPr lang="en-US" altLang="zh-CN" dirty="0">
                <a:sym typeface="Symbol" panose="05050102010706020507" pitchFamily="18" charset="2"/>
              </a:rPr>
              <a:t>K</a:t>
            </a:r>
            <a:r>
              <a:rPr lang="zh-CN" altLang="en-US" dirty="0">
                <a:sym typeface="Symbol" panose="05050102010706020507" pitchFamily="18" charset="2"/>
              </a:rPr>
              <a:t>的子集（2 </a:t>
            </a:r>
            <a:r>
              <a:rPr lang="en-US" altLang="zh-CN" baseline="30000" dirty="0">
                <a:sym typeface="Symbol" panose="05050102010706020507" pitchFamily="18" charset="2"/>
              </a:rPr>
              <a:t>K</a:t>
            </a:r>
            <a:r>
              <a:rPr lang="en-US" altLang="zh-CN" dirty="0">
                <a:sym typeface="Symbol" panose="05050102010706020507" pitchFamily="18" charset="2"/>
              </a:rPr>
              <a:t>）</a:t>
            </a:r>
            <a:r>
              <a:rPr lang="zh-CN" altLang="en-US" dirty="0">
                <a:sym typeface="Symbol" panose="05050102010706020507" pitchFamily="18" charset="2"/>
              </a:rPr>
              <a:t>的一种映射，</a:t>
            </a:r>
            <a:r>
              <a:rPr lang="en-US" altLang="zh-CN" dirty="0">
                <a:sym typeface="Symbol" panose="05050102010706020507" pitchFamily="18" charset="2"/>
              </a:rPr>
              <a:t>SK</a:t>
            </a:r>
            <a:r>
              <a:rPr lang="zh-CN" altLang="en-US" dirty="0">
                <a:sym typeface="Symbol" panose="05050102010706020507" pitchFamily="18" charset="2"/>
              </a:rPr>
              <a:t>是初始状态集，</a:t>
            </a:r>
            <a:r>
              <a:rPr lang="en-US" altLang="zh-CN" dirty="0">
                <a:sym typeface="Symbol" panose="05050102010706020507" pitchFamily="18" charset="2"/>
              </a:rPr>
              <a:t>Z K</a:t>
            </a:r>
            <a:r>
              <a:rPr lang="zh-CN" altLang="en-US" dirty="0">
                <a:sym typeface="Symbol" panose="05050102010706020507" pitchFamily="18" charset="2"/>
              </a:rPr>
              <a:t>为终止状态集.</a:t>
            </a:r>
            <a:endParaRPr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3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2707">
                                            <p:txEl>
                                              <p:charRg st="3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707">
                                            <p:txEl>
                                              <p:charRg st="3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2"/>
          <p:cNvSpPr>
            <a:spLocks noGrp="1"/>
          </p:cNvSpPr>
          <p:nvPr>
            <p:ph type="title"/>
          </p:nvPr>
        </p:nvSpPr>
        <p:spPr>
          <a:xfrm>
            <a:off x="558800" y="228600"/>
            <a:ext cx="7620000" cy="381000"/>
          </a:xfrm>
        </p:spPr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44034" name="Rectangle 3"/>
          <p:cNvSpPr>
            <a:spLocks noGrp="1"/>
          </p:cNvSpPr>
          <p:nvPr>
            <p:ph idx="1"/>
          </p:nvPr>
        </p:nvSpPr>
        <p:spPr>
          <a:xfrm>
            <a:off x="323850" y="765175"/>
            <a:ext cx="8439150" cy="5178425"/>
          </a:xfrm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90000"/>
              </a:lnSpc>
              <a:buNone/>
            </a:pPr>
            <a:endParaRPr lang="zh-CN" altLang="en-US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>
                <a:sym typeface="Symbol" panose="05050102010706020507" pitchFamily="18" charset="2"/>
              </a:rPr>
              <a:t>例子 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NFA M=（{S，P，Z}，{0，1}，f，{S，P}，{Z}）</a:t>
            </a:r>
            <a:endParaRPr lang="en-US" altLang="zh-CN" sz="32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3200" dirty="0">
                <a:sym typeface="Symbol" panose="05050102010706020507" pitchFamily="18" charset="2"/>
              </a:rPr>
              <a:t>其中 </a:t>
            </a:r>
            <a:endParaRPr lang="zh-CN" altLang="en-US" sz="32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3200" dirty="0"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ym typeface="Symbol" panose="05050102010706020507" pitchFamily="18" charset="2"/>
              </a:rPr>
              <a:t>f（S，0）={P}</a:t>
            </a:r>
            <a:endParaRPr lang="en-US" altLang="zh-CN" sz="32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dirty="0"/>
              <a:t>f（S，1）={S，Z} </a:t>
            </a:r>
            <a:endParaRPr lang="en-US" altLang="zh-CN" sz="32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dirty="0"/>
              <a:t>f（P，1）={Z}</a:t>
            </a:r>
            <a:endParaRPr lang="en-US" altLang="zh-CN" sz="32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dirty="0"/>
              <a:t>f（Z，0）={P}</a:t>
            </a:r>
            <a:endParaRPr lang="en-US" altLang="zh-CN" sz="32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dirty="0"/>
              <a:t>f（Z，1）={P}</a:t>
            </a:r>
            <a:endParaRPr lang="en-US" altLang="zh-CN" sz="32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br>
              <a:rPr lang="zh-CN" altLang="en-US" dirty="0">
                <a:sym typeface="Symbol" panose="05050102010706020507" pitchFamily="18" charset="2"/>
              </a:rPr>
            </a:br>
            <a:endParaRPr lang="zh-CN" altLang="en-US" dirty="0"/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状态图表示</a:t>
            </a:r>
            <a:endParaRPr lang="zh-CN" altLang="en-US" dirty="0"/>
          </a:p>
          <a:p>
            <a:pPr lvl="1" eaLnBrk="1" hangingPunct="1"/>
            <a:endParaRPr lang="zh-CN" altLang="en-US" dirty="0"/>
          </a:p>
        </p:txBody>
      </p:sp>
      <p:grpSp>
        <p:nvGrpSpPr>
          <p:cNvPr id="2" name="Group 7"/>
          <p:cNvGrpSpPr/>
          <p:nvPr/>
        </p:nvGrpSpPr>
        <p:grpSpPr>
          <a:xfrm>
            <a:off x="1600200" y="3124200"/>
            <a:ext cx="4191000" cy="1905000"/>
            <a:chOff x="912" y="2784"/>
            <a:chExt cx="2640" cy="1200"/>
          </a:xfrm>
        </p:grpSpPr>
        <p:sp>
          <p:nvSpPr>
            <p:cNvPr id="45060" name="Oval 8"/>
            <p:cNvSpPr/>
            <p:nvPr/>
          </p:nvSpPr>
          <p:spPr>
            <a:xfrm>
              <a:off x="1200" y="297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S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45061" name="Oval 9"/>
            <p:cNvSpPr/>
            <p:nvPr/>
          </p:nvSpPr>
          <p:spPr>
            <a:xfrm>
              <a:off x="2160" y="36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P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45062" name="Oval 10"/>
            <p:cNvSpPr/>
            <p:nvPr/>
          </p:nvSpPr>
          <p:spPr>
            <a:xfrm>
              <a:off x="3216" y="312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Z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45063" name="AutoShape 11"/>
            <p:cNvCxnSpPr>
              <a:stCxn id="45060" idx="2"/>
              <a:endCxn id="45060" idx="0"/>
            </p:cNvCxnSpPr>
            <p:nvPr/>
          </p:nvCxnSpPr>
          <p:spPr>
            <a:xfrm rot="-10800000" flipH="1">
              <a:off x="1200" y="2976"/>
              <a:ext cx="168" cy="168"/>
            </a:xfrm>
            <a:prstGeom prst="curvedConnector4">
              <a:avLst>
                <a:gd name="adj1" fmla="val -85713"/>
                <a:gd name="adj2" fmla="val 185713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5064" name="AutoShape 12"/>
            <p:cNvCxnSpPr>
              <a:stCxn id="45060" idx="3"/>
              <a:endCxn id="45061" idx="2"/>
            </p:cNvCxnSpPr>
            <p:nvPr/>
          </p:nvCxnSpPr>
          <p:spPr>
            <a:xfrm rot="-5400000" flipH="1">
              <a:off x="1423" y="3079"/>
              <a:ext cx="553" cy="911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5065" name="Text Box 13"/>
            <p:cNvSpPr txBox="1"/>
            <p:nvPr/>
          </p:nvSpPr>
          <p:spPr>
            <a:xfrm>
              <a:off x="1392" y="360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0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45066" name="AutoShape 14"/>
            <p:cNvCxnSpPr>
              <a:stCxn id="45062" idx="2"/>
              <a:endCxn id="45061" idx="7"/>
            </p:cNvCxnSpPr>
            <p:nvPr/>
          </p:nvCxnSpPr>
          <p:spPr>
            <a:xfrm rot="-10800000" flipV="1">
              <a:off x="2447" y="3288"/>
              <a:ext cx="769" cy="409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5067" name="AutoShape 15"/>
            <p:cNvCxnSpPr>
              <a:stCxn id="45061" idx="6"/>
              <a:endCxn id="45062" idx="3"/>
            </p:cNvCxnSpPr>
            <p:nvPr/>
          </p:nvCxnSpPr>
          <p:spPr>
            <a:xfrm flipV="1">
              <a:off x="2496" y="3407"/>
              <a:ext cx="769" cy="409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5068" name="Text Box 16"/>
            <p:cNvSpPr txBox="1"/>
            <p:nvPr/>
          </p:nvSpPr>
          <p:spPr>
            <a:xfrm>
              <a:off x="2352" y="3168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0,1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45069" name="Text Box 17"/>
            <p:cNvSpPr txBox="1"/>
            <p:nvPr/>
          </p:nvSpPr>
          <p:spPr>
            <a:xfrm>
              <a:off x="912" y="297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1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45070" name="Text Box 18"/>
            <p:cNvSpPr txBox="1"/>
            <p:nvPr/>
          </p:nvSpPr>
          <p:spPr>
            <a:xfrm>
              <a:off x="2880" y="364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1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45071" name="AutoShape 19"/>
            <p:cNvCxnSpPr>
              <a:stCxn id="45060" idx="7"/>
              <a:endCxn id="45062" idx="1"/>
            </p:cNvCxnSpPr>
            <p:nvPr/>
          </p:nvCxnSpPr>
          <p:spPr>
            <a:xfrm rot="5400000" flipV="1">
              <a:off x="2304" y="2208"/>
              <a:ext cx="144" cy="1778"/>
            </a:xfrm>
            <a:prstGeom prst="curvedConnector3">
              <a:avLst>
                <a:gd name="adj1" fmla="val -134028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5072" name="Text Box 20"/>
            <p:cNvSpPr txBox="1"/>
            <p:nvPr/>
          </p:nvSpPr>
          <p:spPr>
            <a:xfrm>
              <a:off x="2016" y="278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1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073" name="Oval 21"/>
          <p:cNvSpPr/>
          <p:nvPr/>
        </p:nvSpPr>
        <p:spPr>
          <a:xfrm>
            <a:off x="5334000" y="3733800"/>
            <a:ext cx="381000" cy="3810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45074" name="AutoShape 22"/>
          <p:cNvSpPr/>
          <p:nvPr/>
        </p:nvSpPr>
        <p:spPr>
          <a:xfrm>
            <a:off x="1295400" y="3733800"/>
            <a:ext cx="609600" cy="257175"/>
          </a:xfrm>
          <a:prstGeom prst="rightArrow">
            <a:avLst>
              <a:gd name="adj1" fmla="val 50000"/>
              <a:gd name="adj2" fmla="val 5920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45075" name="AutoShape 23"/>
          <p:cNvSpPr/>
          <p:nvPr/>
        </p:nvSpPr>
        <p:spPr>
          <a:xfrm>
            <a:off x="2971800" y="4876800"/>
            <a:ext cx="609600" cy="257175"/>
          </a:xfrm>
          <a:prstGeom prst="rightArrow">
            <a:avLst>
              <a:gd name="adj1" fmla="val 50000"/>
              <a:gd name="adj2" fmla="val 5920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矩阵表示</a:t>
            </a:r>
            <a:endParaRPr lang="zh-CN" altLang="en-US" dirty="0"/>
          </a:p>
        </p:txBody>
      </p:sp>
      <p:sp>
        <p:nvSpPr>
          <p:cNvPr id="4608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矩阵表示</a:t>
            </a:r>
            <a:endParaRPr lang="zh-CN" altLang="en-US" dirty="0"/>
          </a:p>
          <a:p>
            <a:pPr lvl="1" eaLnBrk="1" hangingPunct="1"/>
            <a:endParaRPr lang="zh-CN" altLang="en-US" dirty="0"/>
          </a:p>
        </p:txBody>
      </p:sp>
      <p:graphicFrame>
        <p:nvGraphicFramePr>
          <p:cNvPr id="74756" name="Object 4"/>
          <p:cNvGraphicFramePr/>
          <p:nvPr/>
        </p:nvGraphicFramePr>
        <p:xfrm>
          <a:off x="1524000" y="2438400"/>
          <a:ext cx="4648200" cy="138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697480" imgH="807720" progId="Excel.Sheet.8">
                  <p:embed/>
                </p:oleObj>
              </mc:Choice>
              <mc:Fallback>
                <p:oleObj name="" r:id="rId1" imgW="2697480" imgH="807720" progId="Excel.Shee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0" y="2438400"/>
                        <a:ext cx="4648200" cy="1382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>
          <a:xfrm>
            <a:off x="6400800" y="2895600"/>
            <a:ext cx="1524000" cy="609600"/>
            <a:chOff x="2016" y="3360"/>
            <a:chExt cx="960" cy="384"/>
          </a:xfrm>
        </p:grpSpPr>
        <p:sp>
          <p:nvSpPr>
            <p:cNvPr id="46085" name="Text Box 6"/>
            <p:cNvSpPr txBox="1"/>
            <p:nvPr/>
          </p:nvSpPr>
          <p:spPr>
            <a:xfrm>
              <a:off x="2054" y="3360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简化为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46086" name="AutoShape 7"/>
            <p:cNvSpPr/>
            <p:nvPr/>
          </p:nvSpPr>
          <p:spPr>
            <a:xfrm>
              <a:off x="2016" y="3600"/>
              <a:ext cx="960" cy="144"/>
            </a:xfrm>
            <a:prstGeom prst="rightArrow">
              <a:avLst>
                <a:gd name="adj1" fmla="val 50000"/>
                <a:gd name="adj2" fmla="val 166512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74760" name="Object 8"/>
          <p:cNvGraphicFramePr/>
          <p:nvPr/>
        </p:nvGraphicFramePr>
        <p:xfrm>
          <a:off x="3048000" y="4572000"/>
          <a:ext cx="4648200" cy="138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2697480" imgH="807720" progId="Excel.Sheet.8">
                  <p:embed/>
                </p:oleObj>
              </mc:Choice>
              <mc:Fallback>
                <p:oleObj name="" r:id="rId3" imgW="2697480" imgH="807720" progId="Excel.Shee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0" y="4572000"/>
                        <a:ext cx="4648200" cy="1382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具有</a:t>
            </a:r>
            <a:r>
              <a:rPr lang="zh-CN" altLang="en-US" sz="3200" dirty="0">
                <a:sym typeface="Symbol" panose="05050102010706020507" pitchFamily="18" charset="2"/>
              </a:rPr>
              <a:t></a:t>
            </a:r>
            <a:r>
              <a:rPr lang="zh-CN" altLang="en-US" sz="3200" dirty="0"/>
              <a:t>转移的不确定的有穷自动机</a:t>
            </a:r>
            <a:endParaRPr lang="zh-CN" altLang="en-US" sz="3200" dirty="0">
              <a:sym typeface="Symbol" panose="05050102010706020507" pitchFamily="18" charset="2"/>
            </a:endParaRPr>
          </a:p>
        </p:txBody>
      </p:sp>
      <p:sp>
        <p:nvSpPr>
          <p:cNvPr id="185347" name="Rectangle 3"/>
          <p:cNvSpPr>
            <a:spLocks noGrp="1"/>
          </p:cNvSpPr>
          <p:nvPr>
            <p:ph idx="1"/>
          </p:nvPr>
        </p:nvSpPr>
        <p:spPr>
          <a:xfrm>
            <a:off x="900113" y="1916113"/>
            <a:ext cx="7772400" cy="45720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endParaRPr lang="zh-CN" altLang="en-US" dirty="0"/>
          </a:p>
          <a:p>
            <a:pPr eaLnBrk="1" hangingPunct="1">
              <a:buNone/>
            </a:pPr>
            <a:r>
              <a:rPr lang="en-US" altLang="zh-CN" dirty="0">
                <a:sym typeface="Symbol" panose="05050102010706020507" pitchFamily="18" charset="2"/>
              </a:rPr>
              <a:t>f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K * </a:t>
            </a:r>
            <a:r>
              <a:rPr lang="zh-CN" altLang="en-US" dirty="0">
                <a:sym typeface="Symbol" panose="05050102010706020507" pitchFamily="18" charset="2"/>
              </a:rPr>
              <a:t>到</a:t>
            </a:r>
            <a:r>
              <a:rPr lang="en-US" altLang="zh-CN" dirty="0">
                <a:sym typeface="Symbol" panose="05050102010706020507" pitchFamily="18" charset="2"/>
              </a:rPr>
              <a:t>K</a:t>
            </a:r>
            <a:r>
              <a:rPr lang="zh-CN" altLang="en-US" dirty="0">
                <a:sym typeface="Symbol" panose="05050102010706020507" pitchFamily="18" charset="2"/>
              </a:rPr>
              <a:t>的子集（2 </a:t>
            </a:r>
            <a:r>
              <a:rPr lang="en-US" altLang="zh-CN" baseline="30000" dirty="0">
                <a:sym typeface="Symbol" panose="05050102010706020507" pitchFamily="18" charset="2"/>
              </a:rPr>
              <a:t>K</a:t>
            </a:r>
            <a:r>
              <a:rPr lang="en-US" altLang="zh-CN" dirty="0">
                <a:sym typeface="Symbol" panose="05050102010706020507" pitchFamily="18" charset="2"/>
              </a:rPr>
              <a:t>）</a:t>
            </a:r>
            <a:r>
              <a:rPr lang="zh-CN" altLang="en-US" dirty="0">
                <a:sym typeface="Symbol" panose="05050102010706020507" pitchFamily="18" charset="2"/>
              </a:rPr>
              <a:t>的一种映射</a:t>
            </a:r>
            <a:endParaRPr lang="zh-CN" altLang="en-US" dirty="0"/>
          </a:p>
          <a:p>
            <a:pPr eaLnBrk="1" hangingPunct="1">
              <a:buNone/>
            </a:pPr>
            <a:endParaRPr lang="zh-CN" altLang="en-US" dirty="0"/>
          </a:p>
          <a:p>
            <a:pPr lvl="1" eaLnBrk="1" hangingPunct="1"/>
            <a:r>
              <a:rPr lang="zh-CN" altLang="en-US" dirty="0"/>
              <a:t> </a:t>
            </a:r>
            <a:endParaRPr lang="zh-CN" altLang="zh-CN" dirty="0"/>
          </a:p>
        </p:txBody>
      </p:sp>
      <p:sp>
        <p:nvSpPr>
          <p:cNvPr id="49155" name="Oval 7"/>
          <p:cNvSpPr/>
          <p:nvPr/>
        </p:nvSpPr>
        <p:spPr>
          <a:xfrm>
            <a:off x="3200400" y="5257800"/>
            <a:ext cx="498475" cy="3635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u="none" dirty="0">
                <a:latin typeface="Times New Roman" panose="02020603050405020304" pitchFamily="18" charset="0"/>
              </a:rPr>
              <a:t>1</a:t>
            </a:r>
            <a:endParaRPr lang="zh-CN" altLang="en-US" sz="2400" u="none" dirty="0">
              <a:latin typeface="Times New Roman" panose="02020603050405020304" pitchFamily="18" charset="0"/>
            </a:endParaRPr>
          </a:p>
        </p:txBody>
      </p:sp>
      <p:sp>
        <p:nvSpPr>
          <p:cNvPr id="49156" name="Oval 8"/>
          <p:cNvSpPr/>
          <p:nvPr/>
        </p:nvSpPr>
        <p:spPr>
          <a:xfrm>
            <a:off x="4343400" y="5257800"/>
            <a:ext cx="496888" cy="3635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u="none" dirty="0">
                <a:latin typeface="Times New Roman" panose="02020603050405020304" pitchFamily="18" charset="0"/>
              </a:rPr>
              <a:t>2</a:t>
            </a:r>
            <a:endParaRPr lang="zh-CN" altLang="en-US" sz="2400" u="none" dirty="0">
              <a:latin typeface="Times New Roman" panose="02020603050405020304" pitchFamily="18" charset="0"/>
            </a:endParaRPr>
          </a:p>
        </p:txBody>
      </p:sp>
      <p:cxnSp>
        <p:nvCxnSpPr>
          <p:cNvPr id="49157" name="AutoShape 9"/>
          <p:cNvCxnSpPr>
            <a:stCxn id="49155" idx="6"/>
            <a:endCxn id="49156" idx="2"/>
          </p:cNvCxnSpPr>
          <p:nvPr/>
        </p:nvCxnSpPr>
        <p:spPr>
          <a:xfrm>
            <a:off x="3698875" y="5440363"/>
            <a:ext cx="644525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158" name="Text Box 10"/>
          <p:cNvSpPr txBox="1"/>
          <p:nvPr/>
        </p:nvSpPr>
        <p:spPr>
          <a:xfrm>
            <a:off x="3886200" y="5029200"/>
            <a:ext cx="317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u="none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zh-CN" altLang="en-US" sz="2400" u="none" dirty="0">
              <a:latin typeface="Times New Roman" panose="02020603050405020304" pitchFamily="18" charset="0"/>
            </a:endParaRPr>
          </a:p>
        </p:txBody>
      </p:sp>
      <p:sp>
        <p:nvSpPr>
          <p:cNvPr id="49159" name="Text Box 11"/>
          <p:cNvSpPr txBox="1"/>
          <p:nvPr/>
        </p:nvSpPr>
        <p:spPr>
          <a:xfrm>
            <a:off x="5105400" y="5105400"/>
            <a:ext cx="317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u="none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zh-CN" altLang="en-US" sz="2400" u="none" dirty="0">
              <a:latin typeface="Times New Roman" panose="02020603050405020304" pitchFamily="18" charset="0"/>
            </a:endParaRPr>
          </a:p>
        </p:txBody>
      </p:sp>
      <p:grpSp>
        <p:nvGrpSpPr>
          <p:cNvPr id="49160" name="Group 12"/>
          <p:cNvGrpSpPr/>
          <p:nvPr/>
        </p:nvGrpSpPr>
        <p:grpSpPr>
          <a:xfrm>
            <a:off x="5562600" y="5181600"/>
            <a:ext cx="498475" cy="457200"/>
            <a:chOff x="4032" y="2352"/>
            <a:chExt cx="384" cy="482"/>
          </a:xfrm>
        </p:grpSpPr>
        <p:grpSp>
          <p:nvGrpSpPr>
            <p:cNvPr id="49161" name="Group 13"/>
            <p:cNvGrpSpPr/>
            <p:nvPr/>
          </p:nvGrpSpPr>
          <p:grpSpPr>
            <a:xfrm>
              <a:off x="4032" y="2400"/>
              <a:ext cx="384" cy="384"/>
              <a:chOff x="2928" y="1440"/>
              <a:chExt cx="384" cy="384"/>
            </a:xfrm>
          </p:grpSpPr>
          <p:sp>
            <p:nvSpPr>
              <p:cNvPr id="49162" name="Oval 14"/>
              <p:cNvSpPr/>
              <p:nvPr/>
            </p:nvSpPr>
            <p:spPr>
              <a:xfrm>
                <a:off x="2928" y="1440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9163" name="Oval 15"/>
              <p:cNvSpPr/>
              <p:nvPr/>
            </p:nvSpPr>
            <p:spPr>
              <a:xfrm>
                <a:off x="2976" y="1488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9164" name="Text Box 16"/>
            <p:cNvSpPr txBox="1"/>
            <p:nvPr/>
          </p:nvSpPr>
          <p:spPr>
            <a:xfrm>
              <a:off x="4105" y="2352"/>
              <a:ext cx="260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3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9165" name="AutoShape 17"/>
          <p:cNvSpPr/>
          <p:nvPr/>
        </p:nvSpPr>
        <p:spPr>
          <a:xfrm>
            <a:off x="2743200" y="5257800"/>
            <a:ext cx="381000" cy="3810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49166" name="Freeform 18"/>
          <p:cNvSpPr/>
          <p:nvPr/>
        </p:nvSpPr>
        <p:spPr>
          <a:xfrm>
            <a:off x="3276600" y="5105400"/>
            <a:ext cx="414338" cy="2111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61" h="133">
                <a:moveTo>
                  <a:pt x="0" y="133"/>
                </a:moveTo>
                <a:cubicBezTo>
                  <a:pt x="14" y="48"/>
                  <a:pt x="4" y="27"/>
                  <a:pt x="89" y="0"/>
                </a:cubicBezTo>
                <a:cubicBezTo>
                  <a:pt x="122" y="4"/>
                  <a:pt x="156" y="3"/>
                  <a:pt x="189" y="11"/>
                </a:cubicBezTo>
                <a:cubicBezTo>
                  <a:pt x="246" y="25"/>
                  <a:pt x="261" y="83"/>
                  <a:pt x="222" y="1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9167" name="Freeform 19"/>
          <p:cNvSpPr/>
          <p:nvPr/>
        </p:nvSpPr>
        <p:spPr>
          <a:xfrm>
            <a:off x="4419600" y="5105400"/>
            <a:ext cx="414338" cy="2111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61" h="133">
                <a:moveTo>
                  <a:pt x="0" y="133"/>
                </a:moveTo>
                <a:cubicBezTo>
                  <a:pt x="14" y="48"/>
                  <a:pt x="4" y="27"/>
                  <a:pt x="89" y="0"/>
                </a:cubicBezTo>
                <a:cubicBezTo>
                  <a:pt x="122" y="4"/>
                  <a:pt x="156" y="3"/>
                  <a:pt x="189" y="11"/>
                </a:cubicBezTo>
                <a:cubicBezTo>
                  <a:pt x="246" y="25"/>
                  <a:pt x="261" y="83"/>
                  <a:pt x="222" y="1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9168" name="Freeform 20"/>
          <p:cNvSpPr/>
          <p:nvPr/>
        </p:nvSpPr>
        <p:spPr>
          <a:xfrm>
            <a:off x="5562600" y="5105400"/>
            <a:ext cx="414338" cy="2111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61" h="133">
                <a:moveTo>
                  <a:pt x="0" y="133"/>
                </a:moveTo>
                <a:cubicBezTo>
                  <a:pt x="14" y="48"/>
                  <a:pt x="4" y="27"/>
                  <a:pt x="89" y="0"/>
                </a:cubicBezTo>
                <a:cubicBezTo>
                  <a:pt x="122" y="4"/>
                  <a:pt x="156" y="3"/>
                  <a:pt x="189" y="11"/>
                </a:cubicBezTo>
                <a:cubicBezTo>
                  <a:pt x="246" y="25"/>
                  <a:pt x="261" y="83"/>
                  <a:pt x="222" y="1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9169" name="Line 21"/>
          <p:cNvSpPr/>
          <p:nvPr/>
        </p:nvSpPr>
        <p:spPr>
          <a:xfrm>
            <a:off x="4876800" y="54102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cxnSp>
        <p:nvCxnSpPr>
          <p:cNvPr id="49170" name="AutoShape 22"/>
          <p:cNvCxnSpPr>
            <a:stCxn id="49155" idx="6"/>
            <a:endCxn id="49156" idx="2"/>
          </p:cNvCxnSpPr>
          <p:nvPr/>
        </p:nvCxnSpPr>
        <p:spPr>
          <a:xfrm>
            <a:off x="4800600" y="5410200"/>
            <a:ext cx="85725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171" name="Text Box 23"/>
          <p:cNvSpPr txBox="1"/>
          <p:nvPr/>
        </p:nvSpPr>
        <p:spPr>
          <a:xfrm>
            <a:off x="3276600" y="48006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a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49172" name="Text Box 24"/>
          <p:cNvSpPr txBox="1"/>
          <p:nvPr/>
        </p:nvSpPr>
        <p:spPr>
          <a:xfrm>
            <a:off x="4410075" y="4724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b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49173" name="Text Box 25"/>
          <p:cNvSpPr txBox="1"/>
          <p:nvPr/>
        </p:nvSpPr>
        <p:spPr>
          <a:xfrm>
            <a:off x="5562600" y="47244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c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charRg st="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347">
                                            <p:txEl>
                                              <p:charRg st="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347">
                                            <p:txEl>
                                              <p:charRg st="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charRg st="26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5347">
                                            <p:txEl>
                                              <p:charRg st="26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5347">
                                            <p:txEl>
                                              <p:charRg st="26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有如下定理:</a:t>
            </a:r>
            <a:endParaRPr lang="zh-CN" altLang="en-US" dirty="0"/>
          </a:p>
        </p:txBody>
      </p:sp>
      <p:sp>
        <p:nvSpPr>
          <p:cNvPr id="50178" name="Rectangle 3"/>
          <p:cNvSpPr>
            <a:spLocks noGrp="1"/>
          </p:cNvSpPr>
          <p:nvPr>
            <p:ph idx="1"/>
          </p:nvPr>
        </p:nvSpPr>
        <p:spPr>
          <a:xfrm>
            <a:off x="914400" y="1447800"/>
            <a:ext cx="8001000" cy="5105400"/>
          </a:xfrm>
        </p:spPr>
        <p:txBody>
          <a:bodyPr vert="horz" wrap="square" lIns="91440" tIns="45720" rIns="91440" bIns="45720" anchor="t" anchorCtr="0"/>
          <a:p>
            <a:pPr lvl="1" algn="ctr" eaLnBrk="1" hangingPunct="1">
              <a:buNone/>
            </a:pPr>
            <a:r>
              <a:rPr lang="zh-CN" altLang="en-US" dirty="0"/>
              <a:t> 对任何一个具有</a:t>
            </a:r>
            <a:r>
              <a:rPr lang="zh-CN" altLang="en-US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转移的不确定的有穷自动机</a:t>
            </a:r>
            <a:r>
              <a:rPr lang="en-US" altLang="zh-CN" dirty="0"/>
              <a:t>NFA 　N，</a:t>
            </a:r>
            <a:r>
              <a:rPr lang="zh-CN" altLang="en-US" dirty="0"/>
              <a:t>一定存在一个不具有</a:t>
            </a:r>
            <a:r>
              <a:rPr lang="zh-CN" altLang="en-US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转移的不确定的有穷自动机</a:t>
            </a:r>
            <a:r>
              <a:rPr lang="en-US" altLang="zh-CN" dirty="0"/>
              <a:t>NFA　</a:t>
            </a:r>
            <a:r>
              <a:rPr lang="zh-CN" altLang="en-US" dirty="0"/>
              <a:t>Ｍ ，使得</a:t>
            </a:r>
            <a:r>
              <a:rPr lang="en-US" altLang="zh-CN" dirty="0"/>
              <a:t>L(M)=L(N)。</a:t>
            </a:r>
            <a:endParaRPr lang="zh-CN" altLang="zh-CN" dirty="0"/>
          </a:p>
          <a:p>
            <a:pPr algn="ctr" eaLnBrk="1" hangingPunct="1">
              <a:buNone/>
            </a:pPr>
            <a:r>
              <a:rPr lang="zh-CN" altLang="zh-CN" sz="2400" dirty="0"/>
              <a:t>与上例等价的一个</a:t>
            </a:r>
            <a:r>
              <a:rPr lang="zh-CN" altLang="en-US" sz="2400" dirty="0"/>
              <a:t>N</a:t>
            </a:r>
            <a:r>
              <a:rPr lang="en-US" altLang="zh-CN" sz="2400" dirty="0"/>
              <a:t>FA</a:t>
            </a:r>
            <a:r>
              <a:rPr lang="en-US" altLang="zh-CN" dirty="0"/>
              <a:t>.</a:t>
            </a:r>
            <a:endParaRPr lang="zh-CN" altLang="zh-CN" dirty="0"/>
          </a:p>
          <a:p>
            <a:pPr eaLnBrk="1" hangingPunct="1">
              <a:buNone/>
            </a:pPr>
            <a:endParaRPr lang="zh-CN" altLang="en-US" dirty="0"/>
          </a:p>
        </p:txBody>
      </p:sp>
      <p:sp>
        <p:nvSpPr>
          <p:cNvPr id="50179" name="Oval 4"/>
          <p:cNvSpPr/>
          <p:nvPr/>
        </p:nvSpPr>
        <p:spPr>
          <a:xfrm>
            <a:off x="3276600" y="4114800"/>
            <a:ext cx="682625" cy="5921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zh-CN" sz="2400" u="none" dirty="0">
                <a:latin typeface="Times New Roman" panose="02020603050405020304" pitchFamily="18" charset="0"/>
              </a:rPr>
              <a:t>2</a:t>
            </a:r>
            <a:endParaRPr lang="zh-CN" altLang="zh-CN" sz="2400" u="none" dirty="0">
              <a:latin typeface="Times New Roman" panose="02020603050405020304" pitchFamily="18" charset="0"/>
            </a:endParaRPr>
          </a:p>
        </p:txBody>
      </p:sp>
      <p:cxnSp>
        <p:nvCxnSpPr>
          <p:cNvPr id="50180" name="AutoShape 5"/>
          <p:cNvCxnSpPr/>
          <p:nvPr/>
        </p:nvCxnSpPr>
        <p:spPr>
          <a:xfrm rot="-5400000">
            <a:off x="2286000" y="4121150"/>
            <a:ext cx="625475" cy="1252538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181" name="AutoShape 6"/>
          <p:cNvCxnSpPr>
            <a:endCxn id="50179" idx="3"/>
          </p:cNvCxnSpPr>
          <p:nvPr/>
        </p:nvCxnSpPr>
        <p:spPr>
          <a:xfrm flipV="1">
            <a:off x="2249488" y="4619625"/>
            <a:ext cx="1127125" cy="400050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182" name="Text Box 7"/>
          <p:cNvSpPr txBox="1"/>
          <p:nvPr/>
        </p:nvSpPr>
        <p:spPr>
          <a:xfrm>
            <a:off x="2154238" y="4213225"/>
            <a:ext cx="31908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a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50183" name="Text Box 8"/>
          <p:cNvSpPr txBox="1"/>
          <p:nvPr/>
        </p:nvSpPr>
        <p:spPr>
          <a:xfrm>
            <a:off x="3657600" y="4953000"/>
            <a:ext cx="319088" cy="4556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c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50184" name="Text Box 9"/>
          <p:cNvSpPr txBox="1"/>
          <p:nvPr/>
        </p:nvSpPr>
        <p:spPr>
          <a:xfrm>
            <a:off x="2397125" y="5940425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b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50185" name="Text Box 10"/>
          <p:cNvSpPr txBox="1"/>
          <p:nvPr/>
        </p:nvSpPr>
        <p:spPr>
          <a:xfrm>
            <a:off x="3200400" y="5029200"/>
            <a:ext cx="336550" cy="4556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b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cxnSp>
        <p:nvCxnSpPr>
          <p:cNvPr id="50186" name="AutoShape 11"/>
          <p:cNvCxnSpPr>
            <a:endCxn id="50179" idx="3"/>
          </p:cNvCxnSpPr>
          <p:nvPr/>
        </p:nvCxnSpPr>
        <p:spPr>
          <a:xfrm rot="-10800000" flipH="1">
            <a:off x="1752600" y="5049838"/>
            <a:ext cx="93663" cy="193675"/>
          </a:xfrm>
          <a:prstGeom prst="curvedConnector4">
            <a:avLst>
              <a:gd name="adj1" fmla="val -244069"/>
              <a:gd name="adj2" fmla="val 259838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187" name="AutoShape 12"/>
          <p:cNvCxnSpPr>
            <a:endCxn id="50179" idx="3"/>
          </p:cNvCxnSpPr>
          <p:nvPr/>
        </p:nvCxnSpPr>
        <p:spPr>
          <a:xfrm rot="-5400000" flipH="1">
            <a:off x="3592513" y="5776913"/>
            <a:ext cx="3175" cy="485775"/>
          </a:xfrm>
          <a:prstGeom prst="curvedConnector3">
            <a:avLst>
              <a:gd name="adj1" fmla="val 20700009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188" name="AutoShape 13"/>
          <p:cNvCxnSpPr>
            <a:stCxn id="50179" idx="1"/>
            <a:endCxn id="50179" idx="7"/>
          </p:cNvCxnSpPr>
          <p:nvPr/>
        </p:nvCxnSpPr>
        <p:spPr>
          <a:xfrm rot="5400000" flipV="1">
            <a:off x="3616325" y="3960813"/>
            <a:ext cx="1588" cy="482600"/>
          </a:xfrm>
          <a:prstGeom prst="curvedConnector3">
            <a:avLst>
              <a:gd name="adj1" fmla="val -19900009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189" name="AutoShape 14"/>
          <p:cNvCxnSpPr>
            <a:stCxn id="50201" idx="2"/>
            <a:endCxn id="50179" idx="7"/>
          </p:cNvCxnSpPr>
          <p:nvPr/>
        </p:nvCxnSpPr>
        <p:spPr>
          <a:xfrm rot="-5400000" flipH="1">
            <a:off x="2427288" y="5133975"/>
            <a:ext cx="685800" cy="1238250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190" name="AutoShape 15"/>
          <p:cNvCxnSpPr>
            <a:stCxn id="50201" idx="2"/>
            <a:endCxn id="50179" idx="7"/>
          </p:cNvCxnSpPr>
          <p:nvPr/>
        </p:nvCxnSpPr>
        <p:spPr>
          <a:xfrm rot="-5400000" flipH="1">
            <a:off x="2566988" y="4992688"/>
            <a:ext cx="385762" cy="1219200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191" name="AutoShape 16"/>
          <p:cNvCxnSpPr>
            <a:stCxn id="50201" idx="2"/>
            <a:endCxn id="50179" idx="7"/>
          </p:cNvCxnSpPr>
          <p:nvPr/>
        </p:nvCxnSpPr>
        <p:spPr>
          <a:xfrm rot="-5400000" flipH="1">
            <a:off x="2428875" y="5132388"/>
            <a:ext cx="554038" cy="1109662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0192" name="Group 17"/>
          <p:cNvGrpSpPr/>
          <p:nvPr/>
        </p:nvGrpSpPr>
        <p:grpSpPr>
          <a:xfrm>
            <a:off x="3352800" y="5715000"/>
            <a:ext cx="498475" cy="457200"/>
            <a:chOff x="4032" y="2352"/>
            <a:chExt cx="384" cy="482"/>
          </a:xfrm>
        </p:grpSpPr>
        <p:grpSp>
          <p:nvGrpSpPr>
            <p:cNvPr id="50193" name="Group 18"/>
            <p:cNvGrpSpPr/>
            <p:nvPr/>
          </p:nvGrpSpPr>
          <p:grpSpPr>
            <a:xfrm>
              <a:off x="4032" y="2400"/>
              <a:ext cx="384" cy="384"/>
              <a:chOff x="2928" y="1440"/>
              <a:chExt cx="384" cy="384"/>
            </a:xfrm>
          </p:grpSpPr>
          <p:sp>
            <p:nvSpPr>
              <p:cNvPr id="50194" name="Oval 19"/>
              <p:cNvSpPr/>
              <p:nvPr/>
            </p:nvSpPr>
            <p:spPr>
              <a:xfrm>
                <a:off x="2928" y="1440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0195" name="Oval 20"/>
              <p:cNvSpPr/>
              <p:nvPr/>
            </p:nvSpPr>
            <p:spPr>
              <a:xfrm>
                <a:off x="2976" y="1488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50196" name="Text Box 21"/>
            <p:cNvSpPr txBox="1"/>
            <p:nvPr/>
          </p:nvSpPr>
          <p:spPr>
            <a:xfrm>
              <a:off x="4105" y="2352"/>
              <a:ext cx="260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3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197" name="Group 22"/>
          <p:cNvGrpSpPr/>
          <p:nvPr/>
        </p:nvGrpSpPr>
        <p:grpSpPr>
          <a:xfrm>
            <a:off x="1828800" y="4953000"/>
            <a:ext cx="609600" cy="457200"/>
            <a:chOff x="4032" y="2352"/>
            <a:chExt cx="384" cy="482"/>
          </a:xfrm>
        </p:grpSpPr>
        <p:grpSp>
          <p:nvGrpSpPr>
            <p:cNvPr id="50198" name="Group 23"/>
            <p:cNvGrpSpPr/>
            <p:nvPr/>
          </p:nvGrpSpPr>
          <p:grpSpPr>
            <a:xfrm>
              <a:off x="4032" y="2400"/>
              <a:ext cx="384" cy="384"/>
              <a:chOff x="2928" y="1440"/>
              <a:chExt cx="384" cy="384"/>
            </a:xfrm>
          </p:grpSpPr>
          <p:sp>
            <p:nvSpPr>
              <p:cNvPr id="50199" name="Oval 24"/>
              <p:cNvSpPr/>
              <p:nvPr/>
            </p:nvSpPr>
            <p:spPr>
              <a:xfrm>
                <a:off x="2928" y="1440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0200" name="Oval 25"/>
              <p:cNvSpPr/>
              <p:nvPr/>
            </p:nvSpPr>
            <p:spPr>
              <a:xfrm>
                <a:off x="2976" y="1488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50201" name="Text Box 26"/>
            <p:cNvSpPr txBox="1"/>
            <p:nvPr/>
          </p:nvSpPr>
          <p:spPr>
            <a:xfrm>
              <a:off x="4129" y="2352"/>
              <a:ext cx="212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1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0202" name="Text Box 27"/>
          <p:cNvSpPr txBox="1"/>
          <p:nvPr/>
        </p:nvSpPr>
        <p:spPr>
          <a:xfrm>
            <a:off x="2590800" y="55626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a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50203" name="Text Box 28"/>
          <p:cNvSpPr txBox="1"/>
          <p:nvPr/>
        </p:nvSpPr>
        <p:spPr>
          <a:xfrm>
            <a:off x="2590800" y="53340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c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50204" name="Text Box 29"/>
          <p:cNvSpPr txBox="1"/>
          <p:nvPr/>
        </p:nvSpPr>
        <p:spPr>
          <a:xfrm>
            <a:off x="1219200" y="45720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a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50205" name="Text Box 30"/>
          <p:cNvSpPr txBox="1"/>
          <p:nvPr/>
        </p:nvSpPr>
        <p:spPr>
          <a:xfrm>
            <a:off x="3352800" y="61722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c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50206" name="Text Box 31"/>
          <p:cNvSpPr txBox="1"/>
          <p:nvPr/>
        </p:nvSpPr>
        <p:spPr>
          <a:xfrm>
            <a:off x="2667000" y="4495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b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50207" name="Text Box 32"/>
          <p:cNvSpPr txBox="1"/>
          <p:nvPr/>
        </p:nvSpPr>
        <p:spPr>
          <a:xfrm>
            <a:off x="3419475" y="3581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b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50208" name="AutoShape 33"/>
          <p:cNvSpPr/>
          <p:nvPr/>
        </p:nvSpPr>
        <p:spPr>
          <a:xfrm>
            <a:off x="1219200" y="5029200"/>
            <a:ext cx="381000" cy="3810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50209" name="Line 34"/>
          <p:cNvSpPr/>
          <p:nvPr/>
        </p:nvSpPr>
        <p:spPr>
          <a:xfrm>
            <a:off x="3505200" y="4724400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0210" name="Line 35"/>
          <p:cNvSpPr/>
          <p:nvPr/>
        </p:nvSpPr>
        <p:spPr>
          <a:xfrm>
            <a:off x="3733800" y="4648200"/>
            <a:ext cx="0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0211" name="Oval 36"/>
          <p:cNvSpPr/>
          <p:nvPr/>
        </p:nvSpPr>
        <p:spPr>
          <a:xfrm>
            <a:off x="5229225" y="5229225"/>
            <a:ext cx="498475" cy="3635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u="none" dirty="0">
                <a:latin typeface="Times New Roman" panose="02020603050405020304" pitchFamily="18" charset="0"/>
              </a:rPr>
              <a:t>1</a:t>
            </a:r>
            <a:endParaRPr lang="zh-CN" altLang="en-US" sz="2400" u="none" dirty="0">
              <a:latin typeface="Times New Roman" panose="02020603050405020304" pitchFamily="18" charset="0"/>
            </a:endParaRPr>
          </a:p>
        </p:txBody>
      </p:sp>
      <p:sp>
        <p:nvSpPr>
          <p:cNvPr id="50212" name="Oval 37"/>
          <p:cNvSpPr/>
          <p:nvPr/>
        </p:nvSpPr>
        <p:spPr>
          <a:xfrm>
            <a:off x="6372225" y="5229225"/>
            <a:ext cx="496888" cy="3635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u="none" dirty="0">
                <a:latin typeface="Times New Roman" panose="02020603050405020304" pitchFamily="18" charset="0"/>
              </a:rPr>
              <a:t>2</a:t>
            </a:r>
            <a:endParaRPr lang="zh-CN" altLang="en-US" sz="2400" u="none" dirty="0">
              <a:latin typeface="Times New Roman" panose="02020603050405020304" pitchFamily="18" charset="0"/>
            </a:endParaRPr>
          </a:p>
        </p:txBody>
      </p:sp>
      <p:cxnSp>
        <p:nvCxnSpPr>
          <p:cNvPr id="50213" name="AutoShape 38"/>
          <p:cNvCxnSpPr>
            <a:stCxn id="50211" idx="6"/>
            <a:endCxn id="50212" idx="2"/>
          </p:cNvCxnSpPr>
          <p:nvPr/>
        </p:nvCxnSpPr>
        <p:spPr>
          <a:xfrm>
            <a:off x="5727700" y="5411788"/>
            <a:ext cx="644525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214" name="Text Box 39"/>
          <p:cNvSpPr txBox="1"/>
          <p:nvPr/>
        </p:nvSpPr>
        <p:spPr>
          <a:xfrm>
            <a:off x="5915025" y="5000625"/>
            <a:ext cx="317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u="none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zh-CN" altLang="en-US" sz="2400" u="none" dirty="0">
              <a:latin typeface="Times New Roman" panose="02020603050405020304" pitchFamily="18" charset="0"/>
            </a:endParaRPr>
          </a:p>
        </p:txBody>
      </p:sp>
      <p:sp>
        <p:nvSpPr>
          <p:cNvPr id="50215" name="Text Box 40"/>
          <p:cNvSpPr txBox="1"/>
          <p:nvPr/>
        </p:nvSpPr>
        <p:spPr>
          <a:xfrm>
            <a:off x="7134225" y="5076825"/>
            <a:ext cx="317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u="none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zh-CN" altLang="en-US" sz="2400" u="none" dirty="0">
              <a:latin typeface="Times New Roman" panose="02020603050405020304" pitchFamily="18" charset="0"/>
            </a:endParaRPr>
          </a:p>
        </p:txBody>
      </p:sp>
      <p:grpSp>
        <p:nvGrpSpPr>
          <p:cNvPr id="50216" name="Group 41"/>
          <p:cNvGrpSpPr/>
          <p:nvPr/>
        </p:nvGrpSpPr>
        <p:grpSpPr>
          <a:xfrm>
            <a:off x="7591425" y="5153025"/>
            <a:ext cx="498475" cy="457200"/>
            <a:chOff x="4032" y="2352"/>
            <a:chExt cx="384" cy="482"/>
          </a:xfrm>
        </p:grpSpPr>
        <p:grpSp>
          <p:nvGrpSpPr>
            <p:cNvPr id="50217" name="Group 42"/>
            <p:cNvGrpSpPr/>
            <p:nvPr/>
          </p:nvGrpSpPr>
          <p:grpSpPr>
            <a:xfrm>
              <a:off x="4032" y="2400"/>
              <a:ext cx="384" cy="384"/>
              <a:chOff x="2928" y="1440"/>
              <a:chExt cx="384" cy="384"/>
            </a:xfrm>
          </p:grpSpPr>
          <p:sp>
            <p:nvSpPr>
              <p:cNvPr id="50218" name="Oval 43"/>
              <p:cNvSpPr/>
              <p:nvPr/>
            </p:nvSpPr>
            <p:spPr>
              <a:xfrm>
                <a:off x="2928" y="1440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0219" name="Oval 44"/>
              <p:cNvSpPr/>
              <p:nvPr/>
            </p:nvSpPr>
            <p:spPr>
              <a:xfrm>
                <a:off x="2976" y="1488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50220" name="Text Box 45"/>
            <p:cNvSpPr txBox="1"/>
            <p:nvPr/>
          </p:nvSpPr>
          <p:spPr>
            <a:xfrm>
              <a:off x="4105" y="2352"/>
              <a:ext cx="260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3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0221" name="AutoShape 46"/>
          <p:cNvSpPr/>
          <p:nvPr/>
        </p:nvSpPr>
        <p:spPr>
          <a:xfrm>
            <a:off x="4772025" y="5229225"/>
            <a:ext cx="381000" cy="3810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50222" name="Freeform 47"/>
          <p:cNvSpPr/>
          <p:nvPr/>
        </p:nvSpPr>
        <p:spPr>
          <a:xfrm>
            <a:off x="5305425" y="5076825"/>
            <a:ext cx="414338" cy="2111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61" h="133">
                <a:moveTo>
                  <a:pt x="0" y="133"/>
                </a:moveTo>
                <a:cubicBezTo>
                  <a:pt x="14" y="48"/>
                  <a:pt x="4" y="27"/>
                  <a:pt x="89" y="0"/>
                </a:cubicBezTo>
                <a:cubicBezTo>
                  <a:pt x="122" y="4"/>
                  <a:pt x="156" y="3"/>
                  <a:pt x="189" y="11"/>
                </a:cubicBezTo>
                <a:cubicBezTo>
                  <a:pt x="246" y="25"/>
                  <a:pt x="261" y="83"/>
                  <a:pt x="222" y="1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0223" name="Freeform 48"/>
          <p:cNvSpPr/>
          <p:nvPr/>
        </p:nvSpPr>
        <p:spPr>
          <a:xfrm>
            <a:off x="6448425" y="5076825"/>
            <a:ext cx="414338" cy="2111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61" h="133">
                <a:moveTo>
                  <a:pt x="0" y="133"/>
                </a:moveTo>
                <a:cubicBezTo>
                  <a:pt x="14" y="48"/>
                  <a:pt x="4" y="27"/>
                  <a:pt x="89" y="0"/>
                </a:cubicBezTo>
                <a:cubicBezTo>
                  <a:pt x="122" y="4"/>
                  <a:pt x="156" y="3"/>
                  <a:pt x="189" y="11"/>
                </a:cubicBezTo>
                <a:cubicBezTo>
                  <a:pt x="246" y="25"/>
                  <a:pt x="261" y="83"/>
                  <a:pt x="222" y="1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0224" name="Freeform 49"/>
          <p:cNvSpPr/>
          <p:nvPr/>
        </p:nvSpPr>
        <p:spPr>
          <a:xfrm>
            <a:off x="7591425" y="5076825"/>
            <a:ext cx="414338" cy="2111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61" h="133">
                <a:moveTo>
                  <a:pt x="0" y="133"/>
                </a:moveTo>
                <a:cubicBezTo>
                  <a:pt x="14" y="48"/>
                  <a:pt x="4" y="27"/>
                  <a:pt x="89" y="0"/>
                </a:cubicBezTo>
                <a:cubicBezTo>
                  <a:pt x="122" y="4"/>
                  <a:pt x="156" y="3"/>
                  <a:pt x="189" y="11"/>
                </a:cubicBezTo>
                <a:cubicBezTo>
                  <a:pt x="246" y="25"/>
                  <a:pt x="261" y="83"/>
                  <a:pt x="222" y="1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0225" name="Line 50"/>
          <p:cNvSpPr/>
          <p:nvPr/>
        </p:nvSpPr>
        <p:spPr>
          <a:xfrm>
            <a:off x="6905625" y="53816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cxnSp>
        <p:nvCxnSpPr>
          <p:cNvPr id="50226" name="AutoShape 51"/>
          <p:cNvCxnSpPr>
            <a:stCxn id="50211" idx="6"/>
            <a:endCxn id="50212" idx="2"/>
          </p:cNvCxnSpPr>
          <p:nvPr/>
        </p:nvCxnSpPr>
        <p:spPr>
          <a:xfrm>
            <a:off x="6829425" y="5381625"/>
            <a:ext cx="85725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227" name="Text Box 52"/>
          <p:cNvSpPr txBox="1"/>
          <p:nvPr/>
        </p:nvSpPr>
        <p:spPr>
          <a:xfrm>
            <a:off x="5305425" y="4772025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a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50228" name="Text Box 53"/>
          <p:cNvSpPr txBox="1"/>
          <p:nvPr/>
        </p:nvSpPr>
        <p:spPr>
          <a:xfrm>
            <a:off x="6438900" y="46958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b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50229" name="Text Box 54"/>
          <p:cNvSpPr txBox="1"/>
          <p:nvPr/>
        </p:nvSpPr>
        <p:spPr>
          <a:xfrm>
            <a:off x="7591425" y="4695825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c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类似</a:t>
            </a:r>
            <a:r>
              <a:rPr lang="en-US" altLang="zh-CN" sz="2800" dirty="0"/>
              <a:t>DFA, </a:t>
            </a:r>
            <a:r>
              <a:rPr lang="zh-CN" altLang="en-US" sz="2800" dirty="0"/>
              <a:t>对</a:t>
            </a:r>
            <a:r>
              <a:rPr lang="en-US" altLang="zh-CN" sz="2800" dirty="0"/>
              <a:t>NFA M=</a:t>
            </a:r>
            <a:r>
              <a:rPr lang="en-US" altLang="zh-CN" sz="2800" dirty="0">
                <a:sym typeface="Symbol" panose="05050102010706020507" pitchFamily="18" charset="2"/>
              </a:rPr>
              <a:t>K，，f，S，Z</a:t>
            </a:r>
            <a:r>
              <a:rPr lang="zh-CN" altLang="en-US" sz="2800" dirty="0">
                <a:sym typeface="Symbol" panose="05050102010706020507" pitchFamily="18" charset="2"/>
              </a:rPr>
              <a:t>也有如下定义</a:t>
            </a:r>
            <a:endParaRPr lang="zh-CN" altLang="en-US" sz="2800" dirty="0">
              <a:sym typeface="Symbol" panose="05050102010706020507" pitchFamily="18" charset="2"/>
            </a:endParaRPr>
          </a:p>
        </p:txBody>
      </p:sp>
      <p:sp>
        <p:nvSpPr>
          <p:cNvPr id="51202" name="Rectangle 3"/>
          <p:cNvSpPr>
            <a:spLocks noGrp="1"/>
          </p:cNvSpPr>
          <p:nvPr>
            <p:ph idx="1"/>
          </p:nvPr>
        </p:nvSpPr>
        <p:spPr>
          <a:xfrm>
            <a:off x="990600" y="1600200"/>
            <a:ext cx="7772400" cy="43434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400" dirty="0"/>
              <a:t>∑*上的符</a:t>
            </a:r>
            <a:r>
              <a:rPr lang="zh-CN" altLang="en-US" sz="2400" dirty="0">
                <a:latin typeface="宋体" panose="02010600030101010101" pitchFamily="2" charset="-122"/>
              </a:rPr>
              <a:t>号</a:t>
            </a:r>
            <a:r>
              <a:rPr lang="zh-CN" altLang="en-US" sz="2400" dirty="0"/>
              <a:t>串</a:t>
            </a:r>
            <a:r>
              <a:rPr lang="en-US" altLang="zh-CN" sz="2400" dirty="0"/>
              <a:t>t</a:t>
            </a:r>
            <a:r>
              <a:rPr lang="zh-CN" altLang="en-US" sz="2400" dirty="0"/>
              <a:t>在</a:t>
            </a:r>
            <a:r>
              <a:rPr lang="en-US" altLang="zh-CN" sz="2400" dirty="0"/>
              <a:t>NFA</a:t>
            </a:r>
            <a:r>
              <a:rPr lang="zh-CN" altLang="en-US" sz="2400" dirty="0"/>
              <a:t> </a:t>
            </a:r>
            <a:r>
              <a:rPr lang="en-US" altLang="zh-CN" sz="2400" dirty="0"/>
              <a:t>M</a:t>
            </a:r>
            <a:r>
              <a:rPr lang="zh-CN" altLang="en-US" sz="2400" dirty="0"/>
              <a:t>上运行..</a:t>
            </a:r>
            <a:endParaRPr lang="zh-CN" altLang="en-US" sz="2400" dirty="0"/>
          </a:p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sz="2400" dirty="0"/>
              <a:t>一个输入符</a:t>
            </a:r>
            <a:r>
              <a:rPr lang="zh-CN" altLang="en-US" sz="2400" dirty="0">
                <a:latin typeface="宋体" panose="02010600030101010101" pitchFamily="2" charset="-122"/>
              </a:rPr>
              <a:t>号</a:t>
            </a:r>
            <a:r>
              <a:rPr lang="zh-CN" altLang="en-US" sz="2400" dirty="0"/>
              <a:t>串</a:t>
            </a:r>
            <a:r>
              <a:rPr lang="en-US" altLang="zh-CN" sz="2400" dirty="0"/>
              <a:t>t，（</a:t>
            </a:r>
            <a:r>
              <a:rPr lang="zh-CN" altLang="en-US" sz="2400" dirty="0"/>
              <a:t>我们将它表示成</a:t>
            </a:r>
            <a:r>
              <a:rPr lang="en-US" altLang="zh-CN" sz="2400" dirty="0"/>
              <a:t>Tt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的形式，其中</a:t>
            </a:r>
            <a:r>
              <a:rPr lang="en-US" altLang="zh-CN" sz="2400" dirty="0"/>
              <a:t>T∈∑，t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∈ </a:t>
            </a:r>
            <a:r>
              <a:rPr lang="zh-CN" altLang="en-US" sz="2400" dirty="0"/>
              <a:t>∑*）在</a:t>
            </a:r>
            <a:r>
              <a:rPr lang="en-US" altLang="zh-CN" sz="2400" dirty="0"/>
              <a:t>NFA  M</a:t>
            </a:r>
            <a:r>
              <a:rPr lang="zh-CN" altLang="en-US" sz="2400" dirty="0"/>
              <a:t>上</a:t>
            </a:r>
            <a:r>
              <a:rPr lang="zh-CN" altLang="en-US" sz="2400" b="1" dirty="0"/>
              <a:t>运行</a:t>
            </a:r>
            <a:r>
              <a:rPr lang="zh-CN" altLang="en-US" sz="2400" dirty="0"/>
              <a:t>的定义为：</a:t>
            </a:r>
            <a:endParaRPr lang="zh-CN" altLang="en-US" sz="2400" dirty="0"/>
          </a:p>
          <a:p>
            <a:pPr lvl="1" eaLnBrk="1" hangingPunct="1">
              <a:spcBef>
                <a:spcPct val="50000"/>
              </a:spcBef>
              <a:buNone/>
            </a:pPr>
            <a:r>
              <a:rPr lang="en-US" altLang="zh-CN" sz="2400" dirty="0"/>
              <a:t>f（Q， Tt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）=f（f（Q，T），t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）  </a:t>
            </a:r>
            <a:r>
              <a:rPr lang="zh-CN" altLang="en-US" sz="2400" dirty="0"/>
              <a:t>其中</a:t>
            </a:r>
            <a:r>
              <a:rPr lang="en-US" altLang="zh-CN" sz="2400" dirty="0"/>
              <a:t>Q∈K</a:t>
            </a:r>
            <a:r>
              <a:rPr lang="zh-CN" altLang="en-US" sz="2400" dirty="0"/>
              <a:t>.</a:t>
            </a: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∑*上的符</a:t>
            </a:r>
            <a:r>
              <a:rPr lang="zh-CN" altLang="en-US" sz="2400" dirty="0">
                <a:latin typeface="宋体" panose="02010600030101010101" pitchFamily="2" charset="-122"/>
              </a:rPr>
              <a:t>号</a:t>
            </a:r>
            <a:r>
              <a:rPr lang="zh-CN" altLang="en-US" sz="2400" dirty="0"/>
              <a:t>串</a:t>
            </a:r>
            <a:r>
              <a:rPr lang="en-US" altLang="zh-CN" sz="2400" dirty="0"/>
              <a:t>t</a:t>
            </a:r>
            <a:r>
              <a:rPr lang="zh-CN" altLang="en-US" sz="2400" dirty="0"/>
              <a:t>被</a:t>
            </a:r>
            <a:r>
              <a:rPr lang="en-US" altLang="zh-CN" sz="2400" dirty="0"/>
              <a:t>NFA</a:t>
            </a:r>
            <a:r>
              <a:rPr lang="zh-CN" altLang="en-US" sz="2400" dirty="0"/>
              <a:t> </a:t>
            </a:r>
            <a:r>
              <a:rPr lang="en-US" altLang="zh-CN" sz="2400" dirty="0"/>
              <a:t>M</a:t>
            </a:r>
            <a:r>
              <a:rPr lang="zh-CN" altLang="en-US" sz="2400" dirty="0"/>
              <a:t>接受</a:t>
            </a:r>
            <a:endParaRPr lang="zh-CN" altLang="en-US" sz="2400" dirty="0"/>
          </a:p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dirty="0"/>
              <a:t>若</a:t>
            </a:r>
            <a:r>
              <a:rPr lang="en-US" altLang="zh-CN" dirty="0"/>
              <a:t>t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zh-CN" altLang="en-US" dirty="0"/>
              <a:t>∑*，</a:t>
            </a:r>
            <a:r>
              <a:rPr lang="en-US" altLang="zh-CN" dirty="0"/>
              <a:t>f(S</a:t>
            </a:r>
            <a:r>
              <a:rPr lang="en-US" altLang="zh-CN" baseline="-25000" dirty="0"/>
              <a:t>0</a:t>
            </a:r>
            <a:r>
              <a:rPr lang="en-US" altLang="zh-CN" dirty="0"/>
              <a:t>，t)=P，</a:t>
            </a:r>
            <a:r>
              <a:rPr lang="zh-CN" altLang="en-US" dirty="0"/>
              <a:t>其中</a:t>
            </a:r>
            <a:r>
              <a:rPr lang="en-US" altLang="zh-CN" dirty="0"/>
              <a:t>S</a:t>
            </a:r>
            <a:r>
              <a:rPr lang="en-US" altLang="zh-CN" baseline="-25000" dirty="0"/>
              <a:t>0</a:t>
            </a:r>
            <a:r>
              <a:rPr lang="zh-CN" altLang="en-US" dirty="0"/>
              <a:t> ∈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P </a:t>
            </a:r>
            <a:r>
              <a:rPr lang="en-US" altLang="zh-CN" dirty="0">
                <a:sym typeface="Symbol" panose="05050102010706020507" pitchFamily="18" charset="2"/>
              </a:rPr>
              <a:t> Z，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zh-CN" altLang="en-US" dirty="0">
                <a:sym typeface="Symbol" panose="05050102010706020507" pitchFamily="18" charset="2"/>
              </a:rPr>
              <a:t>则称</a:t>
            </a:r>
            <a:r>
              <a:rPr lang="en-US" altLang="zh-CN" dirty="0">
                <a:sym typeface="Symbol" panose="05050102010706020507" pitchFamily="18" charset="2"/>
              </a:rPr>
              <a:t>t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NFA M</a:t>
            </a:r>
            <a:r>
              <a:rPr lang="zh-CN" altLang="en-US" dirty="0">
                <a:sym typeface="Symbol" panose="05050102010706020507" pitchFamily="18" charset="2"/>
              </a:rPr>
              <a:t>所</a:t>
            </a:r>
            <a:r>
              <a:rPr lang="zh-CN" altLang="en-US" b="1" dirty="0">
                <a:sym typeface="Symbol" panose="05050102010706020507" pitchFamily="18" charset="2"/>
              </a:rPr>
              <a:t>接受</a:t>
            </a:r>
            <a:r>
              <a:rPr lang="zh-CN" altLang="en-US" dirty="0">
                <a:sym typeface="Symbol" panose="05050102010706020507" pitchFamily="18" charset="2"/>
              </a:rPr>
              <a:t>（</a:t>
            </a:r>
            <a:r>
              <a:rPr lang="zh-CN" altLang="en-US" b="1" dirty="0">
                <a:sym typeface="Symbol" panose="05050102010706020507" pitchFamily="18" charset="2"/>
              </a:rPr>
              <a:t>识别</a:t>
            </a:r>
            <a:r>
              <a:rPr lang="zh-CN" altLang="en-US" dirty="0">
                <a:sym typeface="Symbol" panose="05050102010706020507" pitchFamily="18" charset="2"/>
              </a:rPr>
              <a:t>）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2"/>
          <p:cNvSpPr>
            <a:spLocks noGrp="1"/>
          </p:cNvSpPr>
          <p:nvPr>
            <p:ph type="title"/>
          </p:nvPr>
        </p:nvSpPr>
        <p:spPr>
          <a:xfrm>
            <a:off x="914400" y="609600"/>
            <a:ext cx="7848600" cy="762000"/>
          </a:xfrm>
        </p:spPr>
        <p:txBody>
          <a:bodyPr vert="horz" wrap="square" lIns="91440" tIns="45720" rIns="91440" bIns="45720" anchor="b" anchorCtr="0"/>
          <a:p>
            <a:pPr eaLnBrk="1" hangingPunct="1"/>
            <a:br>
              <a:rPr lang="zh-CN" altLang="en-US" sz="3600" dirty="0"/>
            </a:br>
            <a:r>
              <a:rPr lang="zh-CN" altLang="en-US" sz="3600" dirty="0"/>
              <a:t> </a:t>
            </a:r>
            <a:r>
              <a:rPr lang="zh-CN" altLang="en-US" sz="2800" dirty="0">
                <a:latin typeface="方正舒体" pitchFamily="2" charset="-122"/>
                <a:ea typeface="方正舒体" pitchFamily="2" charset="-122"/>
              </a:rPr>
              <a:t>∑*上的符号串</a:t>
            </a:r>
            <a:r>
              <a:rPr lang="en-US" altLang="zh-CN" sz="2800" dirty="0">
                <a:latin typeface="方正舒体" pitchFamily="2" charset="-122"/>
                <a:ea typeface="方正舒体" pitchFamily="2" charset="-122"/>
              </a:rPr>
              <a:t>t</a:t>
            </a:r>
            <a:r>
              <a:rPr lang="zh-CN" altLang="en-US" sz="2800" dirty="0">
                <a:latin typeface="方正舒体" pitchFamily="2" charset="-122"/>
                <a:ea typeface="方正舒体" pitchFamily="2" charset="-122"/>
              </a:rPr>
              <a:t>被</a:t>
            </a:r>
            <a:r>
              <a:rPr lang="en-US" altLang="zh-CN" sz="2800" dirty="0">
                <a:latin typeface="方正舒体" pitchFamily="2" charset="-122"/>
                <a:ea typeface="方正舒体" pitchFamily="2" charset="-122"/>
              </a:rPr>
              <a:t>NFA</a:t>
            </a:r>
            <a:r>
              <a:rPr lang="zh-CN" altLang="en-US" sz="2800" dirty="0">
                <a:latin typeface="方正舒体" pitchFamily="2" charset="-122"/>
                <a:ea typeface="方正舒体" pitchFamily="2" charset="-122"/>
              </a:rPr>
              <a:t> </a:t>
            </a:r>
            <a:r>
              <a:rPr lang="en-US" altLang="zh-CN" sz="2800" dirty="0">
                <a:latin typeface="方正舒体" pitchFamily="2" charset="-122"/>
                <a:ea typeface="方正舒体" pitchFamily="2" charset="-122"/>
              </a:rPr>
              <a:t>M</a:t>
            </a:r>
            <a:r>
              <a:rPr lang="zh-CN" altLang="en-US" sz="2800" dirty="0">
                <a:latin typeface="方正舒体" pitchFamily="2" charset="-122"/>
                <a:ea typeface="方正舒体" pitchFamily="2" charset="-122"/>
              </a:rPr>
              <a:t>接受也可以这样理解</a:t>
            </a:r>
            <a:br>
              <a:rPr lang="zh-CN" altLang="en-US" sz="3600" dirty="0"/>
            </a:br>
            <a:endParaRPr lang="zh-CN" altLang="en-US" sz="3600" dirty="0"/>
          </a:p>
        </p:txBody>
      </p:sp>
      <p:sp>
        <p:nvSpPr>
          <p:cNvPr id="522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/>
              <a:t>    对于</a:t>
            </a:r>
            <a:r>
              <a:rPr lang="en-US" altLang="zh-CN" dirty="0">
                <a:latin typeface="Arial" panose="020B0604020202020204" pitchFamily="34" charset="0"/>
              </a:rPr>
              <a:t>Σ</a:t>
            </a:r>
            <a:r>
              <a:rPr lang="en-US" altLang="zh-CN" dirty="0"/>
              <a:t>﹡</a:t>
            </a:r>
            <a:r>
              <a:rPr lang="zh-CN" altLang="en-US" dirty="0"/>
              <a:t>中的任何一个串</a:t>
            </a:r>
            <a:r>
              <a:rPr lang="en-US" altLang="zh-CN" dirty="0"/>
              <a:t>t，</a:t>
            </a:r>
            <a:r>
              <a:rPr lang="zh-CN" altLang="en-US" dirty="0"/>
              <a:t>若存在一条从某一初态到某一终态的道路，且这条道路上所有弧的标记字依序连接成的串(不理睬那些标记为</a:t>
            </a:r>
            <a:r>
              <a:rPr lang="en-US" altLang="zh-CN" dirty="0">
                <a:latin typeface="Arial" panose="020B0604020202020204" pitchFamily="34" charset="0"/>
              </a:rPr>
              <a:t>ε</a:t>
            </a:r>
            <a:r>
              <a:rPr lang="zh-CN" altLang="en-US" dirty="0"/>
              <a:t>的弧)等于</a:t>
            </a:r>
            <a:r>
              <a:rPr lang="en-US" altLang="zh-CN" dirty="0"/>
              <a:t>t，</a:t>
            </a:r>
            <a:r>
              <a:rPr lang="zh-CN" altLang="en-US" dirty="0"/>
              <a:t>则称</a:t>
            </a:r>
            <a:r>
              <a:rPr lang="en-US" altLang="zh-CN" dirty="0"/>
              <a:t>t</a:t>
            </a:r>
            <a:r>
              <a:rPr lang="zh-CN" altLang="en-US" dirty="0"/>
              <a:t>可为</a:t>
            </a:r>
            <a:r>
              <a:rPr lang="en-US" altLang="zh-CN" dirty="0"/>
              <a:t>NFA M</a:t>
            </a:r>
            <a:r>
              <a:rPr lang="zh-CN" altLang="en-US" dirty="0"/>
              <a:t>所识别(读出或接受)。若</a:t>
            </a:r>
            <a:r>
              <a:rPr lang="en-US" altLang="zh-CN" dirty="0"/>
              <a:t>M</a:t>
            </a:r>
            <a:r>
              <a:rPr lang="zh-CN" altLang="en-US" dirty="0"/>
              <a:t>的某些结既是初态又是终态，或者存在一条从某个初态到某个终态的道路,其上所有弧的标记均为</a:t>
            </a:r>
            <a:r>
              <a:rPr lang="en-US" altLang="zh-CN" dirty="0">
                <a:latin typeface="Arial" panose="020B0604020202020204" pitchFamily="34" charset="0"/>
              </a:rPr>
              <a:t>ε</a:t>
            </a:r>
            <a:r>
              <a:rPr lang="zh-CN" altLang="en-US" dirty="0"/>
              <a:t>，那么空字可为</a:t>
            </a:r>
            <a:r>
              <a:rPr lang="en-US" altLang="zh-CN" dirty="0"/>
              <a:t>M</a:t>
            </a:r>
            <a:r>
              <a:rPr lang="zh-CN" altLang="en-US" dirty="0"/>
              <a:t>所接受。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br>
              <a:rPr lang="zh-CN" altLang="en-US" dirty="0">
                <a:solidFill>
                  <a:schemeClr val="bg2"/>
                </a:solidFill>
              </a:rPr>
            </a:br>
            <a:endParaRPr lang="zh-CN" altLang="zh-CN" dirty="0"/>
          </a:p>
        </p:txBody>
      </p:sp>
      <p:sp>
        <p:nvSpPr>
          <p:cNvPr id="1587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/>
              <a:t>NFA M</a:t>
            </a:r>
            <a:r>
              <a:rPr lang="zh-CN" altLang="en-US" dirty="0"/>
              <a:t>所能接受的符</a:t>
            </a:r>
            <a:r>
              <a:rPr lang="zh-CN" altLang="en-US" dirty="0">
                <a:latin typeface="宋体" panose="02010600030101010101" pitchFamily="2" charset="-122"/>
              </a:rPr>
              <a:t>号</a:t>
            </a:r>
            <a:r>
              <a:rPr lang="zh-CN" altLang="en-US" dirty="0"/>
              <a:t>串的全体记为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zh-CN" dirty="0"/>
              <a:t>        </a:t>
            </a:r>
            <a:r>
              <a:rPr lang="en-US" altLang="zh-CN" dirty="0"/>
              <a:t>L(M)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/>
              <a:t>结论：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   </a:t>
            </a:r>
            <a:r>
              <a:rPr lang="zh-CN" altLang="en-US" dirty="0">
                <a:sym typeface="Symbol" panose="05050102010706020507" pitchFamily="18" charset="2"/>
              </a:rPr>
              <a:t>上一个符</a:t>
            </a:r>
            <a:r>
              <a:rPr lang="zh-CN" altLang="en-US" dirty="0">
                <a:latin typeface="宋体" panose="02010600030101010101" pitchFamily="2" charset="-122"/>
              </a:rPr>
              <a:t>号</a:t>
            </a:r>
            <a:r>
              <a:rPr lang="zh-CN" altLang="en-US" dirty="0">
                <a:sym typeface="Symbol" panose="05050102010706020507" pitchFamily="18" charset="2"/>
              </a:rPr>
              <a:t>串集</a:t>
            </a:r>
            <a:r>
              <a:rPr lang="en-US" altLang="zh-CN" dirty="0">
                <a:sym typeface="Symbol" panose="05050102010706020507" pitchFamily="18" charset="2"/>
              </a:rPr>
              <a:t>V</a:t>
            </a:r>
            <a:r>
              <a:rPr lang="en-US" altLang="zh-CN" baseline="30000" dirty="0">
                <a:sym typeface="Symbol" panose="05050102010706020507" pitchFamily="18" charset="2"/>
              </a:rPr>
              <a:t></a:t>
            </a:r>
            <a:r>
              <a:rPr lang="zh-CN" altLang="en-US" dirty="0">
                <a:sym typeface="Symbol" panose="05050102010706020507" pitchFamily="18" charset="2"/>
              </a:rPr>
              <a:t>是正规的，存在一个上的不确定的有穷自动机</a:t>
            </a:r>
            <a:r>
              <a:rPr lang="en-US" altLang="zh-CN" dirty="0">
                <a:sym typeface="Symbol" panose="05050102010706020507" pitchFamily="18" charset="2"/>
              </a:rPr>
              <a:t>M，</a:t>
            </a:r>
            <a:r>
              <a:rPr lang="zh-CN" altLang="en-US" dirty="0">
                <a:sym typeface="Symbol" panose="05050102010706020507" pitchFamily="18" charset="2"/>
              </a:rPr>
              <a:t>使得</a:t>
            </a:r>
            <a:r>
              <a:rPr lang="en-US" altLang="zh-CN" dirty="0">
                <a:sym typeface="Symbol" panose="05050102010706020507" pitchFamily="18" charset="2"/>
              </a:rPr>
              <a:t>V=L(M)。</a:t>
            </a:r>
            <a:endParaRPr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charRg st="1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3">
                                            <p:txEl>
                                              <p:charRg st="1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3">
                                            <p:txEl>
                                              <p:charRg st="1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charRg st="32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3">
                                            <p:txEl>
                                              <p:charRg st="32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3">
                                            <p:txEl>
                                              <p:charRg st="32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charRg st="36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8723">
                                            <p:txEl>
                                              <p:charRg st="36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8723">
                                            <p:txEl>
                                              <p:charRg st="36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词法分析程序的</a:t>
            </a:r>
            <a:r>
              <a:rPr lang="zh-CN" altLang="en-US" u="sng" dirty="0">
                <a:solidFill>
                  <a:schemeClr val="bg2"/>
                </a:solidFill>
                <a:hlinkClick r:id="rId1" action="ppaction://hlinksldjump"/>
              </a:rPr>
              <a:t>自动</a:t>
            </a:r>
            <a:r>
              <a:rPr lang="zh-CN" altLang="en-US" u="sng" dirty="0">
                <a:solidFill>
                  <a:schemeClr val="bg2"/>
                </a:solidFill>
              </a:rPr>
              <a:t>构造</a:t>
            </a:r>
            <a:endParaRPr lang="zh-CN" altLang="en-US" u="sng" dirty="0">
              <a:solidFill>
                <a:schemeClr val="bg2"/>
              </a:solidFill>
            </a:endParaRPr>
          </a:p>
        </p:txBody>
      </p:sp>
      <p:sp>
        <p:nvSpPr>
          <p:cNvPr id="8704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zh-CN" sz="2400" dirty="0"/>
              <a:t>对有穷自动机和正规表达式进行了上述讨论之后</a:t>
            </a:r>
            <a:r>
              <a:rPr lang="zh-CN" altLang="en-US" sz="2400" dirty="0"/>
              <a:t>,</a:t>
            </a:r>
            <a:r>
              <a:rPr lang="zh-CN" altLang="zh-CN" sz="2400" dirty="0"/>
              <a:t>我们介绍</a:t>
            </a:r>
            <a:r>
              <a:rPr lang="zh-CN" altLang="en-US" sz="2800" dirty="0">
                <a:hlinkClick r:id="rId1" action="ppaction://hlinksldjump"/>
              </a:rPr>
              <a:t>词法分析程序</a:t>
            </a:r>
            <a:r>
              <a:rPr lang="zh-CN" altLang="en-US" sz="2800" dirty="0"/>
              <a:t>的</a:t>
            </a:r>
            <a:r>
              <a:rPr lang="zh-CN" altLang="en-US" sz="2800" u="sng" dirty="0">
                <a:solidFill>
                  <a:schemeClr val="bg2"/>
                </a:solidFill>
                <a:hlinkClick r:id="rId1" action="ppaction://hlinksldjump"/>
              </a:rPr>
              <a:t>自动</a:t>
            </a:r>
            <a:r>
              <a:rPr lang="zh-CN" altLang="en-US" sz="2800" u="sng" dirty="0">
                <a:solidFill>
                  <a:schemeClr val="bg2"/>
                </a:solidFill>
              </a:rPr>
              <a:t>构造方法,这个方法基于</a:t>
            </a:r>
            <a:r>
              <a:rPr lang="zh-CN" altLang="zh-CN" sz="2800" b="1" dirty="0"/>
              <a:t>有穷自动机和正规表达式的等价性</a:t>
            </a:r>
            <a:r>
              <a:rPr lang="zh-CN" altLang="en-US" sz="2800" b="1" dirty="0"/>
              <a:t>,即</a:t>
            </a:r>
            <a:r>
              <a:rPr lang="zh-CN" altLang="zh-CN" sz="2800" b="1" dirty="0"/>
              <a:t>：</a:t>
            </a:r>
            <a:r>
              <a:rPr lang="zh-CN" altLang="zh-CN" sz="2800" dirty="0"/>
              <a:t>      </a:t>
            </a:r>
            <a:endParaRPr lang="zh-CN" altLang="zh-CN" sz="2800" dirty="0"/>
          </a:p>
          <a:p>
            <a:pPr eaLnBrk="1" hangingPunct="1">
              <a:buNone/>
            </a:pPr>
            <a:endParaRPr lang="zh-CN" altLang="zh-CN" sz="2800" dirty="0"/>
          </a:p>
          <a:p>
            <a:pPr eaLnBrk="1" hangingPunct="1">
              <a:buNone/>
            </a:pPr>
            <a:r>
              <a:rPr lang="zh-CN" altLang="zh-CN" sz="2800" dirty="0"/>
              <a:t>1.对于</a:t>
            </a:r>
            <a:r>
              <a:rPr lang="zh-CN" altLang="zh-CN" sz="2800" dirty="0">
                <a:latin typeface="宋体" panose="02010600030101010101" pitchFamily="2" charset="-122"/>
              </a:rPr>
              <a:t>∑</a:t>
            </a:r>
            <a:r>
              <a:rPr lang="zh-CN" altLang="zh-CN" sz="2800" dirty="0"/>
              <a:t>上的一个NFA  M，可以构造一个</a:t>
            </a:r>
            <a:r>
              <a:rPr lang="zh-CN" altLang="zh-CN" sz="2800" dirty="0">
                <a:latin typeface="宋体" panose="02010600030101010101" pitchFamily="2" charset="-122"/>
              </a:rPr>
              <a:t>∑上的正规式R,使得</a:t>
            </a:r>
            <a:r>
              <a:rPr lang="zh-CN" altLang="zh-CN" sz="2800" dirty="0"/>
              <a:t>L(R)=L(M)。</a:t>
            </a:r>
            <a:endParaRPr lang="zh-CN" altLang="zh-CN" sz="2800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zh-CN" sz="28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.对于</a:t>
            </a:r>
            <a:r>
              <a:rPr lang="zh-CN" altLang="zh-CN" sz="2800" dirty="0">
                <a:latin typeface="宋体" panose="02010600030101010101" pitchFamily="2" charset="-122"/>
              </a:rPr>
              <a:t>∑</a:t>
            </a:r>
            <a:r>
              <a:rPr lang="zh-CN" altLang="zh-CN" sz="2800" dirty="0"/>
              <a:t>上的一个正规式R，可以构造一个</a:t>
            </a:r>
            <a:r>
              <a:rPr lang="zh-CN" altLang="zh-CN" sz="2800" dirty="0">
                <a:latin typeface="宋体" panose="02010600030101010101" pitchFamily="2" charset="-122"/>
              </a:rPr>
              <a:t>∑</a:t>
            </a:r>
            <a:r>
              <a:rPr lang="zh-CN" altLang="zh-CN" sz="2800" dirty="0"/>
              <a:t>上的NFA M，</a:t>
            </a:r>
            <a:r>
              <a:rPr lang="zh-CN" altLang="zh-CN" sz="2800" dirty="0">
                <a:latin typeface="宋体" panose="02010600030101010101" pitchFamily="2" charset="-122"/>
              </a:rPr>
              <a:t>使</a:t>
            </a:r>
            <a:r>
              <a:rPr lang="zh-CN" altLang="zh-CN" sz="2800" dirty="0"/>
              <a:t>的L</a:t>
            </a:r>
            <a:r>
              <a:rPr lang="zh-CN" altLang="en-US" sz="2800" dirty="0"/>
              <a:t>(</a:t>
            </a:r>
            <a:r>
              <a:rPr lang="en-US" altLang="zh-CN" sz="2800" dirty="0"/>
              <a:t>M)=L(R)。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对于正规式</a:t>
            </a:r>
            <a:r>
              <a:rPr lang="en-US" altLang="zh-CN" dirty="0"/>
              <a:t>R=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zh-CN" altLang="en-US" sz="2800" dirty="0"/>
              <a:t>  ,构造的</a:t>
            </a:r>
            <a:r>
              <a:rPr lang="en-US" altLang="zh-CN" sz="2800" dirty="0"/>
              <a:t>NFA</a:t>
            </a:r>
            <a:endParaRPr lang="zh-CN" altLang="en-US" sz="2800" dirty="0"/>
          </a:p>
        </p:txBody>
      </p:sp>
      <p:sp>
        <p:nvSpPr>
          <p:cNvPr id="88066" name="Rectangle 3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08438" cy="4171950"/>
          </a:xfrm>
        </p:spPr>
        <p:txBody>
          <a:bodyPr vert="horz" wrap="square" lIns="91440" tIns="45720" rIns="91440" bIns="45720" anchor="t" anchorCtr="0"/>
          <a:p>
            <a:pPr eaLnBrk="1" hangingPunct="1">
              <a:buSzTx/>
              <a:buFont typeface="Monotype Sorts" pitchFamily="2" charset="2"/>
              <a:buNone/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             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         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 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                                               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               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</p:txBody>
      </p:sp>
      <p:grpSp>
        <p:nvGrpSpPr>
          <p:cNvPr id="88067" name="Group 5"/>
          <p:cNvGrpSpPr/>
          <p:nvPr/>
        </p:nvGrpSpPr>
        <p:grpSpPr>
          <a:xfrm>
            <a:off x="3505200" y="3810000"/>
            <a:ext cx="685800" cy="685800"/>
            <a:chOff x="4224" y="2688"/>
            <a:chExt cx="432" cy="432"/>
          </a:xfrm>
        </p:grpSpPr>
        <p:sp>
          <p:nvSpPr>
            <p:cNvPr id="88068" name="Oval 6"/>
            <p:cNvSpPr/>
            <p:nvPr/>
          </p:nvSpPr>
          <p:spPr>
            <a:xfrm>
              <a:off x="4224" y="2688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88069" name="Oval 7"/>
            <p:cNvSpPr/>
            <p:nvPr/>
          </p:nvSpPr>
          <p:spPr>
            <a:xfrm>
              <a:off x="4272" y="273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F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8070" name="Oval 8"/>
          <p:cNvSpPr/>
          <p:nvPr/>
        </p:nvSpPr>
        <p:spPr>
          <a:xfrm>
            <a:off x="1219200" y="2743200"/>
            <a:ext cx="682625" cy="5921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u="none" dirty="0">
                <a:latin typeface="Times New Roman" panose="02020603050405020304" pitchFamily="18" charset="0"/>
              </a:rPr>
              <a:t>S</a:t>
            </a:r>
            <a:endParaRPr lang="zh-CN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88071" name="Line 10"/>
          <p:cNvSpPr/>
          <p:nvPr/>
        </p:nvSpPr>
        <p:spPr>
          <a:xfrm>
            <a:off x="990600" y="304800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8072" name="Text Box 12"/>
          <p:cNvSpPr txBox="1"/>
          <p:nvPr/>
        </p:nvSpPr>
        <p:spPr>
          <a:xfrm>
            <a:off x="2209800" y="2819400"/>
            <a:ext cx="685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endParaRPr lang="en-US" altLang="zh-CN" b="1" i="1" u="none" dirty="0">
              <a:latin typeface="Times New Roman" panose="02020603050405020304" pitchFamily="18" charset="0"/>
            </a:endParaRPr>
          </a:p>
        </p:txBody>
      </p:sp>
      <p:sp>
        <p:nvSpPr>
          <p:cNvPr id="88073" name="Rectangle 18"/>
          <p:cNvSpPr>
            <a:spLocks noGrp="1"/>
          </p:cNvSpPr>
          <p:nvPr>
            <p:ph sz="half" idx="2"/>
          </p:nvPr>
        </p:nvSpPr>
        <p:spPr>
          <a:xfrm>
            <a:off x="4627563" y="1885950"/>
            <a:ext cx="4008437" cy="4171950"/>
          </a:xfrm>
        </p:spPr>
        <p:txBody>
          <a:bodyPr vert="horz" wrap="square" lIns="91440" tIns="45720" rIns="91440" bIns="45720" anchor="t" anchorCtr="0"/>
          <a:p>
            <a:pPr eaLnBrk="1" hangingPunct="1">
              <a:buSzTx/>
            </a:pPr>
            <a:endParaRPr kumimoji="1"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对于正规式</a:t>
            </a:r>
            <a:r>
              <a:rPr lang="en-US" altLang="zh-CN" dirty="0"/>
              <a:t>R=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zh-CN" altLang="en-US" sz="2800" dirty="0"/>
              <a:t>,构造的</a:t>
            </a:r>
            <a:r>
              <a:rPr lang="en-US" altLang="zh-CN" sz="2800" dirty="0"/>
              <a:t>NFA</a:t>
            </a:r>
            <a:endParaRPr lang="zh-CN" altLang="en-US" sz="2800" dirty="0"/>
          </a:p>
        </p:txBody>
      </p:sp>
      <p:sp>
        <p:nvSpPr>
          <p:cNvPr id="89090" name="Rectangle 3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08438" cy="4171950"/>
          </a:xfrm>
        </p:spPr>
        <p:txBody>
          <a:bodyPr vert="horz" wrap="square" lIns="91440" tIns="45720" rIns="91440" bIns="45720" anchor="t" anchorCtr="0"/>
          <a:p>
            <a:pPr eaLnBrk="1" hangingPunct="1">
              <a:buSzTx/>
              <a:buFont typeface="Monotype Sorts" pitchFamily="2" charset="2"/>
              <a:buNone/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             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         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 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                                               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               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</p:txBody>
      </p:sp>
      <p:grpSp>
        <p:nvGrpSpPr>
          <p:cNvPr id="89091" name="Group 4"/>
          <p:cNvGrpSpPr/>
          <p:nvPr/>
        </p:nvGrpSpPr>
        <p:grpSpPr>
          <a:xfrm>
            <a:off x="3505200" y="3810000"/>
            <a:ext cx="685800" cy="685800"/>
            <a:chOff x="4224" y="2688"/>
            <a:chExt cx="432" cy="432"/>
          </a:xfrm>
        </p:grpSpPr>
        <p:sp>
          <p:nvSpPr>
            <p:cNvPr id="89092" name="Oval 5"/>
            <p:cNvSpPr/>
            <p:nvPr/>
          </p:nvSpPr>
          <p:spPr>
            <a:xfrm>
              <a:off x="4224" y="2688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89093" name="Oval 6"/>
            <p:cNvSpPr/>
            <p:nvPr/>
          </p:nvSpPr>
          <p:spPr>
            <a:xfrm>
              <a:off x="4272" y="273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F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9094" name="Text Box 9"/>
          <p:cNvSpPr txBox="1"/>
          <p:nvPr/>
        </p:nvSpPr>
        <p:spPr>
          <a:xfrm>
            <a:off x="2209800" y="2819400"/>
            <a:ext cx="685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endParaRPr lang="en-US" altLang="zh-CN" b="1" i="1" u="none" dirty="0">
              <a:latin typeface="Times New Roman" panose="02020603050405020304" pitchFamily="18" charset="0"/>
            </a:endParaRPr>
          </a:p>
        </p:txBody>
      </p:sp>
      <p:sp>
        <p:nvSpPr>
          <p:cNvPr id="89095" name="Rectangle 10"/>
          <p:cNvSpPr>
            <a:spLocks noGrp="1"/>
          </p:cNvSpPr>
          <p:nvPr>
            <p:ph sz="half" idx="2"/>
          </p:nvPr>
        </p:nvSpPr>
        <p:spPr>
          <a:xfrm>
            <a:off x="4627563" y="1885950"/>
            <a:ext cx="4008437" cy="4171950"/>
          </a:xfrm>
        </p:spPr>
        <p:txBody>
          <a:bodyPr vert="horz" wrap="square" lIns="91440" tIns="45720" rIns="91440" bIns="45720" anchor="t" anchorCtr="0"/>
          <a:p>
            <a:pPr eaLnBrk="1" hangingPunct="1">
              <a:buSzTx/>
            </a:pPr>
            <a:endParaRPr kumimoji="1"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89096" name="Oval 11"/>
          <p:cNvSpPr/>
          <p:nvPr/>
        </p:nvSpPr>
        <p:spPr>
          <a:xfrm>
            <a:off x="1219200" y="2743200"/>
            <a:ext cx="682625" cy="5921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u="none" dirty="0">
                <a:latin typeface="Times New Roman" panose="02020603050405020304" pitchFamily="18" charset="0"/>
              </a:rPr>
              <a:t>S</a:t>
            </a:r>
            <a:endParaRPr lang="zh-CN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89097" name="Line 12"/>
          <p:cNvSpPr/>
          <p:nvPr/>
        </p:nvSpPr>
        <p:spPr>
          <a:xfrm>
            <a:off x="990600" y="304800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9098" name="Line 13"/>
          <p:cNvSpPr/>
          <p:nvPr/>
        </p:nvSpPr>
        <p:spPr>
          <a:xfrm>
            <a:off x="1908175" y="3141663"/>
            <a:ext cx="1655763" cy="7921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9099" name="Text Box 14"/>
          <p:cNvSpPr txBox="1"/>
          <p:nvPr/>
        </p:nvSpPr>
        <p:spPr>
          <a:xfrm>
            <a:off x="2627313" y="3068638"/>
            <a:ext cx="360362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u="none" dirty="0">
                <a:solidFill>
                  <a:schemeClr val="tx2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</a:t>
            </a:r>
            <a:endParaRPr lang="en-US" altLang="zh-CN" u="none" dirty="0">
              <a:solidFill>
                <a:schemeClr val="tx2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对于正规式</a:t>
            </a:r>
            <a:r>
              <a:rPr lang="en-US" altLang="zh-CN" dirty="0"/>
              <a:t>R=</a:t>
            </a:r>
            <a:r>
              <a:rPr lang="en-US" altLang="zh-CN" dirty="0">
                <a:sym typeface="Symbol" panose="05050102010706020507" pitchFamily="18" charset="2"/>
              </a:rPr>
              <a:t>a</a:t>
            </a:r>
            <a:r>
              <a:rPr lang="zh-CN" altLang="en-US" sz="2800" dirty="0"/>
              <a:t> ,构造的</a:t>
            </a:r>
            <a:r>
              <a:rPr lang="en-US" altLang="zh-CN" sz="2800" dirty="0"/>
              <a:t>NFA</a:t>
            </a:r>
            <a:endParaRPr lang="zh-CN" altLang="en-US" sz="2800" dirty="0"/>
          </a:p>
        </p:txBody>
      </p:sp>
      <p:grpSp>
        <p:nvGrpSpPr>
          <p:cNvPr id="90114" name="Group 4"/>
          <p:cNvGrpSpPr/>
          <p:nvPr/>
        </p:nvGrpSpPr>
        <p:grpSpPr>
          <a:xfrm>
            <a:off x="3505200" y="3810000"/>
            <a:ext cx="685800" cy="685800"/>
            <a:chOff x="4224" y="2688"/>
            <a:chExt cx="432" cy="432"/>
          </a:xfrm>
        </p:grpSpPr>
        <p:sp>
          <p:nvSpPr>
            <p:cNvPr id="90115" name="Oval 5"/>
            <p:cNvSpPr/>
            <p:nvPr/>
          </p:nvSpPr>
          <p:spPr>
            <a:xfrm>
              <a:off x="4224" y="2688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90116" name="Oval 6"/>
            <p:cNvSpPr/>
            <p:nvPr/>
          </p:nvSpPr>
          <p:spPr>
            <a:xfrm>
              <a:off x="4272" y="273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F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0117" name="Oval 7"/>
          <p:cNvSpPr/>
          <p:nvPr/>
        </p:nvSpPr>
        <p:spPr>
          <a:xfrm>
            <a:off x="1187450" y="2708275"/>
            <a:ext cx="682625" cy="5921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u="none" dirty="0">
                <a:latin typeface="Times New Roman" panose="02020603050405020304" pitchFamily="18" charset="0"/>
              </a:rPr>
              <a:t>S</a:t>
            </a:r>
            <a:endParaRPr lang="zh-CN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90118" name="Line 8"/>
          <p:cNvSpPr/>
          <p:nvPr/>
        </p:nvSpPr>
        <p:spPr>
          <a:xfrm>
            <a:off x="990600" y="304800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90119" name="Rectangle 10"/>
          <p:cNvSpPr>
            <a:spLocks noGrp="1"/>
          </p:cNvSpPr>
          <p:nvPr>
            <p:ph sz="half" idx="2"/>
          </p:nvPr>
        </p:nvSpPr>
        <p:spPr>
          <a:xfrm>
            <a:off x="4627563" y="1885950"/>
            <a:ext cx="4008437" cy="4171950"/>
          </a:xfrm>
        </p:spPr>
        <p:txBody>
          <a:bodyPr vert="horz" wrap="square" lIns="91440" tIns="45720" rIns="91440" bIns="45720" anchor="t" anchorCtr="0"/>
          <a:p>
            <a:pPr eaLnBrk="1" hangingPunct="1">
              <a:buSzTx/>
            </a:pPr>
            <a:endParaRPr kumimoji="1"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90120" name="Line 11"/>
          <p:cNvSpPr/>
          <p:nvPr/>
        </p:nvSpPr>
        <p:spPr>
          <a:xfrm>
            <a:off x="1908175" y="3141663"/>
            <a:ext cx="1655763" cy="7921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90121" name="Text Box 34"/>
          <p:cNvSpPr txBox="1"/>
          <p:nvPr/>
        </p:nvSpPr>
        <p:spPr>
          <a:xfrm>
            <a:off x="2627313" y="3068638"/>
            <a:ext cx="360362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b="1" i="1" u="none" dirty="0">
                <a:latin typeface="Times New Roman" panose="02020603050405020304" pitchFamily="18" charset="0"/>
              </a:rPr>
              <a:t>a</a:t>
            </a:r>
            <a:endParaRPr lang="en-US" altLang="zh-CN" b="1" i="1" u="none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对于正规式</a:t>
            </a:r>
            <a:r>
              <a:rPr lang="en-US" altLang="zh-CN" sz="2800" dirty="0"/>
              <a:t>r, r= s|t</a:t>
            </a:r>
            <a:r>
              <a:rPr lang="zh-CN" altLang="en-US" sz="2800" dirty="0"/>
              <a:t>构造的</a:t>
            </a:r>
            <a:r>
              <a:rPr lang="en-US" altLang="zh-CN" sz="2800" dirty="0"/>
              <a:t>NFA</a:t>
            </a:r>
            <a:endParaRPr lang="zh-CN" altLang="en-US" sz="2800" dirty="0"/>
          </a:p>
        </p:txBody>
      </p:sp>
      <p:grpSp>
        <p:nvGrpSpPr>
          <p:cNvPr id="91138" name="Group 5"/>
          <p:cNvGrpSpPr/>
          <p:nvPr/>
        </p:nvGrpSpPr>
        <p:grpSpPr>
          <a:xfrm>
            <a:off x="1835150" y="2781300"/>
            <a:ext cx="4968875" cy="2519363"/>
            <a:chOff x="1096" y="2776"/>
            <a:chExt cx="2451" cy="888"/>
          </a:xfrm>
        </p:grpSpPr>
        <p:grpSp>
          <p:nvGrpSpPr>
            <p:cNvPr id="91139" name="Group 6"/>
            <p:cNvGrpSpPr/>
            <p:nvPr/>
          </p:nvGrpSpPr>
          <p:grpSpPr>
            <a:xfrm>
              <a:off x="3176" y="3008"/>
              <a:ext cx="371" cy="384"/>
              <a:chOff x="1344" y="2784"/>
              <a:chExt cx="384" cy="384"/>
            </a:xfrm>
          </p:grpSpPr>
          <p:sp>
            <p:nvSpPr>
              <p:cNvPr id="91140" name="Oval 7"/>
              <p:cNvSpPr/>
              <p:nvPr/>
            </p:nvSpPr>
            <p:spPr>
              <a:xfrm>
                <a:off x="1393" y="2896"/>
                <a:ext cx="286" cy="162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u="none" dirty="0">
                    <a:solidFill>
                      <a:srgbClr val="3366FF"/>
                    </a:solidFill>
                    <a:latin typeface="Times New Roman" panose="02020603050405020304" pitchFamily="18" charset="0"/>
                  </a:rPr>
                  <a:t>y</a:t>
                </a:r>
                <a:endParaRPr lang="en-US" altLang="zh-CN" sz="2000" b="1" u="none" dirty="0">
                  <a:solidFill>
                    <a:srgbClr val="3366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1141" name="Oval 8"/>
              <p:cNvSpPr/>
              <p:nvPr/>
            </p:nvSpPr>
            <p:spPr>
              <a:xfrm>
                <a:off x="1344" y="2784"/>
                <a:ext cx="384" cy="38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1142" name="Oval 9"/>
            <p:cNvSpPr/>
            <p:nvPr/>
          </p:nvSpPr>
          <p:spPr>
            <a:xfrm>
              <a:off x="1455" y="3192"/>
              <a:ext cx="275" cy="16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solidFill>
                    <a:srgbClr val="3366FF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000" b="1" u="none" dirty="0">
                <a:solidFill>
                  <a:srgbClr val="3366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43" name="AutoShape 10"/>
            <p:cNvSpPr/>
            <p:nvPr/>
          </p:nvSpPr>
          <p:spPr>
            <a:xfrm>
              <a:off x="1096" y="3216"/>
              <a:ext cx="351" cy="122"/>
            </a:xfrm>
            <a:prstGeom prst="rightArrow">
              <a:avLst>
                <a:gd name="adj1" fmla="val 50000"/>
                <a:gd name="adj2" fmla="val 71859"/>
              </a:avLst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91144" name="Line 11"/>
            <p:cNvSpPr/>
            <p:nvPr/>
          </p:nvSpPr>
          <p:spPr>
            <a:xfrm flipV="1">
              <a:off x="1720" y="2952"/>
              <a:ext cx="296" cy="29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1145" name="Rectangle 12"/>
            <p:cNvSpPr/>
            <p:nvPr/>
          </p:nvSpPr>
          <p:spPr>
            <a:xfrm>
              <a:off x="1728" y="2910"/>
              <a:ext cx="126" cy="10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ε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91146" name="Group 13"/>
            <p:cNvGrpSpPr/>
            <p:nvPr/>
          </p:nvGrpSpPr>
          <p:grpSpPr>
            <a:xfrm>
              <a:off x="2004" y="2776"/>
              <a:ext cx="780" cy="280"/>
              <a:chOff x="1820" y="3480"/>
              <a:chExt cx="780" cy="280"/>
            </a:xfrm>
          </p:grpSpPr>
          <p:sp>
            <p:nvSpPr>
              <p:cNvPr id="91147" name="Freeform 14"/>
              <p:cNvSpPr/>
              <p:nvPr/>
            </p:nvSpPr>
            <p:spPr>
              <a:xfrm>
                <a:off x="1820" y="3480"/>
                <a:ext cx="140" cy="280"/>
              </a:xfrm>
              <a:custGeom>
                <a:avLst/>
                <a:gdLst/>
                <a:ahLst/>
                <a:cxnLst>
                  <a:cxn ang="0">
                    <a:pos x="124" y="0"/>
                  </a:cxn>
                  <a:cxn ang="0">
                    <a:pos x="20" y="40"/>
                  </a:cxn>
                  <a:cxn ang="0">
                    <a:pos x="4" y="152"/>
                  </a:cxn>
                  <a:cxn ang="0">
                    <a:pos x="44" y="248"/>
                  </a:cxn>
                  <a:cxn ang="0">
                    <a:pos x="140" y="280"/>
                  </a:cxn>
                </a:cxnLst>
                <a:pathLst>
                  <a:path w="140" h="280">
                    <a:moveTo>
                      <a:pt x="124" y="0"/>
                    </a:moveTo>
                    <a:cubicBezTo>
                      <a:pt x="82" y="7"/>
                      <a:pt x="40" y="15"/>
                      <a:pt x="20" y="40"/>
                    </a:cubicBezTo>
                    <a:cubicBezTo>
                      <a:pt x="0" y="65"/>
                      <a:pt x="0" y="117"/>
                      <a:pt x="4" y="152"/>
                    </a:cubicBezTo>
                    <a:cubicBezTo>
                      <a:pt x="8" y="187"/>
                      <a:pt x="21" y="227"/>
                      <a:pt x="44" y="248"/>
                    </a:cubicBezTo>
                    <a:cubicBezTo>
                      <a:pt x="67" y="269"/>
                      <a:pt x="124" y="275"/>
                      <a:pt x="140" y="280"/>
                    </a:cubicBezTo>
                  </a:path>
                </a:pathLst>
              </a:custGeom>
              <a:noFill/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1148" name="Freeform 15"/>
              <p:cNvSpPr/>
              <p:nvPr/>
            </p:nvSpPr>
            <p:spPr>
              <a:xfrm flipH="1">
                <a:off x="2460" y="3480"/>
                <a:ext cx="140" cy="280"/>
              </a:xfrm>
              <a:custGeom>
                <a:avLst/>
                <a:gdLst/>
                <a:ahLst/>
                <a:cxnLst>
                  <a:cxn ang="0">
                    <a:pos x="124" y="0"/>
                  </a:cxn>
                  <a:cxn ang="0">
                    <a:pos x="20" y="40"/>
                  </a:cxn>
                  <a:cxn ang="0">
                    <a:pos x="4" y="152"/>
                  </a:cxn>
                  <a:cxn ang="0">
                    <a:pos x="44" y="248"/>
                  </a:cxn>
                  <a:cxn ang="0">
                    <a:pos x="140" y="280"/>
                  </a:cxn>
                </a:cxnLst>
                <a:pathLst>
                  <a:path w="140" h="280">
                    <a:moveTo>
                      <a:pt x="124" y="0"/>
                    </a:moveTo>
                    <a:cubicBezTo>
                      <a:pt x="82" y="7"/>
                      <a:pt x="40" y="15"/>
                      <a:pt x="20" y="40"/>
                    </a:cubicBezTo>
                    <a:cubicBezTo>
                      <a:pt x="0" y="65"/>
                      <a:pt x="0" y="117"/>
                      <a:pt x="4" y="152"/>
                    </a:cubicBezTo>
                    <a:cubicBezTo>
                      <a:pt x="8" y="187"/>
                      <a:pt x="21" y="227"/>
                      <a:pt x="44" y="248"/>
                    </a:cubicBezTo>
                    <a:cubicBezTo>
                      <a:pt x="67" y="269"/>
                      <a:pt x="124" y="275"/>
                      <a:pt x="140" y="280"/>
                    </a:cubicBezTo>
                  </a:path>
                </a:pathLst>
              </a:custGeom>
              <a:noFill/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1149" name="Line 16"/>
              <p:cNvSpPr/>
              <p:nvPr/>
            </p:nvSpPr>
            <p:spPr>
              <a:xfrm flipV="1">
                <a:off x="1920" y="3480"/>
                <a:ext cx="544" cy="8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1150" name="Line 17"/>
              <p:cNvSpPr/>
              <p:nvPr/>
            </p:nvSpPr>
            <p:spPr>
              <a:xfrm>
                <a:off x="1952" y="3760"/>
                <a:ext cx="528" cy="0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1151" name="Oval 18"/>
              <p:cNvSpPr/>
              <p:nvPr/>
            </p:nvSpPr>
            <p:spPr>
              <a:xfrm>
                <a:off x="1880" y="3568"/>
                <a:ext cx="104" cy="96"/>
              </a:xfrm>
              <a:prstGeom prst="ellipse">
                <a:avLst/>
              </a:prstGeom>
              <a:noFill/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1152" name="Rectangle 19"/>
              <p:cNvSpPr/>
              <p:nvPr/>
            </p:nvSpPr>
            <p:spPr>
              <a:xfrm>
                <a:off x="2060" y="3524"/>
                <a:ext cx="222" cy="108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u="none" dirty="0">
                    <a:latin typeface="Times New Roman" panose="02020603050405020304" pitchFamily="18" charset="0"/>
                  </a:rPr>
                  <a:t>N(s)</a:t>
                </a:r>
                <a:endParaRPr lang="en-US" altLang="zh-CN" sz="2000" b="1" u="none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1153" name="Oval 20"/>
              <p:cNvSpPr/>
              <p:nvPr/>
            </p:nvSpPr>
            <p:spPr>
              <a:xfrm>
                <a:off x="2416" y="3560"/>
                <a:ext cx="104" cy="96"/>
              </a:xfrm>
              <a:prstGeom prst="ellipse">
                <a:avLst/>
              </a:prstGeom>
              <a:noFill/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91154" name="Group 21"/>
            <p:cNvGrpSpPr/>
            <p:nvPr/>
          </p:nvGrpSpPr>
          <p:grpSpPr>
            <a:xfrm>
              <a:off x="2028" y="3384"/>
              <a:ext cx="780" cy="280"/>
              <a:chOff x="1820" y="3480"/>
              <a:chExt cx="780" cy="280"/>
            </a:xfrm>
          </p:grpSpPr>
          <p:sp>
            <p:nvSpPr>
              <p:cNvPr id="91155" name="Freeform 22"/>
              <p:cNvSpPr/>
              <p:nvPr/>
            </p:nvSpPr>
            <p:spPr>
              <a:xfrm>
                <a:off x="1820" y="3480"/>
                <a:ext cx="140" cy="280"/>
              </a:xfrm>
              <a:custGeom>
                <a:avLst/>
                <a:gdLst/>
                <a:ahLst/>
                <a:cxnLst>
                  <a:cxn ang="0">
                    <a:pos x="124" y="0"/>
                  </a:cxn>
                  <a:cxn ang="0">
                    <a:pos x="20" y="40"/>
                  </a:cxn>
                  <a:cxn ang="0">
                    <a:pos x="4" y="152"/>
                  </a:cxn>
                  <a:cxn ang="0">
                    <a:pos x="44" y="248"/>
                  </a:cxn>
                  <a:cxn ang="0">
                    <a:pos x="140" y="280"/>
                  </a:cxn>
                </a:cxnLst>
                <a:pathLst>
                  <a:path w="140" h="280">
                    <a:moveTo>
                      <a:pt x="124" y="0"/>
                    </a:moveTo>
                    <a:cubicBezTo>
                      <a:pt x="82" y="7"/>
                      <a:pt x="40" y="15"/>
                      <a:pt x="20" y="40"/>
                    </a:cubicBezTo>
                    <a:cubicBezTo>
                      <a:pt x="0" y="65"/>
                      <a:pt x="0" y="117"/>
                      <a:pt x="4" y="152"/>
                    </a:cubicBezTo>
                    <a:cubicBezTo>
                      <a:pt x="8" y="187"/>
                      <a:pt x="21" y="227"/>
                      <a:pt x="44" y="248"/>
                    </a:cubicBezTo>
                    <a:cubicBezTo>
                      <a:pt x="67" y="269"/>
                      <a:pt x="124" y="275"/>
                      <a:pt x="140" y="280"/>
                    </a:cubicBezTo>
                  </a:path>
                </a:pathLst>
              </a:custGeom>
              <a:noFill/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1156" name="Freeform 23"/>
              <p:cNvSpPr/>
              <p:nvPr/>
            </p:nvSpPr>
            <p:spPr>
              <a:xfrm flipH="1">
                <a:off x="2460" y="3480"/>
                <a:ext cx="140" cy="280"/>
              </a:xfrm>
              <a:custGeom>
                <a:avLst/>
                <a:gdLst/>
                <a:ahLst/>
                <a:cxnLst>
                  <a:cxn ang="0">
                    <a:pos x="124" y="0"/>
                  </a:cxn>
                  <a:cxn ang="0">
                    <a:pos x="20" y="40"/>
                  </a:cxn>
                  <a:cxn ang="0">
                    <a:pos x="4" y="152"/>
                  </a:cxn>
                  <a:cxn ang="0">
                    <a:pos x="44" y="248"/>
                  </a:cxn>
                  <a:cxn ang="0">
                    <a:pos x="140" y="280"/>
                  </a:cxn>
                </a:cxnLst>
                <a:pathLst>
                  <a:path w="140" h="280">
                    <a:moveTo>
                      <a:pt x="124" y="0"/>
                    </a:moveTo>
                    <a:cubicBezTo>
                      <a:pt x="82" y="7"/>
                      <a:pt x="40" y="15"/>
                      <a:pt x="20" y="40"/>
                    </a:cubicBezTo>
                    <a:cubicBezTo>
                      <a:pt x="0" y="65"/>
                      <a:pt x="0" y="117"/>
                      <a:pt x="4" y="152"/>
                    </a:cubicBezTo>
                    <a:cubicBezTo>
                      <a:pt x="8" y="187"/>
                      <a:pt x="21" y="227"/>
                      <a:pt x="44" y="248"/>
                    </a:cubicBezTo>
                    <a:cubicBezTo>
                      <a:pt x="67" y="269"/>
                      <a:pt x="124" y="275"/>
                      <a:pt x="140" y="280"/>
                    </a:cubicBezTo>
                  </a:path>
                </a:pathLst>
              </a:custGeom>
              <a:noFill/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1157" name="Line 24"/>
              <p:cNvSpPr/>
              <p:nvPr/>
            </p:nvSpPr>
            <p:spPr>
              <a:xfrm flipV="1">
                <a:off x="1920" y="3480"/>
                <a:ext cx="544" cy="8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1158" name="Line 25"/>
              <p:cNvSpPr/>
              <p:nvPr/>
            </p:nvSpPr>
            <p:spPr>
              <a:xfrm>
                <a:off x="1952" y="3760"/>
                <a:ext cx="528" cy="0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1159" name="Oval 26"/>
              <p:cNvSpPr/>
              <p:nvPr/>
            </p:nvSpPr>
            <p:spPr>
              <a:xfrm>
                <a:off x="1880" y="3568"/>
                <a:ext cx="104" cy="96"/>
              </a:xfrm>
              <a:prstGeom prst="ellipse">
                <a:avLst/>
              </a:prstGeom>
              <a:noFill/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1160" name="Rectangle 27"/>
              <p:cNvSpPr/>
              <p:nvPr/>
            </p:nvSpPr>
            <p:spPr>
              <a:xfrm>
                <a:off x="2061" y="3524"/>
                <a:ext cx="216" cy="108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u="none" dirty="0">
                    <a:latin typeface="Times New Roman" panose="02020603050405020304" pitchFamily="18" charset="0"/>
                  </a:rPr>
                  <a:t>N(t)</a:t>
                </a:r>
                <a:endParaRPr lang="en-US" altLang="zh-CN" sz="2000" b="1" u="none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1161" name="Oval 28"/>
              <p:cNvSpPr/>
              <p:nvPr/>
            </p:nvSpPr>
            <p:spPr>
              <a:xfrm>
                <a:off x="2416" y="3560"/>
                <a:ext cx="104" cy="96"/>
              </a:xfrm>
              <a:prstGeom prst="ellipse">
                <a:avLst/>
              </a:prstGeom>
              <a:noFill/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1162" name="Line 29"/>
            <p:cNvSpPr/>
            <p:nvPr/>
          </p:nvSpPr>
          <p:spPr>
            <a:xfrm>
              <a:off x="1736" y="3304"/>
              <a:ext cx="304" cy="23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1163" name="Line 30"/>
            <p:cNvSpPr/>
            <p:nvPr/>
          </p:nvSpPr>
          <p:spPr>
            <a:xfrm>
              <a:off x="2776" y="2920"/>
              <a:ext cx="424" cy="25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1164" name="Line 31"/>
            <p:cNvSpPr/>
            <p:nvPr/>
          </p:nvSpPr>
          <p:spPr>
            <a:xfrm flipV="1">
              <a:off x="2808" y="3224"/>
              <a:ext cx="392" cy="31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1165" name="Rectangle 32"/>
            <p:cNvSpPr/>
            <p:nvPr/>
          </p:nvSpPr>
          <p:spPr>
            <a:xfrm>
              <a:off x="2952" y="2838"/>
              <a:ext cx="126" cy="10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ε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1166" name="Rectangle 33"/>
            <p:cNvSpPr/>
            <p:nvPr/>
          </p:nvSpPr>
          <p:spPr>
            <a:xfrm>
              <a:off x="1736" y="3374"/>
              <a:ext cx="126" cy="10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ε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1167" name="Rectangle 34"/>
            <p:cNvSpPr/>
            <p:nvPr/>
          </p:nvSpPr>
          <p:spPr>
            <a:xfrm>
              <a:off x="2944" y="3350"/>
              <a:ext cx="126" cy="10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ε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对于正规式</a:t>
            </a:r>
            <a:r>
              <a:rPr lang="en-US" altLang="zh-CN" sz="2800" dirty="0"/>
              <a:t>r, r=st</a:t>
            </a:r>
            <a:r>
              <a:rPr lang="zh-CN" altLang="en-US" sz="2800" dirty="0"/>
              <a:t>构造的</a:t>
            </a:r>
            <a:r>
              <a:rPr lang="en-US" altLang="zh-CN" sz="2800" dirty="0"/>
              <a:t>NFA</a:t>
            </a:r>
            <a:endParaRPr lang="zh-CN" altLang="en-US" sz="2800" dirty="0"/>
          </a:p>
        </p:txBody>
      </p:sp>
      <p:grpSp>
        <p:nvGrpSpPr>
          <p:cNvPr id="92162" name="Group 5"/>
          <p:cNvGrpSpPr/>
          <p:nvPr/>
        </p:nvGrpSpPr>
        <p:grpSpPr>
          <a:xfrm>
            <a:off x="971550" y="3141663"/>
            <a:ext cx="4564063" cy="1871662"/>
            <a:chOff x="1352" y="1912"/>
            <a:chExt cx="2240" cy="528"/>
          </a:xfrm>
        </p:grpSpPr>
        <p:grpSp>
          <p:nvGrpSpPr>
            <p:cNvPr id="92163" name="Group 6"/>
            <p:cNvGrpSpPr/>
            <p:nvPr/>
          </p:nvGrpSpPr>
          <p:grpSpPr>
            <a:xfrm>
              <a:off x="3173" y="2001"/>
              <a:ext cx="358" cy="332"/>
              <a:chOff x="1344" y="2784"/>
              <a:chExt cx="384" cy="384"/>
            </a:xfrm>
          </p:grpSpPr>
          <p:sp>
            <p:nvSpPr>
              <p:cNvPr id="92164" name="Oval 7"/>
              <p:cNvSpPr/>
              <p:nvPr/>
            </p:nvSpPr>
            <p:spPr>
              <a:xfrm>
                <a:off x="1393" y="2902"/>
                <a:ext cx="286" cy="15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u="none" dirty="0">
                    <a:solidFill>
                      <a:srgbClr val="3366FF"/>
                    </a:solidFill>
                    <a:latin typeface="Times New Roman" panose="02020603050405020304" pitchFamily="18" charset="0"/>
                  </a:rPr>
                  <a:t>y</a:t>
                </a:r>
                <a:endParaRPr lang="en-US" altLang="zh-CN" sz="2000" b="1" u="none" dirty="0">
                  <a:solidFill>
                    <a:srgbClr val="3366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165" name="Oval 8"/>
              <p:cNvSpPr/>
              <p:nvPr/>
            </p:nvSpPr>
            <p:spPr>
              <a:xfrm>
                <a:off x="1344" y="2784"/>
                <a:ext cx="384" cy="38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2166" name="Oval 9"/>
            <p:cNvSpPr/>
            <p:nvPr/>
          </p:nvSpPr>
          <p:spPr>
            <a:xfrm>
              <a:off x="1714" y="2109"/>
              <a:ext cx="266" cy="13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solidFill>
                    <a:srgbClr val="3366FF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000" b="1" u="none" dirty="0">
                <a:solidFill>
                  <a:srgbClr val="3366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167" name="AutoShape 10"/>
            <p:cNvSpPr/>
            <p:nvPr/>
          </p:nvSpPr>
          <p:spPr>
            <a:xfrm>
              <a:off x="1352" y="2141"/>
              <a:ext cx="338" cy="105"/>
            </a:xfrm>
            <a:prstGeom prst="rightArrow">
              <a:avLst>
                <a:gd name="adj1" fmla="val 50000"/>
                <a:gd name="adj2" fmla="val 80401"/>
              </a:avLst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92168" name="Rectangle 11"/>
            <p:cNvSpPr/>
            <p:nvPr/>
          </p:nvSpPr>
          <p:spPr>
            <a:xfrm>
              <a:off x="2090" y="2062"/>
              <a:ext cx="221" cy="86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N(s)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2169" name="Oval 12"/>
            <p:cNvSpPr/>
            <p:nvPr/>
          </p:nvSpPr>
          <p:spPr>
            <a:xfrm>
              <a:off x="2509" y="2114"/>
              <a:ext cx="148" cy="123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92170" name="Line 13"/>
            <p:cNvSpPr/>
            <p:nvPr/>
          </p:nvSpPr>
          <p:spPr>
            <a:xfrm flipV="1">
              <a:off x="1744" y="1912"/>
              <a:ext cx="168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2171" name="Line 14"/>
            <p:cNvSpPr/>
            <p:nvPr/>
          </p:nvSpPr>
          <p:spPr>
            <a:xfrm>
              <a:off x="1768" y="2440"/>
              <a:ext cx="1640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2172" name="Freeform 15"/>
            <p:cNvSpPr/>
            <p:nvPr/>
          </p:nvSpPr>
          <p:spPr>
            <a:xfrm>
              <a:off x="1585" y="1912"/>
              <a:ext cx="191" cy="520"/>
            </a:xfrm>
            <a:custGeom>
              <a:avLst/>
              <a:gdLst/>
              <a:ahLst/>
              <a:cxnLst>
                <a:cxn ang="0">
                  <a:pos x="136" y="0"/>
                </a:cxn>
                <a:cxn ang="0">
                  <a:pos x="26" y="110"/>
                </a:cxn>
                <a:cxn ang="0">
                  <a:pos x="7" y="288"/>
                </a:cxn>
                <a:cxn ang="0">
                  <a:pos x="58" y="422"/>
                </a:cxn>
                <a:cxn ang="0">
                  <a:pos x="162" y="488"/>
                </a:cxn>
              </a:cxnLst>
              <a:pathLst>
                <a:path w="199" h="528">
                  <a:moveTo>
                    <a:pt x="167" y="0"/>
                  </a:moveTo>
                  <a:cubicBezTo>
                    <a:pt x="112" y="34"/>
                    <a:pt x="58" y="68"/>
                    <a:pt x="31" y="120"/>
                  </a:cubicBezTo>
                  <a:cubicBezTo>
                    <a:pt x="4" y="172"/>
                    <a:pt x="0" y="256"/>
                    <a:pt x="7" y="312"/>
                  </a:cubicBezTo>
                  <a:cubicBezTo>
                    <a:pt x="14" y="368"/>
                    <a:pt x="39" y="420"/>
                    <a:pt x="71" y="456"/>
                  </a:cubicBezTo>
                  <a:cubicBezTo>
                    <a:pt x="103" y="492"/>
                    <a:pt x="178" y="516"/>
                    <a:pt x="199" y="528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173" name="Freeform 16"/>
            <p:cNvSpPr/>
            <p:nvPr/>
          </p:nvSpPr>
          <p:spPr>
            <a:xfrm flipH="1">
              <a:off x="3401" y="1920"/>
              <a:ext cx="191" cy="520"/>
            </a:xfrm>
            <a:custGeom>
              <a:avLst/>
              <a:gdLst/>
              <a:ahLst/>
              <a:cxnLst>
                <a:cxn ang="0">
                  <a:pos x="136" y="0"/>
                </a:cxn>
                <a:cxn ang="0">
                  <a:pos x="26" y="110"/>
                </a:cxn>
                <a:cxn ang="0">
                  <a:pos x="7" y="288"/>
                </a:cxn>
                <a:cxn ang="0">
                  <a:pos x="58" y="422"/>
                </a:cxn>
                <a:cxn ang="0">
                  <a:pos x="162" y="488"/>
                </a:cxn>
              </a:cxnLst>
              <a:pathLst>
                <a:path w="199" h="528">
                  <a:moveTo>
                    <a:pt x="167" y="0"/>
                  </a:moveTo>
                  <a:cubicBezTo>
                    <a:pt x="112" y="34"/>
                    <a:pt x="58" y="68"/>
                    <a:pt x="31" y="120"/>
                  </a:cubicBezTo>
                  <a:cubicBezTo>
                    <a:pt x="4" y="172"/>
                    <a:pt x="0" y="256"/>
                    <a:pt x="7" y="312"/>
                  </a:cubicBezTo>
                  <a:cubicBezTo>
                    <a:pt x="14" y="368"/>
                    <a:pt x="39" y="420"/>
                    <a:pt x="71" y="456"/>
                  </a:cubicBezTo>
                  <a:cubicBezTo>
                    <a:pt x="103" y="492"/>
                    <a:pt x="178" y="516"/>
                    <a:pt x="199" y="528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174" name="Rectangle 17"/>
            <p:cNvSpPr/>
            <p:nvPr/>
          </p:nvSpPr>
          <p:spPr>
            <a:xfrm>
              <a:off x="2858" y="2070"/>
              <a:ext cx="214" cy="86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N(t)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2175" name="Freeform 18"/>
            <p:cNvSpPr/>
            <p:nvPr/>
          </p:nvSpPr>
          <p:spPr>
            <a:xfrm>
              <a:off x="2401" y="1912"/>
              <a:ext cx="191" cy="520"/>
            </a:xfrm>
            <a:custGeom>
              <a:avLst/>
              <a:gdLst/>
              <a:ahLst/>
              <a:cxnLst>
                <a:cxn ang="0">
                  <a:pos x="136" y="0"/>
                </a:cxn>
                <a:cxn ang="0">
                  <a:pos x="26" y="110"/>
                </a:cxn>
                <a:cxn ang="0">
                  <a:pos x="7" y="288"/>
                </a:cxn>
                <a:cxn ang="0">
                  <a:pos x="58" y="422"/>
                </a:cxn>
                <a:cxn ang="0">
                  <a:pos x="162" y="488"/>
                </a:cxn>
              </a:cxnLst>
              <a:pathLst>
                <a:path w="199" h="528">
                  <a:moveTo>
                    <a:pt x="167" y="0"/>
                  </a:moveTo>
                  <a:cubicBezTo>
                    <a:pt x="112" y="34"/>
                    <a:pt x="58" y="68"/>
                    <a:pt x="31" y="120"/>
                  </a:cubicBezTo>
                  <a:cubicBezTo>
                    <a:pt x="4" y="172"/>
                    <a:pt x="0" y="256"/>
                    <a:pt x="7" y="312"/>
                  </a:cubicBezTo>
                  <a:cubicBezTo>
                    <a:pt x="14" y="368"/>
                    <a:pt x="39" y="420"/>
                    <a:pt x="71" y="456"/>
                  </a:cubicBezTo>
                  <a:cubicBezTo>
                    <a:pt x="103" y="492"/>
                    <a:pt x="178" y="516"/>
                    <a:pt x="199" y="528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176" name="Freeform 19"/>
            <p:cNvSpPr/>
            <p:nvPr/>
          </p:nvSpPr>
          <p:spPr>
            <a:xfrm flipH="1">
              <a:off x="2577" y="1920"/>
              <a:ext cx="191" cy="520"/>
            </a:xfrm>
            <a:custGeom>
              <a:avLst/>
              <a:gdLst/>
              <a:ahLst/>
              <a:cxnLst>
                <a:cxn ang="0">
                  <a:pos x="136" y="0"/>
                </a:cxn>
                <a:cxn ang="0">
                  <a:pos x="26" y="110"/>
                </a:cxn>
                <a:cxn ang="0">
                  <a:pos x="7" y="288"/>
                </a:cxn>
                <a:cxn ang="0">
                  <a:pos x="58" y="422"/>
                </a:cxn>
                <a:cxn ang="0">
                  <a:pos x="162" y="488"/>
                </a:cxn>
              </a:cxnLst>
              <a:pathLst>
                <a:path w="199" h="528">
                  <a:moveTo>
                    <a:pt x="167" y="0"/>
                  </a:moveTo>
                  <a:cubicBezTo>
                    <a:pt x="112" y="34"/>
                    <a:pt x="58" y="68"/>
                    <a:pt x="31" y="120"/>
                  </a:cubicBezTo>
                  <a:cubicBezTo>
                    <a:pt x="4" y="172"/>
                    <a:pt x="0" y="256"/>
                    <a:pt x="7" y="312"/>
                  </a:cubicBezTo>
                  <a:cubicBezTo>
                    <a:pt x="14" y="368"/>
                    <a:pt x="39" y="420"/>
                    <a:pt x="71" y="456"/>
                  </a:cubicBezTo>
                  <a:cubicBezTo>
                    <a:pt x="103" y="492"/>
                    <a:pt x="178" y="516"/>
                    <a:pt x="199" y="528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对于正规式</a:t>
            </a:r>
            <a:r>
              <a:rPr lang="en-US" altLang="zh-CN" sz="2800" dirty="0"/>
              <a:t>r, r=s*</a:t>
            </a:r>
            <a:r>
              <a:rPr lang="zh-CN" altLang="en-US" sz="2800" dirty="0"/>
              <a:t>构造的</a:t>
            </a:r>
            <a:r>
              <a:rPr lang="en-US" altLang="zh-CN" sz="2800" dirty="0"/>
              <a:t>NFA</a:t>
            </a:r>
            <a:endParaRPr lang="zh-CN" altLang="en-US" sz="2800" dirty="0"/>
          </a:p>
        </p:txBody>
      </p:sp>
      <p:grpSp>
        <p:nvGrpSpPr>
          <p:cNvPr id="93186" name="Group 5"/>
          <p:cNvGrpSpPr/>
          <p:nvPr/>
        </p:nvGrpSpPr>
        <p:grpSpPr>
          <a:xfrm>
            <a:off x="1116013" y="2349500"/>
            <a:ext cx="5832475" cy="2563813"/>
            <a:chOff x="784" y="1837"/>
            <a:chExt cx="2851" cy="1101"/>
          </a:xfrm>
        </p:grpSpPr>
        <p:grpSp>
          <p:nvGrpSpPr>
            <p:cNvPr id="93187" name="Group 6"/>
            <p:cNvGrpSpPr/>
            <p:nvPr/>
          </p:nvGrpSpPr>
          <p:grpSpPr>
            <a:xfrm>
              <a:off x="3277" y="2225"/>
              <a:ext cx="358" cy="332"/>
              <a:chOff x="1344" y="2784"/>
              <a:chExt cx="384" cy="384"/>
            </a:xfrm>
          </p:grpSpPr>
          <p:sp>
            <p:nvSpPr>
              <p:cNvPr id="93188" name="Oval 7"/>
              <p:cNvSpPr/>
              <p:nvPr/>
            </p:nvSpPr>
            <p:spPr>
              <a:xfrm>
                <a:off x="1393" y="2863"/>
                <a:ext cx="286" cy="229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u="none" dirty="0">
                    <a:solidFill>
                      <a:srgbClr val="3366FF"/>
                    </a:solidFill>
                    <a:latin typeface="Times New Roman" panose="02020603050405020304" pitchFamily="18" charset="0"/>
                  </a:rPr>
                  <a:t>y</a:t>
                </a:r>
                <a:endParaRPr lang="en-US" altLang="zh-CN" sz="2000" b="1" u="none" dirty="0">
                  <a:solidFill>
                    <a:srgbClr val="3366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3189" name="Oval 8"/>
              <p:cNvSpPr/>
              <p:nvPr/>
            </p:nvSpPr>
            <p:spPr>
              <a:xfrm>
                <a:off x="1344" y="2784"/>
                <a:ext cx="384" cy="38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3190" name="Oval 9"/>
            <p:cNvSpPr/>
            <p:nvPr/>
          </p:nvSpPr>
          <p:spPr>
            <a:xfrm>
              <a:off x="1114" y="2283"/>
              <a:ext cx="266" cy="197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solidFill>
                    <a:srgbClr val="3366FF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000" b="1" u="none" dirty="0">
                <a:solidFill>
                  <a:srgbClr val="3366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1" name="AutoShape 10"/>
            <p:cNvSpPr/>
            <p:nvPr/>
          </p:nvSpPr>
          <p:spPr>
            <a:xfrm>
              <a:off x="784" y="2325"/>
              <a:ext cx="338" cy="105"/>
            </a:xfrm>
            <a:prstGeom prst="rightArrow">
              <a:avLst>
                <a:gd name="adj1" fmla="val 50000"/>
                <a:gd name="adj2" fmla="val 80401"/>
              </a:avLst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93192" name="Rectangle 11"/>
            <p:cNvSpPr/>
            <p:nvPr/>
          </p:nvSpPr>
          <p:spPr>
            <a:xfrm>
              <a:off x="2154" y="2246"/>
              <a:ext cx="220" cy="131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N(s)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3193" name="Oval 12"/>
            <p:cNvSpPr/>
            <p:nvPr/>
          </p:nvSpPr>
          <p:spPr>
            <a:xfrm>
              <a:off x="2557" y="2314"/>
              <a:ext cx="148" cy="123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93194" name="Line 13"/>
            <p:cNvSpPr/>
            <p:nvPr/>
          </p:nvSpPr>
          <p:spPr>
            <a:xfrm>
              <a:off x="1848" y="2160"/>
              <a:ext cx="8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3195" name="Line 14"/>
            <p:cNvSpPr/>
            <p:nvPr/>
          </p:nvSpPr>
          <p:spPr>
            <a:xfrm flipV="1">
              <a:off x="1872" y="2576"/>
              <a:ext cx="808" cy="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3196" name="Freeform 15"/>
            <p:cNvSpPr/>
            <p:nvPr/>
          </p:nvSpPr>
          <p:spPr>
            <a:xfrm>
              <a:off x="1689" y="2144"/>
              <a:ext cx="215" cy="432"/>
            </a:xfrm>
            <a:custGeom>
              <a:avLst/>
              <a:gdLst/>
              <a:ahLst/>
              <a:cxnLst>
                <a:cxn ang="0">
                  <a:pos x="245" y="0"/>
                </a:cxn>
                <a:cxn ang="0">
                  <a:pos x="45" y="43"/>
                </a:cxn>
                <a:cxn ang="0">
                  <a:pos x="12" y="115"/>
                </a:cxn>
                <a:cxn ang="0">
                  <a:pos x="105" y="168"/>
                </a:cxn>
                <a:cxn ang="0">
                  <a:pos x="293" y="193"/>
                </a:cxn>
              </a:cxnLst>
              <a:pathLst>
                <a:path w="199" h="528">
                  <a:moveTo>
                    <a:pt x="167" y="0"/>
                  </a:moveTo>
                  <a:cubicBezTo>
                    <a:pt x="112" y="34"/>
                    <a:pt x="58" y="68"/>
                    <a:pt x="31" y="120"/>
                  </a:cubicBezTo>
                  <a:cubicBezTo>
                    <a:pt x="4" y="172"/>
                    <a:pt x="0" y="256"/>
                    <a:pt x="7" y="312"/>
                  </a:cubicBezTo>
                  <a:cubicBezTo>
                    <a:pt x="14" y="368"/>
                    <a:pt x="39" y="420"/>
                    <a:pt x="71" y="456"/>
                  </a:cubicBezTo>
                  <a:cubicBezTo>
                    <a:pt x="103" y="492"/>
                    <a:pt x="178" y="516"/>
                    <a:pt x="199" y="528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197" name="Freeform 16"/>
            <p:cNvSpPr/>
            <p:nvPr/>
          </p:nvSpPr>
          <p:spPr>
            <a:xfrm flipH="1">
              <a:off x="2657" y="2160"/>
              <a:ext cx="191" cy="424"/>
            </a:xfrm>
            <a:custGeom>
              <a:avLst/>
              <a:gdLst/>
              <a:ahLst/>
              <a:cxnLst>
                <a:cxn ang="0">
                  <a:pos x="136" y="0"/>
                </a:cxn>
                <a:cxn ang="0">
                  <a:pos x="26" y="40"/>
                </a:cxn>
                <a:cxn ang="0">
                  <a:pos x="7" y="104"/>
                </a:cxn>
                <a:cxn ang="0">
                  <a:pos x="58" y="153"/>
                </a:cxn>
                <a:cxn ang="0">
                  <a:pos x="162" y="176"/>
                </a:cxn>
              </a:cxnLst>
              <a:pathLst>
                <a:path w="199" h="528">
                  <a:moveTo>
                    <a:pt x="167" y="0"/>
                  </a:moveTo>
                  <a:cubicBezTo>
                    <a:pt x="112" y="34"/>
                    <a:pt x="58" y="68"/>
                    <a:pt x="31" y="120"/>
                  </a:cubicBezTo>
                  <a:cubicBezTo>
                    <a:pt x="4" y="172"/>
                    <a:pt x="0" y="256"/>
                    <a:pt x="7" y="312"/>
                  </a:cubicBezTo>
                  <a:cubicBezTo>
                    <a:pt x="14" y="368"/>
                    <a:pt x="39" y="420"/>
                    <a:pt x="71" y="456"/>
                  </a:cubicBezTo>
                  <a:cubicBezTo>
                    <a:pt x="103" y="492"/>
                    <a:pt x="178" y="516"/>
                    <a:pt x="199" y="528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198" name="Oval 17"/>
            <p:cNvSpPr/>
            <p:nvPr/>
          </p:nvSpPr>
          <p:spPr>
            <a:xfrm>
              <a:off x="1853" y="2306"/>
              <a:ext cx="148" cy="123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93199" name="Line 18"/>
            <p:cNvSpPr/>
            <p:nvPr/>
          </p:nvSpPr>
          <p:spPr>
            <a:xfrm>
              <a:off x="1376" y="2384"/>
              <a:ext cx="472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3200" name="Line 19"/>
            <p:cNvSpPr/>
            <p:nvPr/>
          </p:nvSpPr>
          <p:spPr>
            <a:xfrm>
              <a:off x="2696" y="2376"/>
              <a:ext cx="600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3201" name="Rectangle 20"/>
            <p:cNvSpPr/>
            <p:nvPr/>
          </p:nvSpPr>
          <p:spPr>
            <a:xfrm>
              <a:off x="2968" y="2085"/>
              <a:ext cx="149" cy="15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solidFill>
                    <a:srgbClr val="0000FF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3202" name="Rectangle 21"/>
            <p:cNvSpPr/>
            <p:nvPr/>
          </p:nvSpPr>
          <p:spPr>
            <a:xfrm>
              <a:off x="1448" y="2117"/>
              <a:ext cx="150" cy="15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solidFill>
                    <a:srgbClr val="0000FF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3203" name="Freeform 22"/>
            <p:cNvSpPr/>
            <p:nvPr/>
          </p:nvSpPr>
          <p:spPr>
            <a:xfrm>
              <a:off x="1296" y="2472"/>
              <a:ext cx="2008" cy="317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328" y="264"/>
                </a:cxn>
                <a:cxn ang="0">
                  <a:pos x="1408" y="296"/>
                </a:cxn>
                <a:cxn ang="0">
                  <a:pos x="1832" y="136"/>
                </a:cxn>
                <a:cxn ang="0">
                  <a:pos x="2008" y="0"/>
                </a:cxn>
              </a:cxnLst>
              <a:pathLst>
                <a:path w="2008" h="317">
                  <a:moveTo>
                    <a:pt x="0" y="40"/>
                  </a:moveTo>
                  <a:cubicBezTo>
                    <a:pt x="46" y="130"/>
                    <a:pt x="93" y="221"/>
                    <a:pt x="328" y="264"/>
                  </a:cubicBezTo>
                  <a:cubicBezTo>
                    <a:pt x="563" y="307"/>
                    <a:pt x="1157" y="317"/>
                    <a:pt x="1408" y="296"/>
                  </a:cubicBezTo>
                  <a:cubicBezTo>
                    <a:pt x="1659" y="275"/>
                    <a:pt x="1732" y="185"/>
                    <a:pt x="1832" y="136"/>
                  </a:cubicBezTo>
                  <a:cubicBezTo>
                    <a:pt x="1932" y="87"/>
                    <a:pt x="1979" y="23"/>
                    <a:pt x="2008" y="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204" name="Rectangle 23"/>
            <p:cNvSpPr/>
            <p:nvPr/>
          </p:nvSpPr>
          <p:spPr>
            <a:xfrm>
              <a:off x="2216" y="2781"/>
              <a:ext cx="149" cy="15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solidFill>
                    <a:srgbClr val="0000FF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3205" name="Freeform 24"/>
            <p:cNvSpPr/>
            <p:nvPr/>
          </p:nvSpPr>
          <p:spPr>
            <a:xfrm>
              <a:off x="1984" y="1964"/>
              <a:ext cx="656" cy="348"/>
            </a:xfrm>
            <a:custGeom>
              <a:avLst/>
              <a:gdLst/>
              <a:ahLst/>
              <a:cxnLst>
                <a:cxn ang="0">
                  <a:pos x="656" y="340"/>
                </a:cxn>
                <a:cxn ang="0">
                  <a:pos x="456" y="84"/>
                </a:cxn>
                <a:cxn ang="0">
                  <a:pos x="232" y="44"/>
                </a:cxn>
                <a:cxn ang="0">
                  <a:pos x="0" y="348"/>
                </a:cxn>
              </a:cxnLst>
              <a:pathLst>
                <a:path w="656" h="348">
                  <a:moveTo>
                    <a:pt x="656" y="340"/>
                  </a:moveTo>
                  <a:cubicBezTo>
                    <a:pt x="591" y="236"/>
                    <a:pt x="527" y="133"/>
                    <a:pt x="456" y="84"/>
                  </a:cubicBezTo>
                  <a:cubicBezTo>
                    <a:pt x="385" y="35"/>
                    <a:pt x="308" y="0"/>
                    <a:pt x="232" y="44"/>
                  </a:cubicBezTo>
                  <a:cubicBezTo>
                    <a:pt x="156" y="88"/>
                    <a:pt x="37" y="297"/>
                    <a:pt x="0" y="348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206" name="Rectangle 25"/>
            <p:cNvSpPr/>
            <p:nvPr/>
          </p:nvSpPr>
          <p:spPr>
            <a:xfrm>
              <a:off x="2416" y="1837"/>
              <a:ext cx="150" cy="15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solidFill>
                    <a:srgbClr val="0000FF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09" name="AutoShape 2">
            <a:hlinkClick r:id="" action="ppaction://hlinkshowjump?jump=nextslide"/>
          </p:cNvPr>
          <p:cNvSpPr/>
          <p:nvPr/>
        </p:nvSpPr>
        <p:spPr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94210" name="AutoShape 3">
            <a:hlinkClick r:id="" action="ppaction://hlinkshowjump?jump=previousslide"/>
          </p:cNvPr>
          <p:cNvSpPr/>
          <p:nvPr/>
        </p:nvSpPr>
        <p:spPr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94211" name="AutoShape 4">
            <a:hlinkClick r:id="" action="ppaction://hlinkshowjump?jump=firstslide"/>
          </p:cNvPr>
          <p:cNvSpPr/>
          <p:nvPr/>
        </p:nvSpPr>
        <p:spPr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94212" name="AutoShape 5">
            <a:hlinkClick r:id="" action="ppaction://hlinkshowjump?jump=lastslide"/>
          </p:cNvPr>
          <p:cNvSpPr/>
          <p:nvPr/>
        </p:nvSpPr>
        <p:spPr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94213" name="Text Box 6"/>
          <p:cNvSpPr txBox="1"/>
          <p:nvPr/>
        </p:nvSpPr>
        <p:spPr>
          <a:xfrm>
            <a:off x="1143000" y="2362200"/>
            <a:ext cx="7116763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400" b="1" u="none" dirty="0">
                <a:solidFill>
                  <a:srgbClr val="333399"/>
                </a:solidFill>
                <a:latin typeface="Times New Roman" panose="02020603050405020304" pitchFamily="18" charset="0"/>
                <a:ea typeface="华文行楷" pitchFamily="2" charset="-122"/>
              </a:rPr>
              <a:t>正规表达式 </a:t>
            </a:r>
            <a:r>
              <a:rPr lang="zh-CN" altLang="en-US" sz="2400" b="1" i="1" u="none" dirty="0">
                <a:solidFill>
                  <a:srgbClr val="333399"/>
                </a:solidFill>
                <a:latin typeface="Arial" panose="020B0604020202020204" pitchFamily="34" charset="0"/>
                <a:ea typeface="华文行楷" pitchFamily="2" charset="-122"/>
              </a:rPr>
              <a:t>1*0(0</a:t>
            </a:r>
            <a:r>
              <a:rPr lang="en-US" altLang="zh-CN" u="none" dirty="0">
                <a:solidFill>
                  <a:schemeClr val="tx2"/>
                </a:solidFill>
                <a:latin typeface="Tahoma" panose="020B0604030504040204" pitchFamily="34" charset="0"/>
              </a:rPr>
              <a:t>|</a:t>
            </a:r>
            <a:r>
              <a:rPr lang="zh-CN" altLang="en-US" sz="2400" b="1" i="1" u="none" dirty="0">
                <a:solidFill>
                  <a:srgbClr val="333399"/>
                </a:solidFill>
                <a:latin typeface="Arial" panose="020B0604020202020204" pitchFamily="34" charset="0"/>
                <a:ea typeface="华文行楷" pitchFamily="2" charset="-122"/>
              </a:rPr>
              <a:t>1)*</a:t>
            </a:r>
            <a:endParaRPr lang="en-US" altLang="zh-CN" sz="2400" b="1" i="1" u="none" dirty="0">
              <a:solidFill>
                <a:srgbClr val="333399"/>
              </a:solidFill>
              <a:latin typeface="Arial" panose="020B0604020202020204" pitchFamily="34" charset="0"/>
              <a:ea typeface="华文行楷" pitchFamily="2" charset="-122"/>
            </a:endParaRPr>
          </a:p>
        </p:txBody>
      </p:sp>
      <p:sp>
        <p:nvSpPr>
          <p:cNvPr id="94214" name="Rectangle 7"/>
          <p:cNvSpPr/>
          <p:nvPr/>
        </p:nvSpPr>
        <p:spPr>
          <a:xfrm>
            <a:off x="755650" y="620713"/>
            <a:ext cx="8001000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1" u="none" dirty="0">
                <a:solidFill>
                  <a:srgbClr val="800080"/>
                </a:solidFill>
                <a:latin typeface="Times New Roman" panose="02020603050405020304" pitchFamily="18" charset="0"/>
              </a:rPr>
              <a:t>举例:</a:t>
            </a:r>
            <a:r>
              <a:rPr lang="zh-CN" altLang="en-US" b="1" u="none" dirty="0">
                <a:solidFill>
                  <a:srgbClr val="800080"/>
                </a:solidFill>
                <a:latin typeface="Times New Roman" panose="02020603050405020304" pitchFamily="18" charset="0"/>
                <a:ea typeface="华文行楷" pitchFamily="2" charset="-122"/>
              </a:rPr>
              <a:t>从</a:t>
            </a:r>
            <a:r>
              <a:rPr lang="zh-CN" altLang="en-US" b="1" u="none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正规表达式</a:t>
            </a:r>
            <a:r>
              <a:rPr lang="zh-CN" altLang="en-US" b="1" u="none" dirty="0">
                <a:solidFill>
                  <a:srgbClr val="800080"/>
                </a:solidFill>
                <a:latin typeface="Times New Roman" panose="02020603050405020304" pitchFamily="18" charset="0"/>
                <a:ea typeface="华文行楷" pitchFamily="2" charset="-122"/>
              </a:rPr>
              <a:t>构造等价的</a:t>
            </a:r>
            <a:r>
              <a:rPr lang="zh-CN" altLang="en-US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rPr>
              <a:t> </a:t>
            </a:r>
            <a:r>
              <a:rPr lang="zh-CN" altLang="en-US" b="1" u="none" dirty="0">
                <a:solidFill>
                  <a:srgbClr val="800080"/>
                </a:solidFill>
                <a:latin typeface="Arial" panose="020B0604020202020204" pitchFamily="34" charset="0"/>
              </a:rPr>
              <a:t>- </a:t>
            </a:r>
            <a:r>
              <a:rPr lang="en-US" altLang="zh-CN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</a:rPr>
              <a:t>NFA</a:t>
            </a:r>
            <a:endParaRPr lang="en-US" altLang="zh-CN" b="1" i="1" u="none" dirty="0">
              <a:solidFill>
                <a:srgbClr val="800080"/>
              </a:solidFill>
              <a:latin typeface="Arial" panose="020B0604020202020204" pitchFamily="34" charset="0"/>
              <a:ea typeface="华文行楷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2057400" y="4495800"/>
            <a:ext cx="5105400" cy="1149350"/>
            <a:chOff x="1296" y="2832"/>
            <a:chExt cx="3216" cy="724"/>
          </a:xfrm>
        </p:grpSpPr>
        <p:graphicFrame>
          <p:nvGraphicFramePr>
            <p:cNvPr id="94216" name="Object 9"/>
            <p:cNvGraphicFramePr/>
            <p:nvPr/>
          </p:nvGraphicFramePr>
          <p:xfrm>
            <a:off x="2747" y="2880"/>
            <a:ext cx="1765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" imgW="2809875" imgH="1076325" progId="Visio.Drawing.6">
                    <p:embed/>
                  </p:oleObj>
                </mc:Choice>
                <mc:Fallback>
                  <p:oleObj name="" r:id="rId1" imgW="2809875" imgH="1076325" progId="Visio.Drawing.6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47" y="2880"/>
                          <a:ext cx="1765" cy="6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217" name="Rectangle 10"/>
            <p:cNvSpPr/>
            <p:nvPr/>
          </p:nvSpPr>
          <p:spPr>
            <a:xfrm>
              <a:off x="1296" y="2994"/>
              <a:ext cx="4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333399"/>
                  </a:solidFill>
                  <a:latin typeface="Arial" panose="020B0604020202020204" pitchFamily="34" charset="0"/>
                  <a:ea typeface="华文行楷" pitchFamily="2" charset="-122"/>
                </a:rPr>
                <a:t>0</a:t>
              </a:r>
              <a:r>
                <a:rPr lang="en-US" altLang="zh-CN" u="none" dirty="0">
                  <a:solidFill>
                    <a:schemeClr val="tx2"/>
                  </a:solidFill>
                  <a:latin typeface="Tahoma" panose="020B0604030504040204" pitchFamily="34" charset="0"/>
                </a:rPr>
                <a:t>|</a:t>
              </a:r>
              <a:r>
                <a:rPr lang="zh-CN" altLang="en-US" sz="2400" b="1" i="1" u="none" dirty="0">
                  <a:solidFill>
                    <a:srgbClr val="333399"/>
                  </a:solidFill>
                  <a:latin typeface="Arial" panose="020B0604020202020204" pitchFamily="34" charset="0"/>
                  <a:ea typeface="华文行楷" pitchFamily="2" charset="-122"/>
                </a:rPr>
                <a:t>1</a:t>
              </a:r>
              <a:endParaRPr lang="zh-CN" altLang="en-US" sz="2400" b="1" i="1" u="none" dirty="0">
                <a:solidFill>
                  <a:srgbClr val="333399"/>
                </a:solidFill>
                <a:latin typeface="Arial" panose="020B0604020202020204" pitchFamily="34" charset="0"/>
                <a:ea typeface="华文行楷" pitchFamily="2" charset="-122"/>
              </a:endParaRPr>
            </a:p>
          </p:txBody>
        </p:sp>
        <p:graphicFrame>
          <p:nvGraphicFramePr>
            <p:cNvPr id="94218" name="Object 11"/>
            <p:cNvGraphicFramePr/>
            <p:nvPr/>
          </p:nvGraphicFramePr>
          <p:xfrm>
            <a:off x="1969" y="3072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3" imgW="1066800" imgH="723900" progId="Visio.Drawing.6">
                    <p:embed/>
                  </p:oleObj>
                </mc:Choice>
                <mc:Fallback>
                  <p:oleObj name="" r:id="rId3" imgW="1066800" imgH="723900" progId="Visio.Drawing.6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69" y="3072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219" name="Rectangle 12"/>
            <p:cNvSpPr/>
            <p:nvPr/>
          </p:nvSpPr>
          <p:spPr>
            <a:xfrm>
              <a:off x="4032" y="3264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4220" name="Rectangle 13"/>
            <p:cNvSpPr/>
            <p:nvPr/>
          </p:nvSpPr>
          <p:spPr>
            <a:xfrm>
              <a:off x="4032" y="2832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4221" name="Rectangle 14"/>
            <p:cNvSpPr/>
            <p:nvPr/>
          </p:nvSpPr>
          <p:spPr>
            <a:xfrm>
              <a:off x="2976" y="3264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4222" name="Rectangle 15"/>
            <p:cNvSpPr/>
            <p:nvPr/>
          </p:nvSpPr>
          <p:spPr>
            <a:xfrm>
              <a:off x="2976" y="2832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" name="Group 16"/>
          <p:cNvGrpSpPr/>
          <p:nvPr/>
        </p:nvGrpSpPr>
        <p:grpSpPr>
          <a:xfrm>
            <a:off x="2209800" y="2819400"/>
            <a:ext cx="4876800" cy="1447800"/>
            <a:chOff x="1392" y="1776"/>
            <a:chExt cx="3072" cy="912"/>
          </a:xfrm>
        </p:grpSpPr>
        <p:graphicFrame>
          <p:nvGraphicFramePr>
            <p:cNvPr id="94224" name="Object 17"/>
            <p:cNvGraphicFramePr/>
            <p:nvPr/>
          </p:nvGraphicFramePr>
          <p:xfrm>
            <a:off x="2681" y="1920"/>
            <a:ext cx="1783" cy="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5" imgW="2838450" imgH="1057275" progId="Visio.Drawing.6">
                    <p:embed/>
                  </p:oleObj>
                </mc:Choice>
                <mc:Fallback>
                  <p:oleObj name="" r:id="rId5" imgW="2838450" imgH="1057275" progId="Visio.Drawing.6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81" y="1920"/>
                          <a:ext cx="1783" cy="6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225" name="Rectangle 18"/>
            <p:cNvSpPr/>
            <p:nvPr/>
          </p:nvSpPr>
          <p:spPr>
            <a:xfrm>
              <a:off x="1392" y="2112"/>
              <a:ext cx="2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333399"/>
                  </a:solidFill>
                  <a:latin typeface="Arial" panose="020B0604020202020204" pitchFamily="34" charset="0"/>
                  <a:ea typeface="华文行楷" pitchFamily="2" charset="-122"/>
                </a:rPr>
                <a:t>1*</a:t>
              </a:r>
              <a:endParaRPr lang="zh-CN" altLang="en-US" sz="2400" b="1" i="1" u="none" dirty="0">
                <a:solidFill>
                  <a:srgbClr val="333399"/>
                </a:solidFill>
                <a:latin typeface="Arial" panose="020B0604020202020204" pitchFamily="34" charset="0"/>
                <a:ea typeface="华文行楷" pitchFamily="2" charset="-122"/>
              </a:endParaRPr>
            </a:p>
          </p:txBody>
        </p:sp>
        <p:graphicFrame>
          <p:nvGraphicFramePr>
            <p:cNvPr id="94226" name="Object 19"/>
            <p:cNvGraphicFramePr/>
            <p:nvPr/>
          </p:nvGraphicFramePr>
          <p:xfrm>
            <a:off x="1969" y="2112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7" imgW="1066800" imgH="723900" progId="Visio.Drawing.6">
                    <p:embed/>
                  </p:oleObj>
                </mc:Choice>
                <mc:Fallback>
                  <p:oleObj name="" r:id="rId7" imgW="1066800" imgH="723900" progId="Visio.Drawing.6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69" y="2112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227" name="Rectangle 20"/>
            <p:cNvSpPr/>
            <p:nvPr/>
          </p:nvSpPr>
          <p:spPr>
            <a:xfrm>
              <a:off x="2928" y="201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4228" name="Rectangle 21"/>
            <p:cNvSpPr/>
            <p:nvPr/>
          </p:nvSpPr>
          <p:spPr>
            <a:xfrm>
              <a:off x="3984" y="201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4229" name="Rectangle 22"/>
            <p:cNvSpPr/>
            <p:nvPr/>
          </p:nvSpPr>
          <p:spPr>
            <a:xfrm>
              <a:off x="3408" y="2400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4230" name="Rectangle 23"/>
            <p:cNvSpPr/>
            <p:nvPr/>
          </p:nvSpPr>
          <p:spPr>
            <a:xfrm>
              <a:off x="3456" y="177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3" name="AutoShape 2"/>
          <p:cNvSpPr/>
          <p:nvPr/>
        </p:nvSpPr>
        <p:spPr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95234" name="AutoShape 3">
            <a:hlinkClick r:id="" action="ppaction://hlinkshowjump?jump=previousslide"/>
          </p:cNvPr>
          <p:cNvSpPr/>
          <p:nvPr/>
        </p:nvSpPr>
        <p:spPr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95235" name="AutoShape 4">
            <a:hlinkClick r:id="" action="ppaction://hlinkshowjump?jump=firstslide"/>
          </p:cNvPr>
          <p:cNvSpPr/>
          <p:nvPr/>
        </p:nvSpPr>
        <p:spPr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95236" name="AutoShape 5">
            <a:hlinkClick r:id="" action="ppaction://hlinkshowjump?jump=lastslide"/>
          </p:cNvPr>
          <p:cNvSpPr/>
          <p:nvPr/>
        </p:nvSpPr>
        <p:spPr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95237" name="Rectangle 6"/>
          <p:cNvSpPr/>
          <p:nvPr/>
        </p:nvSpPr>
        <p:spPr>
          <a:xfrm>
            <a:off x="827088" y="765175"/>
            <a:ext cx="8001000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1" u="none" dirty="0">
                <a:solidFill>
                  <a:srgbClr val="800080"/>
                </a:solidFill>
                <a:latin typeface="Times New Roman" panose="02020603050405020304" pitchFamily="18" charset="0"/>
                <a:ea typeface="华文行楷" pitchFamily="2" charset="-122"/>
              </a:rPr>
              <a:t>从</a:t>
            </a:r>
            <a:r>
              <a:rPr lang="zh-CN" altLang="en-US" b="1" u="none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正规表达式</a:t>
            </a:r>
            <a:r>
              <a:rPr lang="zh-CN" altLang="en-US" b="1" u="none" dirty="0">
                <a:solidFill>
                  <a:srgbClr val="800080"/>
                </a:solidFill>
                <a:latin typeface="Times New Roman" panose="02020603050405020304" pitchFamily="18" charset="0"/>
                <a:ea typeface="华文行楷" pitchFamily="2" charset="-122"/>
              </a:rPr>
              <a:t>构造等价的</a:t>
            </a:r>
            <a:r>
              <a:rPr lang="zh-CN" altLang="en-US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rPr>
              <a:t> </a:t>
            </a:r>
            <a:r>
              <a:rPr lang="zh-CN" altLang="en-US" b="1" u="none" dirty="0">
                <a:solidFill>
                  <a:srgbClr val="800080"/>
                </a:solidFill>
                <a:latin typeface="Arial" panose="020B0604020202020204" pitchFamily="34" charset="0"/>
              </a:rPr>
              <a:t>- </a:t>
            </a:r>
            <a:r>
              <a:rPr lang="en-US" altLang="zh-CN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</a:rPr>
              <a:t>NFA</a:t>
            </a:r>
            <a:endParaRPr lang="en-US" altLang="zh-CN" b="1" i="1" u="none" dirty="0">
              <a:solidFill>
                <a:srgbClr val="800080"/>
              </a:solidFill>
              <a:latin typeface="Arial" panose="020B0604020202020204" pitchFamily="34" charset="0"/>
              <a:ea typeface="华文行楷" pitchFamily="2" charset="-122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1219200" y="1919288"/>
            <a:ext cx="7097713" cy="1966912"/>
            <a:chOff x="768" y="1209"/>
            <a:chExt cx="4471" cy="1239"/>
          </a:xfrm>
        </p:grpSpPr>
        <p:sp>
          <p:nvSpPr>
            <p:cNvPr id="95239" name="Rectangle 8"/>
            <p:cNvSpPr/>
            <p:nvPr/>
          </p:nvSpPr>
          <p:spPr>
            <a:xfrm>
              <a:off x="768" y="1458"/>
              <a:ext cx="63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333399"/>
                  </a:solidFill>
                  <a:latin typeface="Arial" panose="020B0604020202020204" pitchFamily="34" charset="0"/>
                  <a:ea typeface="华文行楷" pitchFamily="2" charset="-122"/>
                </a:rPr>
                <a:t>(0</a:t>
              </a:r>
              <a:r>
                <a:rPr lang="en-US" altLang="zh-CN" u="none" dirty="0">
                  <a:solidFill>
                    <a:schemeClr val="tx2"/>
                  </a:solidFill>
                  <a:latin typeface="Tahoma" panose="020B0604030504040204" pitchFamily="34" charset="0"/>
                </a:rPr>
                <a:t>|</a:t>
              </a:r>
              <a:r>
                <a:rPr lang="zh-CN" altLang="en-US" sz="2400" b="1" i="1" u="none" dirty="0">
                  <a:solidFill>
                    <a:srgbClr val="333399"/>
                  </a:solidFill>
                  <a:latin typeface="Arial" panose="020B0604020202020204" pitchFamily="34" charset="0"/>
                  <a:ea typeface="华文行楷" pitchFamily="2" charset="-122"/>
                </a:rPr>
                <a:t>1)*</a:t>
              </a:r>
              <a:endParaRPr lang="zh-CN" altLang="en-US" sz="2400" b="1" i="1" u="none" dirty="0">
                <a:solidFill>
                  <a:srgbClr val="333399"/>
                </a:solidFill>
                <a:latin typeface="Arial" panose="020B0604020202020204" pitchFamily="34" charset="0"/>
                <a:ea typeface="华文行楷" pitchFamily="2" charset="-122"/>
              </a:endParaRPr>
            </a:p>
          </p:txBody>
        </p:sp>
        <p:graphicFrame>
          <p:nvGraphicFramePr>
            <p:cNvPr id="95240" name="Object 9"/>
            <p:cNvGraphicFramePr/>
            <p:nvPr/>
          </p:nvGraphicFramePr>
          <p:xfrm>
            <a:off x="1728" y="1536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" imgW="1066800" imgH="723900" progId="Visio.Drawing.6">
                    <p:embed/>
                  </p:oleObj>
                </mc:Choice>
                <mc:Fallback>
                  <p:oleObj name="" r:id="rId1" imgW="1066800" imgH="723900" progId="Visio.Drawing.6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28" y="1536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41" name="Object 10"/>
            <p:cNvGraphicFramePr/>
            <p:nvPr/>
          </p:nvGraphicFramePr>
          <p:xfrm>
            <a:off x="2448" y="1209"/>
            <a:ext cx="2791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3" imgW="4438650" imgH="1743075" progId="Visio.Drawing.6">
                    <p:embed/>
                  </p:oleObj>
                </mc:Choice>
                <mc:Fallback>
                  <p:oleObj name="" r:id="rId3" imgW="4438650" imgH="1743075" progId="Visio.Drawing.6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48" y="1209"/>
                          <a:ext cx="2791" cy="10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42" name="Rectangle 11"/>
            <p:cNvSpPr/>
            <p:nvPr/>
          </p:nvSpPr>
          <p:spPr>
            <a:xfrm>
              <a:off x="3792" y="2160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43" name="Rectangle 12"/>
            <p:cNvSpPr/>
            <p:nvPr/>
          </p:nvSpPr>
          <p:spPr>
            <a:xfrm>
              <a:off x="2688" y="153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44" name="Rectangle 13"/>
            <p:cNvSpPr/>
            <p:nvPr/>
          </p:nvSpPr>
          <p:spPr>
            <a:xfrm>
              <a:off x="4704" y="153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45" name="Rectangle 14"/>
            <p:cNvSpPr/>
            <p:nvPr/>
          </p:nvSpPr>
          <p:spPr>
            <a:xfrm>
              <a:off x="4320" y="1248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46" name="Rectangle 15"/>
            <p:cNvSpPr/>
            <p:nvPr/>
          </p:nvSpPr>
          <p:spPr>
            <a:xfrm>
              <a:off x="3120" y="177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47" name="Rectangle 16"/>
            <p:cNvSpPr/>
            <p:nvPr/>
          </p:nvSpPr>
          <p:spPr>
            <a:xfrm>
              <a:off x="3216" y="153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48" name="Rectangle 17"/>
            <p:cNvSpPr/>
            <p:nvPr/>
          </p:nvSpPr>
          <p:spPr>
            <a:xfrm>
              <a:off x="4312" y="177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49" name="Rectangle 18"/>
            <p:cNvSpPr/>
            <p:nvPr/>
          </p:nvSpPr>
          <p:spPr>
            <a:xfrm>
              <a:off x="4224" y="153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" name="Group 19"/>
          <p:cNvGrpSpPr/>
          <p:nvPr/>
        </p:nvGrpSpPr>
        <p:grpSpPr>
          <a:xfrm>
            <a:off x="838200" y="3457575"/>
            <a:ext cx="7543800" cy="3171825"/>
            <a:chOff x="528" y="2178"/>
            <a:chExt cx="4752" cy="1998"/>
          </a:xfrm>
        </p:grpSpPr>
        <p:graphicFrame>
          <p:nvGraphicFramePr>
            <p:cNvPr id="95251" name="Object 20"/>
            <p:cNvGraphicFramePr/>
            <p:nvPr/>
          </p:nvGraphicFramePr>
          <p:xfrm>
            <a:off x="752" y="2640"/>
            <a:ext cx="4528" cy="1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5" imgW="7191375" imgH="2257425" progId="Visio.Drawing.6">
                    <p:embed/>
                  </p:oleObj>
                </mc:Choice>
                <mc:Fallback>
                  <p:oleObj name="" r:id="rId5" imgW="7191375" imgH="2257425" progId="Visio.Drawing.6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52" y="2640"/>
                          <a:ext cx="4528" cy="14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52" name="Rectangle 21"/>
            <p:cNvSpPr/>
            <p:nvPr/>
          </p:nvSpPr>
          <p:spPr>
            <a:xfrm>
              <a:off x="528" y="2178"/>
              <a:ext cx="92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333399"/>
                  </a:solidFill>
                  <a:latin typeface="Arial" panose="020B0604020202020204" pitchFamily="34" charset="0"/>
                  <a:ea typeface="华文行楷" pitchFamily="2" charset="-122"/>
                </a:rPr>
                <a:t>1*0(0</a:t>
              </a:r>
              <a:r>
                <a:rPr lang="en-US" altLang="zh-CN" u="none" dirty="0">
                  <a:solidFill>
                    <a:schemeClr val="tx2"/>
                  </a:solidFill>
                  <a:latin typeface="Tahoma" panose="020B0604030504040204" pitchFamily="34" charset="0"/>
                </a:rPr>
                <a:t>|</a:t>
              </a:r>
              <a:r>
                <a:rPr lang="zh-CN" altLang="en-US" sz="2400" b="1" i="1" u="none" dirty="0">
                  <a:solidFill>
                    <a:srgbClr val="333399"/>
                  </a:solidFill>
                  <a:latin typeface="Arial" panose="020B0604020202020204" pitchFamily="34" charset="0"/>
                  <a:ea typeface="华文行楷" pitchFamily="2" charset="-122"/>
                </a:rPr>
                <a:t>1)*</a:t>
              </a:r>
              <a:endParaRPr lang="zh-CN" altLang="en-US" sz="2400" b="1" i="1" u="none" dirty="0">
                <a:solidFill>
                  <a:srgbClr val="333399"/>
                </a:solidFill>
                <a:latin typeface="Arial" panose="020B0604020202020204" pitchFamily="34" charset="0"/>
                <a:ea typeface="华文行楷" pitchFamily="2" charset="-122"/>
              </a:endParaRPr>
            </a:p>
          </p:txBody>
        </p:sp>
        <p:graphicFrame>
          <p:nvGraphicFramePr>
            <p:cNvPr id="95253" name="Object 22"/>
            <p:cNvGraphicFramePr/>
            <p:nvPr/>
          </p:nvGraphicFramePr>
          <p:xfrm>
            <a:off x="1729" y="2256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7" imgW="1066800" imgH="723900" progId="Visio.Drawing.6">
                    <p:embed/>
                  </p:oleObj>
                </mc:Choice>
                <mc:Fallback>
                  <p:oleObj name="" r:id="rId7" imgW="1066800" imgH="723900" progId="Visio.Drawing.6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29" y="2256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54" name="Rectangle 23"/>
            <p:cNvSpPr/>
            <p:nvPr/>
          </p:nvSpPr>
          <p:spPr>
            <a:xfrm>
              <a:off x="3744" y="3888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55" name="Rectangle 24"/>
            <p:cNvSpPr/>
            <p:nvPr/>
          </p:nvSpPr>
          <p:spPr>
            <a:xfrm>
              <a:off x="2736" y="3408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56" name="Rectangle 25"/>
            <p:cNvSpPr/>
            <p:nvPr/>
          </p:nvSpPr>
          <p:spPr>
            <a:xfrm>
              <a:off x="3304" y="3264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57" name="Rectangle 26"/>
            <p:cNvSpPr/>
            <p:nvPr/>
          </p:nvSpPr>
          <p:spPr>
            <a:xfrm>
              <a:off x="3208" y="3552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58" name="Rectangle 27"/>
            <p:cNvSpPr/>
            <p:nvPr/>
          </p:nvSpPr>
          <p:spPr>
            <a:xfrm>
              <a:off x="4312" y="297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59" name="Rectangle 28"/>
            <p:cNvSpPr/>
            <p:nvPr/>
          </p:nvSpPr>
          <p:spPr>
            <a:xfrm>
              <a:off x="4752" y="3264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60" name="Rectangle 29"/>
            <p:cNvSpPr/>
            <p:nvPr/>
          </p:nvSpPr>
          <p:spPr>
            <a:xfrm>
              <a:off x="4224" y="3264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61" name="Rectangle 30"/>
            <p:cNvSpPr/>
            <p:nvPr/>
          </p:nvSpPr>
          <p:spPr>
            <a:xfrm>
              <a:off x="4320" y="3552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62" name="Rectangle 31"/>
            <p:cNvSpPr/>
            <p:nvPr/>
          </p:nvSpPr>
          <p:spPr>
            <a:xfrm>
              <a:off x="2920" y="297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63" name="Rectangle 32"/>
            <p:cNvSpPr/>
            <p:nvPr/>
          </p:nvSpPr>
          <p:spPr>
            <a:xfrm>
              <a:off x="2536" y="273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64" name="Rectangle 33"/>
            <p:cNvSpPr/>
            <p:nvPr/>
          </p:nvSpPr>
          <p:spPr>
            <a:xfrm>
              <a:off x="2008" y="273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65" name="Rectangle 34"/>
            <p:cNvSpPr/>
            <p:nvPr/>
          </p:nvSpPr>
          <p:spPr>
            <a:xfrm>
              <a:off x="1536" y="3120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66" name="Rectangle 35"/>
            <p:cNvSpPr/>
            <p:nvPr/>
          </p:nvSpPr>
          <p:spPr>
            <a:xfrm>
              <a:off x="1008" y="2736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5267" name="Rectangle 36"/>
            <p:cNvSpPr/>
            <p:nvPr/>
          </p:nvSpPr>
          <p:spPr>
            <a:xfrm>
              <a:off x="1768" y="2592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1" u="none" dirty="0">
                  <a:solidFill>
                    <a:srgbClr val="800080"/>
                  </a:solidFill>
                  <a:latin typeface="Arial" panose="020B0604020202020204" pitchFamily="34" charset="0"/>
                  <a:ea typeface="华文行楷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i="1" u="none" dirty="0">
                <a:solidFill>
                  <a:srgbClr val="800080"/>
                </a:solidFill>
                <a:latin typeface="Arial" panose="020B0604020202020204" pitchFamily="34" charset="0"/>
                <a:ea typeface="华文行楷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7" name="Rectangle 2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5334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2400" b="1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例、由正规式构造</a:t>
            </a:r>
            <a:r>
              <a:rPr lang="en-US" altLang="zh-CN" sz="2400" b="1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NFA</a:t>
            </a:r>
            <a:endParaRPr lang="en-US" altLang="zh-CN" sz="2400" b="1" dirty="0">
              <a:solidFill>
                <a:schemeClr val="hlink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58" name="Rectangle 3"/>
          <p:cNvSpPr>
            <a:spLocks noGrp="1"/>
          </p:cNvSpPr>
          <p:nvPr>
            <p:ph idx="1"/>
          </p:nvPr>
        </p:nvSpPr>
        <p:spPr>
          <a:xfrm>
            <a:off x="304800" y="482600"/>
            <a:ext cx="6553200" cy="44450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90000"/>
              </a:lnSpc>
              <a:buSzPct val="150000"/>
              <a:buFontTx/>
              <a:buNone/>
            </a:pP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例、构造正规式 </a:t>
            </a:r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b((ab)</a:t>
            </a:r>
            <a:r>
              <a:rPr lang="en-US" altLang="zh-CN" sz="2400" b="1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*</a:t>
            </a:r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|bb)</a:t>
            </a:r>
            <a:r>
              <a:rPr lang="en-US" altLang="zh-CN" sz="2400" b="1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*</a:t>
            </a:r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ab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的</a:t>
            </a:r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NFA</a:t>
            </a:r>
            <a:endParaRPr lang="en-US" altLang="zh-CN" sz="24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69913" y="1181100"/>
            <a:ext cx="4230687" cy="676275"/>
            <a:chOff x="359" y="744"/>
            <a:chExt cx="2665" cy="426"/>
          </a:xfrm>
        </p:grpSpPr>
        <p:sp>
          <p:nvSpPr>
            <p:cNvPr id="96260" name="Oval 5"/>
            <p:cNvSpPr/>
            <p:nvPr/>
          </p:nvSpPr>
          <p:spPr>
            <a:xfrm>
              <a:off x="1472" y="880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61" name="Oval 6"/>
            <p:cNvSpPr/>
            <p:nvPr/>
          </p:nvSpPr>
          <p:spPr>
            <a:xfrm>
              <a:off x="2080" y="864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2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62" name="Text Box 7"/>
            <p:cNvSpPr txBox="1"/>
            <p:nvPr/>
          </p:nvSpPr>
          <p:spPr>
            <a:xfrm>
              <a:off x="1832" y="744"/>
              <a:ext cx="9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a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63" name="Text Box 8"/>
            <p:cNvSpPr txBox="1"/>
            <p:nvPr/>
          </p:nvSpPr>
          <p:spPr>
            <a:xfrm>
              <a:off x="2480" y="752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64" name="Line 9"/>
            <p:cNvSpPr/>
            <p:nvPr/>
          </p:nvSpPr>
          <p:spPr>
            <a:xfrm>
              <a:off x="1752" y="1016"/>
              <a:ext cx="312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265" name="Oval 10"/>
            <p:cNvSpPr/>
            <p:nvPr/>
          </p:nvSpPr>
          <p:spPr>
            <a:xfrm>
              <a:off x="2736" y="880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3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66" name="Line 11"/>
            <p:cNvSpPr/>
            <p:nvPr/>
          </p:nvSpPr>
          <p:spPr>
            <a:xfrm flipV="1">
              <a:off x="2376" y="1016"/>
              <a:ext cx="34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267" name="Rectangle 12"/>
            <p:cNvSpPr/>
            <p:nvPr/>
          </p:nvSpPr>
          <p:spPr>
            <a:xfrm>
              <a:off x="359" y="885"/>
              <a:ext cx="194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黑体" panose="02010609060101010101" pitchFamily="2" charset="-122"/>
                  <a:ea typeface="黑体" panose="02010609060101010101" pitchFamily="2" charset="-122"/>
                </a:rPr>
                <a:t>ab</a:t>
              </a:r>
              <a:endParaRPr lang="en-US" altLang="zh-CN" sz="2400" b="1" u="none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339725" y="1860550"/>
            <a:ext cx="5489575" cy="1320800"/>
            <a:chOff x="214" y="1172"/>
            <a:chExt cx="3458" cy="832"/>
          </a:xfrm>
        </p:grpSpPr>
        <p:sp>
          <p:nvSpPr>
            <p:cNvPr id="96269" name="Text Box 14"/>
            <p:cNvSpPr txBox="1"/>
            <p:nvPr/>
          </p:nvSpPr>
          <p:spPr>
            <a:xfrm>
              <a:off x="2392" y="1172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270" name="Text Box 15"/>
            <p:cNvSpPr txBox="1"/>
            <p:nvPr/>
          </p:nvSpPr>
          <p:spPr>
            <a:xfrm>
              <a:off x="1296" y="1468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271" name="Oval 16"/>
            <p:cNvSpPr/>
            <p:nvPr/>
          </p:nvSpPr>
          <p:spPr>
            <a:xfrm>
              <a:off x="936" y="1544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1’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72" name="Line 17"/>
            <p:cNvSpPr/>
            <p:nvPr/>
          </p:nvSpPr>
          <p:spPr>
            <a:xfrm>
              <a:off x="1216" y="1688"/>
              <a:ext cx="304" cy="0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273" name="Oval 18"/>
            <p:cNvSpPr/>
            <p:nvPr/>
          </p:nvSpPr>
          <p:spPr>
            <a:xfrm>
              <a:off x="3384" y="1504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3’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74" name="Line 19"/>
            <p:cNvSpPr/>
            <p:nvPr/>
          </p:nvSpPr>
          <p:spPr>
            <a:xfrm flipV="1">
              <a:off x="3088" y="1656"/>
              <a:ext cx="288" cy="8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275" name="Oval 20"/>
            <p:cNvSpPr/>
            <p:nvPr/>
          </p:nvSpPr>
          <p:spPr>
            <a:xfrm>
              <a:off x="1520" y="1528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76" name="Oval 21"/>
            <p:cNvSpPr/>
            <p:nvPr/>
          </p:nvSpPr>
          <p:spPr>
            <a:xfrm>
              <a:off x="2128" y="1512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2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77" name="Text Box 22"/>
            <p:cNvSpPr txBox="1"/>
            <p:nvPr/>
          </p:nvSpPr>
          <p:spPr>
            <a:xfrm>
              <a:off x="1896" y="1400"/>
              <a:ext cx="9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a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78" name="Text Box 23"/>
            <p:cNvSpPr txBox="1"/>
            <p:nvPr/>
          </p:nvSpPr>
          <p:spPr>
            <a:xfrm>
              <a:off x="2512" y="1440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79" name="Line 24"/>
            <p:cNvSpPr/>
            <p:nvPr/>
          </p:nvSpPr>
          <p:spPr>
            <a:xfrm>
              <a:off x="1800" y="1664"/>
              <a:ext cx="312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280" name="Oval 25"/>
            <p:cNvSpPr/>
            <p:nvPr/>
          </p:nvSpPr>
          <p:spPr>
            <a:xfrm>
              <a:off x="2784" y="1528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3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81" name="Line 26"/>
            <p:cNvSpPr/>
            <p:nvPr/>
          </p:nvSpPr>
          <p:spPr>
            <a:xfrm flipV="1">
              <a:off x="2424" y="1664"/>
              <a:ext cx="34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282" name="Text Box 27"/>
            <p:cNvSpPr txBox="1"/>
            <p:nvPr/>
          </p:nvSpPr>
          <p:spPr>
            <a:xfrm>
              <a:off x="3184" y="1460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283" name="Freeform 28"/>
            <p:cNvSpPr/>
            <p:nvPr/>
          </p:nvSpPr>
          <p:spPr>
            <a:xfrm>
              <a:off x="1720" y="1352"/>
              <a:ext cx="1224" cy="184"/>
            </a:xfrm>
            <a:custGeom>
              <a:avLst/>
              <a:gdLst/>
              <a:ahLst/>
              <a:cxnLst>
                <a:cxn ang="0">
                  <a:pos x="1224" y="210"/>
                </a:cxn>
                <a:cxn ang="0">
                  <a:pos x="968" y="41"/>
                </a:cxn>
                <a:cxn ang="0">
                  <a:pos x="544" y="0"/>
                </a:cxn>
                <a:cxn ang="0">
                  <a:pos x="224" y="41"/>
                </a:cxn>
                <a:cxn ang="0">
                  <a:pos x="0" y="220"/>
                </a:cxn>
              </a:cxnLst>
              <a:pathLst>
                <a:path w="1224" h="176">
                  <a:moveTo>
                    <a:pt x="1224" y="168"/>
                  </a:moveTo>
                  <a:cubicBezTo>
                    <a:pt x="1152" y="114"/>
                    <a:pt x="1081" y="60"/>
                    <a:pt x="968" y="32"/>
                  </a:cubicBezTo>
                  <a:cubicBezTo>
                    <a:pt x="855" y="4"/>
                    <a:pt x="668" y="0"/>
                    <a:pt x="544" y="0"/>
                  </a:cubicBezTo>
                  <a:cubicBezTo>
                    <a:pt x="420" y="0"/>
                    <a:pt x="315" y="3"/>
                    <a:pt x="224" y="32"/>
                  </a:cubicBezTo>
                  <a:cubicBezTo>
                    <a:pt x="133" y="61"/>
                    <a:pt x="37" y="151"/>
                    <a:pt x="0" y="176"/>
                  </a:cubicBez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6284" name="Freeform 29"/>
            <p:cNvSpPr/>
            <p:nvPr/>
          </p:nvSpPr>
          <p:spPr>
            <a:xfrm>
              <a:off x="1200" y="1736"/>
              <a:ext cx="2216" cy="268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622" y="67"/>
                </a:cxn>
                <a:cxn ang="0">
                  <a:pos x="1341" y="67"/>
                </a:cxn>
                <a:cxn ang="0">
                  <a:pos x="1771" y="0"/>
                </a:cxn>
              </a:cxnLst>
              <a:pathLst>
                <a:path w="2344" h="364">
                  <a:moveTo>
                    <a:pt x="0" y="64"/>
                  </a:moveTo>
                  <a:cubicBezTo>
                    <a:pt x="264" y="167"/>
                    <a:pt x="528" y="271"/>
                    <a:pt x="824" y="312"/>
                  </a:cubicBezTo>
                  <a:cubicBezTo>
                    <a:pt x="1120" y="353"/>
                    <a:pt x="1523" y="364"/>
                    <a:pt x="1776" y="312"/>
                  </a:cubicBezTo>
                  <a:cubicBezTo>
                    <a:pt x="2029" y="260"/>
                    <a:pt x="2249" y="52"/>
                    <a:pt x="2344" y="0"/>
                  </a:cubicBez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6285" name="Text Box 30"/>
            <p:cNvSpPr txBox="1"/>
            <p:nvPr/>
          </p:nvSpPr>
          <p:spPr>
            <a:xfrm>
              <a:off x="2352" y="1804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286" name="Rectangle 31"/>
            <p:cNvSpPr/>
            <p:nvPr/>
          </p:nvSpPr>
          <p:spPr>
            <a:xfrm>
              <a:off x="214" y="1549"/>
              <a:ext cx="453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黑体" panose="02010609060101010101" pitchFamily="2" charset="-122"/>
                  <a:ea typeface="黑体" panose="02010609060101010101" pitchFamily="2" charset="-122"/>
                </a:rPr>
                <a:t>(ab)</a:t>
              </a:r>
              <a:r>
                <a:rPr lang="en-US" altLang="zh-CN" sz="2400" b="1" u="none" baseline="30000" dirty="0">
                  <a:latin typeface="黑体" panose="02010609060101010101" pitchFamily="2" charset="-122"/>
                  <a:ea typeface="黑体" panose="02010609060101010101" pitchFamily="2" charset="-122"/>
                </a:rPr>
                <a:t>*</a:t>
              </a:r>
              <a:endParaRPr lang="en-US" altLang="zh-CN" sz="2400" b="1" u="none" baseline="30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4" name="Group 32"/>
          <p:cNvGrpSpPr/>
          <p:nvPr/>
        </p:nvGrpSpPr>
        <p:grpSpPr>
          <a:xfrm>
            <a:off x="544513" y="3632200"/>
            <a:ext cx="4319587" cy="676275"/>
            <a:chOff x="343" y="2288"/>
            <a:chExt cx="2721" cy="426"/>
          </a:xfrm>
        </p:grpSpPr>
        <p:sp>
          <p:nvSpPr>
            <p:cNvPr id="96288" name="Rectangle 33"/>
            <p:cNvSpPr/>
            <p:nvPr/>
          </p:nvSpPr>
          <p:spPr>
            <a:xfrm>
              <a:off x="343" y="2293"/>
              <a:ext cx="194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黑体" panose="02010609060101010101" pitchFamily="2" charset="-122"/>
                  <a:ea typeface="黑体" panose="02010609060101010101" pitchFamily="2" charset="-122"/>
                </a:rPr>
                <a:t>bb</a:t>
              </a:r>
              <a:endParaRPr lang="en-US" altLang="zh-CN" sz="2400" b="1" u="none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96289" name="Oval 34"/>
            <p:cNvSpPr/>
            <p:nvPr/>
          </p:nvSpPr>
          <p:spPr>
            <a:xfrm>
              <a:off x="1512" y="2424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4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90" name="Oval 35"/>
            <p:cNvSpPr/>
            <p:nvPr/>
          </p:nvSpPr>
          <p:spPr>
            <a:xfrm>
              <a:off x="2120" y="2408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5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91" name="Text Box 36"/>
            <p:cNvSpPr txBox="1"/>
            <p:nvPr/>
          </p:nvSpPr>
          <p:spPr>
            <a:xfrm>
              <a:off x="1872" y="2288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92" name="Text Box 37"/>
            <p:cNvSpPr txBox="1"/>
            <p:nvPr/>
          </p:nvSpPr>
          <p:spPr>
            <a:xfrm>
              <a:off x="2520" y="2296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93" name="Line 38"/>
            <p:cNvSpPr/>
            <p:nvPr/>
          </p:nvSpPr>
          <p:spPr>
            <a:xfrm>
              <a:off x="1792" y="2560"/>
              <a:ext cx="312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294" name="Oval 39"/>
            <p:cNvSpPr/>
            <p:nvPr/>
          </p:nvSpPr>
          <p:spPr>
            <a:xfrm>
              <a:off x="2776" y="2424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6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295" name="Line 40"/>
            <p:cNvSpPr/>
            <p:nvPr/>
          </p:nvSpPr>
          <p:spPr>
            <a:xfrm flipV="1">
              <a:off x="2416" y="2560"/>
              <a:ext cx="34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5" name="Group 41"/>
          <p:cNvGrpSpPr/>
          <p:nvPr/>
        </p:nvGrpSpPr>
        <p:grpSpPr>
          <a:xfrm>
            <a:off x="400050" y="4495800"/>
            <a:ext cx="7461250" cy="1768475"/>
            <a:chOff x="252" y="2832"/>
            <a:chExt cx="4700" cy="1114"/>
          </a:xfrm>
        </p:grpSpPr>
        <p:sp>
          <p:nvSpPr>
            <p:cNvPr id="96297" name="Rectangle 42"/>
            <p:cNvSpPr/>
            <p:nvPr/>
          </p:nvSpPr>
          <p:spPr>
            <a:xfrm>
              <a:off x="252" y="3125"/>
              <a:ext cx="744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黑体" panose="02010609060101010101" pitchFamily="2" charset="-122"/>
                  <a:ea typeface="黑体" panose="02010609060101010101" pitchFamily="2" charset="-122"/>
                </a:rPr>
                <a:t>(ab)</a:t>
              </a:r>
              <a:r>
                <a:rPr lang="en-US" altLang="zh-CN" sz="2400" b="1" u="none" baseline="30000" dirty="0">
                  <a:latin typeface="黑体" panose="02010609060101010101" pitchFamily="2" charset="-122"/>
                  <a:ea typeface="黑体" panose="02010609060101010101" pitchFamily="2" charset="-122"/>
                </a:rPr>
                <a:t>*</a:t>
              </a:r>
              <a:r>
                <a:rPr lang="en-US" altLang="zh-CN" sz="2400" b="1" u="none" dirty="0">
                  <a:latin typeface="黑体" panose="02010609060101010101" pitchFamily="2" charset="-122"/>
                  <a:ea typeface="黑体" panose="02010609060101010101" pitchFamily="2" charset="-122"/>
                </a:rPr>
                <a:t>|bb</a:t>
              </a:r>
              <a:endParaRPr lang="en-US" altLang="zh-CN" sz="2400" b="1" u="none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96298" name="Text Box 43"/>
            <p:cNvSpPr txBox="1"/>
            <p:nvPr/>
          </p:nvSpPr>
          <p:spPr>
            <a:xfrm>
              <a:off x="1952" y="2948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299" name="Oval 44"/>
            <p:cNvSpPr/>
            <p:nvPr/>
          </p:nvSpPr>
          <p:spPr>
            <a:xfrm>
              <a:off x="1592" y="3024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1’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00" name="Line 45"/>
            <p:cNvSpPr/>
            <p:nvPr/>
          </p:nvSpPr>
          <p:spPr>
            <a:xfrm>
              <a:off x="1872" y="3168"/>
              <a:ext cx="30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301" name="Oval 46"/>
            <p:cNvSpPr/>
            <p:nvPr/>
          </p:nvSpPr>
          <p:spPr>
            <a:xfrm>
              <a:off x="4040" y="2984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3’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02" name="Line 47"/>
            <p:cNvSpPr/>
            <p:nvPr/>
          </p:nvSpPr>
          <p:spPr>
            <a:xfrm flipV="1">
              <a:off x="3744" y="3136"/>
              <a:ext cx="288" cy="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303" name="Oval 48"/>
            <p:cNvSpPr/>
            <p:nvPr/>
          </p:nvSpPr>
          <p:spPr>
            <a:xfrm>
              <a:off x="2176" y="3008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04" name="Oval 49"/>
            <p:cNvSpPr/>
            <p:nvPr/>
          </p:nvSpPr>
          <p:spPr>
            <a:xfrm>
              <a:off x="2784" y="2992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2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05" name="Text Box 50"/>
            <p:cNvSpPr txBox="1"/>
            <p:nvPr/>
          </p:nvSpPr>
          <p:spPr>
            <a:xfrm>
              <a:off x="2552" y="2880"/>
              <a:ext cx="9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a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06" name="Text Box 51"/>
            <p:cNvSpPr txBox="1"/>
            <p:nvPr/>
          </p:nvSpPr>
          <p:spPr>
            <a:xfrm>
              <a:off x="3168" y="2920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07" name="Line 52"/>
            <p:cNvSpPr/>
            <p:nvPr/>
          </p:nvSpPr>
          <p:spPr>
            <a:xfrm>
              <a:off x="2456" y="3144"/>
              <a:ext cx="312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308" name="Oval 53"/>
            <p:cNvSpPr/>
            <p:nvPr/>
          </p:nvSpPr>
          <p:spPr>
            <a:xfrm>
              <a:off x="3440" y="3008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3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09" name="Line 54"/>
            <p:cNvSpPr/>
            <p:nvPr/>
          </p:nvSpPr>
          <p:spPr>
            <a:xfrm flipV="1">
              <a:off x="3080" y="3144"/>
              <a:ext cx="34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310" name="Text Box 55"/>
            <p:cNvSpPr txBox="1"/>
            <p:nvPr/>
          </p:nvSpPr>
          <p:spPr>
            <a:xfrm>
              <a:off x="3840" y="2940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311" name="Freeform 56"/>
            <p:cNvSpPr/>
            <p:nvPr/>
          </p:nvSpPr>
          <p:spPr>
            <a:xfrm>
              <a:off x="2376" y="2832"/>
              <a:ext cx="1224" cy="184"/>
            </a:xfrm>
            <a:custGeom>
              <a:avLst/>
              <a:gdLst/>
              <a:ahLst/>
              <a:cxnLst>
                <a:cxn ang="0">
                  <a:pos x="1224" y="210"/>
                </a:cxn>
                <a:cxn ang="0">
                  <a:pos x="968" y="41"/>
                </a:cxn>
                <a:cxn ang="0">
                  <a:pos x="544" y="0"/>
                </a:cxn>
                <a:cxn ang="0">
                  <a:pos x="224" y="41"/>
                </a:cxn>
                <a:cxn ang="0">
                  <a:pos x="0" y="220"/>
                </a:cxn>
              </a:cxnLst>
              <a:pathLst>
                <a:path w="1224" h="176">
                  <a:moveTo>
                    <a:pt x="1224" y="168"/>
                  </a:moveTo>
                  <a:cubicBezTo>
                    <a:pt x="1152" y="114"/>
                    <a:pt x="1081" y="60"/>
                    <a:pt x="968" y="32"/>
                  </a:cubicBezTo>
                  <a:cubicBezTo>
                    <a:pt x="855" y="4"/>
                    <a:pt x="668" y="0"/>
                    <a:pt x="544" y="0"/>
                  </a:cubicBezTo>
                  <a:cubicBezTo>
                    <a:pt x="420" y="0"/>
                    <a:pt x="315" y="3"/>
                    <a:pt x="224" y="32"/>
                  </a:cubicBezTo>
                  <a:cubicBezTo>
                    <a:pt x="133" y="61"/>
                    <a:pt x="37" y="151"/>
                    <a:pt x="0" y="176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6312" name="Freeform 57"/>
            <p:cNvSpPr/>
            <p:nvPr/>
          </p:nvSpPr>
          <p:spPr>
            <a:xfrm>
              <a:off x="1856" y="3216"/>
              <a:ext cx="2216" cy="268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622" y="67"/>
                </a:cxn>
                <a:cxn ang="0">
                  <a:pos x="1341" y="67"/>
                </a:cxn>
                <a:cxn ang="0">
                  <a:pos x="1771" y="0"/>
                </a:cxn>
              </a:cxnLst>
              <a:pathLst>
                <a:path w="2344" h="364">
                  <a:moveTo>
                    <a:pt x="0" y="64"/>
                  </a:moveTo>
                  <a:cubicBezTo>
                    <a:pt x="264" y="167"/>
                    <a:pt x="528" y="271"/>
                    <a:pt x="824" y="312"/>
                  </a:cubicBezTo>
                  <a:cubicBezTo>
                    <a:pt x="1120" y="353"/>
                    <a:pt x="1523" y="364"/>
                    <a:pt x="1776" y="312"/>
                  </a:cubicBezTo>
                  <a:cubicBezTo>
                    <a:pt x="2029" y="260"/>
                    <a:pt x="2249" y="52"/>
                    <a:pt x="2344" y="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6313" name="Text Box 58"/>
            <p:cNvSpPr txBox="1"/>
            <p:nvPr/>
          </p:nvSpPr>
          <p:spPr>
            <a:xfrm>
              <a:off x="3008" y="3284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314" name="Oval 59"/>
            <p:cNvSpPr/>
            <p:nvPr/>
          </p:nvSpPr>
          <p:spPr>
            <a:xfrm>
              <a:off x="2208" y="3656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4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15" name="Oval 60"/>
            <p:cNvSpPr/>
            <p:nvPr/>
          </p:nvSpPr>
          <p:spPr>
            <a:xfrm>
              <a:off x="2816" y="3640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5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16" name="Text Box 61"/>
            <p:cNvSpPr txBox="1"/>
            <p:nvPr/>
          </p:nvSpPr>
          <p:spPr>
            <a:xfrm>
              <a:off x="2568" y="3520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17" name="Text Box 62"/>
            <p:cNvSpPr txBox="1"/>
            <p:nvPr/>
          </p:nvSpPr>
          <p:spPr>
            <a:xfrm>
              <a:off x="3216" y="3528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18" name="Line 63"/>
            <p:cNvSpPr/>
            <p:nvPr/>
          </p:nvSpPr>
          <p:spPr>
            <a:xfrm>
              <a:off x="2488" y="3792"/>
              <a:ext cx="312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319" name="Oval 64"/>
            <p:cNvSpPr/>
            <p:nvPr/>
          </p:nvSpPr>
          <p:spPr>
            <a:xfrm>
              <a:off x="3472" y="3656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6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20" name="Line 65"/>
            <p:cNvSpPr/>
            <p:nvPr/>
          </p:nvSpPr>
          <p:spPr>
            <a:xfrm flipV="1">
              <a:off x="3112" y="3792"/>
              <a:ext cx="34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321" name="Oval 66"/>
            <p:cNvSpPr/>
            <p:nvPr/>
          </p:nvSpPr>
          <p:spPr>
            <a:xfrm>
              <a:off x="1064" y="3432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7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22" name="Oval 67"/>
            <p:cNvSpPr/>
            <p:nvPr/>
          </p:nvSpPr>
          <p:spPr>
            <a:xfrm>
              <a:off x="4664" y="3360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8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6323" name="Line 68"/>
            <p:cNvSpPr/>
            <p:nvPr/>
          </p:nvSpPr>
          <p:spPr>
            <a:xfrm flipV="1">
              <a:off x="1320" y="3256"/>
              <a:ext cx="304" cy="208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324" name="Line 69"/>
            <p:cNvSpPr/>
            <p:nvPr/>
          </p:nvSpPr>
          <p:spPr>
            <a:xfrm>
              <a:off x="1344" y="3624"/>
              <a:ext cx="872" cy="152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325" name="Line 70"/>
            <p:cNvSpPr/>
            <p:nvPr/>
          </p:nvSpPr>
          <p:spPr>
            <a:xfrm>
              <a:off x="4328" y="3160"/>
              <a:ext cx="384" cy="248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326" name="Line 71"/>
            <p:cNvSpPr/>
            <p:nvPr/>
          </p:nvSpPr>
          <p:spPr>
            <a:xfrm flipV="1">
              <a:off x="3776" y="3496"/>
              <a:ext cx="880" cy="304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327" name="Text Box 72"/>
            <p:cNvSpPr txBox="1"/>
            <p:nvPr/>
          </p:nvSpPr>
          <p:spPr>
            <a:xfrm>
              <a:off x="1328" y="3140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328" name="Text Box 73"/>
            <p:cNvSpPr txBox="1"/>
            <p:nvPr/>
          </p:nvSpPr>
          <p:spPr>
            <a:xfrm>
              <a:off x="4496" y="3052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329" name="Text Box 74"/>
            <p:cNvSpPr txBox="1"/>
            <p:nvPr/>
          </p:nvSpPr>
          <p:spPr>
            <a:xfrm>
              <a:off x="1680" y="3476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330" name="Text Box 75"/>
            <p:cNvSpPr txBox="1"/>
            <p:nvPr/>
          </p:nvSpPr>
          <p:spPr>
            <a:xfrm>
              <a:off x="4120" y="3452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1" name="Rectangle 2"/>
          <p:cNvSpPr>
            <a:spLocks noGrp="1"/>
          </p:cNvSpPr>
          <p:nvPr>
            <p:ph idx="1"/>
          </p:nvPr>
        </p:nvSpPr>
        <p:spPr>
          <a:xfrm>
            <a:off x="279400" y="0"/>
            <a:ext cx="6553200" cy="44450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90000"/>
              </a:lnSpc>
              <a:buSzPct val="150000"/>
              <a:buFontTx/>
              <a:buNone/>
            </a:pP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例、构造正规式 </a:t>
            </a:r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b((ab)</a:t>
            </a:r>
            <a:r>
              <a:rPr lang="en-US" altLang="zh-CN" sz="2400" b="1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*</a:t>
            </a:r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|bb)</a:t>
            </a:r>
            <a:r>
              <a:rPr lang="en-US" altLang="zh-CN" sz="2400" b="1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*</a:t>
            </a:r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ab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的</a:t>
            </a:r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NFA</a:t>
            </a:r>
            <a:endParaRPr lang="en-US" altLang="zh-CN" sz="24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97282" name="Group 3"/>
          <p:cNvGrpSpPr/>
          <p:nvPr/>
        </p:nvGrpSpPr>
        <p:grpSpPr>
          <a:xfrm>
            <a:off x="241300" y="565150"/>
            <a:ext cx="8648700" cy="2717800"/>
            <a:chOff x="152" y="356"/>
            <a:chExt cx="5448" cy="1712"/>
          </a:xfrm>
        </p:grpSpPr>
        <p:sp>
          <p:nvSpPr>
            <p:cNvPr id="97283" name="Rectangle 4"/>
            <p:cNvSpPr/>
            <p:nvPr/>
          </p:nvSpPr>
          <p:spPr>
            <a:xfrm>
              <a:off x="152" y="573"/>
              <a:ext cx="1003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黑体" panose="02010609060101010101" pitchFamily="2" charset="-122"/>
                  <a:ea typeface="黑体" panose="02010609060101010101" pitchFamily="2" charset="-122"/>
                </a:rPr>
                <a:t>((ab)</a:t>
              </a:r>
              <a:r>
                <a:rPr lang="en-US" altLang="zh-CN" sz="2400" b="1" u="none" baseline="30000" dirty="0">
                  <a:latin typeface="黑体" panose="02010609060101010101" pitchFamily="2" charset="-122"/>
                  <a:ea typeface="黑体" panose="02010609060101010101" pitchFamily="2" charset="-122"/>
                </a:rPr>
                <a:t>*</a:t>
              </a:r>
              <a:r>
                <a:rPr lang="en-US" altLang="zh-CN" sz="2400" b="1" u="none" dirty="0">
                  <a:latin typeface="黑体" panose="02010609060101010101" pitchFamily="2" charset="-122"/>
                  <a:ea typeface="黑体" panose="02010609060101010101" pitchFamily="2" charset="-122"/>
                </a:rPr>
                <a:t>|bb)</a:t>
              </a:r>
              <a:r>
                <a:rPr lang="en-US" altLang="zh-CN" sz="2400" b="1" u="none" baseline="30000" dirty="0">
                  <a:latin typeface="黑体" panose="02010609060101010101" pitchFamily="2" charset="-122"/>
                  <a:ea typeface="黑体" panose="02010609060101010101" pitchFamily="2" charset="-122"/>
                </a:rPr>
                <a:t>*</a:t>
              </a:r>
              <a:endParaRPr lang="en-US" altLang="zh-CN" sz="2400" b="1" u="none" baseline="30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97284" name="Text Box 5"/>
            <p:cNvSpPr txBox="1"/>
            <p:nvPr/>
          </p:nvSpPr>
          <p:spPr>
            <a:xfrm>
              <a:off x="2464" y="836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285" name="Oval 6"/>
            <p:cNvSpPr/>
            <p:nvPr/>
          </p:nvSpPr>
          <p:spPr>
            <a:xfrm>
              <a:off x="2176" y="912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1’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286" name="Line 7"/>
            <p:cNvSpPr/>
            <p:nvPr/>
          </p:nvSpPr>
          <p:spPr>
            <a:xfrm>
              <a:off x="2440" y="1056"/>
              <a:ext cx="24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287" name="Oval 8"/>
            <p:cNvSpPr/>
            <p:nvPr/>
          </p:nvSpPr>
          <p:spPr>
            <a:xfrm>
              <a:off x="4352" y="896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3’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288" name="Line 9"/>
            <p:cNvSpPr/>
            <p:nvPr/>
          </p:nvSpPr>
          <p:spPr>
            <a:xfrm flipV="1">
              <a:off x="4080" y="1040"/>
              <a:ext cx="288" cy="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289" name="Oval 10"/>
            <p:cNvSpPr/>
            <p:nvPr/>
          </p:nvSpPr>
          <p:spPr>
            <a:xfrm>
              <a:off x="2688" y="896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290" name="Oval 11"/>
            <p:cNvSpPr/>
            <p:nvPr/>
          </p:nvSpPr>
          <p:spPr>
            <a:xfrm>
              <a:off x="3176" y="880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2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291" name="Text Box 12"/>
            <p:cNvSpPr txBox="1"/>
            <p:nvPr/>
          </p:nvSpPr>
          <p:spPr>
            <a:xfrm>
              <a:off x="3064" y="768"/>
              <a:ext cx="9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a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292" name="Text Box 13"/>
            <p:cNvSpPr txBox="1"/>
            <p:nvPr/>
          </p:nvSpPr>
          <p:spPr>
            <a:xfrm>
              <a:off x="3520" y="808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293" name="Line 14"/>
            <p:cNvSpPr/>
            <p:nvPr/>
          </p:nvSpPr>
          <p:spPr>
            <a:xfrm>
              <a:off x="2968" y="1032"/>
              <a:ext cx="20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294" name="Oval 15"/>
            <p:cNvSpPr/>
            <p:nvPr/>
          </p:nvSpPr>
          <p:spPr>
            <a:xfrm>
              <a:off x="3800" y="912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3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295" name="Line 16"/>
            <p:cNvSpPr/>
            <p:nvPr/>
          </p:nvSpPr>
          <p:spPr>
            <a:xfrm flipV="1">
              <a:off x="3448" y="1048"/>
              <a:ext cx="34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296" name="Text Box 17"/>
            <p:cNvSpPr txBox="1"/>
            <p:nvPr/>
          </p:nvSpPr>
          <p:spPr>
            <a:xfrm>
              <a:off x="4096" y="844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297" name="Freeform 18"/>
            <p:cNvSpPr/>
            <p:nvPr/>
          </p:nvSpPr>
          <p:spPr>
            <a:xfrm>
              <a:off x="2888" y="720"/>
              <a:ext cx="1032" cy="184"/>
            </a:xfrm>
            <a:custGeom>
              <a:avLst/>
              <a:gdLst/>
              <a:ahLst/>
              <a:cxnLst>
                <a:cxn ang="0">
                  <a:pos x="522" y="210"/>
                </a:cxn>
                <a:cxn ang="0">
                  <a:pos x="412" y="41"/>
                </a:cxn>
                <a:cxn ang="0">
                  <a:pos x="232" y="0"/>
                </a:cxn>
                <a:cxn ang="0">
                  <a:pos x="95" y="41"/>
                </a:cxn>
                <a:cxn ang="0">
                  <a:pos x="0" y="220"/>
                </a:cxn>
              </a:cxnLst>
              <a:pathLst>
                <a:path w="1224" h="176">
                  <a:moveTo>
                    <a:pt x="1224" y="168"/>
                  </a:moveTo>
                  <a:cubicBezTo>
                    <a:pt x="1152" y="114"/>
                    <a:pt x="1081" y="60"/>
                    <a:pt x="968" y="32"/>
                  </a:cubicBezTo>
                  <a:cubicBezTo>
                    <a:pt x="855" y="4"/>
                    <a:pt x="668" y="0"/>
                    <a:pt x="544" y="0"/>
                  </a:cubicBezTo>
                  <a:cubicBezTo>
                    <a:pt x="420" y="0"/>
                    <a:pt x="315" y="3"/>
                    <a:pt x="224" y="32"/>
                  </a:cubicBezTo>
                  <a:cubicBezTo>
                    <a:pt x="133" y="61"/>
                    <a:pt x="37" y="151"/>
                    <a:pt x="0" y="176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298" name="Freeform 19"/>
            <p:cNvSpPr/>
            <p:nvPr/>
          </p:nvSpPr>
          <p:spPr>
            <a:xfrm>
              <a:off x="2456" y="1096"/>
              <a:ext cx="1920" cy="276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304" y="78"/>
                </a:cxn>
                <a:cxn ang="0">
                  <a:pos x="654" y="78"/>
                </a:cxn>
                <a:cxn ang="0">
                  <a:pos x="864" y="0"/>
                </a:cxn>
              </a:cxnLst>
              <a:pathLst>
                <a:path w="2344" h="364">
                  <a:moveTo>
                    <a:pt x="0" y="64"/>
                  </a:moveTo>
                  <a:cubicBezTo>
                    <a:pt x="264" y="167"/>
                    <a:pt x="528" y="271"/>
                    <a:pt x="824" y="312"/>
                  </a:cubicBezTo>
                  <a:cubicBezTo>
                    <a:pt x="1120" y="353"/>
                    <a:pt x="1523" y="364"/>
                    <a:pt x="1776" y="312"/>
                  </a:cubicBezTo>
                  <a:cubicBezTo>
                    <a:pt x="2029" y="260"/>
                    <a:pt x="2249" y="52"/>
                    <a:pt x="2344" y="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299" name="Text Box 20"/>
            <p:cNvSpPr txBox="1"/>
            <p:nvPr/>
          </p:nvSpPr>
          <p:spPr>
            <a:xfrm>
              <a:off x="3480" y="1148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00" name="Oval 21"/>
            <p:cNvSpPr/>
            <p:nvPr/>
          </p:nvSpPr>
          <p:spPr>
            <a:xfrm>
              <a:off x="2720" y="1544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4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01" name="Oval 22"/>
            <p:cNvSpPr/>
            <p:nvPr/>
          </p:nvSpPr>
          <p:spPr>
            <a:xfrm>
              <a:off x="3328" y="1528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5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02" name="Text Box 23"/>
            <p:cNvSpPr txBox="1"/>
            <p:nvPr/>
          </p:nvSpPr>
          <p:spPr>
            <a:xfrm>
              <a:off x="3080" y="1408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03" name="Text Box 24"/>
            <p:cNvSpPr txBox="1"/>
            <p:nvPr/>
          </p:nvSpPr>
          <p:spPr>
            <a:xfrm>
              <a:off x="3728" y="1416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04" name="Line 25"/>
            <p:cNvSpPr/>
            <p:nvPr/>
          </p:nvSpPr>
          <p:spPr>
            <a:xfrm>
              <a:off x="3000" y="1680"/>
              <a:ext cx="312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05" name="Oval 26"/>
            <p:cNvSpPr/>
            <p:nvPr/>
          </p:nvSpPr>
          <p:spPr>
            <a:xfrm>
              <a:off x="3984" y="1544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6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06" name="Line 27"/>
            <p:cNvSpPr/>
            <p:nvPr/>
          </p:nvSpPr>
          <p:spPr>
            <a:xfrm flipV="1">
              <a:off x="3624" y="1680"/>
              <a:ext cx="34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07" name="Oval 28"/>
            <p:cNvSpPr/>
            <p:nvPr/>
          </p:nvSpPr>
          <p:spPr>
            <a:xfrm>
              <a:off x="1720" y="1040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7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08" name="Oval 29"/>
            <p:cNvSpPr/>
            <p:nvPr/>
          </p:nvSpPr>
          <p:spPr>
            <a:xfrm>
              <a:off x="4864" y="1008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8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09" name="Line 30"/>
            <p:cNvSpPr/>
            <p:nvPr/>
          </p:nvSpPr>
          <p:spPr>
            <a:xfrm flipV="1">
              <a:off x="2016" y="1056"/>
              <a:ext cx="168" cy="9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10" name="Line 31"/>
            <p:cNvSpPr/>
            <p:nvPr/>
          </p:nvSpPr>
          <p:spPr>
            <a:xfrm>
              <a:off x="2000" y="1248"/>
              <a:ext cx="736" cy="33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11" name="Line 32"/>
            <p:cNvSpPr/>
            <p:nvPr/>
          </p:nvSpPr>
          <p:spPr>
            <a:xfrm>
              <a:off x="4640" y="1032"/>
              <a:ext cx="248" cy="7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12" name="Line 33"/>
            <p:cNvSpPr/>
            <p:nvPr/>
          </p:nvSpPr>
          <p:spPr>
            <a:xfrm flipV="1">
              <a:off x="4248" y="1248"/>
              <a:ext cx="640" cy="41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13" name="Text Box 34"/>
            <p:cNvSpPr txBox="1"/>
            <p:nvPr/>
          </p:nvSpPr>
          <p:spPr>
            <a:xfrm>
              <a:off x="1960" y="916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14" name="Text Box 35"/>
            <p:cNvSpPr txBox="1"/>
            <p:nvPr/>
          </p:nvSpPr>
          <p:spPr>
            <a:xfrm>
              <a:off x="4680" y="868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15" name="Text Box 36"/>
            <p:cNvSpPr txBox="1"/>
            <p:nvPr/>
          </p:nvSpPr>
          <p:spPr>
            <a:xfrm>
              <a:off x="2464" y="1348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16" name="Text Box 37"/>
            <p:cNvSpPr txBox="1"/>
            <p:nvPr/>
          </p:nvSpPr>
          <p:spPr>
            <a:xfrm>
              <a:off x="4440" y="1316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17" name="Freeform 38"/>
            <p:cNvSpPr/>
            <p:nvPr/>
          </p:nvSpPr>
          <p:spPr>
            <a:xfrm>
              <a:off x="1808" y="436"/>
              <a:ext cx="3128" cy="604"/>
            </a:xfrm>
            <a:custGeom>
              <a:avLst/>
              <a:gdLst/>
              <a:ahLst/>
              <a:cxnLst>
                <a:cxn ang="0">
                  <a:pos x="2158" y="564"/>
                </a:cxn>
                <a:cxn ang="0">
                  <a:pos x="1892" y="268"/>
                </a:cxn>
                <a:cxn ang="0">
                  <a:pos x="1374" y="44"/>
                </a:cxn>
                <a:cxn ang="0">
                  <a:pos x="799" y="36"/>
                </a:cxn>
                <a:cxn ang="0">
                  <a:pos x="343" y="260"/>
                </a:cxn>
                <a:cxn ang="0">
                  <a:pos x="0" y="604"/>
                </a:cxn>
              </a:cxnLst>
              <a:pathLst>
                <a:path w="3432" h="604">
                  <a:moveTo>
                    <a:pt x="3432" y="564"/>
                  </a:moveTo>
                  <a:cubicBezTo>
                    <a:pt x="3324" y="459"/>
                    <a:pt x="3216" y="355"/>
                    <a:pt x="3008" y="268"/>
                  </a:cubicBezTo>
                  <a:cubicBezTo>
                    <a:pt x="2800" y="181"/>
                    <a:pt x="2473" y="83"/>
                    <a:pt x="2184" y="44"/>
                  </a:cubicBezTo>
                  <a:cubicBezTo>
                    <a:pt x="1895" y="5"/>
                    <a:pt x="1545" y="0"/>
                    <a:pt x="1272" y="36"/>
                  </a:cubicBezTo>
                  <a:cubicBezTo>
                    <a:pt x="999" y="72"/>
                    <a:pt x="756" y="165"/>
                    <a:pt x="544" y="260"/>
                  </a:cubicBezTo>
                  <a:cubicBezTo>
                    <a:pt x="332" y="355"/>
                    <a:pt x="91" y="545"/>
                    <a:pt x="0" y="604"/>
                  </a:cubicBez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318" name="Text Box 39"/>
            <p:cNvSpPr txBox="1"/>
            <p:nvPr/>
          </p:nvSpPr>
          <p:spPr>
            <a:xfrm>
              <a:off x="3376" y="500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19" name="Oval 40"/>
            <p:cNvSpPr/>
            <p:nvPr/>
          </p:nvSpPr>
          <p:spPr>
            <a:xfrm>
              <a:off x="5312" y="976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10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20" name="Oval 41"/>
            <p:cNvSpPr/>
            <p:nvPr/>
          </p:nvSpPr>
          <p:spPr>
            <a:xfrm>
              <a:off x="1200" y="1016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9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21" name="Line 42"/>
            <p:cNvSpPr/>
            <p:nvPr/>
          </p:nvSpPr>
          <p:spPr>
            <a:xfrm>
              <a:off x="1496" y="1176"/>
              <a:ext cx="216" cy="0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22" name="Line 43"/>
            <p:cNvSpPr/>
            <p:nvPr/>
          </p:nvSpPr>
          <p:spPr>
            <a:xfrm>
              <a:off x="5160" y="1144"/>
              <a:ext cx="168" cy="0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23" name="Text Box 44"/>
            <p:cNvSpPr txBox="1"/>
            <p:nvPr/>
          </p:nvSpPr>
          <p:spPr>
            <a:xfrm>
              <a:off x="1544" y="956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24" name="Text Box 45"/>
            <p:cNvSpPr txBox="1"/>
            <p:nvPr/>
          </p:nvSpPr>
          <p:spPr>
            <a:xfrm>
              <a:off x="5136" y="908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25" name="Freeform 46"/>
            <p:cNvSpPr/>
            <p:nvPr/>
          </p:nvSpPr>
          <p:spPr>
            <a:xfrm>
              <a:off x="1440" y="1248"/>
              <a:ext cx="3904" cy="8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1" y="188"/>
                </a:cxn>
                <a:cxn ang="0">
                  <a:pos x="1144" y="314"/>
                </a:cxn>
                <a:cxn ang="0">
                  <a:pos x="1659" y="303"/>
                </a:cxn>
                <a:cxn ang="0">
                  <a:pos x="2287" y="80"/>
                </a:cxn>
                <a:cxn ang="0">
                  <a:pos x="2473" y="0"/>
                </a:cxn>
              </a:cxnLst>
              <a:pathLst>
                <a:path w="4376" h="1020">
                  <a:moveTo>
                    <a:pt x="0" y="0"/>
                  </a:moveTo>
                  <a:cubicBezTo>
                    <a:pt x="195" y="202"/>
                    <a:pt x="391" y="404"/>
                    <a:pt x="728" y="560"/>
                  </a:cubicBezTo>
                  <a:cubicBezTo>
                    <a:pt x="1065" y="716"/>
                    <a:pt x="1656" y="879"/>
                    <a:pt x="2024" y="936"/>
                  </a:cubicBezTo>
                  <a:cubicBezTo>
                    <a:pt x="2392" y="993"/>
                    <a:pt x="2599" y="1020"/>
                    <a:pt x="2936" y="904"/>
                  </a:cubicBezTo>
                  <a:cubicBezTo>
                    <a:pt x="3273" y="788"/>
                    <a:pt x="3808" y="391"/>
                    <a:pt x="4048" y="240"/>
                  </a:cubicBezTo>
                  <a:cubicBezTo>
                    <a:pt x="4288" y="89"/>
                    <a:pt x="4321" y="40"/>
                    <a:pt x="4376" y="0"/>
                  </a:cubicBez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326" name="Text Box 47"/>
            <p:cNvSpPr txBox="1"/>
            <p:nvPr/>
          </p:nvSpPr>
          <p:spPr>
            <a:xfrm>
              <a:off x="3640" y="1812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27" name="Text Box 48"/>
            <p:cNvSpPr txBox="1"/>
            <p:nvPr/>
          </p:nvSpPr>
          <p:spPr>
            <a:xfrm>
              <a:off x="3968" y="356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Group 49"/>
          <p:cNvGrpSpPr/>
          <p:nvPr/>
        </p:nvGrpSpPr>
        <p:grpSpPr>
          <a:xfrm>
            <a:off x="1117600" y="3600450"/>
            <a:ext cx="6985000" cy="2679700"/>
            <a:chOff x="704" y="2268"/>
            <a:chExt cx="4400" cy="1688"/>
          </a:xfrm>
        </p:grpSpPr>
        <p:sp>
          <p:nvSpPr>
            <p:cNvPr id="97329" name="Text Box 50"/>
            <p:cNvSpPr txBox="1"/>
            <p:nvPr/>
          </p:nvSpPr>
          <p:spPr>
            <a:xfrm>
              <a:off x="1968" y="2668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30" name="Oval 51"/>
            <p:cNvSpPr/>
            <p:nvPr/>
          </p:nvSpPr>
          <p:spPr>
            <a:xfrm>
              <a:off x="1680" y="2744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1’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31" name="Line 52"/>
            <p:cNvSpPr/>
            <p:nvPr/>
          </p:nvSpPr>
          <p:spPr>
            <a:xfrm>
              <a:off x="1944" y="2888"/>
              <a:ext cx="24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32" name="Oval 53"/>
            <p:cNvSpPr/>
            <p:nvPr/>
          </p:nvSpPr>
          <p:spPr>
            <a:xfrm>
              <a:off x="3856" y="2728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3’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33" name="Line 54"/>
            <p:cNvSpPr/>
            <p:nvPr/>
          </p:nvSpPr>
          <p:spPr>
            <a:xfrm flipV="1">
              <a:off x="3584" y="2872"/>
              <a:ext cx="288" cy="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34" name="Oval 55"/>
            <p:cNvSpPr/>
            <p:nvPr/>
          </p:nvSpPr>
          <p:spPr>
            <a:xfrm>
              <a:off x="2192" y="2728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35" name="Oval 56"/>
            <p:cNvSpPr/>
            <p:nvPr/>
          </p:nvSpPr>
          <p:spPr>
            <a:xfrm>
              <a:off x="2680" y="2712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2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36" name="Text Box 57"/>
            <p:cNvSpPr txBox="1"/>
            <p:nvPr/>
          </p:nvSpPr>
          <p:spPr>
            <a:xfrm>
              <a:off x="2568" y="2600"/>
              <a:ext cx="9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a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37" name="Text Box 58"/>
            <p:cNvSpPr txBox="1"/>
            <p:nvPr/>
          </p:nvSpPr>
          <p:spPr>
            <a:xfrm>
              <a:off x="3024" y="2640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38" name="Line 59"/>
            <p:cNvSpPr/>
            <p:nvPr/>
          </p:nvSpPr>
          <p:spPr>
            <a:xfrm>
              <a:off x="2472" y="2864"/>
              <a:ext cx="20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39" name="Oval 60"/>
            <p:cNvSpPr/>
            <p:nvPr/>
          </p:nvSpPr>
          <p:spPr>
            <a:xfrm>
              <a:off x="3304" y="2744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3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40" name="Line 61"/>
            <p:cNvSpPr/>
            <p:nvPr/>
          </p:nvSpPr>
          <p:spPr>
            <a:xfrm flipV="1">
              <a:off x="2952" y="2880"/>
              <a:ext cx="34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41" name="Text Box 62"/>
            <p:cNvSpPr txBox="1"/>
            <p:nvPr/>
          </p:nvSpPr>
          <p:spPr>
            <a:xfrm>
              <a:off x="3600" y="2676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42" name="Freeform 63"/>
            <p:cNvSpPr/>
            <p:nvPr/>
          </p:nvSpPr>
          <p:spPr>
            <a:xfrm>
              <a:off x="2392" y="2552"/>
              <a:ext cx="1032" cy="184"/>
            </a:xfrm>
            <a:custGeom>
              <a:avLst/>
              <a:gdLst/>
              <a:ahLst/>
              <a:cxnLst>
                <a:cxn ang="0">
                  <a:pos x="522" y="210"/>
                </a:cxn>
                <a:cxn ang="0">
                  <a:pos x="412" y="41"/>
                </a:cxn>
                <a:cxn ang="0">
                  <a:pos x="232" y="0"/>
                </a:cxn>
                <a:cxn ang="0">
                  <a:pos x="95" y="41"/>
                </a:cxn>
                <a:cxn ang="0">
                  <a:pos x="0" y="220"/>
                </a:cxn>
              </a:cxnLst>
              <a:pathLst>
                <a:path w="1224" h="176">
                  <a:moveTo>
                    <a:pt x="1224" y="168"/>
                  </a:moveTo>
                  <a:cubicBezTo>
                    <a:pt x="1152" y="114"/>
                    <a:pt x="1081" y="60"/>
                    <a:pt x="968" y="32"/>
                  </a:cubicBezTo>
                  <a:cubicBezTo>
                    <a:pt x="855" y="4"/>
                    <a:pt x="668" y="0"/>
                    <a:pt x="544" y="0"/>
                  </a:cubicBezTo>
                  <a:cubicBezTo>
                    <a:pt x="420" y="0"/>
                    <a:pt x="315" y="3"/>
                    <a:pt x="224" y="32"/>
                  </a:cubicBezTo>
                  <a:cubicBezTo>
                    <a:pt x="133" y="61"/>
                    <a:pt x="37" y="151"/>
                    <a:pt x="0" y="176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343" name="Freeform 64"/>
            <p:cNvSpPr/>
            <p:nvPr/>
          </p:nvSpPr>
          <p:spPr>
            <a:xfrm>
              <a:off x="1960" y="2928"/>
              <a:ext cx="1920" cy="276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304" y="78"/>
                </a:cxn>
                <a:cxn ang="0">
                  <a:pos x="654" y="78"/>
                </a:cxn>
                <a:cxn ang="0">
                  <a:pos x="864" y="0"/>
                </a:cxn>
              </a:cxnLst>
              <a:pathLst>
                <a:path w="2344" h="364">
                  <a:moveTo>
                    <a:pt x="0" y="64"/>
                  </a:moveTo>
                  <a:cubicBezTo>
                    <a:pt x="264" y="167"/>
                    <a:pt x="528" y="271"/>
                    <a:pt x="824" y="312"/>
                  </a:cubicBezTo>
                  <a:cubicBezTo>
                    <a:pt x="1120" y="353"/>
                    <a:pt x="1523" y="364"/>
                    <a:pt x="1776" y="312"/>
                  </a:cubicBezTo>
                  <a:cubicBezTo>
                    <a:pt x="2029" y="260"/>
                    <a:pt x="2249" y="52"/>
                    <a:pt x="2344" y="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344" name="Text Box 65"/>
            <p:cNvSpPr txBox="1"/>
            <p:nvPr/>
          </p:nvSpPr>
          <p:spPr>
            <a:xfrm>
              <a:off x="2984" y="2980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45" name="Oval 66"/>
            <p:cNvSpPr/>
            <p:nvPr/>
          </p:nvSpPr>
          <p:spPr>
            <a:xfrm>
              <a:off x="2224" y="3376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4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46" name="Oval 67"/>
            <p:cNvSpPr/>
            <p:nvPr/>
          </p:nvSpPr>
          <p:spPr>
            <a:xfrm>
              <a:off x="2832" y="3360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5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47" name="Text Box 68"/>
            <p:cNvSpPr txBox="1"/>
            <p:nvPr/>
          </p:nvSpPr>
          <p:spPr>
            <a:xfrm>
              <a:off x="2584" y="3240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48" name="Text Box 69"/>
            <p:cNvSpPr txBox="1"/>
            <p:nvPr/>
          </p:nvSpPr>
          <p:spPr>
            <a:xfrm>
              <a:off x="3232" y="3248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49" name="Line 70"/>
            <p:cNvSpPr/>
            <p:nvPr/>
          </p:nvSpPr>
          <p:spPr>
            <a:xfrm>
              <a:off x="2504" y="3512"/>
              <a:ext cx="312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50" name="Oval 71"/>
            <p:cNvSpPr/>
            <p:nvPr/>
          </p:nvSpPr>
          <p:spPr>
            <a:xfrm>
              <a:off x="3488" y="3376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6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51" name="Line 72"/>
            <p:cNvSpPr/>
            <p:nvPr/>
          </p:nvSpPr>
          <p:spPr>
            <a:xfrm flipV="1">
              <a:off x="3128" y="3512"/>
              <a:ext cx="34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52" name="Oval 73"/>
            <p:cNvSpPr/>
            <p:nvPr/>
          </p:nvSpPr>
          <p:spPr>
            <a:xfrm>
              <a:off x="1224" y="2872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7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53" name="Oval 74"/>
            <p:cNvSpPr/>
            <p:nvPr/>
          </p:nvSpPr>
          <p:spPr>
            <a:xfrm>
              <a:off x="4368" y="2840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8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54" name="Line 75"/>
            <p:cNvSpPr/>
            <p:nvPr/>
          </p:nvSpPr>
          <p:spPr>
            <a:xfrm flipV="1">
              <a:off x="1520" y="2888"/>
              <a:ext cx="168" cy="9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55" name="Line 76"/>
            <p:cNvSpPr/>
            <p:nvPr/>
          </p:nvSpPr>
          <p:spPr>
            <a:xfrm>
              <a:off x="1504" y="3080"/>
              <a:ext cx="736" cy="33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56" name="Line 77"/>
            <p:cNvSpPr/>
            <p:nvPr/>
          </p:nvSpPr>
          <p:spPr>
            <a:xfrm>
              <a:off x="4144" y="2864"/>
              <a:ext cx="248" cy="7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57" name="Line 78"/>
            <p:cNvSpPr/>
            <p:nvPr/>
          </p:nvSpPr>
          <p:spPr>
            <a:xfrm flipV="1">
              <a:off x="3752" y="3080"/>
              <a:ext cx="640" cy="41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58" name="Text Box 79"/>
            <p:cNvSpPr txBox="1"/>
            <p:nvPr/>
          </p:nvSpPr>
          <p:spPr>
            <a:xfrm>
              <a:off x="1464" y="2748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59" name="Text Box 80"/>
            <p:cNvSpPr txBox="1"/>
            <p:nvPr/>
          </p:nvSpPr>
          <p:spPr>
            <a:xfrm>
              <a:off x="4184" y="2700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60" name="Text Box 81"/>
            <p:cNvSpPr txBox="1"/>
            <p:nvPr/>
          </p:nvSpPr>
          <p:spPr>
            <a:xfrm>
              <a:off x="1968" y="3180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61" name="Text Box 82"/>
            <p:cNvSpPr txBox="1"/>
            <p:nvPr/>
          </p:nvSpPr>
          <p:spPr>
            <a:xfrm>
              <a:off x="3944" y="3148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62" name="Freeform 83"/>
            <p:cNvSpPr/>
            <p:nvPr/>
          </p:nvSpPr>
          <p:spPr>
            <a:xfrm>
              <a:off x="1312" y="2268"/>
              <a:ext cx="3128" cy="604"/>
            </a:xfrm>
            <a:custGeom>
              <a:avLst/>
              <a:gdLst/>
              <a:ahLst/>
              <a:cxnLst>
                <a:cxn ang="0">
                  <a:pos x="2158" y="564"/>
                </a:cxn>
                <a:cxn ang="0">
                  <a:pos x="1892" y="268"/>
                </a:cxn>
                <a:cxn ang="0">
                  <a:pos x="1374" y="44"/>
                </a:cxn>
                <a:cxn ang="0">
                  <a:pos x="799" y="36"/>
                </a:cxn>
                <a:cxn ang="0">
                  <a:pos x="343" y="260"/>
                </a:cxn>
                <a:cxn ang="0">
                  <a:pos x="0" y="604"/>
                </a:cxn>
              </a:cxnLst>
              <a:pathLst>
                <a:path w="3432" h="604">
                  <a:moveTo>
                    <a:pt x="3432" y="564"/>
                  </a:moveTo>
                  <a:cubicBezTo>
                    <a:pt x="3324" y="459"/>
                    <a:pt x="3216" y="355"/>
                    <a:pt x="3008" y="268"/>
                  </a:cubicBezTo>
                  <a:cubicBezTo>
                    <a:pt x="2800" y="181"/>
                    <a:pt x="2473" y="83"/>
                    <a:pt x="2184" y="44"/>
                  </a:cubicBezTo>
                  <a:cubicBezTo>
                    <a:pt x="1895" y="5"/>
                    <a:pt x="1545" y="0"/>
                    <a:pt x="1272" y="36"/>
                  </a:cubicBezTo>
                  <a:cubicBezTo>
                    <a:pt x="999" y="72"/>
                    <a:pt x="756" y="165"/>
                    <a:pt x="544" y="260"/>
                  </a:cubicBezTo>
                  <a:cubicBezTo>
                    <a:pt x="332" y="355"/>
                    <a:pt x="91" y="545"/>
                    <a:pt x="0" y="604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363" name="Text Box 84"/>
            <p:cNvSpPr txBox="1"/>
            <p:nvPr/>
          </p:nvSpPr>
          <p:spPr>
            <a:xfrm>
              <a:off x="2880" y="2332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64" name="Oval 85"/>
            <p:cNvSpPr/>
            <p:nvPr/>
          </p:nvSpPr>
          <p:spPr>
            <a:xfrm>
              <a:off x="4816" y="2808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10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65" name="Oval 86"/>
            <p:cNvSpPr/>
            <p:nvPr/>
          </p:nvSpPr>
          <p:spPr>
            <a:xfrm>
              <a:off x="704" y="2848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9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66" name="Line 87"/>
            <p:cNvSpPr/>
            <p:nvPr/>
          </p:nvSpPr>
          <p:spPr>
            <a:xfrm>
              <a:off x="1000" y="3008"/>
              <a:ext cx="216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67" name="Line 88"/>
            <p:cNvSpPr/>
            <p:nvPr/>
          </p:nvSpPr>
          <p:spPr>
            <a:xfrm>
              <a:off x="4664" y="2976"/>
              <a:ext cx="16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68" name="Text Box 89"/>
            <p:cNvSpPr txBox="1"/>
            <p:nvPr/>
          </p:nvSpPr>
          <p:spPr>
            <a:xfrm>
              <a:off x="1048" y="2788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69" name="Text Box 90"/>
            <p:cNvSpPr txBox="1"/>
            <p:nvPr/>
          </p:nvSpPr>
          <p:spPr>
            <a:xfrm>
              <a:off x="4640" y="2740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70" name="Freeform 91"/>
            <p:cNvSpPr/>
            <p:nvPr/>
          </p:nvSpPr>
          <p:spPr>
            <a:xfrm>
              <a:off x="944" y="3080"/>
              <a:ext cx="3904" cy="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1" y="262"/>
                </a:cxn>
                <a:cxn ang="0">
                  <a:pos x="1144" y="437"/>
                </a:cxn>
                <a:cxn ang="0">
                  <a:pos x="1659" y="422"/>
                </a:cxn>
                <a:cxn ang="0">
                  <a:pos x="2287" y="113"/>
                </a:cxn>
                <a:cxn ang="0">
                  <a:pos x="2473" y="0"/>
                </a:cxn>
              </a:cxnLst>
              <a:pathLst>
                <a:path w="4376" h="1020">
                  <a:moveTo>
                    <a:pt x="0" y="0"/>
                  </a:moveTo>
                  <a:cubicBezTo>
                    <a:pt x="195" y="202"/>
                    <a:pt x="391" y="404"/>
                    <a:pt x="728" y="560"/>
                  </a:cubicBezTo>
                  <a:cubicBezTo>
                    <a:pt x="1065" y="716"/>
                    <a:pt x="1656" y="879"/>
                    <a:pt x="2024" y="936"/>
                  </a:cubicBezTo>
                  <a:cubicBezTo>
                    <a:pt x="2392" y="993"/>
                    <a:pt x="2599" y="1020"/>
                    <a:pt x="2936" y="904"/>
                  </a:cubicBezTo>
                  <a:cubicBezTo>
                    <a:pt x="3273" y="788"/>
                    <a:pt x="3808" y="391"/>
                    <a:pt x="4048" y="240"/>
                  </a:cubicBezTo>
                  <a:cubicBezTo>
                    <a:pt x="4288" y="89"/>
                    <a:pt x="4321" y="40"/>
                    <a:pt x="4376" y="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371" name="Text Box 92"/>
            <p:cNvSpPr txBox="1"/>
            <p:nvPr/>
          </p:nvSpPr>
          <p:spPr>
            <a:xfrm>
              <a:off x="3168" y="3740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372" name="Text Box 93"/>
            <p:cNvSpPr txBox="1"/>
            <p:nvPr/>
          </p:nvSpPr>
          <p:spPr>
            <a:xfrm>
              <a:off x="3864" y="2276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Group 94"/>
          <p:cNvGrpSpPr/>
          <p:nvPr/>
        </p:nvGrpSpPr>
        <p:grpSpPr>
          <a:xfrm>
            <a:off x="228600" y="4318000"/>
            <a:ext cx="876300" cy="676275"/>
            <a:chOff x="144" y="2720"/>
            <a:chExt cx="552" cy="426"/>
          </a:xfrm>
        </p:grpSpPr>
        <p:sp>
          <p:nvSpPr>
            <p:cNvPr id="97374" name="Oval 95"/>
            <p:cNvSpPr/>
            <p:nvPr/>
          </p:nvSpPr>
          <p:spPr>
            <a:xfrm>
              <a:off x="144" y="2856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11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75" name="Line 96"/>
            <p:cNvSpPr/>
            <p:nvPr/>
          </p:nvSpPr>
          <p:spPr>
            <a:xfrm>
              <a:off x="424" y="3008"/>
              <a:ext cx="272" cy="0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76" name="Text Box 97"/>
            <p:cNvSpPr txBox="1"/>
            <p:nvPr/>
          </p:nvSpPr>
          <p:spPr>
            <a:xfrm>
              <a:off x="512" y="2720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98"/>
          <p:cNvGrpSpPr/>
          <p:nvPr/>
        </p:nvGrpSpPr>
        <p:grpSpPr>
          <a:xfrm>
            <a:off x="8115300" y="4305300"/>
            <a:ext cx="876300" cy="600075"/>
            <a:chOff x="5112" y="2712"/>
            <a:chExt cx="552" cy="378"/>
          </a:xfrm>
        </p:grpSpPr>
        <p:sp>
          <p:nvSpPr>
            <p:cNvPr id="97378" name="Line 99"/>
            <p:cNvSpPr/>
            <p:nvPr/>
          </p:nvSpPr>
          <p:spPr>
            <a:xfrm>
              <a:off x="5112" y="2952"/>
              <a:ext cx="280" cy="0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79" name="Text Box 100"/>
            <p:cNvSpPr txBox="1"/>
            <p:nvPr/>
          </p:nvSpPr>
          <p:spPr>
            <a:xfrm>
              <a:off x="5152" y="2712"/>
              <a:ext cx="9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a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80" name="Oval 101"/>
            <p:cNvSpPr/>
            <p:nvPr/>
          </p:nvSpPr>
          <p:spPr>
            <a:xfrm>
              <a:off x="5376" y="2800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12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102"/>
          <p:cNvGrpSpPr/>
          <p:nvPr/>
        </p:nvGrpSpPr>
        <p:grpSpPr>
          <a:xfrm>
            <a:off x="8483600" y="4876800"/>
            <a:ext cx="495300" cy="917575"/>
            <a:chOff x="5344" y="3072"/>
            <a:chExt cx="312" cy="578"/>
          </a:xfrm>
        </p:grpSpPr>
        <p:sp>
          <p:nvSpPr>
            <p:cNvPr id="97382" name="Line 103"/>
            <p:cNvSpPr/>
            <p:nvPr/>
          </p:nvSpPr>
          <p:spPr>
            <a:xfrm>
              <a:off x="5520" y="3072"/>
              <a:ext cx="0" cy="304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83" name="Oval 104"/>
            <p:cNvSpPr/>
            <p:nvPr/>
          </p:nvSpPr>
          <p:spPr>
            <a:xfrm>
              <a:off x="5368" y="3360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13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84" name="Text Box 105"/>
            <p:cNvSpPr txBox="1"/>
            <p:nvPr/>
          </p:nvSpPr>
          <p:spPr>
            <a:xfrm>
              <a:off x="5344" y="3080"/>
              <a:ext cx="10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Times New Roman" panose="02020603050405020304" pitchFamily="18" charset="0"/>
                </a:rPr>
                <a:t>b</a:t>
              </a:r>
              <a:endParaRPr lang="en-US" altLang="zh-CN" sz="2400" b="1" u="none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106"/>
          <p:cNvGrpSpPr/>
          <p:nvPr/>
        </p:nvGrpSpPr>
        <p:grpSpPr>
          <a:xfrm>
            <a:off x="8356600" y="5746750"/>
            <a:ext cx="787400" cy="958850"/>
            <a:chOff x="5264" y="3620"/>
            <a:chExt cx="496" cy="604"/>
          </a:xfrm>
        </p:grpSpPr>
        <p:grpSp>
          <p:nvGrpSpPr>
            <p:cNvPr id="97386" name="Group 107"/>
            <p:cNvGrpSpPr/>
            <p:nvPr/>
          </p:nvGrpSpPr>
          <p:grpSpPr>
            <a:xfrm>
              <a:off x="5376" y="3840"/>
              <a:ext cx="384" cy="384"/>
              <a:chOff x="1344" y="2784"/>
              <a:chExt cx="384" cy="384"/>
            </a:xfrm>
          </p:grpSpPr>
          <p:sp>
            <p:nvSpPr>
              <p:cNvPr id="97387" name="Oval 108"/>
              <p:cNvSpPr/>
              <p:nvPr/>
            </p:nvSpPr>
            <p:spPr>
              <a:xfrm>
                <a:off x="1392" y="2832"/>
                <a:ext cx="288" cy="290"/>
              </a:xfrm>
              <a:prstGeom prst="ellipse">
                <a:avLst/>
              </a:prstGeom>
              <a:noFill/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u="none" dirty="0">
                    <a:latin typeface="Times New Roman" panose="02020603050405020304" pitchFamily="18" charset="0"/>
                  </a:rPr>
                  <a:t>14</a:t>
                </a:r>
                <a:endParaRPr lang="en-US" altLang="zh-CN" sz="2000" b="1" u="none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88" name="Oval 109"/>
              <p:cNvSpPr/>
              <p:nvPr/>
            </p:nvSpPr>
            <p:spPr>
              <a:xfrm>
                <a:off x="1344" y="2784"/>
                <a:ext cx="384" cy="384"/>
              </a:xfrm>
              <a:prstGeom prst="ellipse">
                <a:avLst/>
              </a:prstGeom>
              <a:noFill/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7389" name="Line 110"/>
            <p:cNvSpPr/>
            <p:nvPr/>
          </p:nvSpPr>
          <p:spPr>
            <a:xfrm>
              <a:off x="5520" y="3632"/>
              <a:ext cx="0" cy="224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90" name="Text Box 111"/>
            <p:cNvSpPr txBox="1"/>
            <p:nvPr/>
          </p:nvSpPr>
          <p:spPr>
            <a:xfrm>
              <a:off x="5264" y="3620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9" name="Group 112"/>
          <p:cNvGrpSpPr/>
          <p:nvPr/>
        </p:nvGrpSpPr>
        <p:grpSpPr>
          <a:xfrm>
            <a:off x="165100" y="3225800"/>
            <a:ext cx="520700" cy="1308100"/>
            <a:chOff x="104" y="2032"/>
            <a:chExt cx="328" cy="824"/>
          </a:xfrm>
        </p:grpSpPr>
        <p:sp>
          <p:nvSpPr>
            <p:cNvPr id="97392" name="Line 113"/>
            <p:cNvSpPr/>
            <p:nvPr/>
          </p:nvSpPr>
          <p:spPr>
            <a:xfrm>
              <a:off x="280" y="2584"/>
              <a:ext cx="0" cy="272"/>
            </a:xfrm>
            <a:prstGeom prst="line">
              <a:avLst/>
            </a:prstGeom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7393" name="Oval 114"/>
            <p:cNvSpPr/>
            <p:nvPr/>
          </p:nvSpPr>
          <p:spPr>
            <a:xfrm>
              <a:off x="144" y="2304"/>
              <a:ext cx="288" cy="290"/>
            </a:xfrm>
            <a:prstGeom prst="ellipse">
              <a:avLst/>
            </a:pr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Times New Roman" panose="02020603050405020304" pitchFamily="18" charset="0"/>
                </a:rPr>
                <a:t>0</a:t>
              </a:r>
              <a:endParaRPr lang="en-US" altLang="zh-CN" sz="2000" b="1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97394" name="AutoShape 115"/>
            <p:cNvSpPr/>
            <p:nvPr/>
          </p:nvSpPr>
          <p:spPr>
            <a:xfrm>
              <a:off x="184" y="2032"/>
              <a:ext cx="186" cy="263"/>
            </a:xfrm>
            <a:prstGeom prst="downArrow">
              <a:avLst>
                <a:gd name="adj1" fmla="val 50000"/>
                <a:gd name="adj2" fmla="val 35316"/>
              </a:avLst>
            </a:prstGeom>
            <a:noFill/>
            <a:ln w="222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97395" name="Text Box 116"/>
            <p:cNvSpPr txBox="1"/>
            <p:nvPr/>
          </p:nvSpPr>
          <p:spPr>
            <a:xfrm>
              <a:off x="104" y="2588"/>
              <a:ext cx="16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ε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R=(a|ab)* b b*</a:t>
            </a:r>
            <a:endParaRPr lang="en-US" altLang="zh-CN" dirty="0"/>
          </a:p>
        </p:txBody>
      </p:sp>
      <p:pic>
        <p:nvPicPr>
          <p:cNvPr id="98306" name="Picture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/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  </a:t>
            </a:r>
            <a:r>
              <a:rPr lang="en-US" altLang="zh-CN" dirty="0"/>
              <a:t>NFA</a:t>
            </a:r>
            <a:r>
              <a:rPr lang="zh-CN" altLang="en-US" dirty="0"/>
              <a:t>确定化算法</a:t>
            </a:r>
            <a:endParaRPr lang="zh-CN" altLang="en-US" dirty="0"/>
          </a:p>
        </p:txBody>
      </p:sp>
      <p:sp>
        <p:nvSpPr>
          <p:cNvPr id="819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   假设</a:t>
            </a:r>
            <a:r>
              <a:rPr lang="en-US" altLang="zh-CN" dirty="0"/>
              <a:t>NFA N=(K, </a:t>
            </a:r>
            <a:r>
              <a:rPr lang="en-US" altLang="zh-CN" dirty="0">
                <a:sym typeface="Symbol" panose="05050102010706020507" pitchFamily="18" charset="2"/>
              </a:rPr>
              <a:t>,f,K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>
                <a:sym typeface="Symbol" panose="05050102010706020507" pitchFamily="18" charset="2"/>
              </a:rPr>
              <a:t>,K</a:t>
            </a:r>
            <a:r>
              <a:rPr lang="en-US" altLang="zh-CN" baseline="-25000" dirty="0">
                <a:sym typeface="Symbol" panose="05050102010706020507" pitchFamily="18" charset="2"/>
              </a:rPr>
              <a:t>t</a:t>
            </a:r>
            <a:r>
              <a:rPr lang="en-US" altLang="zh-CN" dirty="0"/>
              <a:t>)</a:t>
            </a:r>
            <a:r>
              <a:rPr lang="zh-CN" altLang="en-US" dirty="0"/>
              <a:t>按如下办法构造一个</a:t>
            </a:r>
            <a:r>
              <a:rPr lang="en-US" altLang="zh-CN" dirty="0"/>
              <a:t>DFA  M=(S, </a:t>
            </a:r>
            <a:r>
              <a:rPr lang="en-US" altLang="zh-CN" dirty="0">
                <a:sym typeface="Symbol" panose="05050102010706020507" pitchFamily="18" charset="2"/>
              </a:rPr>
              <a:t>,d,S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>
                <a:sym typeface="Symbol" panose="05050102010706020507" pitchFamily="18" charset="2"/>
              </a:rPr>
              <a:t>,S</a:t>
            </a:r>
            <a:r>
              <a:rPr lang="en-US" altLang="zh-CN" baseline="-25000" dirty="0">
                <a:sym typeface="Symbol" panose="05050102010706020507" pitchFamily="18" charset="2"/>
              </a:rPr>
              <a:t>t</a:t>
            </a:r>
            <a:r>
              <a:rPr lang="en-US" altLang="zh-CN" dirty="0"/>
              <a:t>)，</a:t>
            </a:r>
            <a:r>
              <a:rPr lang="zh-CN" altLang="en-US" dirty="0"/>
              <a:t>使得</a:t>
            </a:r>
            <a:r>
              <a:rPr lang="en-US" altLang="en-US" dirty="0"/>
              <a:t>L(M)=L(N)</a:t>
            </a:r>
            <a:r>
              <a:rPr lang="en-US" altLang="zh-CN" dirty="0"/>
              <a:t>：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1.  M</a:t>
            </a:r>
            <a:r>
              <a:rPr lang="zh-CN" altLang="en-US" dirty="0"/>
              <a:t>的状态集</a:t>
            </a:r>
            <a:r>
              <a:rPr lang="en-US" altLang="zh-CN" dirty="0"/>
              <a:t>S</a:t>
            </a:r>
            <a:r>
              <a:rPr lang="zh-CN" altLang="en-US" dirty="0"/>
              <a:t>由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K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的一些子集</a:t>
            </a:r>
            <a:r>
              <a:rPr lang="zh-CN" altLang="en-US" dirty="0"/>
              <a:t>组成。用[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 S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...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j</a:t>
            </a:r>
            <a:r>
              <a:rPr lang="zh-CN" altLang="en-US" dirty="0"/>
              <a:t>]表示</a:t>
            </a:r>
            <a:r>
              <a:rPr lang="en-US" altLang="zh-CN" dirty="0"/>
              <a:t>S</a:t>
            </a:r>
            <a:r>
              <a:rPr lang="zh-CN" altLang="en-US" dirty="0"/>
              <a:t>的元素，其中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, S</a:t>
            </a:r>
            <a:r>
              <a:rPr lang="en-US" altLang="zh-CN" baseline="-25000" dirty="0">
                <a:sym typeface="Symbol" panose="05050102010706020507" pitchFamily="18" charset="2"/>
              </a:rPr>
              <a:t>2,</a:t>
            </a:r>
            <a:r>
              <a:rPr lang="en-US" altLang="zh-CN" dirty="0">
                <a:sym typeface="Symbol" panose="05050102010706020507" pitchFamily="18" charset="2"/>
              </a:rPr>
              <a:t>,...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j</a:t>
            </a:r>
            <a:r>
              <a:rPr lang="zh-CN" altLang="en-US" dirty="0"/>
              <a:t>是</a:t>
            </a:r>
            <a:r>
              <a:rPr lang="en-US" altLang="zh-CN" dirty="0"/>
              <a:t>K</a:t>
            </a:r>
            <a:r>
              <a:rPr lang="zh-CN" altLang="en-US" dirty="0"/>
              <a:t>的状态。并且约定，状态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, S</a:t>
            </a:r>
            <a:r>
              <a:rPr lang="en-US" altLang="zh-CN" baseline="-25000" dirty="0">
                <a:sym typeface="Symbol" panose="05050102010706020507" pitchFamily="18" charset="2"/>
              </a:rPr>
              <a:t>2,</a:t>
            </a:r>
            <a:r>
              <a:rPr lang="en-US" altLang="zh-CN" dirty="0">
                <a:sym typeface="Symbol" panose="05050102010706020507" pitchFamily="18" charset="2"/>
              </a:rPr>
              <a:t>,...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j</a:t>
            </a:r>
            <a:r>
              <a:rPr lang="zh-CN" altLang="en-US" dirty="0"/>
              <a:t>是按某种规则排列的，即对于子集{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, S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}={ S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, S</a:t>
            </a:r>
            <a:r>
              <a:rPr lang="en-US" altLang="zh-CN" baseline="-25000" dirty="0">
                <a:sym typeface="Symbol" panose="05050102010706020507" pitchFamily="18" charset="2"/>
              </a:rPr>
              <a:t>1,</a:t>
            </a:r>
            <a:r>
              <a:rPr lang="en-US" altLang="zh-CN" dirty="0">
                <a:sym typeface="Symbol" panose="05050102010706020507" pitchFamily="18" charset="2"/>
              </a:rPr>
              <a:t>}</a:t>
            </a:r>
            <a:r>
              <a:rPr lang="zh-CN" altLang="en-US" dirty="0">
                <a:sym typeface="Symbol" panose="05050102010706020507" pitchFamily="18" charset="2"/>
              </a:rPr>
              <a:t>来说，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的状态就是[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 S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]；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60419" name="AutoShape 4">
            <a:hlinkClick r:id="" action="ppaction://hlinkshowjump?jump=previousslide"/>
          </p:cNvPr>
          <p:cNvSpPr/>
          <p:nvPr/>
        </p:nvSpPr>
        <p:spPr>
          <a:xfrm>
            <a:off x="6934200" y="5943600"/>
            <a:ext cx="539750" cy="539750"/>
          </a:xfrm>
          <a:prstGeom prst="actionButtonBackPrevious">
            <a:avLst/>
          </a:prstGeom>
          <a:solidFill>
            <a:srgbClr val="00FFFF">
              <a:alpha val="50195"/>
            </a:srgbClr>
          </a:solidFill>
          <a:ln w="9525">
            <a:noFill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60420" name="AutoShape 5">
            <a:hlinkClick r:id="" action="ppaction://hlinkshowjump?jump=nextslide"/>
          </p:cNvPr>
          <p:cNvSpPr/>
          <p:nvPr/>
        </p:nvSpPr>
        <p:spPr>
          <a:xfrm>
            <a:off x="7461250" y="5943600"/>
            <a:ext cx="539750" cy="539750"/>
          </a:xfrm>
          <a:prstGeom prst="actionButtonForwardNext">
            <a:avLst/>
          </a:prstGeom>
          <a:solidFill>
            <a:srgbClr val="00FFFF">
              <a:alpha val="50195"/>
            </a:srgbClr>
          </a:solidFill>
          <a:ln w="9525">
            <a:noFill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charRg st="0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charRg st="0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charRg st="69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81923">
                                            <p:txEl>
                                              <p:charRg st="69" end="2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82947" name="Rectangle 3"/>
          <p:cNvSpPr>
            <a:spLocks noGrp="1"/>
          </p:cNvSpPr>
          <p:nvPr>
            <p:ph idx="1"/>
          </p:nvPr>
        </p:nvSpPr>
        <p:spPr>
          <a:xfrm>
            <a:off x="990600" y="1752600"/>
            <a:ext cx="7924800" cy="4191000"/>
          </a:xfrm>
        </p:spPr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zh-CN" altLang="en-US" dirty="0"/>
              <a:t>2  </a:t>
            </a:r>
            <a:r>
              <a:rPr lang="en-US" altLang="zh-CN" dirty="0"/>
              <a:t>M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的输入字母表是相同的，即是</a:t>
            </a:r>
            <a:r>
              <a:rPr lang="zh-CN" altLang="en-US" dirty="0">
                <a:sym typeface="Symbol" panose="05050102010706020507" pitchFamily="18" charset="2"/>
              </a:rPr>
              <a:t>；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zh-CN" altLang="en-US" dirty="0"/>
              <a:t>3  转换函数是这样定义的：                                      	  </a:t>
            </a:r>
            <a:r>
              <a:rPr lang="en-US" altLang="zh-CN" dirty="0"/>
              <a:t>d(</a:t>
            </a:r>
            <a:r>
              <a:rPr lang="zh-CN" altLang="en-US" dirty="0"/>
              <a:t>[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 S</a:t>
            </a:r>
            <a:r>
              <a:rPr lang="en-US" altLang="zh-CN" baseline="-25000" dirty="0">
                <a:sym typeface="Symbol" panose="05050102010706020507" pitchFamily="18" charset="2"/>
              </a:rPr>
              <a:t>2,</a:t>
            </a:r>
            <a:r>
              <a:rPr lang="en-US" altLang="zh-CN" dirty="0">
                <a:sym typeface="Symbol" panose="05050102010706020507" pitchFamily="18" charset="2"/>
              </a:rPr>
              <a:t>...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j</a:t>
            </a:r>
            <a:r>
              <a:rPr lang="zh-CN" altLang="en-US" dirty="0"/>
              <a:t>],</a:t>
            </a:r>
            <a:r>
              <a:rPr lang="en-US" altLang="zh-CN" dirty="0"/>
              <a:t>a)= </a:t>
            </a:r>
            <a:r>
              <a:rPr lang="zh-CN" altLang="en-US" dirty="0"/>
              <a:t>[</a:t>
            </a:r>
            <a:r>
              <a:rPr lang="en-US" altLang="zh-CN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...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t</a:t>
            </a:r>
            <a:r>
              <a:rPr lang="zh-CN" altLang="en-US" dirty="0"/>
              <a:t>]	 </a:t>
            </a:r>
            <a:r>
              <a:rPr lang="zh-CN" altLang="zh-CN" dirty="0"/>
              <a:t>其中     {</a:t>
            </a:r>
            <a:r>
              <a:rPr lang="en-US" altLang="zh-CN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1,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2,</a:t>
            </a:r>
            <a:r>
              <a:rPr lang="en-US" altLang="zh-CN" dirty="0">
                <a:sym typeface="Symbol" panose="05050102010706020507" pitchFamily="18" charset="2"/>
              </a:rPr>
              <a:t>...</a:t>
            </a:r>
            <a:r>
              <a:rPr lang="en-US" altLang="zh-CN" baseline="-25000" dirty="0">
                <a:sym typeface="Symbol" panose="05050102010706020507" pitchFamily="18" charset="2"/>
              </a:rPr>
              <a:t> , 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}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zh-CN" dirty="0"/>
              <a:t>  </a:t>
            </a:r>
            <a:r>
              <a:rPr lang="zh-CN" altLang="en-US" dirty="0">
                <a:sym typeface="Symbol" panose="05050102010706020507" pitchFamily="18" charset="2"/>
              </a:rPr>
              <a:t>-</a:t>
            </a:r>
            <a:r>
              <a:rPr lang="en-US" altLang="zh-CN" dirty="0">
                <a:sym typeface="Symbol" panose="05050102010706020507" pitchFamily="18" charset="2"/>
              </a:rPr>
              <a:t>closure(move</a:t>
            </a:r>
            <a:r>
              <a:rPr lang="en-US" altLang="zh-CN" dirty="0"/>
              <a:t>({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, S</a:t>
            </a:r>
            <a:r>
              <a:rPr lang="en-US" altLang="zh-CN" baseline="-25000" dirty="0">
                <a:sym typeface="Symbol" panose="05050102010706020507" pitchFamily="18" charset="2"/>
              </a:rPr>
              <a:t>2,</a:t>
            </a:r>
            <a:r>
              <a:rPr lang="en-US" altLang="zh-CN" dirty="0">
                <a:sym typeface="Symbol" panose="05050102010706020507" pitchFamily="18" charset="2"/>
              </a:rPr>
              <a:t>,...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j</a:t>
            </a:r>
            <a:r>
              <a:rPr lang="en-US" altLang="zh-CN" dirty="0">
                <a:sym typeface="Symbol" panose="05050102010706020507" pitchFamily="18" charset="2"/>
              </a:rPr>
              <a:t>}</a:t>
            </a:r>
            <a:r>
              <a:rPr lang="zh-CN" altLang="en-US" dirty="0"/>
              <a:t>,</a:t>
            </a:r>
            <a:r>
              <a:rPr lang="en-US" altLang="zh-CN" dirty="0"/>
              <a:t>a)) 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4 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zh-CN" altLang="en-US" dirty="0"/>
              <a:t>=</a:t>
            </a:r>
            <a:r>
              <a:rPr lang="zh-CN" altLang="en-US" dirty="0">
                <a:sym typeface="Symbol" panose="05050102010706020507" pitchFamily="18" charset="2"/>
              </a:rPr>
              <a:t>-</a:t>
            </a:r>
            <a:r>
              <a:rPr lang="en-US" altLang="zh-CN" dirty="0">
                <a:sym typeface="Symbol" panose="05050102010706020507" pitchFamily="18" charset="2"/>
              </a:rPr>
              <a:t>closure(K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M</a:t>
            </a:r>
            <a:r>
              <a:rPr lang="zh-CN" altLang="en-US" dirty="0">
                <a:sym typeface="Symbol" panose="05050102010706020507" pitchFamily="18" charset="2"/>
              </a:rPr>
              <a:t>的开始状态；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zh-CN" altLang="en-US" dirty="0">
                <a:sym typeface="Symbol" panose="05050102010706020507" pitchFamily="18" charset="2"/>
              </a:rPr>
              <a:t>5 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t</a:t>
            </a:r>
            <a:r>
              <a:rPr lang="zh-CN" altLang="en-US" dirty="0"/>
              <a:t>={[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 S</a:t>
            </a:r>
            <a:r>
              <a:rPr lang="en-US" altLang="zh-CN" baseline="-25000" dirty="0">
                <a:sym typeface="Symbol" panose="05050102010706020507" pitchFamily="18" charset="2"/>
              </a:rPr>
              <a:t>k</a:t>
            </a:r>
            <a:r>
              <a:rPr lang="en-US" altLang="zh-CN" dirty="0">
                <a:sym typeface="Symbol" panose="05050102010706020507" pitchFamily="18" charset="2"/>
              </a:rPr>
              <a:t>...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e</a:t>
            </a:r>
            <a:r>
              <a:rPr lang="zh-CN" altLang="en-US" dirty="0"/>
              <a:t>]，其中[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zh-CN" altLang="en-US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 S</a:t>
            </a:r>
            <a:r>
              <a:rPr lang="en-US" altLang="zh-CN" baseline="-25000" dirty="0">
                <a:sym typeface="Symbol" panose="05050102010706020507" pitchFamily="18" charset="2"/>
              </a:rPr>
              <a:t>k</a:t>
            </a:r>
            <a:r>
              <a:rPr lang="en-US" altLang="zh-CN" dirty="0">
                <a:sym typeface="Symbol" panose="05050102010706020507" pitchFamily="18" charset="2"/>
              </a:rPr>
              <a:t>...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e</a:t>
            </a:r>
            <a:r>
              <a:rPr lang="zh-CN" altLang="en-US" dirty="0"/>
              <a:t>]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en-US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且{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, S</a:t>
            </a:r>
            <a:r>
              <a:rPr lang="en-US" altLang="zh-CN" baseline="-25000" dirty="0">
                <a:sym typeface="Symbol" panose="05050102010706020507" pitchFamily="18" charset="2"/>
              </a:rPr>
              <a:t>k,</a:t>
            </a:r>
            <a:r>
              <a:rPr lang="en-US" altLang="zh-CN" dirty="0">
                <a:sym typeface="Symbol" panose="05050102010706020507" pitchFamily="18" charset="2"/>
              </a:rPr>
              <a:t>,...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ym typeface="Symbol" panose="05050102010706020507" pitchFamily="18" charset="2"/>
              </a:rPr>
              <a:t>e</a:t>
            </a:r>
            <a:r>
              <a:rPr lang="zh-CN" altLang="en-US" dirty="0"/>
              <a:t>}</a:t>
            </a:r>
            <a:r>
              <a:rPr lang="zh-CN" altLang="en-US" dirty="0">
                <a:sym typeface="Symbol" panose="05050102010706020507" pitchFamily="18" charset="2"/>
              </a:rPr>
              <a:t></a:t>
            </a:r>
            <a:r>
              <a:rPr lang="en-US" altLang="zh-CN" dirty="0">
                <a:sym typeface="Symbol" panose="05050102010706020507" pitchFamily="18" charset="2"/>
              </a:rPr>
              <a:t>K</a:t>
            </a:r>
            <a:r>
              <a:rPr lang="en-US" altLang="zh-CN" baseline="-25000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</a:t>
            </a:r>
            <a:r>
              <a:rPr lang="zh-CN" altLang="en-US" dirty="0"/>
              <a:t>}</a:t>
            </a:r>
            <a:endParaRPr lang="zh-CN" altLang="en-US" dirty="0"/>
          </a:p>
        </p:txBody>
      </p:sp>
      <p:sp>
        <p:nvSpPr>
          <p:cNvPr id="61443" name="AutoShape 4">
            <a:hlinkClick r:id="" action="ppaction://hlinkshowjump?jump=previousslide"/>
          </p:cNvPr>
          <p:cNvSpPr/>
          <p:nvPr/>
        </p:nvSpPr>
        <p:spPr>
          <a:xfrm>
            <a:off x="6934200" y="5943600"/>
            <a:ext cx="539750" cy="539750"/>
          </a:xfrm>
          <a:prstGeom prst="actionButtonBackPrevious">
            <a:avLst/>
          </a:prstGeom>
          <a:solidFill>
            <a:srgbClr val="00FFFF">
              <a:alpha val="50195"/>
            </a:srgbClr>
          </a:solidFill>
          <a:ln w="9525">
            <a:noFill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61444" name="AutoShape 5">
            <a:hlinkClick r:id="" action="ppaction://hlinkshowjump?jump=nextslide"/>
          </p:cNvPr>
          <p:cNvSpPr/>
          <p:nvPr/>
        </p:nvSpPr>
        <p:spPr>
          <a:xfrm>
            <a:off x="7461250" y="5943600"/>
            <a:ext cx="539750" cy="539750"/>
          </a:xfrm>
          <a:prstGeom prst="actionButtonForwardNext">
            <a:avLst/>
          </a:prstGeom>
          <a:solidFill>
            <a:srgbClr val="00FFFF">
              <a:alpha val="50195"/>
            </a:srgbClr>
          </a:solidFill>
          <a:ln w="9525">
            <a:noFill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charRg st="22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82947">
                                            <p:txEl>
                                              <p:charRg st="22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charRg st="176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82947">
                                            <p:txEl>
                                              <p:charRg st="176" end="2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charRg st="203" end="2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82947">
                                            <p:txEl>
                                              <p:charRg st="203" end="2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Rectangle 3"/>
          <p:cNvSpPr>
            <a:spLocks noGrp="1"/>
          </p:cNvSpPr>
          <p:nvPr>
            <p:ph idx="1"/>
          </p:nvPr>
        </p:nvSpPr>
        <p:spPr>
          <a:xfrm>
            <a:off x="684213" y="1773238"/>
            <a:ext cx="7924800" cy="47244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000" dirty="0"/>
              <a:t>1.  </a:t>
            </a:r>
            <a:r>
              <a:rPr lang="zh-CN" altLang="en-US" sz="2400" b="1" dirty="0">
                <a:latin typeface="方正舒体" pitchFamily="2" charset="-122"/>
                <a:ea typeface="方正舒体" pitchFamily="2" charset="-122"/>
              </a:rPr>
              <a:t>状态集合</a:t>
            </a:r>
            <a:r>
              <a:rPr lang="en-US" altLang="zh-CN" sz="2400" b="1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方正舒体" pitchFamily="2" charset="-122"/>
                <a:ea typeface="方正舒体" pitchFamily="2" charset="-122"/>
              </a:rPr>
              <a:t>的</a:t>
            </a:r>
            <a:r>
              <a:rPr lang="en-US" altLang="zh-CN" sz="2400" b="1" dirty="0">
                <a:latin typeface="方正舒体" pitchFamily="2" charset="-122"/>
                <a:ea typeface="方正舒体" pitchFamily="2" charset="-122"/>
              </a:rPr>
              <a:t>ε-</a:t>
            </a:r>
            <a:r>
              <a:rPr lang="zh-CN" altLang="en-US" sz="2400" b="1" dirty="0">
                <a:latin typeface="方正舒体" pitchFamily="2" charset="-122"/>
                <a:ea typeface="方正舒体" pitchFamily="2" charset="-122"/>
              </a:rPr>
              <a:t>闭包</a:t>
            </a:r>
            <a:r>
              <a:rPr lang="zh-CN" altLang="en-US" sz="2000" dirty="0"/>
              <a:t>，</a:t>
            </a:r>
            <a:r>
              <a:rPr lang="zh-CN" altLang="en-US" sz="2400" dirty="0"/>
              <a:t>表示为</a:t>
            </a:r>
            <a:r>
              <a:rPr lang="en-US" altLang="zh-CN" sz="2400" dirty="0">
                <a:latin typeface="Arial" panose="020B0604020202020204" pitchFamily="34" charset="0"/>
              </a:rPr>
              <a:t>ε-</a:t>
            </a:r>
            <a:r>
              <a:rPr lang="en-US" altLang="zh-CN" sz="2400" dirty="0"/>
              <a:t>closure(I)，</a:t>
            </a:r>
            <a:r>
              <a:rPr lang="zh-CN" altLang="en-US" sz="2400" dirty="0"/>
              <a:t>定义为一状态集，是状态集</a:t>
            </a:r>
            <a:r>
              <a:rPr lang="en-US" altLang="zh-CN" sz="2400" dirty="0"/>
              <a:t>I</a:t>
            </a:r>
            <a:r>
              <a:rPr lang="zh-CN" altLang="en-US" sz="2400" dirty="0"/>
              <a:t>中的任何状态</a:t>
            </a:r>
            <a:r>
              <a:rPr lang="en-US" altLang="zh-CN" sz="2400" dirty="0"/>
              <a:t>S</a:t>
            </a:r>
            <a:r>
              <a:rPr lang="zh-CN" altLang="en-US" sz="2400" dirty="0"/>
              <a:t>经任意条</a:t>
            </a:r>
            <a:r>
              <a:rPr lang="en-US" altLang="zh-CN" sz="2400" dirty="0">
                <a:latin typeface="Arial" panose="020B0604020202020204" pitchFamily="34" charset="0"/>
              </a:rPr>
              <a:t>ε</a:t>
            </a:r>
            <a:r>
              <a:rPr lang="zh-CN" altLang="en-US" sz="2400" dirty="0"/>
              <a:t>弧而能到达的状态的集合。</a:t>
            </a: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     状态集合</a:t>
            </a:r>
            <a:r>
              <a:rPr lang="en-US" altLang="zh-CN" sz="2400" dirty="0"/>
              <a:t>I</a:t>
            </a:r>
            <a:r>
              <a:rPr lang="zh-CN" altLang="en-US" sz="2400" dirty="0"/>
              <a:t>的任何状态</a:t>
            </a:r>
            <a:r>
              <a:rPr lang="en-US" altLang="zh-CN" sz="2400" dirty="0"/>
              <a:t>S</a:t>
            </a:r>
            <a:r>
              <a:rPr lang="zh-CN" altLang="en-US" sz="2400" dirty="0"/>
              <a:t>都属于</a:t>
            </a:r>
            <a:r>
              <a:rPr lang="en-US" altLang="zh-CN" sz="2400" dirty="0">
                <a:latin typeface="Arial" panose="020B0604020202020204" pitchFamily="34" charset="0"/>
              </a:rPr>
              <a:t>ε-</a:t>
            </a:r>
            <a:r>
              <a:rPr lang="en-US" altLang="zh-CN" sz="2400" dirty="0"/>
              <a:t>closure(I)。</a:t>
            </a: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000" dirty="0"/>
              <a:t>2. </a:t>
            </a:r>
            <a:r>
              <a:rPr lang="zh-CN" altLang="en-US" sz="2400" b="1" dirty="0">
                <a:latin typeface="方正舒体" pitchFamily="2" charset="-122"/>
                <a:ea typeface="方正舒体" pitchFamily="2" charset="-122"/>
              </a:rPr>
              <a:t>状态集合</a:t>
            </a:r>
            <a:r>
              <a:rPr lang="en-US" altLang="zh-CN" sz="2400" b="1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方正舒体" pitchFamily="2" charset="-122"/>
                <a:ea typeface="方正舒体" pitchFamily="2" charset="-122"/>
              </a:rPr>
              <a:t>的</a:t>
            </a:r>
            <a:r>
              <a:rPr lang="en-US" altLang="zh-CN" sz="2400" b="1" dirty="0">
                <a:latin typeface="方正舒体" pitchFamily="2" charset="-122"/>
                <a:ea typeface="方正舒体" pitchFamily="2" charset="-122"/>
              </a:rPr>
              <a:t>a</a:t>
            </a:r>
            <a:r>
              <a:rPr lang="zh-CN" altLang="en-US" sz="2400" b="1" dirty="0">
                <a:latin typeface="方正舒体" pitchFamily="2" charset="-122"/>
                <a:ea typeface="方正舒体" pitchFamily="2" charset="-122"/>
              </a:rPr>
              <a:t>弧转换</a:t>
            </a:r>
            <a:r>
              <a:rPr lang="zh-CN" altLang="en-US" sz="2000" dirty="0"/>
              <a:t>，</a:t>
            </a:r>
            <a:r>
              <a:rPr lang="zh-CN" altLang="en-US" sz="2400" dirty="0"/>
              <a:t>表示为</a:t>
            </a:r>
            <a:r>
              <a:rPr lang="en-US" altLang="zh-CN" sz="2400" dirty="0"/>
              <a:t>move(I,a)</a:t>
            </a:r>
            <a:r>
              <a:rPr lang="zh-CN" altLang="en-US" sz="2400" dirty="0"/>
              <a:t>定义为状态集合</a:t>
            </a:r>
            <a:r>
              <a:rPr lang="en-US" altLang="zh-CN" sz="2400" dirty="0"/>
              <a:t>J，</a:t>
            </a:r>
            <a:r>
              <a:rPr lang="zh-CN" altLang="en-US" sz="2400" dirty="0"/>
              <a:t>其中</a:t>
            </a:r>
            <a:r>
              <a:rPr lang="en-US" altLang="zh-CN" sz="2400" dirty="0"/>
              <a:t>J</a:t>
            </a:r>
            <a:r>
              <a:rPr lang="zh-CN" altLang="en-US" sz="2400" dirty="0"/>
              <a:t>是所有那些可从</a:t>
            </a:r>
            <a:r>
              <a:rPr lang="en-US" altLang="zh-CN" sz="2400" dirty="0"/>
              <a:t>I</a:t>
            </a:r>
            <a:r>
              <a:rPr lang="zh-CN" altLang="en-US" sz="2400" dirty="0"/>
              <a:t>中的某一状态经过一条</a:t>
            </a:r>
            <a:r>
              <a:rPr lang="en-US" altLang="zh-CN" sz="2400" dirty="0"/>
              <a:t>a</a:t>
            </a:r>
            <a:r>
              <a:rPr lang="zh-CN" altLang="en-US" sz="2400" dirty="0"/>
              <a:t>弧而到达的状态的全体。</a:t>
            </a:r>
            <a:endParaRPr lang="zh-CN" altLang="en-US" sz="2400" dirty="0"/>
          </a:p>
          <a:p>
            <a:pPr eaLnBrk="1" hangingPunct="1">
              <a:buNone/>
            </a:pPr>
            <a:endParaRPr lang="zh-CN" altLang="en-US" dirty="0"/>
          </a:p>
        </p:txBody>
      </p:sp>
      <p:sp>
        <p:nvSpPr>
          <p:cNvPr id="62466" name="Rectangle 4"/>
          <p:cNvSpPr/>
          <p:nvPr/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3600" u="none" dirty="0">
                <a:solidFill>
                  <a:schemeClr val="tx2"/>
                </a:solidFill>
                <a:latin typeface="Arial Black" panose="020B0A04020102020204" pitchFamily="34" charset="0"/>
              </a:rPr>
              <a:t>定义对状态集合</a:t>
            </a:r>
            <a:r>
              <a:rPr lang="en-US" altLang="zh-CN" sz="3600" u="none" dirty="0">
                <a:solidFill>
                  <a:schemeClr val="tx2"/>
                </a:solidFill>
                <a:latin typeface="Arial Black" panose="020B0A04020102020204" pitchFamily="34" charset="0"/>
              </a:rPr>
              <a:t>I</a:t>
            </a:r>
            <a:r>
              <a:rPr lang="zh-CN" altLang="en-US" sz="3600" u="none" dirty="0">
                <a:solidFill>
                  <a:schemeClr val="tx2"/>
                </a:solidFill>
                <a:latin typeface="Arial Black" panose="020B0A04020102020204" pitchFamily="34" charset="0"/>
              </a:rPr>
              <a:t>的几个有关运算：</a:t>
            </a:r>
            <a:endParaRPr lang="zh-CN" altLang="en-US" sz="3600" u="none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状态集合</a:t>
            </a:r>
            <a:r>
              <a:rPr lang="en-US" altLang="zh-CN" sz="2800" dirty="0"/>
              <a:t>I</a:t>
            </a:r>
            <a:r>
              <a:rPr lang="zh-CN" altLang="en-US" sz="2800" dirty="0"/>
              <a:t>的有关运算的例子</a:t>
            </a:r>
            <a:endParaRPr lang="zh-CN" altLang="en-US" sz="2800" dirty="0"/>
          </a:p>
        </p:txBody>
      </p:sp>
      <p:sp>
        <p:nvSpPr>
          <p:cNvPr id="195587" name="Rectangle 3"/>
          <p:cNvSpPr>
            <a:spLocks noGrp="1"/>
          </p:cNvSpPr>
          <p:nvPr>
            <p:ph idx="1"/>
          </p:nvPr>
        </p:nvSpPr>
        <p:spPr>
          <a:xfrm>
            <a:off x="702310" y="1524000"/>
            <a:ext cx="8060690" cy="5029200"/>
          </a:xfrm>
        </p:spPr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en-US" altLang="zh-CN" dirty="0"/>
              <a:t>I={1}, </a:t>
            </a:r>
            <a:r>
              <a:rPr lang="zh-CN" altLang="en-US" dirty="0">
                <a:sym typeface="Symbol" panose="05050102010706020507" pitchFamily="18" charset="2"/>
              </a:rPr>
              <a:t>-</a:t>
            </a:r>
            <a:r>
              <a:rPr lang="en-US" altLang="zh-CN" dirty="0">
                <a:sym typeface="Symbol" panose="05050102010706020507" pitchFamily="18" charset="2"/>
              </a:rPr>
              <a:t>closure(I)={1,2}；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dirty="0">
                <a:sym typeface="Symbol" panose="05050102010706020507" pitchFamily="18" charset="2"/>
              </a:rPr>
              <a:t>I={5}, </a:t>
            </a:r>
            <a:r>
              <a:rPr lang="zh-CN" altLang="en-US" dirty="0">
                <a:sym typeface="Symbol" panose="05050102010706020507" pitchFamily="18" charset="2"/>
              </a:rPr>
              <a:t>-</a:t>
            </a:r>
            <a:r>
              <a:rPr lang="en-US" altLang="zh-CN" dirty="0">
                <a:sym typeface="Symbol" panose="05050102010706020507" pitchFamily="18" charset="2"/>
              </a:rPr>
              <a:t>closure(I)={5,6,2}；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dirty="0">
                <a:sym typeface="Symbol" panose="05050102010706020507" pitchFamily="18" charset="2"/>
              </a:rPr>
              <a:t>move({1,2},a)={5,3,4}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zh-CN" altLang="en-US" dirty="0">
                <a:sym typeface="Symbol" panose="05050102010706020507" pitchFamily="18" charset="2"/>
              </a:rPr>
              <a:t>-</a:t>
            </a:r>
            <a:r>
              <a:rPr lang="en-US" altLang="zh-CN" dirty="0">
                <a:sym typeface="Symbol" panose="05050102010706020507" pitchFamily="18" charset="2"/>
              </a:rPr>
              <a:t>closure({5,3,4})={2,3,4,5,6,7,8}；</a:t>
            </a:r>
            <a:endParaRPr lang="zh-CN" altLang="zh-CN" dirty="0">
              <a:sym typeface="Symbol" panose="05050102010706020507" pitchFamily="18" charset="2"/>
            </a:endParaRPr>
          </a:p>
        </p:txBody>
      </p:sp>
      <p:sp>
        <p:nvSpPr>
          <p:cNvPr id="63491" name="AutoShape 4">
            <a:hlinkClick r:id="" action="ppaction://hlinkshowjump?jump=previousslide"/>
          </p:cNvPr>
          <p:cNvSpPr/>
          <p:nvPr/>
        </p:nvSpPr>
        <p:spPr>
          <a:xfrm>
            <a:off x="6934200" y="5943600"/>
            <a:ext cx="539750" cy="539750"/>
          </a:xfrm>
          <a:prstGeom prst="actionButtonBackPrevious">
            <a:avLst/>
          </a:prstGeom>
          <a:solidFill>
            <a:srgbClr val="00FFFF">
              <a:alpha val="50195"/>
            </a:srgbClr>
          </a:solidFill>
          <a:ln w="9525">
            <a:noFill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63492" name="AutoShape 5">
            <a:hlinkClick r:id="" action="ppaction://hlinkshowjump?jump=nextslide"/>
          </p:cNvPr>
          <p:cNvSpPr/>
          <p:nvPr/>
        </p:nvSpPr>
        <p:spPr>
          <a:xfrm>
            <a:off x="7461250" y="5943600"/>
            <a:ext cx="539750" cy="539750"/>
          </a:xfrm>
          <a:prstGeom prst="actionButtonForwardNext">
            <a:avLst/>
          </a:prstGeom>
          <a:solidFill>
            <a:srgbClr val="00FFFF">
              <a:alpha val="50195"/>
            </a:srgbClr>
          </a:solidFill>
          <a:ln w="9525">
            <a:noFill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1524000" y="4038600"/>
            <a:ext cx="3657600" cy="2401888"/>
            <a:chOff x="1008" y="1310"/>
            <a:chExt cx="3408" cy="2375"/>
          </a:xfrm>
        </p:grpSpPr>
        <p:sp>
          <p:nvSpPr>
            <p:cNvPr id="63494" name="Oval 7"/>
            <p:cNvSpPr/>
            <p:nvPr/>
          </p:nvSpPr>
          <p:spPr>
            <a:xfrm>
              <a:off x="1008" y="2400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1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63495" name="Oval 8"/>
            <p:cNvSpPr/>
            <p:nvPr/>
          </p:nvSpPr>
          <p:spPr>
            <a:xfrm>
              <a:off x="1872" y="2400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2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63496" name="Oval 9"/>
            <p:cNvSpPr/>
            <p:nvPr/>
          </p:nvSpPr>
          <p:spPr>
            <a:xfrm>
              <a:off x="1872" y="1440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5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63497" name="Oval 10"/>
            <p:cNvSpPr/>
            <p:nvPr/>
          </p:nvSpPr>
          <p:spPr>
            <a:xfrm>
              <a:off x="2940" y="2400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3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63498" name="Oval 11"/>
            <p:cNvSpPr/>
            <p:nvPr/>
          </p:nvSpPr>
          <p:spPr>
            <a:xfrm>
              <a:off x="1872" y="3264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4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3499" name="Group 12"/>
            <p:cNvGrpSpPr/>
            <p:nvPr/>
          </p:nvGrpSpPr>
          <p:grpSpPr>
            <a:xfrm>
              <a:off x="2940" y="1407"/>
              <a:ext cx="384" cy="452"/>
              <a:chOff x="2940" y="1407"/>
              <a:chExt cx="384" cy="452"/>
            </a:xfrm>
          </p:grpSpPr>
          <p:grpSp>
            <p:nvGrpSpPr>
              <p:cNvPr id="63500" name="Group 13"/>
              <p:cNvGrpSpPr/>
              <p:nvPr/>
            </p:nvGrpSpPr>
            <p:grpSpPr>
              <a:xfrm>
                <a:off x="2940" y="1440"/>
                <a:ext cx="384" cy="384"/>
                <a:chOff x="2928" y="1440"/>
                <a:chExt cx="384" cy="384"/>
              </a:xfrm>
            </p:grpSpPr>
            <p:sp>
              <p:nvSpPr>
                <p:cNvPr id="63501" name="Oval 14"/>
                <p:cNvSpPr/>
                <p:nvPr/>
              </p:nvSpPr>
              <p:spPr>
                <a:xfrm>
                  <a:off x="2928" y="1440"/>
                  <a:ext cx="384" cy="384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 eaLnBrk="0" hangingPunct="0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3502" name="Oval 15"/>
                <p:cNvSpPr/>
                <p:nvPr/>
              </p:nvSpPr>
              <p:spPr>
                <a:xfrm>
                  <a:off x="2976" y="1488"/>
                  <a:ext cx="288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 eaLnBrk="0" hangingPunct="0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63503" name="Text Box 16"/>
              <p:cNvSpPr txBox="1"/>
              <p:nvPr/>
            </p:nvSpPr>
            <p:spPr>
              <a:xfrm>
                <a:off x="2975" y="1407"/>
                <a:ext cx="314" cy="4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u="none" dirty="0">
                    <a:latin typeface="Times New Roman" panose="02020603050405020304" pitchFamily="18" charset="0"/>
                  </a:rPr>
                  <a:t>6</a:t>
                </a:r>
                <a:endParaRPr lang="zh-CN" altLang="en-US" sz="2400" u="none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3504" name="Group 17"/>
            <p:cNvGrpSpPr/>
            <p:nvPr/>
          </p:nvGrpSpPr>
          <p:grpSpPr>
            <a:xfrm>
              <a:off x="4032" y="2366"/>
              <a:ext cx="384" cy="453"/>
              <a:chOff x="4032" y="2366"/>
              <a:chExt cx="384" cy="453"/>
            </a:xfrm>
          </p:grpSpPr>
          <p:grpSp>
            <p:nvGrpSpPr>
              <p:cNvPr id="63505" name="Group 18"/>
              <p:cNvGrpSpPr/>
              <p:nvPr/>
            </p:nvGrpSpPr>
            <p:grpSpPr>
              <a:xfrm>
                <a:off x="4032" y="2400"/>
                <a:ext cx="384" cy="384"/>
                <a:chOff x="2928" y="1440"/>
                <a:chExt cx="384" cy="384"/>
              </a:xfrm>
            </p:grpSpPr>
            <p:sp>
              <p:nvSpPr>
                <p:cNvPr id="63506" name="Oval 19"/>
                <p:cNvSpPr/>
                <p:nvPr/>
              </p:nvSpPr>
              <p:spPr>
                <a:xfrm>
                  <a:off x="2928" y="1440"/>
                  <a:ext cx="384" cy="384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 eaLnBrk="0" hangingPunct="0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3507" name="Oval 20"/>
                <p:cNvSpPr/>
                <p:nvPr/>
              </p:nvSpPr>
              <p:spPr>
                <a:xfrm>
                  <a:off x="2976" y="1488"/>
                  <a:ext cx="288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 eaLnBrk="0" hangingPunct="0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63508" name="Text Box 21"/>
              <p:cNvSpPr txBox="1"/>
              <p:nvPr/>
            </p:nvSpPr>
            <p:spPr>
              <a:xfrm>
                <a:off x="4077" y="2366"/>
                <a:ext cx="314" cy="45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u="none" dirty="0">
                    <a:latin typeface="Times New Roman" panose="02020603050405020304" pitchFamily="18" charset="0"/>
                  </a:rPr>
                  <a:t>8</a:t>
                </a:r>
                <a:endParaRPr lang="zh-CN" altLang="en-US" sz="2400" u="none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3509" name="Group 22"/>
            <p:cNvGrpSpPr/>
            <p:nvPr/>
          </p:nvGrpSpPr>
          <p:grpSpPr>
            <a:xfrm>
              <a:off x="2940" y="3233"/>
              <a:ext cx="384" cy="452"/>
              <a:chOff x="2940" y="3233"/>
              <a:chExt cx="384" cy="452"/>
            </a:xfrm>
          </p:grpSpPr>
          <p:grpSp>
            <p:nvGrpSpPr>
              <p:cNvPr id="63510" name="Group 23"/>
              <p:cNvGrpSpPr/>
              <p:nvPr/>
            </p:nvGrpSpPr>
            <p:grpSpPr>
              <a:xfrm>
                <a:off x="2940" y="3264"/>
                <a:ext cx="384" cy="384"/>
                <a:chOff x="2928" y="1440"/>
                <a:chExt cx="384" cy="384"/>
              </a:xfrm>
            </p:grpSpPr>
            <p:sp>
              <p:nvSpPr>
                <p:cNvPr id="63511" name="Oval 24"/>
                <p:cNvSpPr/>
                <p:nvPr/>
              </p:nvSpPr>
              <p:spPr>
                <a:xfrm>
                  <a:off x="2928" y="1440"/>
                  <a:ext cx="384" cy="384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 eaLnBrk="0" hangingPunct="0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3512" name="Oval 25"/>
                <p:cNvSpPr/>
                <p:nvPr/>
              </p:nvSpPr>
              <p:spPr>
                <a:xfrm>
                  <a:off x="2976" y="1488"/>
                  <a:ext cx="288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 eaLnBrk="0" hangingPunct="0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63513" name="Text Box 26"/>
              <p:cNvSpPr txBox="1"/>
              <p:nvPr/>
            </p:nvSpPr>
            <p:spPr>
              <a:xfrm>
                <a:off x="2975" y="3233"/>
                <a:ext cx="314" cy="4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u="none" dirty="0">
                    <a:latin typeface="Times New Roman" panose="02020603050405020304" pitchFamily="18" charset="0"/>
                  </a:rPr>
                  <a:t>7</a:t>
                </a:r>
                <a:endParaRPr lang="zh-CN" altLang="en-US" sz="2400" u="none" dirty="0">
                  <a:latin typeface="Times New Roman" panose="02020603050405020304" pitchFamily="18" charset="0"/>
                </a:endParaRPr>
              </a:p>
            </p:txBody>
          </p:sp>
        </p:grpSp>
        <p:cxnSp>
          <p:nvCxnSpPr>
            <p:cNvPr id="63514" name="AutoShape 27"/>
            <p:cNvCxnSpPr>
              <a:stCxn id="63498" idx="6"/>
              <a:endCxn id="63511" idx="2"/>
            </p:cNvCxnSpPr>
            <p:nvPr/>
          </p:nvCxnSpPr>
          <p:spPr>
            <a:xfrm>
              <a:off x="2256" y="3456"/>
              <a:ext cx="684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515" name="AutoShape 28"/>
            <p:cNvCxnSpPr>
              <a:stCxn id="63495" idx="6"/>
              <a:endCxn id="63497" idx="2"/>
            </p:cNvCxnSpPr>
            <p:nvPr/>
          </p:nvCxnSpPr>
          <p:spPr>
            <a:xfrm>
              <a:off x="2256" y="2592"/>
              <a:ext cx="684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516" name="AutoShape 29"/>
            <p:cNvCxnSpPr>
              <a:stCxn id="63501" idx="3"/>
              <a:endCxn id="63495" idx="7"/>
            </p:cNvCxnSpPr>
            <p:nvPr/>
          </p:nvCxnSpPr>
          <p:spPr>
            <a:xfrm rot="5400000">
              <a:off x="2254" y="1714"/>
              <a:ext cx="688" cy="796"/>
            </a:xfrm>
            <a:prstGeom prst="curvedConnector3">
              <a:avLst>
                <a:gd name="adj1" fmla="val 50000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517" name="AutoShape 30"/>
            <p:cNvCxnSpPr>
              <a:stCxn id="63496" idx="6"/>
              <a:endCxn id="63501" idx="2"/>
            </p:cNvCxnSpPr>
            <p:nvPr/>
          </p:nvCxnSpPr>
          <p:spPr>
            <a:xfrm>
              <a:off x="2256" y="1632"/>
              <a:ext cx="684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518" name="AutoShape 31"/>
            <p:cNvCxnSpPr>
              <a:stCxn id="63494" idx="6"/>
              <a:endCxn id="63495" idx="2"/>
            </p:cNvCxnSpPr>
            <p:nvPr/>
          </p:nvCxnSpPr>
          <p:spPr>
            <a:xfrm>
              <a:off x="1392" y="2592"/>
              <a:ext cx="480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519" name="AutoShape 32"/>
            <p:cNvCxnSpPr>
              <a:stCxn id="63494" idx="0"/>
              <a:endCxn id="63496" idx="2"/>
            </p:cNvCxnSpPr>
            <p:nvPr/>
          </p:nvCxnSpPr>
          <p:spPr>
            <a:xfrm rot="-5400000">
              <a:off x="1152" y="1680"/>
              <a:ext cx="768" cy="672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520" name="AutoShape 33"/>
            <p:cNvCxnSpPr>
              <a:stCxn id="63494" idx="4"/>
              <a:endCxn id="63498" idx="2"/>
            </p:cNvCxnSpPr>
            <p:nvPr/>
          </p:nvCxnSpPr>
          <p:spPr>
            <a:xfrm rot="-5400000" flipH="1">
              <a:off x="1200" y="2784"/>
              <a:ext cx="672" cy="672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521" name="AutoShape 34"/>
            <p:cNvCxnSpPr>
              <a:stCxn id="63497" idx="6"/>
              <a:endCxn id="63506" idx="2"/>
            </p:cNvCxnSpPr>
            <p:nvPr/>
          </p:nvCxnSpPr>
          <p:spPr>
            <a:xfrm>
              <a:off x="3324" y="2592"/>
              <a:ext cx="708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3522" name="Text Box 35"/>
            <p:cNvSpPr txBox="1"/>
            <p:nvPr/>
          </p:nvSpPr>
          <p:spPr>
            <a:xfrm>
              <a:off x="1200" y="1552"/>
              <a:ext cx="298" cy="4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63523" name="Text Box 36"/>
            <p:cNvSpPr txBox="1"/>
            <p:nvPr/>
          </p:nvSpPr>
          <p:spPr>
            <a:xfrm>
              <a:off x="1245" y="3087"/>
              <a:ext cx="297" cy="4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63524" name="Text Box 37"/>
            <p:cNvSpPr txBox="1"/>
            <p:nvPr/>
          </p:nvSpPr>
          <p:spPr>
            <a:xfrm>
              <a:off x="1435" y="2271"/>
              <a:ext cx="296" cy="4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63525" name="Text Box 38"/>
            <p:cNvSpPr txBox="1"/>
            <p:nvPr/>
          </p:nvSpPr>
          <p:spPr>
            <a:xfrm>
              <a:off x="2351" y="1793"/>
              <a:ext cx="296" cy="4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63526" name="Text Box 39"/>
            <p:cNvSpPr txBox="1"/>
            <p:nvPr/>
          </p:nvSpPr>
          <p:spPr>
            <a:xfrm>
              <a:off x="2393" y="1310"/>
              <a:ext cx="295" cy="4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63527" name="Text Box 40"/>
            <p:cNvSpPr txBox="1"/>
            <p:nvPr/>
          </p:nvSpPr>
          <p:spPr>
            <a:xfrm>
              <a:off x="3458" y="2270"/>
              <a:ext cx="295" cy="4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63528" name="Text Box 41"/>
            <p:cNvSpPr txBox="1"/>
            <p:nvPr/>
          </p:nvSpPr>
          <p:spPr>
            <a:xfrm>
              <a:off x="2400" y="3135"/>
              <a:ext cx="296" cy="4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63529" name="Text Box 42"/>
            <p:cNvSpPr txBox="1"/>
            <p:nvPr/>
          </p:nvSpPr>
          <p:spPr>
            <a:xfrm>
              <a:off x="2447" y="2270"/>
              <a:ext cx="298" cy="4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3530" name="AutoShape 43"/>
          <p:cNvSpPr/>
          <p:nvPr/>
        </p:nvSpPr>
        <p:spPr>
          <a:xfrm>
            <a:off x="685800" y="4953000"/>
            <a:ext cx="381000" cy="485775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558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558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charRg st="27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7">
                                            <p:txEl>
                                              <p:charRg st="27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7">
                                            <p:txEl>
                                              <p:charRg st="27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charRg st="56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5587">
                                            <p:txEl>
                                              <p:charRg st="56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5587">
                                            <p:txEl>
                                              <p:charRg st="56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charRg st="78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5587">
                                            <p:txEl>
                                              <p:charRg st="78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5587">
                                            <p:txEl>
                                              <p:charRg st="78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839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构造</a:t>
            </a:r>
            <a:r>
              <a:rPr lang="en-US" altLang="zh-CN" dirty="0"/>
              <a:t>NFA  N</a:t>
            </a:r>
            <a:r>
              <a:rPr lang="zh-CN" altLang="en-US" dirty="0"/>
              <a:t>的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状态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K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的子集</a:t>
            </a:r>
            <a:r>
              <a:rPr lang="zh-CN" altLang="en-US" dirty="0"/>
              <a:t>的算法：</a:t>
            </a:r>
            <a:endParaRPr lang="zh-CN" altLang="en-US" dirty="0"/>
          </a:p>
          <a:p>
            <a:pPr lvl="1" eaLnBrk="1" hangingPunct="1">
              <a:buNone/>
            </a:pP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假定所构造的子集族为</a:t>
            </a:r>
            <a:r>
              <a:rPr lang="en-US" altLang="zh-CN" dirty="0"/>
              <a:t>C，</a:t>
            </a:r>
            <a:r>
              <a:rPr lang="zh-CN" altLang="en-US" dirty="0"/>
              <a:t>即</a:t>
            </a:r>
            <a:r>
              <a:rPr lang="en-US" altLang="zh-CN" dirty="0"/>
              <a:t>C= (T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, T</a:t>
            </a:r>
            <a:r>
              <a:rPr lang="en-US" altLang="zh-CN" baseline="-25000" dirty="0">
                <a:sym typeface="Symbol" panose="05050102010706020507" pitchFamily="18" charset="2"/>
              </a:rPr>
              <a:t>2,</a:t>
            </a:r>
            <a:r>
              <a:rPr lang="en-US" altLang="zh-CN" dirty="0">
                <a:sym typeface="Symbol" panose="05050102010706020507" pitchFamily="18" charset="2"/>
              </a:rPr>
              <a:t>,...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T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en-US" altLang="zh-CN" dirty="0"/>
              <a:t>),</a:t>
            </a:r>
            <a:r>
              <a:rPr lang="zh-CN" altLang="en-US" dirty="0"/>
              <a:t>其中</a:t>
            </a:r>
            <a:r>
              <a:rPr lang="en-US" altLang="zh-CN" dirty="0"/>
              <a:t>T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, T</a:t>
            </a:r>
            <a:r>
              <a:rPr lang="en-US" altLang="zh-CN" baseline="-25000" dirty="0">
                <a:sym typeface="Symbol" panose="05050102010706020507" pitchFamily="18" charset="2"/>
              </a:rPr>
              <a:t>2,</a:t>
            </a:r>
            <a:r>
              <a:rPr lang="en-US" altLang="zh-CN" dirty="0">
                <a:sym typeface="Symbol" panose="05050102010706020507" pitchFamily="18" charset="2"/>
              </a:rPr>
              <a:t>,...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T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zh-CN" altLang="en-US" dirty="0"/>
              <a:t>为状态</a:t>
            </a:r>
            <a:r>
              <a:rPr lang="en-US" altLang="zh-CN" dirty="0"/>
              <a:t>K</a:t>
            </a:r>
            <a:r>
              <a:rPr lang="zh-CN" altLang="en-US" dirty="0"/>
              <a:t>的子集。</a:t>
            </a:r>
            <a:endParaRPr lang="zh-CN" altLang="en-US" dirty="0"/>
          </a:p>
          <a:p>
            <a:pPr lvl="1" eaLnBrk="1" hangingPunct="1">
              <a:buNone/>
            </a:pP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1   开始，令</a:t>
            </a:r>
            <a:r>
              <a:rPr lang="zh-CN" altLang="en-US" dirty="0">
                <a:sym typeface="Symbol" panose="05050102010706020507" pitchFamily="18" charset="2"/>
              </a:rPr>
              <a:t>-</a:t>
            </a:r>
            <a:r>
              <a:rPr lang="en-US" altLang="zh-CN" dirty="0">
                <a:sym typeface="Symbol" panose="05050102010706020507" pitchFamily="18" charset="2"/>
              </a:rPr>
              <a:t>closure(K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/>
              <a:t>为</a:t>
            </a:r>
            <a:r>
              <a:rPr lang="en-US" altLang="zh-CN" dirty="0"/>
              <a:t>C</a:t>
            </a:r>
            <a:r>
              <a:rPr lang="zh-CN" altLang="en-US" dirty="0"/>
              <a:t>中唯一成员，并且它是未被标记的。</a:t>
            </a:r>
            <a:endParaRPr lang="zh-CN" altLang="en-US" dirty="0"/>
          </a:p>
          <a:p>
            <a:pPr lvl="1" eaLnBrk="1" hangingPunct="1"/>
            <a:endParaRPr lang="zh-CN" altLang="zh-CN" dirty="0"/>
          </a:p>
        </p:txBody>
      </p:sp>
      <p:grpSp>
        <p:nvGrpSpPr>
          <p:cNvPr id="64515" name="Group 4"/>
          <p:cNvGrpSpPr/>
          <p:nvPr/>
        </p:nvGrpSpPr>
        <p:grpSpPr>
          <a:xfrm>
            <a:off x="6934200" y="5943600"/>
            <a:ext cx="1066800" cy="539750"/>
            <a:chOff x="4368" y="3744"/>
            <a:chExt cx="672" cy="340"/>
          </a:xfrm>
        </p:grpSpPr>
        <p:sp>
          <p:nvSpPr>
            <p:cNvPr id="64516" name="AutoShape 5">
              <a:hlinkClick r:id="" action="ppaction://hlinkshowjump?jump=previousslide"/>
            </p:cNvPr>
            <p:cNvSpPr/>
            <p:nvPr/>
          </p:nvSpPr>
          <p:spPr>
            <a:xfrm>
              <a:off x="4368" y="3744"/>
              <a:ext cx="340" cy="340"/>
            </a:xfrm>
            <a:prstGeom prst="actionButtonBackPrevious">
              <a:avLst/>
            </a:prstGeom>
            <a:solidFill>
              <a:srgbClr val="00FFFF">
                <a:alpha val="50195"/>
              </a:srgbClr>
            </a:solidFill>
            <a:ln w="9525">
              <a:noFill/>
            </a:ln>
          </p:spPr>
          <p:txBody>
            <a:bodyPr wrap="none" anchor="ctr" anchorCtr="0"/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64517" name="AutoShape 6">
              <a:hlinkClick r:id="" action="ppaction://hlinkshowjump?jump=nextslide"/>
            </p:cNvPr>
            <p:cNvSpPr/>
            <p:nvPr/>
          </p:nvSpPr>
          <p:spPr>
            <a:xfrm>
              <a:off x="4700" y="3744"/>
              <a:ext cx="340" cy="340"/>
            </a:xfrm>
            <a:prstGeom prst="actionButtonForwardNext">
              <a:avLst/>
            </a:prstGeom>
            <a:solidFill>
              <a:srgbClr val="00FFFF">
                <a:alpha val="50195"/>
              </a:srgbClr>
            </a:solidFill>
            <a:ln w="9525">
              <a:noFill/>
            </a:ln>
          </p:spPr>
          <p:txBody>
            <a:bodyPr wrap="none" anchor="ctr" anchorCtr="0"/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charRg st="21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3971">
                                            <p:txEl>
                                              <p:charRg st="21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charRg st="80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3971">
                                            <p:txEl>
                                              <p:charRg st="80" end="1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849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zh-CN" altLang="en-US" dirty="0"/>
              <a:t>2   </a:t>
            </a:r>
            <a:r>
              <a:rPr lang="en-US" altLang="zh-CN" dirty="0"/>
              <a:t>while （C</a:t>
            </a:r>
            <a:r>
              <a:rPr lang="zh-CN" altLang="en-US" dirty="0"/>
              <a:t>中存在尚未被标记的子集</a:t>
            </a:r>
            <a:r>
              <a:rPr lang="en-US" altLang="zh-CN" dirty="0"/>
              <a:t>T）do	   {      								</a:t>
            </a:r>
            <a:r>
              <a:rPr lang="zh-CN" altLang="en-US" dirty="0"/>
              <a:t>标记</a:t>
            </a:r>
            <a:r>
              <a:rPr lang="en-US" altLang="zh-CN" dirty="0"/>
              <a:t>T；							 for </a:t>
            </a:r>
            <a:r>
              <a:rPr lang="zh-CN" altLang="en-US" dirty="0"/>
              <a:t>每个输入字母</a:t>
            </a:r>
            <a:r>
              <a:rPr lang="en-US" altLang="zh-CN" dirty="0"/>
              <a:t>a   do					{   								      U:= </a:t>
            </a:r>
            <a:r>
              <a:rPr lang="zh-CN" altLang="en-US" dirty="0">
                <a:sym typeface="Symbol" panose="05050102010706020507" pitchFamily="18" charset="2"/>
              </a:rPr>
              <a:t>-</a:t>
            </a:r>
            <a:r>
              <a:rPr lang="en-US" altLang="zh-CN" dirty="0">
                <a:sym typeface="Symbol" panose="05050102010706020507" pitchFamily="18" charset="2"/>
              </a:rPr>
              <a:t>closure(move(T,a))；			      if  U</a:t>
            </a:r>
            <a:r>
              <a:rPr lang="zh-CN" altLang="en-US" dirty="0">
                <a:sym typeface="Symbol" panose="05050102010706020507" pitchFamily="18" charset="2"/>
              </a:rPr>
              <a:t>不在</a:t>
            </a:r>
            <a:r>
              <a:rPr lang="en-US" altLang="zh-CN" dirty="0">
                <a:sym typeface="Symbol" panose="05050102010706020507" pitchFamily="18" charset="2"/>
              </a:rPr>
              <a:t>C</a:t>
            </a:r>
            <a:r>
              <a:rPr lang="zh-CN" altLang="en-US" dirty="0">
                <a:sym typeface="Symbol" panose="05050102010706020507" pitchFamily="18" charset="2"/>
              </a:rPr>
              <a:t>中   </a:t>
            </a:r>
            <a:r>
              <a:rPr lang="en-US" altLang="zh-CN" dirty="0">
                <a:sym typeface="Symbol" panose="05050102010706020507" pitchFamily="18" charset="2"/>
              </a:rPr>
              <a:t>then 				</a:t>
            </a:r>
            <a:r>
              <a:rPr lang="zh-CN" altLang="en-US" dirty="0">
                <a:sym typeface="Symbol" panose="05050102010706020507" pitchFamily="18" charset="2"/>
              </a:rPr>
              <a:t>将</a:t>
            </a:r>
            <a:r>
              <a:rPr lang="en-US" altLang="zh-CN" dirty="0">
                <a:sym typeface="Symbol" panose="05050102010706020507" pitchFamily="18" charset="2"/>
              </a:rPr>
              <a:t>U</a:t>
            </a:r>
            <a:r>
              <a:rPr lang="zh-CN" altLang="en-US" dirty="0">
                <a:sym typeface="Symbol" panose="05050102010706020507" pitchFamily="18" charset="2"/>
              </a:rPr>
              <a:t>作为未标记的子集加在</a:t>
            </a:r>
            <a:r>
              <a:rPr lang="en-US" altLang="zh-CN" dirty="0">
                <a:sym typeface="Symbol" panose="05050102010706020507" pitchFamily="18" charset="2"/>
              </a:rPr>
              <a:t>C</a:t>
            </a:r>
            <a:r>
              <a:rPr lang="zh-CN" altLang="en-US" dirty="0">
                <a:sym typeface="Symbol" panose="05050102010706020507" pitchFamily="18" charset="2"/>
              </a:rPr>
              <a:t>中		}							   }</a:t>
            </a:r>
            <a:endParaRPr lang="zh-CN" altLang="zh-CN" dirty="0">
              <a:sym typeface="Symbol" panose="05050102010706020507" pitchFamily="18" charset="2"/>
            </a:endParaRPr>
          </a:p>
        </p:txBody>
      </p:sp>
      <p:sp>
        <p:nvSpPr>
          <p:cNvPr id="65539" name="AutoShape 4">
            <a:hlinkClick r:id="" action="ppaction://hlinkshowjump?jump=previousslide"/>
          </p:cNvPr>
          <p:cNvSpPr/>
          <p:nvPr/>
        </p:nvSpPr>
        <p:spPr>
          <a:xfrm>
            <a:off x="6934200" y="5943600"/>
            <a:ext cx="539750" cy="539750"/>
          </a:xfrm>
          <a:prstGeom prst="actionButtonBackPrevious">
            <a:avLst/>
          </a:prstGeom>
          <a:solidFill>
            <a:srgbClr val="00FFFF">
              <a:alpha val="50195"/>
            </a:srgbClr>
          </a:solidFill>
          <a:ln w="9525">
            <a:noFill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65540" name="AutoShape 5">
            <a:hlinkClick r:id="" action="ppaction://hlinkshowjump?jump=nextslide"/>
          </p:cNvPr>
          <p:cNvSpPr/>
          <p:nvPr/>
        </p:nvSpPr>
        <p:spPr>
          <a:xfrm>
            <a:off x="7461250" y="5943600"/>
            <a:ext cx="539750" cy="539750"/>
          </a:xfrm>
          <a:prstGeom prst="actionButtonForwardNext">
            <a:avLst/>
          </a:prstGeom>
          <a:solidFill>
            <a:srgbClr val="00FFFF">
              <a:alpha val="50195"/>
            </a:srgbClr>
          </a:solidFill>
          <a:ln w="9525">
            <a:noFill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charRg st="0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charRg st="0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Rectangle 2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5334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2400" b="1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对带空边的</a:t>
            </a:r>
            <a:r>
              <a:rPr lang="en-US" altLang="zh-CN" sz="2400" b="1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NFA</a:t>
            </a:r>
            <a:r>
              <a:rPr lang="zh-CN" altLang="en-US" sz="2400" b="1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的变换－子集构造法</a:t>
            </a:r>
            <a:endParaRPr lang="zh-CN" altLang="en-US" sz="2400" b="1" dirty="0">
              <a:solidFill>
                <a:schemeClr val="hlink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6562" name="Rectangle 3"/>
          <p:cNvSpPr>
            <a:spLocks noGrp="1"/>
          </p:cNvSpPr>
          <p:nvPr>
            <p:ph idx="1"/>
          </p:nvPr>
        </p:nvSpPr>
        <p:spPr>
          <a:xfrm>
            <a:off x="0" y="533400"/>
            <a:ext cx="8991600" cy="220980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</a:rPr>
              <a:t>、状态集合</a:t>
            </a:r>
            <a:r>
              <a:rPr lang="en-US" altLang="zh-CN" sz="2000" b="1" dirty="0">
                <a:latin typeface="宋体" panose="02010600030101010101" pitchFamily="2" charset="-122"/>
              </a:rPr>
              <a:t>I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en-US" altLang="zh-CN" sz="2000" b="1" dirty="0">
                <a:latin typeface="宋体" panose="02010600030101010101" pitchFamily="2" charset="-122"/>
              </a:rPr>
              <a:t>ε</a:t>
            </a:r>
            <a:r>
              <a:rPr lang="zh-CN" altLang="en-US" sz="2000" b="1" dirty="0">
                <a:latin typeface="宋体" panose="02010600030101010101" pitchFamily="2" charset="-122"/>
              </a:rPr>
              <a:t>闭包</a:t>
            </a:r>
            <a:r>
              <a:rPr lang="en-US" altLang="zh-CN" sz="2000" b="1" dirty="0">
                <a:latin typeface="宋体" panose="02010600030101010101" pitchFamily="2" charset="-122"/>
              </a:rPr>
              <a:t>ε-closure(I)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  ε-closure(I)</a:t>
            </a:r>
            <a:r>
              <a:rPr lang="zh-CN" altLang="en-US" sz="2000" b="1" dirty="0">
                <a:latin typeface="宋体" panose="02010600030101010101" pitchFamily="2" charset="-122"/>
              </a:rPr>
              <a:t>：定义为一个状态集，是状态</a:t>
            </a:r>
            <a:r>
              <a:rPr lang="en-US" altLang="zh-CN" sz="2000" b="1" dirty="0">
                <a:latin typeface="宋体" panose="02010600030101010101" pitchFamily="2" charset="-122"/>
              </a:rPr>
              <a:t>I</a:t>
            </a:r>
            <a:r>
              <a:rPr lang="zh-CN" altLang="en-US" sz="2000" b="1" dirty="0">
                <a:latin typeface="宋体" panose="02010600030101010101" pitchFamily="2" charset="-122"/>
              </a:rPr>
              <a:t>中的任何状态</a:t>
            </a:r>
            <a:r>
              <a:rPr lang="en-US" altLang="zh-CN" sz="2000" b="1" dirty="0">
                <a:latin typeface="宋体" panose="02010600030101010101" pitchFamily="2" charset="-122"/>
              </a:rPr>
              <a:t>S</a:t>
            </a:r>
            <a:r>
              <a:rPr lang="zh-CN" altLang="en-US" sz="2000" b="1" dirty="0">
                <a:latin typeface="宋体" panose="02010600030101010101" pitchFamily="2" charset="-122"/>
              </a:rPr>
              <a:t>经任意条</a:t>
            </a:r>
            <a:r>
              <a:rPr lang="en-US" altLang="zh-CN" sz="2000" b="1" dirty="0">
                <a:latin typeface="宋体" panose="02010600030101010101" pitchFamily="2" charset="-122"/>
              </a:rPr>
              <a:t>ε</a:t>
            </a:r>
            <a:r>
              <a:rPr lang="zh-CN" altLang="en-US" sz="2000" b="1" dirty="0">
                <a:latin typeface="宋体" panose="02010600030101010101" pitchFamily="2" charset="-122"/>
              </a:rPr>
              <a:t>弧而能到达的状态集合。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、状态集合</a:t>
            </a:r>
            <a:r>
              <a:rPr lang="en-US" altLang="zh-CN" sz="2000" b="1" dirty="0">
                <a:latin typeface="宋体" panose="02010600030101010101" pitchFamily="2" charset="-122"/>
              </a:rPr>
              <a:t>I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en-US" altLang="zh-CN" sz="2000" b="1" dirty="0">
                <a:latin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</a:rPr>
              <a:t>弧转换</a:t>
            </a:r>
            <a:r>
              <a:rPr lang="en-US" altLang="zh-CN" sz="2000" b="1" dirty="0">
                <a:latin typeface="宋体" panose="02010600030101010101" pitchFamily="2" charset="-122"/>
              </a:rPr>
              <a:t>move(I,a)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   move(I,a)</a:t>
            </a:r>
            <a:r>
              <a:rPr lang="zh-CN" altLang="en-US" sz="2000" b="1" dirty="0">
                <a:latin typeface="宋体" panose="02010600030101010101" pitchFamily="2" charset="-122"/>
              </a:rPr>
              <a:t>：定义为一个状态集合</a:t>
            </a:r>
            <a:r>
              <a:rPr lang="en-US" altLang="zh-CN" sz="2000" b="1" dirty="0">
                <a:latin typeface="宋体" panose="02010600030101010101" pitchFamily="2" charset="-122"/>
              </a:rPr>
              <a:t>J</a:t>
            </a:r>
            <a:r>
              <a:rPr lang="zh-CN" altLang="en-US" sz="2000" b="1" dirty="0">
                <a:latin typeface="宋体" panose="02010600030101010101" pitchFamily="2" charset="-122"/>
              </a:rPr>
              <a:t>，其中</a:t>
            </a:r>
            <a:r>
              <a:rPr lang="en-US" altLang="zh-CN" sz="2000" b="1" dirty="0">
                <a:latin typeface="宋体" panose="02010600030101010101" pitchFamily="2" charset="-122"/>
              </a:rPr>
              <a:t>J</a:t>
            </a:r>
            <a:r>
              <a:rPr lang="zh-CN" altLang="en-US" sz="2000" b="1" dirty="0">
                <a:latin typeface="宋体" panose="02010600030101010101" pitchFamily="2" charset="-122"/>
              </a:rPr>
              <a:t>是所有那些可从</a:t>
            </a:r>
            <a:r>
              <a:rPr lang="en-US" altLang="zh-CN" sz="2000" b="1" dirty="0">
                <a:latin typeface="宋体" panose="02010600030101010101" pitchFamily="2" charset="-122"/>
              </a:rPr>
              <a:t>I</a:t>
            </a:r>
            <a:r>
              <a:rPr lang="zh-CN" altLang="en-US" sz="2000" b="1" dirty="0">
                <a:latin typeface="宋体" panose="02010600030101010101" pitchFamily="2" charset="-122"/>
              </a:rPr>
              <a:t>中的某一个状态经过一条</a:t>
            </a:r>
            <a:r>
              <a:rPr lang="en-US" altLang="zh-CN" sz="2000" b="1" dirty="0">
                <a:latin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</a:rPr>
              <a:t>弧而能到达的状态的全体。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66563" name="Text Box 4"/>
          <p:cNvSpPr txBox="1"/>
          <p:nvPr/>
        </p:nvSpPr>
        <p:spPr>
          <a:xfrm>
            <a:off x="2286000" y="6858000"/>
            <a:ext cx="15240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u="none" dirty="0">
                <a:solidFill>
                  <a:srgbClr val="3366FF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u="none" dirty="0">
              <a:solidFill>
                <a:srgbClr val="3366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6564" name="Group 5"/>
          <p:cNvGrpSpPr/>
          <p:nvPr/>
        </p:nvGrpSpPr>
        <p:grpSpPr>
          <a:xfrm>
            <a:off x="381000" y="2667000"/>
            <a:ext cx="8077200" cy="2286000"/>
            <a:chOff x="240" y="1680"/>
            <a:chExt cx="5088" cy="1440"/>
          </a:xfrm>
        </p:grpSpPr>
        <p:sp>
          <p:nvSpPr>
            <p:cNvPr id="66565" name="Rectangle 6"/>
            <p:cNvSpPr/>
            <p:nvPr/>
          </p:nvSpPr>
          <p:spPr>
            <a:xfrm>
              <a:off x="1824" y="2880"/>
              <a:ext cx="193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66" name="Oval 7"/>
            <p:cNvSpPr/>
            <p:nvPr/>
          </p:nvSpPr>
          <p:spPr>
            <a:xfrm>
              <a:off x="1012" y="2350"/>
              <a:ext cx="240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67" name="Oval 8"/>
            <p:cNvSpPr/>
            <p:nvPr/>
          </p:nvSpPr>
          <p:spPr>
            <a:xfrm>
              <a:off x="1512" y="1989"/>
              <a:ext cx="239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2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68" name="Oval 9"/>
            <p:cNvSpPr/>
            <p:nvPr/>
          </p:nvSpPr>
          <p:spPr>
            <a:xfrm>
              <a:off x="1512" y="2666"/>
              <a:ext cx="239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4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69" name="Oval 10"/>
            <p:cNvSpPr/>
            <p:nvPr/>
          </p:nvSpPr>
          <p:spPr>
            <a:xfrm>
              <a:off x="2103" y="1989"/>
              <a:ext cx="239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3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70" name="Oval 11"/>
            <p:cNvSpPr/>
            <p:nvPr/>
          </p:nvSpPr>
          <p:spPr>
            <a:xfrm>
              <a:off x="2103" y="2666"/>
              <a:ext cx="239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5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71" name="Oval 12"/>
            <p:cNvSpPr/>
            <p:nvPr/>
          </p:nvSpPr>
          <p:spPr>
            <a:xfrm>
              <a:off x="2739" y="2350"/>
              <a:ext cx="239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6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72" name="Oval 13"/>
            <p:cNvSpPr/>
            <p:nvPr/>
          </p:nvSpPr>
          <p:spPr>
            <a:xfrm>
              <a:off x="3329" y="2350"/>
              <a:ext cx="240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7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73" name="Oval 14"/>
            <p:cNvSpPr/>
            <p:nvPr/>
          </p:nvSpPr>
          <p:spPr>
            <a:xfrm>
              <a:off x="3920" y="2350"/>
              <a:ext cx="239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8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74" name="Oval 15"/>
            <p:cNvSpPr/>
            <p:nvPr/>
          </p:nvSpPr>
          <p:spPr>
            <a:xfrm>
              <a:off x="4465" y="2350"/>
              <a:ext cx="239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9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75" name="Oval 16"/>
            <p:cNvSpPr/>
            <p:nvPr/>
          </p:nvSpPr>
          <p:spPr>
            <a:xfrm>
              <a:off x="467" y="2350"/>
              <a:ext cx="240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66576" name="Group 17"/>
            <p:cNvGrpSpPr/>
            <p:nvPr/>
          </p:nvGrpSpPr>
          <p:grpSpPr>
            <a:xfrm>
              <a:off x="4965" y="2312"/>
              <a:ext cx="363" cy="362"/>
              <a:chOff x="1344" y="2784"/>
              <a:chExt cx="384" cy="384"/>
            </a:xfrm>
          </p:grpSpPr>
          <p:sp>
            <p:nvSpPr>
              <p:cNvPr id="66577" name="Oval 18"/>
              <p:cNvSpPr/>
              <p:nvPr/>
            </p:nvSpPr>
            <p:spPr>
              <a:xfrm>
                <a:off x="1392" y="2823"/>
                <a:ext cx="288" cy="30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u="none" dirty="0">
                    <a:latin typeface="Times New Roman" panose="02020603050405020304" pitchFamily="18" charset="0"/>
                  </a:rPr>
                  <a:t>10</a:t>
                </a:r>
                <a:endParaRPr lang="en-US" altLang="zh-CN" sz="2000" b="1" u="none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578" name="Oval 19"/>
              <p:cNvSpPr/>
              <p:nvPr/>
            </p:nvSpPr>
            <p:spPr>
              <a:xfrm>
                <a:off x="1344" y="2784"/>
                <a:ext cx="384" cy="38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66579" name="AutoShape 20"/>
            <p:cNvSpPr/>
            <p:nvPr/>
          </p:nvSpPr>
          <p:spPr>
            <a:xfrm>
              <a:off x="240" y="2448"/>
              <a:ext cx="227" cy="90"/>
            </a:xfrm>
            <a:prstGeom prst="rightArrow">
              <a:avLst>
                <a:gd name="adj1" fmla="val 50000"/>
                <a:gd name="adj2" fmla="val 62997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66580" name="Line 21"/>
            <p:cNvSpPr/>
            <p:nvPr/>
          </p:nvSpPr>
          <p:spPr>
            <a:xfrm>
              <a:off x="694" y="2493"/>
              <a:ext cx="31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81" name="Line 22"/>
            <p:cNvSpPr/>
            <p:nvPr/>
          </p:nvSpPr>
          <p:spPr>
            <a:xfrm flipV="1">
              <a:off x="1194" y="2177"/>
              <a:ext cx="318" cy="22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82" name="Line 23"/>
            <p:cNvSpPr/>
            <p:nvPr/>
          </p:nvSpPr>
          <p:spPr>
            <a:xfrm>
              <a:off x="1739" y="2086"/>
              <a:ext cx="3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83" name="Line 24"/>
            <p:cNvSpPr/>
            <p:nvPr/>
          </p:nvSpPr>
          <p:spPr>
            <a:xfrm>
              <a:off x="1239" y="2538"/>
              <a:ext cx="273" cy="22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84" name="Line 25"/>
            <p:cNvSpPr/>
            <p:nvPr/>
          </p:nvSpPr>
          <p:spPr>
            <a:xfrm>
              <a:off x="1739" y="2809"/>
              <a:ext cx="3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85" name="Line 26"/>
            <p:cNvSpPr/>
            <p:nvPr/>
          </p:nvSpPr>
          <p:spPr>
            <a:xfrm>
              <a:off x="2330" y="2132"/>
              <a:ext cx="454" cy="27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86" name="Line 27"/>
            <p:cNvSpPr/>
            <p:nvPr/>
          </p:nvSpPr>
          <p:spPr>
            <a:xfrm flipV="1">
              <a:off x="2330" y="2538"/>
              <a:ext cx="409" cy="27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87" name="Line 28"/>
            <p:cNvSpPr/>
            <p:nvPr/>
          </p:nvSpPr>
          <p:spPr>
            <a:xfrm>
              <a:off x="2966" y="2493"/>
              <a:ext cx="363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88" name="Line 29"/>
            <p:cNvSpPr/>
            <p:nvPr/>
          </p:nvSpPr>
          <p:spPr>
            <a:xfrm>
              <a:off x="3556" y="2493"/>
              <a:ext cx="3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89" name="Line 30"/>
            <p:cNvSpPr/>
            <p:nvPr/>
          </p:nvSpPr>
          <p:spPr>
            <a:xfrm>
              <a:off x="4147" y="2493"/>
              <a:ext cx="31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90" name="Line 31"/>
            <p:cNvSpPr/>
            <p:nvPr/>
          </p:nvSpPr>
          <p:spPr>
            <a:xfrm>
              <a:off x="4692" y="2493"/>
              <a:ext cx="273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91" name="Freeform 32"/>
            <p:cNvSpPr/>
            <p:nvPr/>
          </p:nvSpPr>
          <p:spPr>
            <a:xfrm>
              <a:off x="1073" y="1776"/>
              <a:ext cx="1802" cy="581"/>
            </a:xfrm>
            <a:custGeom>
              <a:avLst/>
              <a:gdLst/>
              <a:ahLst/>
              <a:cxnLst>
                <a:cxn ang="0">
                  <a:pos x="1446" y="309"/>
                </a:cxn>
                <a:cxn ang="0">
                  <a:pos x="1337" y="156"/>
                </a:cxn>
                <a:cxn ang="0">
                  <a:pos x="1045" y="48"/>
                </a:cxn>
                <a:cxn ang="0">
                  <a:pos x="389" y="26"/>
                </a:cxn>
                <a:cxn ang="0">
                  <a:pos x="61" y="200"/>
                </a:cxn>
                <a:cxn ang="0">
                  <a:pos x="25" y="309"/>
                </a:cxn>
              </a:cxnLst>
              <a:pathLst>
                <a:path w="1904" h="680">
                  <a:moveTo>
                    <a:pt x="1904" y="680"/>
                  </a:moveTo>
                  <a:cubicBezTo>
                    <a:pt x="1876" y="560"/>
                    <a:pt x="1848" y="440"/>
                    <a:pt x="1760" y="344"/>
                  </a:cubicBezTo>
                  <a:cubicBezTo>
                    <a:pt x="1672" y="248"/>
                    <a:pt x="1584" y="152"/>
                    <a:pt x="1376" y="104"/>
                  </a:cubicBezTo>
                  <a:cubicBezTo>
                    <a:pt x="1168" y="56"/>
                    <a:pt x="728" y="0"/>
                    <a:pt x="512" y="56"/>
                  </a:cubicBezTo>
                  <a:cubicBezTo>
                    <a:pt x="296" y="112"/>
                    <a:pt x="160" y="336"/>
                    <a:pt x="80" y="440"/>
                  </a:cubicBezTo>
                  <a:cubicBezTo>
                    <a:pt x="0" y="544"/>
                    <a:pt x="40" y="640"/>
                    <a:pt x="32" y="68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6592" name="Freeform 33"/>
            <p:cNvSpPr/>
            <p:nvPr/>
          </p:nvSpPr>
          <p:spPr>
            <a:xfrm>
              <a:off x="603" y="2583"/>
              <a:ext cx="2772" cy="5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9" y="133"/>
                </a:cxn>
                <a:cxn ang="0">
                  <a:pos x="766" y="216"/>
                </a:cxn>
                <a:cxn ang="0">
                  <a:pos x="1534" y="216"/>
                </a:cxn>
                <a:cxn ang="0">
                  <a:pos x="1935" y="133"/>
                </a:cxn>
                <a:cxn ang="0">
                  <a:pos x="2227" y="0"/>
                </a:cxn>
              </a:cxnLst>
              <a:pathLst>
                <a:path w="2928" h="664">
                  <a:moveTo>
                    <a:pt x="0" y="0"/>
                  </a:moveTo>
                  <a:cubicBezTo>
                    <a:pt x="60" y="140"/>
                    <a:pt x="120" y="280"/>
                    <a:pt x="288" y="384"/>
                  </a:cubicBezTo>
                  <a:cubicBezTo>
                    <a:pt x="456" y="488"/>
                    <a:pt x="720" y="584"/>
                    <a:pt x="1008" y="624"/>
                  </a:cubicBezTo>
                  <a:cubicBezTo>
                    <a:pt x="1296" y="664"/>
                    <a:pt x="1760" y="664"/>
                    <a:pt x="2016" y="624"/>
                  </a:cubicBezTo>
                  <a:cubicBezTo>
                    <a:pt x="2272" y="584"/>
                    <a:pt x="2392" y="488"/>
                    <a:pt x="2544" y="384"/>
                  </a:cubicBezTo>
                  <a:cubicBezTo>
                    <a:pt x="2696" y="280"/>
                    <a:pt x="2864" y="64"/>
                    <a:pt x="2928" y="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6593" name="Rectangle 34"/>
            <p:cNvSpPr/>
            <p:nvPr/>
          </p:nvSpPr>
          <p:spPr>
            <a:xfrm>
              <a:off x="2557" y="1680"/>
              <a:ext cx="193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94" name="Rectangle 35"/>
            <p:cNvSpPr/>
            <p:nvPr/>
          </p:nvSpPr>
          <p:spPr>
            <a:xfrm>
              <a:off x="740" y="2267"/>
              <a:ext cx="193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95" name="Rectangle 36"/>
            <p:cNvSpPr/>
            <p:nvPr/>
          </p:nvSpPr>
          <p:spPr>
            <a:xfrm>
              <a:off x="1239" y="2086"/>
              <a:ext cx="193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96" name="Rectangle 37"/>
            <p:cNvSpPr/>
            <p:nvPr/>
          </p:nvSpPr>
          <p:spPr>
            <a:xfrm>
              <a:off x="1239" y="2583"/>
              <a:ext cx="193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97" name="Rectangle 38"/>
            <p:cNvSpPr/>
            <p:nvPr/>
          </p:nvSpPr>
          <p:spPr>
            <a:xfrm>
              <a:off x="2511" y="2086"/>
              <a:ext cx="193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98" name="Rectangle 39"/>
            <p:cNvSpPr/>
            <p:nvPr/>
          </p:nvSpPr>
          <p:spPr>
            <a:xfrm>
              <a:off x="2421" y="2493"/>
              <a:ext cx="193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599" name="Rectangle 40"/>
            <p:cNvSpPr/>
            <p:nvPr/>
          </p:nvSpPr>
          <p:spPr>
            <a:xfrm>
              <a:off x="3057" y="2267"/>
              <a:ext cx="193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600" name="Rectangle 41"/>
            <p:cNvSpPr/>
            <p:nvPr/>
          </p:nvSpPr>
          <p:spPr>
            <a:xfrm>
              <a:off x="1875" y="1906"/>
              <a:ext cx="80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601" name="Rectangle 42"/>
            <p:cNvSpPr/>
            <p:nvPr/>
          </p:nvSpPr>
          <p:spPr>
            <a:xfrm>
              <a:off x="3693" y="2267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602" name="Rectangle 43"/>
            <p:cNvSpPr/>
            <p:nvPr/>
          </p:nvSpPr>
          <p:spPr>
            <a:xfrm>
              <a:off x="1875" y="2583"/>
              <a:ext cx="80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603" name="Rectangle 44"/>
            <p:cNvSpPr/>
            <p:nvPr/>
          </p:nvSpPr>
          <p:spPr>
            <a:xfrm>
              <a:off x="4238" y="2267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604" name="Rectangle 45"/>
            <p:cNvSpPr/>
            <p:nvPr/>
          </p:nvSpPr>
          <p:spPr>
            <a:xfrm>
              <a:off x="4783" y="2267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66605" name="Rectangle 46"/>
          <p:cNvSpPr/>
          <p:nvPr/>
        </p:nvSpPr>
        <p:spPr>
          <a:xfrm>
            <a:off x="685800" y="5105400"/>
            <a:ext cx="7086600" cy="1524000"/>
          </a:xfrm>
          <a:prstGeom prst="rect">
            <a:avLst/>
          </a:prstGeom>
          <a:noFill/>
          <a:ln w="22225">
            <a:noFill/>
          </a:ln>
        </p:spPr>
        <p:txBody>
          <a:bodyPr lIns="0" tIns="0" rIns="0" bIns="0" anchor="t" anchorCtr="0">
            <a:spAutoFit/>
          </a:bodyPr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ε-closure(0)= { 0,1,2,4,7 },</a:t>
            </a:r>
            <a:r>
              <a:rPr lang="zh-CN" altLang="en-US" sz="2000" b="1" u="none" dirty="0">
                <a:latin typeface="宋体" panose="02010600030101010101" pitchFamily="2" charset="-122"/>
              </a:rPr>
              <a:t>令</a:t>
            </a:r>
            <a:r>
              <a:rPr lang="en-US" altLang="zh-CN" sz="2000" b="1" u="none" dirty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 = ε-closure(0)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 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,a) = { 3,8 }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 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由</a:t>
            </a:r>
            <a:r>
              <a:rPr lang="en-US" altLang="zh-CN" sz="2000" b="1" u="none" dirty="0">
                <a:latin typeface="宋体" panose="02010600030101010101" pitchFamily="2" charset="-122"/>
              </a:rPr>
              <a:t>3</a:t>
            </a:r>
            <a:r>
              <a:rPr lang="zh-CN" altLang="en-US" sz="2000" b="1" u="none" dirty="0">
                <a:latin typeface="宋体" panose="02010600030101010101" pitchFamily="2" charset="-122"/>
              </a:rPr>
              <a:t>经</a:t>
            </a:r>
            <a:r>
              <a:rPr lang="en-US" altLang="zh-CN" sz="2000" b="1" u="none" dirty="0">
                <a:latin typeface="宋体" panose="02010600030101010101" pitchFamily="2" charset="-122"/>
              </a:rPr>
              <a:t>ε</a:t>
            </a:r>
            <a:r>
              <a:rPr lang="zh-CN" altLang="en-US" sz="2000" b="1" u="none" dirty="0">
                <a:latin typeface="宋体" panose="02010600030101010101" pitchFamily="2" charset="-122"/>
              </a:rPr>
              <a:t>边可到达</a:t>
            </a:r>
            <a:r>
              <a:rPr lang="en-US" altLang="zh-CN" sz="2000" b="1" u="none" dirty="0">
                <a:latin typeface="宋体" panose="02010600030101010101" pitchFamily="2" charset="-122"/>
              </a:rPr>
              <a:t>6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7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1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2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</a:rPr>
              <a:t>4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ε-closure( 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,a) ) = ε-closure( {3,8} ) 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			    = { 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3</a:t>
            </a:r>
            <a:r>
              <a:rPr lang="en-US" altLang="zh-CN" sz="2000" b="1" u="none" dirty="0">
                <a:latin typeface="宋体" panose="02010600030101010101" pitchFamily="2" charset="-122"/>
              </a:rPr>
              <a:t>,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8</a:t>
            </a:r>
            <a:r>
              <a:rPr lang="en-US" altLang="zh-CN" sz="2000" b="1" u="none" dirty="0">
                <a:latin typeface="宋体" panose="02010600030101010101" pitchFamily="2" charset="-122"/>
              </a:rPr>
              <a:t>,6,7,1,2,4 }</a:t>
            </a:r>
            <a:endParaRPr lang="en-US" altLang="zh-CN" sz="20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Text Box 2"/>
          <p:cNvSpPr txBox="1"/>
          <p:nvPr/>
        </p:nvSpPr>
        <p:spPr>
          <a:xfrm>
            <a:off x="2286000" y="6858000"/>
            <a:ext cx="15240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u="none" dirty="0">
                <a:solidFill>
                  <a:srgbClr val="3366FF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u="none" dirty="0">
              <a:solidFill>
                <a:srgbClr val="3366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7586" name="Group 3"/>
          <p:cNvGrpSpPr/>
          <p:nvPr/>
        </p:nvGrpSpPr>
        <p:grpSpPr>
          <a:xfrm>
            <a:off x="304800" y="76200"/>
            <a:ext cx="8077200" cy="2205038"/>
            <a:chOff x="240" y="1680"/>
            <a:chExt cx="5088" cy="1440"/>
          </a:xfrm>
        </p:grpSpPr>
        <p:sp>
          <p:nvSpPr>
            <p:cNvPr id="67587" name="Rectangle 4"/>
            <p:cNvSpPr/>
            <p:nvPr/>
          </p:nvSpPr>
          <p:spPr>
            <a:xfrm>
              <a:off x="1824" y="2880"/>
              <a:ext cx="193" cy="23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588" name="Oval 5"/>
            <p:cNvSpPr/>
            <p:nvPr/>
          </p:nvSpPr>
          <p:spPr>
            <a:xfrm>
              <a:off x="1013" y="2346"/>
              <a:ext cx="238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589" name="Oval 6"/>
            <p:cNvSpPr/>
            <p:nvPr/>
          </p:nvSpPr>
          <p:spPr>
            <a:xfrm>
              <a:off x="1512" y="1984"/>
              <a:ext cx="239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2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590" name="Oval 7"/>
            <p:cNvSpPr/>
            <p:nvPr/>
          </p:nvSpPr>
          <p:spPr>
            <a:xfrm>
              <a:off x="1512" y="2661"/>
              <a:ext cx="239" cy="26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4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591" name="Oval 8"/>
            <p:cNvSpPr/>
            <p:nvPr/>
          </p:nvSpPr>
          <p:spPr>
            <a:xfrm>
              <a:off x="2103" y="1984"/>
              <a:ext cx="239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3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592" name="Oval 9"/>
            <p:cNvSpPr/>
            <p:nvPr/>
          </p:nvSpPr>
          <p:spPr>
            <a:xfrm>
              <a:off x="2103" y="2661"/>
              <a:ext cx="239" cy="26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5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593" name="Oval 10"/>
            <p:cNvSpPr/>
            <p:nvPr/>
          </p:nvSpPr>
          <p:spPr>
            <a:xfrm>
              <a:off x="2739" y="2346"/>
              <a:ext cx="239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6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594" name="Oval 11"/>
            <p:cNvSpPr/>
            <p:nvPr/>
          </p:nvSpPr>
          <p:spPr>
            <a:xfrm>
              <a:off x="3330" y="2346"/>
              <a:ext cx="238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7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595" name="Oval 12"/>
            <p:cNvSpPr/>
            <p:nvPr/>
          </p:nvSpPr>
          <p:spPr>
            <a:xfrm>
              <a:off x="3920" y="2346"/>
              <a:ext cx="239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8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596" name="Oval 13"/>
            <p:cNvSpPr/>
            <p:nvPr/>
          </p:nvSpPr>
          <p:spPr>
            <a:xfrm>
              <a:off x="4465" y="2346"/>
              <a:ext cx="239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9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597" name="Oval 14"/>
            <p:cNvSpPr/>
            <p:nvPr/>
          </p:nvSpPr>
          <p:spPr>
            <a:xfrm>
              <a:off x="468" y="2346"/>
              <a:ext cx="238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67598" name="Group 15"/>
            <p:cNvGrpSpPr/>
            <p:nvPr/>
          </p:nvGrpSpPr>
          <p:grpSpPr>
            <a:xfrm>
              <a:off x="4965" y="2312"/>
              <a:ext cx="363" cy="362"/>
              <a:chOff x="1344" y="2784"/>
              <a:chExt cx="384" cy="384"/>
            </a:xfrm>
          </p:grpSpPr>
          <p:sp>
            <p:nvSpPr>
              <p:cNvPr id="67599" name="Oval 16"/>
              <p:cNvSpPr/>
              <p:nvPr/>
            </p:nvSpPr>
            <p:spPr>
              <a:xfrm>
                <a:off x="1392" y="2818"/>
                <a:ext cx="288" cy="31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u="none" dirty="0">
                    <a:latin typeface="Times New Roman" panose="02020603050405020304" pitchFamily="18" charset="0"/>
                  </a:rPr>
                  <a:t>10</a:t>
                </a:r>
                <a:endParaRPr lang="en-US" altLang="zh-CN" sz="2000" b="1" u="none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600" name="Oval 17"/>
              <p:cNvSpPr/>
              <p:nvPr/>
            </p:nvSpPr>
            <p:spPr>
              <a:xfrm>
                <a:off x="1344" y="2784"/>
                <a:ext cx="384" cy="38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67601" name="AutoShape 18"/>
            <p:cNvSpPr/>
            <p:nvPr/>
          </p:nvSpPr>
          <p:spPr>
            <a:xfrm>
              <a:off x="240" y="2448"/>
              <a:ext cx="227" cy="90"/>
            </a:xfrm>
            <a:prstGeom prst="rightArrow">
              <a:avLst>
                <a:gd name="adj1" fmla="val 50000"/>
                <a:gd name="adj2" fmla="val 62997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67602" name="Line 19"/>
            <p:cNvSpPr/>
            <p:nvPr/>
          </p:nvSpPr>
          <p:spPr>
            <a:xfrm>
              <a:off x="694" y="2493"/>
              <a:ext cx="31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7603" name="Line 20"/>
            <p:cNvSpPr/>
            <p:nvPr/>
          </p:nvSpPr>
          <p:spPr>
            <a:xfrm flipV="1">
              <a:off x="1194" y="2177"/>
              <a:ext cx="318" cy="22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7604" name="Line 21"/>
            <p:cNvSpPr/>
            <p:nvPr/>
          </p:nvSpPr>
          <p:spPr>
            <a:xfrm>
              <a:off x="1739" y="2086"/>
              <a:ext cx="3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7605" name="Line 22"/>
            <p:cNvSpPr/>
            <p:nvPr/>
          </p:nvSpPr>
          <p:spPr>
            <a:xfrm>
              <a:off x="1239" y="2538"/>
              <a:ext cx="273" cy="22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7606" name="Line 23"/>
            <p:cNvSpPr/>
            <p:nvPr/>
          </p:nvSpPr>
          <p:spPr>
            <a:xfrm>
              <a:off x="1739" y="2809"/>
              <a:ext cx="3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7607" name="Line 24"/>
            <p:cNvSpPr/>
            <p:nvPr/>
          </p:nvSpPr>
          <p:spPr>
            <a:xfrm>
              <a:off x="2330" y="2132"/>
              <a:ext cx="454" cy="27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7608" name="Line 25"/>
            <p:cNvSpPr/>
            <p:nvPr/>
          </p:nvSpPr>
          <p:spPr>
            <a:xfrm flipV="1">
              <a:off x="2330" y="2538"/>
              <a:ext cx="409" cy="27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7609" name="Line 26"/>
            <p:cNvSpPr/>
            <p:nvPr/>
          </p:nvSpPr>
          <p:spPr>
            <a:xfrm>
              <a:off x="2966" y="2493"/>
              <a:ext cx="363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7610" name="Line 27"/>
            <p:cNvSpPr/>
            <p:nvPr/>
          </p:nvSpPr>
          <p:spPr>
            <a:xfrm>
              <a:off x="3556" y="2493"/>
              <a:ext cx="3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7611" name="Line 28"/>
            <p:cNvSpPr/>
            <p:nvPr/>
          </p:nvSpPr>
          <p:spPr>
            <a:xfrm>
              <a:off x="4147" y="2493"/>
              <a:ext cx="31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7612" name="Line 29"/>
            <p:cNvSpPr/>
            <p:nvPr/>
          </p:nvSpPr>
          <p:spPr>
            <a:xfrm>
              <a:off x="4692" y="2493"/>
              <a:ext cx="273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7613" name="Freeform 30"/>
            <p:cNvSpPr/>
            <p:nvPr/>
          </p:nvSpPr>
          <p:spPr>
            <a:xfrm>
              <a:off x="1073" y="1776"/>
              <a:ext cx="1802" cy="581"/>
            </a:xfrm>
            <a:custGeom>
              <a:avLst/>
              <a:gdLst/>
              <a:ahLst/>
              <a:cxnLst>
                <a:cxn ang="0">
                  <a:pos x="1446" y="309"/>
                </a:cxn>
                <a:cxn ang="0">
                  <a:pos x="1337" y="156"/>
                </a:cxn>
                <a:cxn ang="0">
                  <a:pos x="1045" y="48"/>
                </a:cxn>
                <a:cxn ang="0">
                  <a:pos x="389" y="26"/>
                </a:cxn>
                <a:cxn ang="0">
                  <a:pos x="61" y="200"/>
                </a:cxn>
                <a:cxn ang="0">
                  <a:pos x="25" y="309"/>
                </a:cxn>
              </a:cxnLst>
              <a:pathLst>
                <a:path w="1904" h="680">
                  <a:moveTo>
                    <a:pt x="1904" y="680"/>
                  </a:moveTo>
                  <a:cubicBezTo>
                    <a:pt x="1876" y="560"/>
                    <a:pt x="1848" y="440"/>
                    <a:pt x="1760" y="344"/>
                  </a:cubicBezTo>
                  <a:cubicBezTo>
                    <a:pt x="1672" y="248"/>
                    <a:pt x="1584" y="152"/>
                    <a:pt x="1376" y="104"/>
                  </a:cubicBezTo>
                  <a:cubicBezTo>
                    <a:pt x="1168" y="56"/>
                    <a:pt x="728" y="0"/>
                    <a:pt x="512" y="56"/>
                  </a:cubicBezTo>
                  <a:cubicBezTo>
                    <a:pt x="296" y="112"/>
                    <a:pt x="160" y="336"/>
                    <a:pt x="80" y="440"/>
                  </a:cubicBezTo>
                  <a:cubicBezTo>
                    <a:pt x="0" y="544"/>
                    <a:pt x="40" y="640"/>
                    <a:pt x="32" y="68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7614" name="Freeform 31"/>
            <p:cNvSpPr/>
            <p:nvPr/>
          </p:nvSpPr>
          <p:spPr>
            <a:xfrm>
              <a:off x="603" y="2583"/>
              <a:ext cx="2772" cy="5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9" y="133"/>
                </a:cxn>
                <a:cxn ang="0">
                  <a:pos x="766" y="216"/>
                </a:cxn>
                <a:cxn ang="0">
                  <a:pos x="1534" y="216"/>
                </a:cxn>
                <a:cxn ang="0">
                  <a:pos x="1935" y="133"/>
                </a:cxn>
                <a:cxn ang="0">
                  <a:pos x="2227" y="0"/>
                </a:cxn>
              </a:cxnLst>
              <a:pathLst>
                <a:path w="2928" h="664">
                  <a:moveTo>
                    <a:pt x="0" y="0"/>
                  </a:moveTo>
                  <a:cubicBezTo>
                    <a:pt x="60" y="140"/>
                    <a:pt x="120" y="280"/>
                    <a:pt x="288" y="384"/>
                  </a:cubicBezTo>
                  <a:cubicBezTo>
                    <a:pt x="456" y="488"/>
                    <a:pt x="720" y="584"/>
                    <a:pt x="1008" y="624"/>
                  </a:cubicBezTo>
                  <a:cubicBezTo>
                    <a:pt x="1296" y="664"/>
                    <a:pt x="1760" y="664"/>
                    <a:pt x="2016" y="624"/>
                  </a:cubicBezTo>
                  <a:cubicBezTo>
                    <a:pt x="2272" y="584"/>
                    <a:pt x="2392" y="488"/>
                    <a:pt x="2544" y="384"/>
                  </a:cubicBezTo>
                  <a:cubicBezTo>
                    <a:pt x="2696" y="280"/>
                    <a:pt x="2864" y="64"/>
                    <a:pt x="2928" y="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7615" name="Rectangle 32"/>
            <p:cNvSpPr/>
            <p:nvPr/>
          </p:nvSpPr>
          <p:spPr>
            <a:xfrm>
              <a:off x="2557" y="1680"/>
              <a:ext cx="193" cy="23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616" name="Rectangle 33"/>
            <p:cNvSpPr/>
            <p:nvPr/>
          </p:nvSpPr>
          <p:spPr>
            <a:xfrm>
              <a:off x="740" y="2267"/>
              <a:ext cx="193" cy="23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617" name="Rectangle 34"/>
            <p:cNvSpPr/>
            <p:nvPr/>
          </p:nvSpPr>
          <p:spPr>
            <a:xfrm>
              <a:off x="1239" y="2087"/>
              <a:ext cx="193" cy="23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618" name="Rectangle 35"/>
            <p:cNvSpPr/>
            <p:nvPr/>
          </p:nvSpPr>
          <p:spPr>
            <a:xfrm>
              <a:off x="1239" y="2584"/>
              <a:ext cx="193" cy="23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619" name="Rectangle 36"/>
            <p:cNvSpPr/>
            <p:nvPr/>
          </p:nvSpPr>
          <p:spPr>
            <a:xfrm>
              <a:off x="2511" y="2087"/>
              <a:ext cx="193" cy="23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620" name="Rectangle 37"/>
            <p:cNvSpPr/>
            <p:nvPr/>
          </p:nvSpPr>
          <p:spPr>
            <a:xfrm>
              <a:off x="2421" y="2494"/>
              <a:ext cx="193" cy="23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621" name="Rectangle 38"/>
            <p:cNvSpPr/>
            <p:nvPr/>
          </p:nvSpPr>
          <p:spPr>
            <a:xfrm>
              <a:off x="3057" y="2267"/>
              <a:ext cx="193" cy="23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622" name="Rectangle 39"/>
            <p:cNvSpPr/>
            <p:nvPr/>
          </p:nvSpPr>
          <p:spPr>
            <a:xfrm>
              <a:off x="1875" y="1906"/>
              <a:ext cx="81" cy="19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623" name="Rectangle 40"/>
            <p:cNvSpPr/>
            <p:nvPr/>
          </p:nvSpPr>
          <p:spPr>
            <a:xfrm>
              <a:off x="3693" y="2267"/>
              <a:ext cx="81" cy="19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624" name="Rectangle 41"/>
            <p:cNvSpPr/>
            <p:nvPr/>
          </p:nvSpPr>
          <p:spPr>
            <a:xfrm>
              <a:off x="1875" y="2584"/>
              <a:ext cx="81" cy="19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625" name="Rectangle 42"/>
            <p:cNvSpPr/>
            <p:nvPr/>
          </p:nvSpPr>
          <p:spPr>
            <a:xfrm>
              <a:off x="4238" y="2267"/>
              <a:ext cx="81" cy="19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626" name="Rectangle 43"/>
            <p:cNvSpPr/>
            <p:nvPr/>
          </p:nvSpPr>
          <p:spPr>
            <a:xfrm>
              <a:off x="4783" y="2267"/>
              <a:ext cx="81" cy="19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67627" name="Rectangle 44"/>
          <p:cNvSpPr/>
          <p:nvPr/>
        </p:nvSpPr>
        <p:spPr>
          <a:xfrm>
            <a:off x="228600" y="2590800"/>
            <a:ext cx="8153400" cy="4146550"/>
          </a:xfrm>
          <a:prstGeom prst="rect">
            <a:avLst/>
          </a:prstGeom>
          <a:noFill/>
          <a:ln w="22225">
            <a:noFill/>
          </a:ln>
        </p:spPr>
        <p:txBody>
          <a:bodyPr lIns="0" tIns="0" rIns="0" bIns="0" anchor="t" anchorCtr="0">
            <a:spAutoFit/>
          </a:bodyPr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 =ε-closure(0)= { 0,1,2,4,7 },   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1800" b="1" u="none" dirty="0">
                <a:latin typeface="宋体" panose="02010600030101010101" pitchFamily="2" charset="-122"/>
              </a:rPr>
              <a:t>	move(T</a:t>
            </a:r>
            <a:r>
              <a:rPr lang="en-US" altLang="zh-CN" sz="18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1800" b="1" u="none" dirty="0">
                <a:latin typeface="宋体" panose="02010600030101010101" pitchFamily="2" charset="-122"/>
              </a:rPr>
              <a:t> ,a) = { 3,8 },  move(T</a:t>
            </a:r>
            <a:r>
              <a:rPr lang="en-US" altLang="zh-CN" sz="18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1800" b="1" u="none" dirty="0">
                <a:latin typeface="宋体" panose="02010600030101010101" pitchFamily="2" charset="-122"/>
              </a:rPr>
              <a:t> ,b) = { 5 }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</a:t>
            </a:r>
            <a:r>
              <a:rPr lang="en-US" altLang="zh-CN" sz="2000" b="1" u="none" dirty="0">
                <a:latin typeface="宋体" panose="02010600030101010101" pitchFamily="2" charset="-122"/>
              </a:rPr>
              <a:t> =ε-closure(move(T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,a)) = { 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3,8</a:t>
            </a:r>
            <a:r>
              <a:rPr lang="en-US" altLang="zh-CN" sz="2000" b="1" u="none" dirty="0">
                <a:latin typeface="宋体" panose="02010600030101010101" pitchFamily="2" charset="-122"/>
              </a:rPr>
              <a:t>,6,7,1,2,4 }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</a:rPr>
              <a:t> =ε-closure(move(T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,b)) = { 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5</a:t>
            </a:r>
            <a:r>
              <a:rPr lang="en-US" altLang="zh-CN" sz="2000" b="1" u="none" dirty="0">
                <a:latin typeface="宋体" panose="02010600030101010101" pitchFamily="2" charset="-122"/>
              </a:rPr>
              <a:t>,6,7,1,2,4 }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1800" b="1" u="none" dirty="0">
                <a:latin typeface="宋体" panose="02010600030101010101" pitchFamily="2" charset="-122"/>
              </a:rPr>
              <a:t>	move(T</a:t>
            </a:r>
            <a:r>
              <a:rPr lang="en-US" altLang="zh-CN" sz="1800" b="1" u="none" baseline="-25000" dirty="0">
                <a:latin typeface="宋体" panose="02010600030101010101" pitchFamily="2" charset="-122"/>
              </a:rPr>
              <a:t>1</a:t>
            </a:r>
            <a:r>
              <a:rPr lang="en-US" altLang="zh-CN" sz="1800" b="1" u="none" dirty="0">
                <a:latin typeface="宋体" panose="02010600030101010101" pitchFamily="2" charset="-122"/>
              </a:rPr>
              <a:t> ,a) = { 3,8 },  move(T</a:t>
            </a:r>
            <a:r>
              <a:rPr lang="en-US" altLang="zh-CN" sz="1800" b="1" u="none" baseline="-25000" dirty="0">
                <a:latin typeface="宋体" panose="02010600030101010101" pitchFamily="2" charset="-122"/>
              </a:rPr>
              <a:t>1</a:t>
            </a:r>
            <a:r>
              <a:rPr lang="en-US" altLang="zh-CN" sz="1800" b="1" u="none" dirty="0">
                <a:latin typeface="宋体" panose="02010600030101010101" pitchFamily="2" charset="-122"/>
              </a:rPr>
              <a:t> ,b) = { 5,9 }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 ε-closure(move(T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,a)) = { 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3,8</a:t>
            </a:r>
            <a:r>
              <a:rPr lang="en-US" altLang="zh-CN" sz="2000" b="1" u="none" dirty="0">
                <a:latin typeface="宋体" panose="02010600030101010101" pitchFamily="2" charset="-122"/>
              </a:rPr>
              <a:t>,6,7,1,2,4 } = T1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 ε-closure(move(T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,b)) = { 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5,9</a:t>
            </a:r>
            <a:r>
              <a:rPr lang="en-US" altLang="zh-CN" sz="2000" b="1" u="none" dirty="0">
                <a:latin typeface="宋体" panose="02010600030101010101" pitchFamily="2" charset="-122"/>
              </a:rPr>
              <a:t>,6,7,1,2,4 } = T3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1800" b="1" u="none" dirty="0">
                <a:latin typeface="宋体" panose="02010600030101010101" pitchFamily="2" charset="-122"/>
              </a:rPr>
              <a:t>	move(T</a:t>
            </a:r>
            <a:r>
              <a:rPr lang="en-US" altLang="zh-CN" sz="18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1800" b="1" u="none" dirty="0">
                <a:latin typeface="宋体" panose="02010600030101010101" pitchFamily="2" charset="-122"/>
              </a:rPr>
              <a:t> ,a) = { 3,8 },  move(T</a:t>
            </a:r>
            <a:r>
              <a:rPr lang="en-US" altLang="zh-CN" sz="18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1800" b="1" u="none" dirty="0">
                <a:latin typeface="宋体" panose="02010600030101010101" pitchFamily="2" charset="-122"/>
              </a:rPr>
              <a:t> ,b) = { 5 }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 ε-closure(move(T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,a)) = { 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3,8</a:t>
            </a:r>
            <a:r>
              <a:rPr lang="en-US" altLang="zh-CN" sz="2000" b="1" u="none" dirty="0">
                <a:latin typeface="宋体" panose="02010600030101010101" pitchFamily="2" charset="-122"/>
              </a:rPr>
              <a:t>,6,7,1,2,4 } = T1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 ε-closure(move(T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,b)) = { 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5</a:t>
            </a:r>
            <a:r>
              <a:rPr lang="en-US" altLang="zh-CN" sz="2000" b="1" u="none" dirty="0">
                <a:latin typeface="宋体" panose="02010600030101010101" pitchFamily="2" charset="-122"/>
              </a:rPr>
              <a:t>,6,7,1,2,4 } = T2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1800" b="1" u="none" dirty="0">
                <a:latin typeface="宋体" panose="02010600030101010101" pitchFamily="2" charset="-122"/>
              </a:rPr>
              <a:t>	move(T</a:t>
            </a:r>
            <a:r>
              <a:rPr lang="en-US" altLang="zh-CN" sz="1800" b="1" u="none" baseline="-25000" dirty="0">
                <a:latin typeface="宋体" panose="02010600030101010101" pitchFamily="2" charset="-122"/>
              </a:rPr>
              <a:t>3</a:t>
            </a:r>
            <a:r>
              <a:rPr lang="en-US" altLang="zh-CN" sz="1800" b="1" u="none" dirty="0">
                <a:latin typeface="宋体" panose="02010600030101010101" pitchFamily="2" charset="-122"/>
              </a:rPr>
              <a:t> ,a) = { 3,8 },  move(T</a:t>
            </a:r>
            <a:r>
              <a:rPr lang="en-US" altLang="zh-CN" sz="1800" b="1" u="none" baseline="-25000" dirty="0">
                <a:latin typeface="宋体" panose="02010600030101010101" pitchFamily="2" charset="-122"/>
              </a:rPr>
              <a:t>3</a:t>
            </a:r>
            <a:r>
              <a:rPr lang="en-US" altLang="zh-CN" sz="1800" b="1" u="none" dirty="0">
                <a:latin typeface="宋体" panose="02010600030101010101" pitchFamily="2" charset="-122"/>
              </a:rPr>
              <a:t> ,b) = { 5,10 }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 ε-closure(move(T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3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,a)) = { 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3,8</a:t>
            </a:r>
            <a:r>
              <a:rPr lang="en-US" altLang="zh-CN" sz="2000" b="1" u="none" dirty="0">
                <a:latin typeface="宋体" panose="02010600030101010101" pitchFamily="2" charset="-122"/>
              </a:rPr>
              <a:t>,6,7,1,2,4 } = T1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 ε-closure(move(T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3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,b)) = { 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5,10</a:t>
            </a:r>
            <a:r>
              <a:rPr lang="en-US" altLang="zh-CN" sz="2000" b="1" u="none" dirty="0">
                <a:latin typeface="宋体" panose="02010600030101010101" pitchFamily="2" charset="-122"/>
              </a:rPr>
              <a:t>,6,7,1,2,4 } = T4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zh-CN" altLang="en-US" sz="20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Text Box 2"/>
          <p:cNvSpPr txBox="1"/>
          <p:nvPr/>
        </p:nvSpPr>
        <p:spPr>
          <a:xfrm>
            <a:off x="2286000" y="6858000"/>
            <a:ext cx="15240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u="none" dirty="0">
                <a:solidFill>
                  <a:srgbClr val="3366FF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u="none" dirty="0">
              <a:solidFill>
                <a:srgbClr val="3366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8610" name="Group 3"/>
          <p:cNvGrpSpPr/>
          <p:nvPr/>
        </p:nvGrpSpPr>
        <p:grpSpPr>
          <a:xfrm>
            <a:off x="304800" y="-76200"/>
            <a:ext cx="8077200" cy="2205038"/>
            <a:chOff x="240" y="1680"/>
            <a:chExt cx="5088" cy="1440"/>
          </a:xfrm>
        </p:grpSpPr>
        <p:sp>
          <p:nvSpPr>
            <p:cNvPr id="68611" name="Rectangle 4"/>
            <p:cNvSpPr/>
            <p:nvPr/>
          </p:nvSpPr>
          <p:spPr>
            <a:xfrm>
              <a:off x="1824" y="2880"/>
              <a:ext cx="193" cy="23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12" name="Oval 5"/>
            <p:cNvSpPr/>
            <p:nvPr/>
          </p:nvSpPr>
          <p:spPr>
            <a:xfrm>
              <a:off x="1013" y="2346"/>
              <a:ext cx="238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13" name="Oval 6"/>
            <p:cNvSpPr/>
            <p:nvPr/>
          </p:nvSpPr>
          <p:spPr>
            <a:xfrm>
              <a:off x="1512" y="1984"/>
              <a:ext cx="239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2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14" name="Oval 7"/>
            <p:cNvSpPr/>
            <p:nvPr/>
          </p:nvSpPr>
          <p:spPr>
            <a:xfrm>
              <a:off x="1512" y="2661"/>
              <a:ext cx="239" cy="26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4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15" name="Oval 8"/>
            <p:cNvSpPr/>
            <p:nvPr/>
          </p:nvSpPr>
          <p:spPr>
            <a:xfrm>
              <a:off x="2103" y="1984"/>
              <a:ext cx="239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3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16" name="Oval 9"/>
            <p:cNvSpPr/>
            <p:nvPr/>
          </p:nvSpPr>
          <p:spPr>
            <a:xfrm>
              <a:off x="2103" y="2661"/>
              <a:ext cx="239" cy="26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5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17" name="Oval 10"/>
            <p:cNvSpPr/>
            <p:nvPr/>
          </p:nvSpPr>
          <p:spPr>
            <a:xfrm>
              <a:off x="2739" y="2346"/>
              <a:ext cx="239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6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18" name="Oval 11"/>
            <p:cNvSpPr/>
            <p:nvPr/>
          </p:nvSpPr>
          <p:spPr>
            <a:xfrm>
              <a:off x="3330" y="2346"/>
              <a:ext cx="238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7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19" name="Oval 12"/>
            <p:cNvSpPr/>
            <p:nvPr/>
          </p:nvSpPr>
          <p:spPr>
            <a:xfrm>
              <a:off x="3920" y="2346"/>
              <a:ext cx="239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8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20" name="Oval 13"/>
            <p:cNvSpPr/>
            <p:nvPr/>
          </p:nvSpPr>
          <p:spPr>
            <a:xfrm>
              <a:off x="4465" y="2346"/>
              <a:ext cx="239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9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21" name="Oval 14"/>
            <p:cNvSpPr/>
            <p:nvPr/>
          </p:nvSpPr>
          <p:spPr>
            <a:xfrm>
              <a:off x="468" y="2346"/>
              <a:ext cx="238" cy="268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68622" name="Group 15"/>
            <p:cNvGrpSpPr/>
            <p:nvPr/>
          </p:nvGrpSpPr>
          <p:grpSpPr>
            <a:xfrm>
              <a:off x="4965" y="2312"/>
              <a:ext cx="363" cy="362"/>
              <a:chOff x="1344" y="2784"/>
              <a:chExt cx="384" cy="384"/>
            </a:xfrm>
          </p:grpSpPr>
          <p:sp>
            <p:nvSpPr>
              <p:cNvPr id="68623" name="Oval 16"/>
              <p:cNvSpPr/>
              <p:nvPr/>
            </p:nvSpPr>
            <p:spPr>
              <a:xfrm>
                <a:off x="1392" y="2818"/>
                <a:ext cx="288" cy="31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u="none" dirty="0">
                    <a:latin typeface="Times New Roman" panose="02020603050405020304" pitchFamily="18" charset="0"/>
                  </a:rPr>
                  <a:t>10</a:t>
                </a:r>
                <a:endParaRPr lang="en-US" altLang="zh-CN" sz="2000" b="1" u="none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624" name="Oval 17"/>
              <p:cNvSpPr/>
              <p:nvPr/>
            </p:nvSpPr>
            <p:spPr>
              <a:xfrm>
                <a:off x="1344" y="2784"/>
                <a:ext cx="384" cy="38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68625" name="AutoShape 18"/>
            <p:cNvSpPr/>
            <p:nvPr/>
          </p:nvSpPr>
          <p:spPr>
            <a:xfrm>
              <a:off x="240" y="2448"/>
              <a:ext cx="227" cy="90"/>
            </a:xfrm>
            <a:prstGeom prst="rightArrow">
              <a:avLst>
                <a:gd name="adj1" fmla="val 50000"/>
                <a:gd name="adj2" fmla="val 62997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68626" name="Line 19"/>
            <p:cNvSpPr/>
            <p:nvPr/>
          </p:nvSpPr>
          <p:spPr>
            <a:xfrm>
              <a:off x="694" y="2493"/>
              <a:ext cx="31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27" name="Line 20"/>
            <p:cNvSpPr/>
            <p:nvPr/>
          </p:nvSpPr>
          <p:spPr>
            <a:xfrm flipV="1">
              <a:off x="1194" y="2177"/>
              <a:ext cx="318" cy="22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28" name="Line 21"/>
            <p:cNvSpPr/>
            <p:nvPr/>
          </p:nvSpPr>
          <p:spPr>
            <a:xfrm>
              <a:off x="1739" y="2086"/>
              <a:ext cx="3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29" name="Line 22"/>
            <p:cNvSpPr/>
            <p:nvPr/>
          </p:nvSpPr>
          <p:spPr>
            <a:xfrm>
              <a:off x="1239" y="2538"/>
              <a:ext cx="273" cy="22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30" name="Line 23"/>
            <p:cNvSpPr/>
            <p:nvPr/>
          </p:nvSpPr>
          <p:spPr>
            <a:xfrm>
              <a:off x="1739" y="2809"/>
              <a:ext cx="3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31" name="Line 24"/>
            <p:cNvSpPr/>
            <p:nvPr/>
          </p:nvSpPr>
          <p:spPr>
            <a:xfrm>
              <a:off x="2330" y="2132"/>
              <a:ext cx="454" cy="27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32" name="Line 25"/>
            <p:cNvSpPr/>
            <p:nvPr/>
          </p:nvSpPr>
          <p:spPr>
            <a:xfrm flipV="1">
              <a:off x="2330" y="2538"/>
              <a:ext cx="409" cy="27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33" name="Line 26"/>
            <p:cNvSpPr/>
            <p:nvPr/>
          </p:nvSpPr>
          <p:spPr>
            <a:xfrm>
              <a:off x="2966" y="2493"/>
              <a:ext cx="363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34" name="Line 27"/>
            <p:cNvSpPr/>
            <p:nvPr/>
          </p:nvSpPr>
          <p:spPr>
            <a:xfrm>
              <a:off x="3556" y="2493"/>
              <a:ext cx="3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35" name="Line 28"/>
            <p:cNvSpPr/>
            <p:nvPr/>
          </p:nvSpPr>
          <p:spPr>
            <a:xfrm>
              <a:off x="4147" y="2493"/>
              <a:ext cx="31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36" name="Line 29"/>
            <p:cNvSpPr/>
            <p:nvPr/>
          </p:nvSpPr>
          <p:spPr>
            <a:xfrm>
              <a:off x="4692" y="2493"/>
              <a:ext cx="273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37" name="Freeform 30"/>
            <p:cNvSpPr/>
            <p:nvPr/>
          </p:nvSpPr>
          <p:spPr>
            <a:xfrm>
              <a:off x="1073" y="1776"/>
              <a:ext cx="1802" cy="581"/>
            </a:xfrm>
            <a:custGeom>
              <a:avLst/>
              <a:gdLst/>
              <a:ahLst/>
              <a:cxnLst>
                <a:cxn ang="0">
                  <a:pos x="1446" y="309"/>
                </a:cxn>
                <a:cxn ang="0">
                  <a:pos x="1337" y="156"/>
                </a:cxn>
                <a:cxn ang="0">
                  <a:pos x="1045" y="48"/>
                </a:cxn>
                <a:cxn ang="0">
                  <a:pos x="389" y="26"/>
                </a:cxn>
                <a:cxn ang="0">
                  <a:pos x="61" y="200"/>
                </a:cxn>
                <a:cxn ang="0">
                  <a:pos x="25" y="309"/>
                </a:cxn>
              </a:cxnLst>
              <a:pathLst>
                <a:path w="1904" h="680">
                  <a:moveTo>
                    <a:pt x="1904" y="680"/>
                  </a:moveTo>
                  <a:cubicBezTo>
                    <a:pt x="1876" y="560"/>
                    <a:pt x="1848" y="440"/>
                    <a:pt x="1760" y="344"/>
                  </a:cubicBezTo>
                  <a:cubicBezTo>
                    <a:pt x="1672" y="248"/>
                    <a:pt x="1584" y="152"/>
                    <a:pt x="1376" y="104"/>
                  </a:cubicBezTo>
                  <a:cubicBezTo>
                    <a:pt x="1168" y="56"/>
                    <a:pt x="728" y="0"/>
                    <a:pt x="512" y="56"/>
                  </a:cubicBezTo>
                  <a:cubicBezTo>
                    <a:pt x="296" y="112"/>
                    <a:pt x="160" y="336"/>
                    <a:pt x="80" y="440"/>
                  </a:cubicBezTo>
                  <a:cubicBezTo>
                    <a:pt x="0" y="544"/>
                    <a:pt x="40" y="640"/>
                    <a:pt x="32" y="68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8638" name="Freeform 31"/>
            <p:cNvSpPr/>
            <p:nvPr/>
          </p:nvSpPr>
          <p:spPr>
            <a:xfrm>
              <a:off x="603" y="2583"/>
              <a:ext cx="2772" cy="5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9" y="133"/>
                </a:cxn>
                <a:cxn ang="0">
                  <a:pos x="766" y="216"/>
                </a:cxn>
                <a:cxn ang="0">
                  <a:pos x="1534" y="216"/>
                </a:cxn>
                <a:cxn ang="0">
                  <a:pos x="1935" y="133"/>
                </a:cxn>
                <a:cxn ang="0">
                  <a:pos x="2227" y="0"/>
                </a:cxn>
              </a:cxnLst>
              <a:pathLst>
                <a:path w="2928" h="664">
                  <a:moveTo>
                    <a:pt x="0" y="0"/>
                  </a:moveTo>
                  <a:cubicBezTo>
                    <a:pt x="60" y="140"/>
                    <a:pt x="120" y="280"/>
                    <a:pt x="288" y="384"/>
                  </a:cubicBezTo>
                  <a:cubicBezTo>
                    <a:pt x="456" y="488"/>
                    <a:pt x="720" y="584"/>
                    <a:pt x="1008" y="624"/>
                  </a:cubicBezTo>
                  <a:cubicBezTo>
                    <a:pt x="1296" y="664"/>
                    <a:pt x="1760" y="664"/>
                    <a:pt x="2016" y="624"/>
                  </a:cubicBezTo>
                  <a:cubicBezTo>
                    <a:pt x="2272" y="584"/>
                    <a:pt x="2392" y="488"/>
                    <a:pt x="2544" y="384"/>
                  </a:cubicBezTo>
                  <a:cubicBezTo>
                    <a:pt x="2696" y="280"/>
                    <a:pt x="2864" y="64"/>
                    <a:pt x="2928" y="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8639" name="Rectangle 32"/>
            <p:cNvSpPr/>
            <p:nvPr/>
          </p:nvSpPr>
          <p:spPr>
            <a:xfrm>
              <a:off x="2557" y="1680"/>
              <a:ext cx="193" cy="23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40" name="Rectangle 33"/>
            <p:cNvSpPr/>
            <p:nvPr/>
          </p:nvSpPr>
          <p:spPr>
            <a:xfrm>
              <a:off x="740" y="2267"/>
              <a:ext cx="193" cy="23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41" name="Rectangle 34"/>
            <p:cNvSpPr/>
            <p:nvPr/>
          </p:nvSpPr>
          <p:spPr>
            <a:xfrm>
              <a:off x="1239" y="2087"/>
              <a:ext cx="193" cy="23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42" name="Rectangle 35"/>
            <p:cNvSpPr/>
            <p:nvPr/>
          </p:nvSpPr>
          <p:spPr>
            <a:xfrm>
              <a:off x="1239" y="2584"/>
              <a:ext cx="193" cy="23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43" name="Rectangle 36"/>
            <p:cNvSpPr/>
            <p:nvPr/>
          </p:nvSpPr>
          <p:spPr>
            <a:xfrm>
              <a:off x="2511" y="2087"/>
              <a:ext cx="193" cy="23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44" name="Rectangle 37"/>
            <p:cNvSpPr/>
            <p:nvPr/>
          </p:nvSpPr>
          <p:spPr>
            <a:xfrm>
              <a:off x="2421" y="2494"/>
              <a:ext cx="193" cy="23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45" name="Rectangle 38"/>
            <p:cNvSpPr/>
            <p:nvPr/>
          </p:nvSpPr>
          <p:spPr>
            <a:xfrm>
              <a:off x="3057" y="2267"/>
              <a:ext cx="193" cy="23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46" name="Rectangle 39"/>
            <p:cNvSpPr/>
            <p:nvPr/>
          </p:nvSpPr>
          <p:spPr>
            <a:xfrm>
              <a:off x="1875" y="1906"/>
              <a:ext cx="81" cy="19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47" name="Rectangle 40"/>
            <p:cNvSpPr/>
            <p:nvPr/>
          </p:nvSpPr>
          <p:spPr>
            <a:xfrm>
              <a:off x="3693" y="2267"/>
              <a:ext cx="81" cy="19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48" name="Rectangle 41"/>
            <p:cNvSpPr/>
            <p:nvPr/>
          </p:nvSpPr>
          <p:spPr>
            <a:xfrm>
              <a:off x="1875" y="2584"/>
              <a:ext cx="81" cy="19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49" name="Rectangle 42"/>
            <p:cNvSpPr/>
            <p:nvPr/>
          </p:nvSpPr>
          <p:spPr>
            <a:xfrm>
              <a:off x="4238" y="2267"/>
              <a:ext cx="81" cy="19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650" name="Rectangle 43"/>
            <p:cNvSpPr/>
            <p:nvPr/>
          </p:nvSpPr>
          <p:spPr>
            <a:xfrm>
              <a:off x="4783" y="2267"/>
              <a:ext cx="81" cy="19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68651" name="Rectangle 44"/>
          <p:cNvSpPr/>
          <p:nvPr/>
        </p:nvSpPr>
        <p:spPr>
          <a:xfrm>
            <a:off x="228600" y="2286000"/>
            <a:ext cx="8153400" cy="1189038"/>
          </a:xfrm>
          <a:prstGeom prst="rect">
            <a:avLst/>
          </a:prstGeom>
          <a:noFill/>
          <a:ln w="22225">
            <a:noFill/>
          </a:ln>
        </p:spPr>
        <p:txBody>
          <a:bodyPr lIns="0" tIns="0" rIns="0" bIns="0" anchor="t" anchorCtr="0">
            <a:spAutoFit/>
          </a:bodyPr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ε-closure(move(T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3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,b)) = { 5,6,7,1,2,4,10 } = T4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1800" b="1" u="none" dirty="0">
                <a:latin typeface="宋体" panose="02010600030101010101" pitchFamily="2" charset="-122"/>
              </a:rPr>
              <a:t>	move(T</a:t>
            </a:r>
            <a:r>
              <a:rPr lang="en-US" altLang="zh-CN" sz="1800" b="1" u="none" baseline="-25000" dirty="0">
                <a:latin typeface="宋体" panose="02010600030101010101" pitchFamily="2" charset="-122"/>
              </a:rPr>
              <a:t>4</a:t>
            </a:r>
            <a:r>
              <a:rPr lang="en-US" altLang="zh-CN" sz="1800" b="1" u="none" dirty="0">
                <a:latin typeface="宋体" panose="02010600030101010101" pitchFamily="2" charset="-122"/>
              </a:rPr>
              <a:t> ,a) = { 3,8 },  move(T</a:t>
            </a:r>
            <a:r>
              <a:rPr lang="en-US" altLang="zh-CN" sz="1800" b="1" u="none" baseline="-25000" dirty="0">
                <a:latin typeface="宋体" panose="02010600030101010101" pitchFamily="2" charset="-122"/>
              </a:rPr>
              <a:t>4</a:t>
            </a:r>
            <a:r>
              <a:rPr lang="en-US" altLang="zh-CN" sz="1800" b="1" u="none" dirty="0">
                <a:latin typeface="宋体" panose="02010600030101010101" pitchFamily="2" charset="-122"/>
              </a:rPr>
              <a:t> ,b) = { 5 }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ε-closure(move(T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4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,a)) = { 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3,8</a:t>
            </a:r>
            <a:r>
              <a:rPr lang="en-US" altLang="zh-CN" sz="2000" b="1" u="none" dirty="0">
                <a:latin typeface="宋体" panose="02010600030101010101" pitchFamily="2" charset="-122"/>
              </a:rPr>
              <a:t>,6,7,1,2,4 } = T1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ε-closure(move(T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4</a:t>
            </a:r>
            <a:r>
              <a:rPr lang="en-US" altLang="zh-CN" sz="2000" b="1" u="none" dirty="0">
                <a:latin typeface="宋体" panose="02010600030101010101" pitchFamily="2" charset="-122"/>
              </a:rPr>
              <a:t> ,b)) = { 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5,</a:t>
            </a:r>
            <a:r>
              <a:rPr lang="en-US" altLang="zh-CN" sz="2000" b="1" u="none" dirty="0">
                <a:latin typeface="宋体" panose="02010600030101010101" pitchFamily="2" charset="-122"/>
              </a:rPr>
              <a:t>6,7,1,2,4 } = T2</a:t>
            </a:r>
            <a:endParaRPr lang="en-US" altLang="zh-CN" sz="2000" b="1" u="none" dirty="0">
              <a:latin typeface="宋体" panose="02010600030101010101" pitchFamily="2" charset="-122"/>
            </a:endParaRPr>
          </a:p>
        </p:txBody>
      </p:sp>
      <p:sp>
        <p:nvSpPr>
          <p:cNvPr id="68652" name="Rectangle 45"/>
          <p:cNvSpPr/>
          <p:nvPr/>
        </p:nvSpPr>
        <p:spPr>
          <a:xfrm>
            <a:off x="228600" y="3810000"/>
            <a:ext cx="3276600" cy="2590800"/>
          </a:xfrm>
          <a:prstGeom prst="rect">
            <a:avLst/>
          </a:prstGeom>
          <a:noFill/>
          <a:ln w="22225">
            <a:noFill/>
          </a:ln>
        </p:spPr>
        <p:txBody>
          <a:bodyPr lIns="0" tIns="0" rIns="0" bIns="0"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2000" b="1" u="none" dirty="0">
                <a:latin typeface="宋体" panose="02010600030101010101" pitchFamily="2" charset="-122"/>
              </a:rPr>
              <a:t>所以，共有如下的状态：</a:t>
            </a:r>
            <a:endParaRPr lang="zh-CN" altLang="en-US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 = { 0,1,2,4,7 }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</a:t>
            </a:r>
            <a:r>
              <a:rPr lang="en-US" altLang="zh-CN" sz="2000" b="1" u="none" dirty="0">
                <a:latin typeface="宋体" panose="02010600030101010101" pitchFamily="2" charset="-122"/>
              </a:rPr>
              <a:t> = {1,2,3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4,6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7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8 }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</a:rPr>
              <a:t> = {1,2,4,5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6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7 }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3</a:t>
            </a:r>
            <a:r>
              <a:rPr lang="en-US" altLang="zh-CN" sz="2000" b="1" u="none" dirty="0">
                <a:latin typeface="宋体" panose="02010600030101010101" pitchFamily="2" charset="-122"/>
              </a:rPr>
              <a:t> = {1,2,4,5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6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7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9 }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25000" dirty="0">
                <a:solidFill>
                  <a:schemeClr val="hlink"/>
                </a:solidFill>
                <a:latin typeface="宋体" panose="02010600030101010101" pitchFamily="2" charset="-122"/>
              </a:rPr>
              <a:t>4</a:t>
            </a:r>
            <a:r>
              <a:rPr lang="en-US" altLang="zh-CN" sz="2000" b="1" u="none" dirty="0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</a:rPr>
              <a:t>= {1,2,4,5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6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7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</a:rPr>
              <a:t>10 }</a:t>
            </a:r>
            <a:endParaRPr lang="en-US" altLang="zh-CN" sz="2000" b="1" u="none" dirty="0">
              <a:latin typeface="宋体" panose="02010600030101010101" pitchFamily="2" charset="-122"/>
            </a:endParaRPr>
          </a:p>
        </p:txBody>
      </p:sp>
      <p:sp>
        <p:nvSpPr>
          <p:cNvPr id="68653" name="Rectangle 46"/>
          <p:cNvSpPr/>
          <p:nvPr/>
        </p:nvSpPr>
        <p:spPr>
          <a:xfrm>
            <a:off x="3810000" y="3962400"/>
            <a:ext cx="4419600" cy="2332038"/>
          </a:xfrm>
          <a:prstGeom prst="rect">
            <a:avLst/>
          </a:prstGeom>
          <a:noFill/>
          <a:ln w="22225">
            <a:noFill/>
          </a:ln>
        </p:spPr>
        <p:txBody>
          <a:bodyPr lIns="0" tIns="0" rIns="0" bIns="0" anchor="t" anchorCtr="0">
            <a:spAutoFit/>
          </a:bodyPr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2000" b="1" u="none" dirty="0">
                <a:latin typeface="宋体" panose="02010600030101010101" pitchFamily="2" charset="-122"/>
              </a:rPr>
              <a:t>设</a:t>
            </a:r>
            <a:r>
              <a:rPr lang="en-US" altLang="zh-CN" sz="2000" b="1" u="none" dirty="0">
                <a:latin typeface="宋体" panose="02010600030101010101" pitchFamily="2" charset="-122"/>
              </a:rPr>
              <a:t>DFA </a:t>
            </a:r>
            <a:r>
              <a:rPr lang="zh-CN" altLang="en-US" sz="2000" b="1" u="none" dirty="0">
                <a:latin typeface="宋体" panose="02010600030101010101" pitchFamily="2" charset="-122"/>
              </a:rPr>
              <a:t>的 </a:t>
            </a:r>
            <a:r>
              <a:rPr lang="en-US" altLang="zh-CN" sz="2000" b="1" u="none" dirty="0">
                <a:latin typeface="宋体" panose="02010600030101010101" pitchFamily="2" charset="-122"/>
              </a:rPr>
              <a:t>V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N</a:t>
            </a:r>
            <a:r>
              <a:rPr lang="en-US" altLang="zh-CN" sz="2000" b="1" u="none" dirty="0">
                <a:latin typeface="宋体" panose="02010600030101010101" pitchFamily="2" charset="-122"/>
              </a:rPr>
              <a:t>={T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3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4</a:t>
            </a:r>
            <a:r>
              <a:rPr lang="en-US" altLang="zh-CN" sz="2000" b="1" u="none" dirty="0">
                <a:latin typeface="宋体" panose="02010600030101010101" pitchFamily="2" charset="-122"/>
              </a:rPr>
              <a:t>}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  ∑={a,b}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,a)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 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 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,b)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endParaRPr lang="en-US" altLang="zh-CN" sz="2000" b="1" u="none" baseline="-250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</a:t>
            </a:r>
            <a:r>
              <a:rPr lang="en-US" altLang="zh-CN" sz="2000" b="1" u="none" dirty="0">
                <a:latin typeface="宋体" panose="02010600030101010101" pitchFamily="2" charset="-122"/>
              </a:rPr>
              <a:t>,a)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 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 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</a:t>
            </a:r>
            <a:r>
              <a:rPr lang="en-US" altLang="zh-CN" sz="2000" b="1" u="none" dirty="0">
                <a:latin typeface="宋体" panose="02010600030101010101" pitchFamily="2" charset="-122"/>
              </a:rPr>
              <a:t>,b)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3</a:t>
            </a:r>
            <a:endParaRPr lang="en-US" altLang="zh-CN" sz="2000" b="1" u="none" baseline="-250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</a:rPr>
              <a:t>,a)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 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 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</a:rPr>
              <a:t>,b)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endParaRPr lang="en-US" altLang="zh-CN" sz="2000" b="1" u="none" baseline="-250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3</a:t>
            </a:r>
            <a:r>
              <a:rPr lang="en-US" altLang="zh-CN" sz="2000" b="1" u="none" dirty="0">
                <a:latin typeface="宋体" panose="02010600030101010101" pitchFamily="2" charset="-122"/>
              </a:rPr>
              <a:t>,a)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 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 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3</a:t>
            </a:r>
            <a:r>
              <a:rPr lang="en-US" altLang="zh-CN" sz="2000" b="1" u="none" dirty="0">
                <a:latin typeface="宋体" panose="02010600030101010101" pitchFamily="2" charset="-122"/>
              </a:rPr>
              <a:t>,b)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4</a:t>
            </a:r>
            <a:endParaRPr lang="en-US" altLang="zh-CN" sz="2000" b="1" u="none" baseline="-250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4</a:t>
            </a:r>
            <a:r>
              <a:rPr lang="en-US" altLang="zh-CN" sz="2000" b="1" u="none" dirty="0">
                <a:latin typeface="宋体" panose="02010600030101010101" pitchFamily="2" charset="-122"/>
              </a:rPr>
              <a:t>,a)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 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 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4</a:t>
            </a:r>
            <a:r>
              <a:rPr lang="en-US" altLang="zh-CN" sz="2000" b="1" u="none" dirty="0">
                <a:latin typeface="宋体" panose="02010600030101010101" pitchFamily="2" charset="-122"/>
              </a:rPr>
              <a:t>,b)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endParaRPr lang="en-US" altLang="zh-CN" sz="2000" b="1" u="none" baseline="-250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zh-CN" altLang="en-US" sz="2000" b="1" u="none" baseline="-250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9633" name="Group 3"/>
          <p:cNvGrpSpPr/>
          <p:nvPr/>
        </p:nvGrpSpPr>
        <p:grpSpPr>
          <a:xfrm>
            <a:off x="304800" y="-76200"/>
            <a:ext cx="8077200" cy="2205038"/>
            <a:chOff x="192" y="-48"/>
            <a:chExt cx="5088" cy="1389"/>
          </a:xfrm>
        </p:grpSpPr>
        <p:sp>
          <p:nvSpPr>
            <p:cNvPr id="69634" name="Rectangle 4"/>
            <p:cNvSpPr/>
            <p:nvPr/>
          </p:nvSpPr>
          <p:spPr>
            <a:xfrm>
              <a:off x="1776" y="1110"/>
              <a:ext cx="193" cy="22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35" name="Oval 5"/>
            <p:cNvSpPr/>
            <p:nvPr/>
          </p:nvSpPr>
          <p:spPr>
            <a:xfrm>
              <a:off x="965" y="594"/>
              <a:ext cx="238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36" name="Oval 6"/>
            <p:cNvSpPr/>
            <p:nvPr/>
          </p:nvSpPr>
          <p:spPr>
            <a:xfrm>
              <a:off x="1464" y="245"/>
              <a:ext cx="239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2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37" name="Oval 7"/>
            <p:cNvSpPr/>
            <p:nvPr/>
          </p:nvSpPr>
          <p:spPr>
            <a:xfrm>
              <a:off x="1464" y="898"/>
              <a:ext cx="239" cy="260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4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38" name="Oval 8"/>
            <p:cNvSpPr/>
            <p:nvPr/>
          </p:nvSpPr>
          <p:spPr>
            <a:xfrm>
              <a:off x="2055" y="245"/>
              <a:ext cx="239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3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39" name="Oval 9"/>
            <p:cNvSpPr/>
            <p:nvPr/>
          </p:nvSpPr>
          <p:spPr>
            <a:xfrm>
              <a:off x="2055" y="898"/>
              <a:ext cx="239" cy="260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5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40" name="Oval 10"/>
            <p:cNvSpPr/>
            <p:nvPr/>
          </p:nvSpPr>
          <p:spPr>
            <a:xfrm>
              <a:off x="2691" y="594"/>
              <a:ext cx="239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6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41" name="Oval 11"/>
            <p:cNvSpPr/>
            <p:nvPr/>
          </p:nvSpPr>
          <p:spPr>
            <a:xfrm>
              <a:off x="3282" y="594"/>
              <a:ext cx="238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7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42" name="Oval 12"/>
            <p:cNvSpPr/>
            <p:nvPr/>
          </p:nvSpPr>
          <p:spPr>
            <a:xfrm>
              <a:off x="3872" y="594"/>
              <a:ext cx="239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8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43" name="Oval 13"/>
            <p:cNvSpPr/>
            <p:nvPr/>
          </p:nvSpPr>
          <p:spPr>
            <a:xfrm>
              <a:off x="4417" y="594"/>
              <a:ext cx="239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9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44" name="Oval 14"/>
            <p:cNvSpPr/>
            <p:nvPr/>
          </p:nvSpPr>
          <p:spPr>
            <a:xfrm>
              <a:off x="420" y="594"/>
              <a:ext cx="238" cy="259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69645" name="Group 15"/>
            <p:cNvGrpSpPr/>
            <p:nvPr/>
          </p:nvGrpSpPr>
          <p:grpSpPr>
            <a:xfrm>
              <a:off x="4917" y="562"/>
              <a:ext cx="363" cy="349"/>
              <a:chOff x="1344" y="2784"/>
              <a:chExt cx="384" cy="384"/>
            </a:xfrm>
          </p:grpSpPr>
          <p:sp>
            <p:nvSpPr>
              <p:cNvPr id="69646" name="Oval 16"/>
              <p:cNvSpPr/>
              <p:nvPr/>
            </p:nvSpPr>
            <p:spPr>
              <a:xfrm>
                <a:off x="1392" y="2818"/>
                <a:ext cx="288" cy="31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u="none" dirty="0">
                    <a:latin typeface="Times New Roman" panose="02020603050405020304" pitchFamily="18" charset="0"/>
                  </a:rPr>
                  <a:t>10</a:t>
                </a:r>
                <a:endParaRPr lang="en-US" altLang="zh-CN" sz="2000" b="1" u="none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47" name="Oval 17"/>
              <p:cNvSpPr/>
              <p:nvPr/>
            </p:nvSpPr>
            <p:spPr>
              <a:xfrm>
                <a:off x="1344" y="2784"/>
                <a:ext cx="384" cy="38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69648" name="AutoShape 18"/>
            <p:cNvSpPr/>
            <p:nvPr/>
          </p:nvSpPr>
          <p:spPr>
            <a:xfrm>
              <a:off x="192" y="693"/>
              <a:ext cx="227" cy="87"/>
            </a:xfrm>
            <a:prstGeom prst="rightArrow">
              <a:avLst>
                <a:gd name="adj1" fmla="val 50000"/>
                <a:gd name="adj2" fmla="val 65169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69649" name="Line 19"/>
            <p:cNvSpPr/>
            <p:nvPr/>
          </p:nvSpPr>
          <p:spPr>
            <a:xfrm>
              <a:off x="646" y="736"/>
              <a:ext cx="31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50" name="Line 20"/>
            <p:cNvSpPr/>
            <p:nvPr/>
          </p:nvSpPr>
          <p:spPr>
            <a:xfrm flipV="1">
              <a:off x="1146" y="431"/>
              <a:ext cx="318" cy="21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51" name="Line 21"/>
            <p:cNvSpPr/>
            <p:nvPr/>
          </p:nvSpPr>
          <p:spPr>
            <a:xfrm>
              <a:off x="1691" y="344"/>
              <a:ext cx="3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52" name="Line 22"/>
            <p:cNvSpPr/>
            <p:nvPr/>
          </p:nvSpPr>
          <p:spPr>
            <a:xfrm>
              <a:off x="1191" y="780"/>
              <a:ext cx="273" cy="21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53" name="Line 23"/>
            <p:cNvSpPr/>
            <p:nvPr/>
          </p:nvSpPr>
          <p:spPr>
            <a:xfrm>
              <a:off x="1691" y="1041"/>
              <a:ext cx="3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54" name="Line 24"/>
            <p:cNvSpPr/>
            <p:nvPr/>
          </p:nvSpPr>
          <p:spPr>
            <a:xfrm>
              <a:off x="2282" y="388"/>
              <a:ext cx="454" cy="26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55" name="Line 25"/>
            <p:cNvSpPr/>
            <p:nvPr/>
          </p:nvSpPr>
          <p:spPr>
            <a:xfrm flipV="1">
              <a:off x="2282" y="780"/>
              <a:ext cx="409" cy="26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56" name="Line 26"/>
            <p:cNvSpPr/>
            <p:nvPr/>
          </p:nvSpPr>
          <p:spPr>
            <a:xfrm>
              <a:off x="2918" y="736"/>
              <a:ext cx="363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57" name="Line 27"/>
            <p:cNvSpPr/>
            <p:nvPr/>
          </p:nvSpPr>
          <p:spPr>
            <a:xfrm>
              <a:off x="3508" y="736"/>
              <a:ext cx="36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58" name="Line 28"/>
            <p:cNvSpPr/>
            <p:nvPr/>
          </p:nvSpPr>
          <p:spPr>
            <a:xfrm>
              <a:off x="4099" y="736"/>
              <a:ext cx="31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59" name="Line 29"/>
            <p:cNvSpPr/>
            <p:nvPr/>
          </p:nvSpPr>
          <p:spPr>
            <a:xfrm>
              <a:off x="4644" y="736"/>
              <a:ext cx="273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60" name="Freeform 30"/>
            <p:cNvSpPr/>
            <p:nvPr/>
          </p:nvSpPr>
          <p:spPr>
            <a:xfrm>
              <a:off x="1025" y="45"/>
              <a:ext cx="1802" cy="560"/>
            </a:xfrm>
            <a:custGeom>
              <a:avLst/>
              <a:gdLst/>
              <a:ahLst/>
              <a:cxnLst>
                <a:cxn ang="0">
                  <a:pos x="1446" y="258"/>
                </a:cxn>
                <a:cxn ang="0">
                  <a:pos x="1337" y="130"/>
                </a:cxn>
                <a:cxn ang="0">
                  <a:pos x="1045" y="40"/>
                </a:cxn>
                <a:cxn ang="0">
                  <a:pos x="389" y="21"/>
                </a:cxn>
                <a:cxn ang="0">
                  <a:pos x="61" y="166"/>
                </a:cxn>
                <a:cxn ang="0">
                  <a:pos x="25" y="258"/>
                </a:cxn>
              </a:cxnLst>
              <a:pathLst>
                <a:path w="1904" h="680">
                  <a:moveTo>
                    <a:pt x="1904" y="680"/>
                  </a:moveTo>
                  <a:cubicBezTo>
                    <a:pt x="1876" y="560"/>
                    <a:pt x="1848" y="440"/>
                    <a:pt x="1760" y="344"/>
                  </a:cubicBezTo>
                  <a:cubicBezTo>
                    <a:pt x="1672" y="248"/>
                    <a:pt x="1584" y="152"/>
                    <a:pt x="1376" y="104"/>
                  </a:cubicBezTo>
                  <a:cubicBezTo>
                    <a:pt x="1168" y="56"/>
                    <a:pt x="728" y="0"/>
                    <a:pt x="512" y="56"/>
                  </a:cubicBezTo>
                  <a:cubicBezTo>
                    <a:pt x="296" y="112"/>
                    <a:pt x="160" y="336"/>
                    <a:pt x="80" y="440"/>
                  </a:cubicBezTo>
                  <a:cubicBezTo>
                    <a:pt x="0" y="544"/>
                    <a:pt x="40" y="640"/>
                    <a:pt x="32" y="68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661" name="Freeform 31"/>
            <p:cNvSpPr/>
            <p:nvPr/>
          </p:nvSpPr>
          <p:spPr>
            <a:xfrm>
              <a:off x="555" y="823"/>
              <a:ext cx="2772" cy="5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9" y="112"/>
                </a:cxn>
                <a:cxn ang="0">
                  <a:pos x="766" y="180"/>
                </a:cxn>
                <a:cxn ang="0">
                  <a:pos x="1534" y="180"/>
                </a:cxn>
                <a:cxn ang="0">
                  <a:pos x="1935" y="112"/>
                </a:cxn>
                <a:cxn ang="0">
                  <a:pos x="2227" y="0"/>
                </a:cxn>
              </a:cxnLst>
              <a:pathLst>
                <a:path w="2928" h="664">
                  <a:moveTo>
                    <a:pt x="0" y="0"/>
                  </a:moveTo>
                  <a:cubicBezTo>
                    <a:pt x="60" y="140"/>
                    <a:pt x="120" y="280"/>
                    <a:pt x="288" y="384"/>
                  </a:cubicBezTo>
                  <a:cubicBezTo>
                    <a:pt x="456" y="488"/>
                    <a:pt x="720" y="584"/>
                    <a:pt x="1008" y="624"/>
                  </a:cubicBezTo>
                  <a:cubicBezTo>
                    <a:pt x="1296" y="664"/>
                    <a:pt x="1760" y="664"/>
                    <a:pt x="2016" y="624"/>
                  </a:cubicBezTo>
                  <a:cubicBezTo>
                    <a:pt x="2272" y="584"/>
                    <a:pt x="2392" y="488"/>
                    <a:pt x="2544" y="384"/>
                  </a:cubicBezTo>
                  <a:cubicBezTo>
                    <a:pt x="2696" y="280"/>
                    <a:pt x="2864" y="64"/>
                    <a:pt x="2928" y="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662" name="Rectangle 32"/>
            <p:cNvSpPr/>
            <p:nvPr/>
          </p:nvSpPr>
          <p:spPr>
            <a:xfrm>
              <a:off x="2509" y="-48"/>
              <a:ext cx="193" cy="231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63" name="Rectangle 33"/>
            <p:cNvSpPr/>
            <p:nvPr/>
          </p:nvSpPr>
          <p:spPr>
            <a:xfrm>
              <a:off x="692" y="518"/>
              <a:ext cx="193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64" name="Rectangle 34"/>
            <p:cNvSpPr/>
            <p:nvPr/>
          </p:nvSpPr>
          <p:spPr>
            <a:xfrm>
              <a:off x="1191" y="345"/>
              <a:ext cx="193" cy="22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65" name="Rectangle 35"/>
            <p:cNvSpPr/>
            <p:nvPr/>
          </p:nvSpPr>
          <p:spPr>
            <a:xfrm>
              <a:off x="1191" y="824"/>
              <a:ext cx="193" cy="231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66" name="Rectangle 36"/>
            <p:cNvSpPr/>
            <p:nvPr/>
          </p:nvSpPr>
          <p:spPr>
            <a:xfrm>
              <a:off x="2463" y="345"/>
              <a:ext cx="193" cy="229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67" name="Rectangle 37"/>
            <p:cNvSpPr/>
            <p:nvPr/>
          </p:nvSpPr>
          <p:spPr>
            <a:xfrm>
              <a:off x="2373" y="737"/>
              <a:ext cx="193" cy="231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68" name="Rectangle 38"/>
            <p:cNvSpPr/>
            <p:nvPr/>
          </p:nvSpPr>
          <p:spPr>
            <a:xfrm>
              <a:off x="3009" y="518"/>
              <a:ext cx="193" cy="230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u="none" dirty="0">
                  <a:latin typeface="宋体" panose="02010600030101010101" pitchFamily="2" charset="-122"/>
                </a:rPr>
                <a:t>ε</a:t>
              </a:r>
              <a:endParaRPr lang="en-US" altLang="zh-CN" sz="2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69" name="Rectangle 39"/>
            <p:cNvSpPr/>
            <p:nvPr/>
          </p:nvSpPr>
          <p:spPr>
            <a:xfrm>
              <a:off x="1827" y="170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70" name="Rectangle 40"/>
            <p:cNvSpPr/>
            <p:nvPr/>
          </p:nvSpPr>
          <p:spPr>
            <a:xfrm>
              <a:off x="3645" y="518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71" name="Rectangle 41"/>
            <p:cNvSpPr/>
            <p:nvPr/>
          </p:nvSpPr>
          <p:spPr>
            <a:xfrm>
              <a:off x="1827" y="824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72" name="Rectangle 42"/>
            <p:cNvSpPr/>
            <p:nvPr/>
          </p:nvSpPr>
          <p:spPr>
            <a:xfrm>
              <a:off x="4190" y="518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73" name="Rectangle 43"/>
            <p:cNvSpPr/>
            <p:nvPr/>
          </p:nvSpPr>
          <p:spPr>
            <a:xfrm>
              <a:off x="4735" y="518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69674" name="Rectangle 44"/>
          <p:cNvSpPr/>
          <p:nvPr/>
        </p:nvSpPr>
        <p:spPr>
          <a:xfrm>
            <a:off x="228600" y="2286000"/>
            <a:ext cx="3962400" cy="2332038"/>
          </a:xfrm>
          <a:prstGeom prst="rect">
            <a:avLst/>
          </a:prstGeom>
          <a:noFill/>
          <a:ln w="22225">
            <a:noFill/>
          </a:ln>
        </p:spPr>
        <p:txBody>
          <a:bodyPr lIns="0" tIns="0" rIns="0" bIns="0" anchor="t" anchorCtr="0">
            <a:spAutoFit/>
          </a:bodyPr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2000" b="1" u="none" dirty="0">
                <a:latin typeface="宋体" panose="02010600030101010101" pitchFamily="2" charset="-122"/>
              </a:rPr>
              <a:t>设</a:t>
            </a:r>
            <a:r>
              <a:rPr lang="en-US" altLang="zh-CN" sz="2000" b="1" u="none" dirty="0">
                <a:latin typeface="宋体" panose="02010600030101010101" pitchFamily="2" charset="-122"/>
              </a:rPr>
              <a:t>DFA </a:t>
            </a:r>
            <a:r>
              <a:rPr lang="zh-CN" altLang="en-US" sz="2000" b="1" u="none" dirty="0">
                <a:latin typeface="宋体" panose="02010600030101010101" pitchFamily="2" charset="-122"/>
              </a:rPr>
              <a:t>的 </a:t>
            </a:r>
            <a:r>
              <a:rPr lang="en-US" altLang="zh-CN" sz="2000" b="1" u="none" dirty="0">
                <a:latin typeface="宋体" panose="02010600030101010101" pitchFamily="2" charset="-122"/>
              </a:rPr>
              <a:t>V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N</a:t>
            </a:r>
            <a:r>
              <a:rPr lang="en-US" altLang="zh-CN" sz="2000" b="1" u="none" dirty="0">
                <a:latin typeface="宋体" panose="02010600030101010101" pitchFamily="2" charset="-122"/>
              </a:rPr>
              <a:t>={T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3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4</a:t>
            </a:r>
            <a:r>
              <a:rPr lang="en-US" altLang="zh-CN" sz="2000" b="1" u="none" dirty="0">
                <a:latin typeface="宋体" panose="02010600030101010101" pitchFamily="2" charset="-122"/>
              </a:rPr>
              <a:t>}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  ∑={a,b}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,a)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 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 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0</a:t>
            </a:r>
            <a:r>
              <a:rPr lang="en-US" altLang="zh-CN" sz="2000" b="1" u="none" dirty="0">
                <a:latin typeface="宋体" panose="02010600030101010101" pitchFamily="2" charset="-122"/>
              </a:rPr>
              <a:t>,b)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endParaRPr lang="en-US" altLang="zh-CN" sz="2000" b="1" u="none" baseline="-250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</a:t>
            </a:r>
            <a:r>
              <a:rPr lang="en-US" altLang="zh-CN" sz="2000" b="1" u="none" dirty="0">
                <a:latin typeface="宋体" panose="02010600030101010101" pitchFamily="2" charset="-122"/>
              </a:rPr>
              <a:t>,a)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 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 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</a:t>
            </a:r>
            <a:r>
              <a:rPr lang="en-US" altLang="zh-CN" sz="2000" b="1" u="none" dirty="0">
                <a:latin typeface="宋体" panose="02010600030101010101" pitchFamily="2" charset="-122"/>
              </a:rPr>
              <a:t>,b)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3</a:t>
            </a:r>
            <a:endParaRPr lang="en-US" altLang="zh-CN" sz="2000" b="1" u="none" baseline="-250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</a:rPr>
              <a:t>,a)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 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 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2000" b="1" u="none" dirty="0">
                <a:latin typeface="宋体" panose="02010600030101010101" pitchFamily="2" charset="-122"/>
              </a:rPr>
              <a:t>,b)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endParaRPr lang="en-US" altLang="zh-CN" sz="2000" b="1" u="none" baseline="-250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3</a:t>
            </a:r>
            <a:r>
              <a:rPr lang="en-US" altLang="zh-CN" sz="2000" b="1" u="none" dirty="0">
                <a:latin typeface="宋体" panose="02010600030101010101" pitchFamily="2" charset="-122"/>
              </a:rPr>
              <a:t>,a)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 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 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3</a:t>
            </a:r>
            <a:r>
              <a:rPr lang="en-US" altLang="zh-CN" sz="2000" b="1" u="none" dirty="0">
                <a:latin typeface="宋体" panose="02010600030101010101" pitchFamily="2" charset="-122"/>
              </a:rPr>
              <a:t>,b)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4</a:t>
            </a:r>
            <a:endParaRPr lang="en-US" altLang="zh-CN" sz="2000" b="1" u="none" baseline="-250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u="none" dirty="0">
                <a:latin typeface="宋体" panose="02010600030101010101" pitchFamily="2" charset="-122"/>
              </a:rPr>
              <a:t>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4</a:t>
            </a:r>
            <a:r>
              <a:rPr lang="en-US" altLang="zh-CN" sz="2000" b="1" u="none" dirty="0">
                <a:latin typeface="宋体" panose="02010600030101010101" pitchFamily="2" charset="-122"/>
              </a:rPr>
              <a:t>,a)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1 </a:t>
            </a:r>
            <a:r>
              <a:rPr lang="en-US" altLang="zh-CN" sz="2000" b="1" u="none" dirty="0">
                <a:latin typeface="宋体" panose="02010600030101010101" pitchFamily="2" charset="-122"/>
              </a:rPr>
              <a:t>,  D(T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4</a:t>
            </a:r>
            <a:r>
              <a:rPr lang="en-US" altLang="zh-CN" sz="2000" b="1" u="none" dirty="0">
                <a:latin typeface="宋体" panose="02010600030101010101" pitchFamily="2" charset="-122"/>
              </a:rPr>
              <a:t>,b) = T</a:t>
            </a:r>
            <a:r>
              <a:rPr lang="en-US" altLang="zh-CN" sz="2000" b="1" u="none" baseline="-25000" dirty="0">
                <a:latin typeface="宋体" panose="02010600030101010101" pitchFamily="2" charset="-122"/>
              </a:rPr>
              <a:t>2</a:t>
            </a:r>
            <a:endParaRPr lang="en-US" altLang="zh-CN" sz="2000" b="1" u="none" baseline="-250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zh-CN" altLang="en-US" sz="2000" b="1" u="none" baseline="-25000" dirty="0">
              <a:latin typeface="宋体" panose="02010600030101010101" pitchFamily="2" charset="-122"/>
            </a:endParaRPr>
          </a:p>
        </p:txBody>
      </p:sp>
      <p:grpSp>
        <p:nvGrpSpPr>
          <p:cNvPr id="69675" name="Group 45"/>
          <p:cNvGrpSpPr/>
          <p:nvPr/>
        </p:nvGrpSpPr>
        <p:grpSpPr>
          <a:xfrm>
            <a:off x="3657600" y="2971800"/>
            <a:ext cx="4995863" cy="3200400"/>
            <a:chOff x="2064" y="1776"/>
            <a:chExt cx="3147" cy="2016"/>
          </a:xfrm>
        </p:grpSpPr>
        <p:sp>
          <p:nvSpPr>
            <p:cNvPr id="69676" name="Oval 46"/>
            <p:cNvSpPr/>
            <p:nvPr/>
          </p:nvSpPr>
          <p:spPr>
            <a:xfrm>
              <a:off x="2304" y="3087"/>
              <a:ext cx="288" cy="286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000" b="1" u="none" baseline="-25000" dirty="0">
                  <a:latin typeface="宋体" panose="02010600030101010101" pitchFamily="2" charset="-122"/>
                </a:rPr>
                <a:t>0</a:t>
              </a:r>
              <a:endParaRPr lang="en-US" altLang="zh-CN" sz="2000" b="1" u="none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69677" name="Oval 47"/>
            <p:cNvSpPr/>
            <p:nvPr/>
          </p:nvSpPr>
          <p:spPr>
            <a:xfrm>
              <a:off x="3072" y="3087"/>
              <a:ext cx="288" cy="286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000" b="1" u="none" baseline="-25000" dirty="0">
                  <a:latin typeface="宋体" panose="02010600030101010101" pitchFamily="2" charset="-122"/>
                </a:rPr>
                <a:t>1</a:t>
              </a:r>
              <a:endParaRPr lang="en-US" altLang="zh-CN" sz="2000" b="1" u="none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69678" name="Oval 48"/>
            <p:cNvSpPr/>
            <p:nvPr/>
          </p:nvSpPr>
          <p:spPr>
            <a:xfrm>
              <a:off x="3936" y="3087"/>
              <a:ext cx="288" cy="286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000" b="1" u="none" baseline="-25000" dirty="0">
                  <a:latin typeface="宋体" panose="02010600030101010101" pitchFamily="2" charset="-122"/>
                </a:rPr>
                <a:t>3</a:t>
              </a:r>
              <a:endParaRPr lang="en-US" altLang="zh-CN" sz="2000" b="1" u="none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69679" name="Oval 49"/>
            <p:cNvSpPr/>
            <p:nvPr/>
          </p:nvSpPr>
          <p:spPr>
            <a:xfrm>
              <a:off x="3072" y="2208"/>
              <a:ext cx="288" cy="286"/>
            </a:xfrm>
            <a:prstGeom prst="ellipse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000" b="1" u="none" baseline="-25000" dirty="0">
                  <a:latin typeface="宋体" panose="02010600030101010101" pitchFamily="2" charset="-122"/>
                </a:rPr>
                <a:t>2</a:t>
              </a:r>
              <a:endParaRPr lang="en-US" altLang="zh-CN" sz="2000" b="1" u="none" baseline="-25000" dirty="0">
                <a:latin typeface="宋体" panose="02010600030101010101" pitchFamily="2" charset="-122"/>
              </a:endParaRPr>
            </a:p>
          </p:txBody>
        </p:sp>
        <p:grpSp>
          <p:nvGrpSpPr>
            <p:cNvPr id="69680" name="Group 50"/>
            <p:cNvGrpSpPr/>
            <p:nvPr/>
          </p:nvGrpSpPr>
          <p:grpSpPr>
            <a:xfrm>
              <a:off x="4848" y="3024"/>
              <a:ext cx="363" cy="349"/>
              <a:chOff x="1344" y="2784"/>
              <a:chExt cx="384" cy="384"/>
            </a:xfrm>
          </p:grpSpPr>
          <p:sp>
            <p:nvSpPr>
              <p:cNvPr id="69681" name="Oval 51"/>
              <p:cNvSpPr/>
              <p:nvPr/>
            </p:nvSpPr>
            <p:spPr>
              <a:xfrm>
                <a:off x="1392" y="2818"/>
                <a:ext cx="288" cy="319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u="none" dirty="0">
                    <a:latin typeface="宋体" panose="02010600030101010101" pitchFamily="2" charset="-122"/>
                  </a:rPr>
                  <a:t>T</a:t>
                </a:r>
                <a:r>
                  <a:rPr lang="en-US" altLang="zh-CN" sz="2000" b="1" u="none" baseline="-25000" dirty="0">
                    <a:latin typeface="宋体" panose="02010600030101010101" pitchFamily="2" charset="-122"/>
                  </a:rPr>
                  <a:t>4</a:t>
                </a:r>
                <a:endParaRPr lang="en-US" altLang="zh-CN" sz="2000" b="1" u="none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82" name="Oval 52"/>
              <p:cNvSpPr/>
              <p:nvPr/>
            </p:nvSpPr>
            <p:spPr>
              <a:xfrm>
                <a:off x="1344" y="2784"/>
                <a:ext cx="384" cy="38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69683" name="AutoShape 53"/>
            <p:cNvSpPr/>
            <p:nvPr/>
          </p:nvSpPr>
          <p:spPr>
            <a:xfrm>
              <a:off x="2064" y="3168"/>
              <a:ext cx="227" cy="87"/>
            </a:xfrm>
            <a:prstGeom prst="rightArrow">
              <a:avLst>
                <a:gd name="adj1" fmla="val 50000"/>
                <a:gd name="adj2" fmla="val 65169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69684" name="Line 54"/>
            <p:cNvSpPr/>
            <p:nvPr/>
          </p:nvSpPr>
          <p:spPr>
            <a:xfrm>
              <a:off x="2592" y="3216"/>
              <a:ext cx="480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85" name="Line 55"/>
            <p:cNvSpPr/>
            <p:nvPr/>
          </p:nvSpPr>
          <p:spPr>
            <a:xfrm>
              <a:off x="3360" y="3216"/>
              <a:ext cx="576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86" name="Line 56"/>
            <p:cNvSpPr/>
            <p:nvPr/>
          </p:nvSpPr>
          <p:spPr>
            <a:xfrm>
              <a:off x="4224" y="3216"/>
              <a:ext cx="624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87" name="Line 57"/>
            <p:cNvSpPr/>
            <p:nvPr/>
          </p:nvSpPr>
          <p:spPr>
            <a:xfrm>
              <a:off x="3216" y="2496"/>
              <a:ext cx="0" cy="57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88" name="Line 58"/>
            <p:cNvSpPr/>
            <p:nvPr/>
          </p:nvSpPr>
          <p:spPr>
            <a:xfrm flipV="1">
              <a:off x="2496" y="2496"/>
              <a:ext cx="672" cy="57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89" name="Line 59"/>
            <p:cNvSpPr/>
            <p:nvPr/>
          </p:nvSpPr>
          <p:spPr>
            <a:xfrm flipH="1" flipV="1">
              <a:off x="3312" y="2496"/>
              <a:ext cx="1536" cy="67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90" name="Freeform 60"/>
            <p:cNvSpPr/>
            <p:nvPr/>
          </p:nvSpPr>
          <p:spPr>
            <a:xfrm>
              <a:off x="3360" y="3264"/>
              <a:ext cx="576" cy="160"/>
            </a:xfrm>
            <a:custGeom>
              <a:avLst/>
              <a:gdLst/>
              <a:ahLst/>
              <a:cxnLst>
                <a:cxn ang="0">
                  <a:pos x="311" y="0"/>
                </a:cxn>
                <a:cxn ang="0">
                  <a:pos x="222" y="571"/>
                </a:cxn>
                <a:cxn ang="0">
                  <a:pos x="89" y="571"/>
                </a:cxn>
                <a:cxn ang="0">
                  <a:pos x="0" y="0"/>
                </a:cxn>
              </a:cxnLst>
              <a:pathLst>
                <a:path w="672" h="112">
                  <a:moveTo>
                    <a:pt x="672" y="0"/>
                  </a:moveTo>
                  <a:cubicBezTo>
                    <a:pt x="616" y="40"/>
                    <a:pt x="560" y="80"/>
                    <a:pt x="480" y="96"/>
                  </a:cubicBezTo>
                  <a:cubicBezTo>
                    <a:pt x="400" y="112"/>
                    <a:pt x="272" y="112"/>
                    <a:pt x="192" y="96"/>
                  </a:cubicBezTo>
                  <a:cubicBezTo>
                    <a:pt x="112" y="80"/>
                    <a:pt x="32" y="16"/>
                    <a:pt x="0" y="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69691" name="Group 61"/>
            <p:cNvGrpSpPr/>
            <p:nvPr/>
          </p:nvGrpSpPr>
          <p:grpSpPr>
            <a:xfrm flipH="1" flipV="1">
              <a:off x="3024" y="3360"/>
              <a:ext cx="288" cy="240"/>
              <a:chOff x="4408" y="2584"/>
              <a:chExt cx="160" cy="152"/>
            </a:xfrm>
          </p:grpSpPr>
          <p:sp>
            <p:nvSpPr>
              <p:cNvPr id="69692" name="Line 62"/>
              <p:cNvSpPr/>
              <p:nvPr/>
            </p:nvSpPr>
            <p:spPr>
              <a:xfrm>
                <a:off x="4416" y="2688"/>
                <a:ext cx="48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93" name="Freeform 63"/>
              <p:cNvSpPr/>
              <p:nvPr/>
            </p:nvSpPr>
            <p:spPr>
              <a:xfrm>
                <a:off x="4408" y="2584"/>
                <a:ext cx="160" cy="152"/>
              </a:xfrm>
              <a:custGeom>
                <a:avLst/>
                <a:gdLst/>
                <a:ahLst/>
                <a:cxnLst>
                  <a:cxn ang="0">
                    <a:pos x="104" y="152"/>
                  </a:cxn>
                  <a:cxn ang="0">
                    <a:pos x="152" y="104"/>
                  </a:cxn>
                  <a:cxn ang="0">
                    <a:pos x="152" y="56"/>
                  </a:cxn>
                  <a:cxn ang="0">
                    <a:pos x="104" y="8"/>
                  </a:cxn>
                  <a:cxn ang="0">
                    <a:pos x="56" y="8"/>
                  </a:cxn>
                  <a:cxn ang="0">
                    <a:pos x="8" y="56"/>
                  </a:cxn>
                  <a:cxn ang="0">
                    <a:pos x="8" y="104"/>
                  </a:cxn>
                  <a:cxn ang="0">
                    <a:pos x="56" y="152"/>
                  </a:cxn>
                </a:cxnLst>
                <a:pathLst>
                  <a:path w="160" h="152">
                    <a:moveTo>
                      <a:pt x="104" y="152"/>
                    </a:moveTo>
                    <a:cubicBezTo>
                      <a:pt x="124" y="136"/>
                      <a:pt x="144" y="120"/>
                      <a:pt x="152" y="104"/>
                    </a:cubicBezTo>
                    <a:cubicBezTo>
                      <a:pt x="160" y="88"/>
                      <a:pt x="160" y="72"/>
                      <a:pt x="152" y="56"/>
                    </a:cubicBezTo>
                    <a:cubicBezTo>
                      <a:pt x="144" y="40"/>
                      <a:pt x="120" y="16"/>
                      <a:pt x="104" y="8"/>
                    </a:cubicBezTo>
                    <a:cubicBezTo>
                      <a:pt x="88" y="0"/>
                      <a:pt x="72" y="0"/>
                      <a:pt x="56" y="8"/>
                    </a:cubicBezTo>
                    <a:cubicBezTo>
                      <a:pt x="40" y="16"/>
                      <a:pt x="16" y="40"/>
                      <a:pt x="8" y="56"/>
                    </a:cubicBezTo>
                    <a:cubicBezTo>
                      <a:pt x="0" y="72"/>
                      <a:pt x="0" y="88"/>
                      <a:pt x="8" y="104"/>
                    </a:cubicBezTo>
                    <a:cubicBezTo>
                      <a:pt x="16" y="120"/>
                      <a:pt x="48" y="144"/>
                      <a:pt x="56" y="152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9694" name="Freeform 64"/>
            <p:cNvSpPr/>
            <p:nvPr/>
          </p:nvSpPr>
          <p:spPr>
            <a:xfrm>
              <a:off x="3312" y="3312"/>
              <a:ext cx="1584" cy="384"/>
            </a:xfrm>
            <a:custGeom>
              <a:avLst/>
              <a:gdLst/>
              <a:ahLst/>
              <a:cxnLst>
                <a:cxn ang="0">
                  <a:pos x="1584" y="0"/>
                </a:cxn>
                <a:cxn ang="0">
                  <a:pos x="1296" y="288"/>
                </a:cxn>
                <a:cxn ang="0">
                  <a:pos x="384" y="336"/>
                </a:cxn>
                <a:cxn ang="0">
                  <a:pos x="0" y="0"/>
                </a:cxn>
              </a:cxnLst>
              <a:pathLst>
                <a:path w="1584" h="384">
                  <a:moveTo>
                    <a:pt x="1584" y="0"/>
                  </a:moveTo>
                  <a:cubicBezTo>
                    <a:pt x="1540" y="116"/>
                    <a:pt x="1496" y="232"/>
                    <a:pt x="1296" y="288"/>
                  </a:cubicBezTo>
                  <a:cubicBezTo>
                    <a:pt x="1096" y="344"/>
                    <a:pt x="600" y="384"/>
                    <a:pt x="384" y="336"/>
                  </a:cubicBezTo>
                  <a:cubicBezTo>
                    <a:pt x="168" y="288"/>
                    <a:pt x="64" y="56"/>
                    <a:pt x="0" y="0"/>
                  </a:cubicBez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695" name="Text Box 65"/>
            <p:cNvSpPr txBox="1"/>
            <p:nvPr/>
          </p:nvSpPr>
          <p:spPr>
            <a:xfrm>
              <a:off x="2736" y="2976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96" name="Text Box 66"/>
            <p:cNvSpPr txBox="1"/>
            <p:nvPr/>
          </p:nvSpPr>
          <p:spPr>
            <a:xfrm>
              <a:off x="3072" y="2688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97" name="Text Box 67"/>
            <p:cNvSpPr txBox="1"/>
            <p:nvPr/>
          </p:nvSpPr>
          <p:spPr>
            <a:xfrm>
              <a:off x="4224" y="3456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98" name="Text Box 68"/>
            <p:cNvSpPr txBox="1"/>
            <p:nvPr/>
          </p:nvSpPr>
          <p:spPr>
            <a:xfrm>
              <a:off x="3744" y="3360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699" name="Text Box 69"/>
            <p:cNvSpPr txBox="1"/>
            <p:nvPr/>
          </p:nvSpPr>
          <p:spPr>
            <a:xfrm>
              <a:off x="2688" y="2640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700" name="Text Box 70"/>
            <p:cNvSpPr txBox="1"/>
            <p:nvPr/>
          </p:nvSpPr>
          <p:spPr>
            <a:xfrm>
              <a:off x="4032" y="2592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701" name="Text Box 71"/>
            <p:cNvSpPr txBox="1"/>
            <p:nvPr/>
          </p:nvSpPr>
          <p:spPr>
            <a:xfrm>
              <a:off x="3600" y="2976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702" name="Text Box 72"/>
            <p:cNvSpPr txBox="1"/>
            <p:nvPr/>
          </p:nvSpPr>
          <p:spPr>
            <a:xfrm>
              <a:off x="4272" y="2976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69703" name="Group 73"/>
            <p:cNvGrpSpPr/>
            <p:nvPr/>
          </p:nvGrpSpPr>
          <p:grpSpPr>
            <a:xfrm>
              <a:off x="3072" y="1968"/>
              <a:ext cx="288" cy="240"/>
              <a:chOff x="4408" y="2584"/>
              <a:chExt cx="160" cy="152"/>
            </a:xfrm>
          </p:grpSpPr>
          <p:sp>
            <p:nvSpPr>
              <p:cNvPr id="69704" name="Line 74"/>
              <p:cNvSpPr/>
              <p:nvPr/>
            </p:nvSpPr>
            <p:spPr>
              <a:xfrm>
                <a:off x="4416" y="2688"/>
                <a:ext cx="48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705" name="Freeform 75"/>
              <p:cNvSpPr/>
              <p:nvPr/>
            </p:nvSpPr>
            <p:spPr>
              <a:xfrm>
                <a:off x="4408" y="2584"/>
                <a:ext cx="160" cy="152"/>
              </a:xfrm>
              <a:custGeom>
                <a:avLst/>
                <a:gdLst/>
                <a:ahLst/>
                <a:cxnLst>
                  <a:cxn ang="0">
                    <a:pos x="104" y="152"/>
                  </a:cxn>
                  <a:cxn ang="0">
                    <a:pos x="152" y="104"/>
                  </a:cxn>
                  <a:cxn ang="0">
                    <a:pos x="152" y="56"/>
                  </a:cxn>
                  <a:cxn ang="0">
                    <a:pos x="104" y="8"/>
                  </a:cxn>
                  <a:cxn ang="0">
                    <a:pos x="56" y="8"/>
                  </a:cxn>
                  <a:cxn ang="0">
                    <a:pos x="8" y="56"/>
                  </a:cxn>
                  <a:cxn ang="0">
                    <a:pos x="8" y="104"/>
                  </a:cxn>
                  <a:cxn ang="0">
                    <a:pos x="56" y="152"/>
                  </a:cxn>
                </a:cxnLst>
                <a:pathLst>
                  <a:path w="160" h="152">
                    <a:moveTo>
                      <a:pt x="104" y="152"/>
                    </a:moveTo>
                    <a:cubicBezTo>
                      <a:pt x="124" y="136"/>
                      <a:pt x="144" y="120"/>
                      <a:pt x="152" y="104"/>
                    </a:cubicBezTo>
                    <a:cubicBezTo>
                      <a:pt x="160" y="88"/>
                      <a:pt x="160" y="72"/>
                      <a:pt x="152" y="56"/>
                    </a:cubicBezTo>
                    <a:cubicBezTo>
                      <a:pt x="144" y="40"/>
                      <a:pt x="120" y="16"/>
                      <a:pt x="104" y="8"/>
                    </a:cubicBezTo>
                    <a:cubicBezTo>
                      <a:pt x="88" y="0"/>
                      <a:pt x="72" y="0"/>
                      <a:pt x="56" y="8"/>
                    </a:cubicBezTo>
                    <a:cubicBezTo>
                      <a:pt x="40" y="16"/>
                      <a:pt x="16" y="40"/>
                      <a:pt x="8" y="56"/>
                    </a:cubicBezTo>
                    <a:cubicBezTo>
                      <a:pt x="0" y="72"/>
                      <a:pt x="0" y="88"/>
                      <a:pt x="8" y="104"/>
                    </a:cubicBezTo>
                    <a:cubicBezTo>
                      <a:pt x="16" y="120"/>
                      <a:pt x="48" y="144"/>
                      <a:pt x="56" y="152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9706" name="Text Box 76"/>
            <p:cNvSpPr txBox="1"/>
            <p:nvPr/>
          </p:nvSpPr>
          <p:spPr>
            <a:xfrm>
              <a:off x="3168" y="1776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707" name="Text Box 77"/>
            <p:cNvSpPr txBox="1"/>
            <p:nvPr/>
          </p:nvSpPr>
          <p:spPr>
            <a:xfrm>
              <a:off x="3120" y="3600"/>
              <a:ext cx="81" cy="19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a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69708" name="Text Box 78"/>
          <p:cNvSpPr txBox="1"/>
          <p:nvPr/>
        </p:nvSpPr>
        <p:spPr>
          <a:xfrm>
            <a:off x="5638800" y="6172200"/>
            <a:ext cx="836613" cy="487363"/>
          </a:xfrm>
          <a:prstGeom prst="rect">
            <a:avLst/>
          </a:prstGeom>
          <a:noFill/>
          <a:ln w="22225">
            <a:noFill/>
          </a:ln>
        </p:spPr>
        <p:txBody>
          <a:bodyPr wrap="none" lIns="0" tIns="0" rIns="0" bIns="0" anchor="t" anchorCtr="0">
            <a:spAutoFit/>
          </a:bodyPr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b="1" i="1" u="none" dirty="0">
                <a:latin typeface="Times New Roman" panose="02020603050405020304" pitchFamily="18" charset="0"/>
              </a:rPr>
              <a:t>DFA</a:t>
            </a:r>
            <a:endParaRPr lang="en-US" altLang="zh-CN" b="1" i="1" u="none" dirty="0">
              <a:latin typeface="Times New Roman" panose="02020603050405020304" pitchFamily="18" charset="0"/>
            </a:endParaRPr>
          </a:p>
        </p:txBody>
      </p:sp>
      <p:sp>
        <p:nvSpPr>
          <p:cNvPr id="69709" name="Text Box 79"/>
          <p:cNvSpPr txBox="1"/>
          <p:nvPr/>
        </p:nvSpPr>
        <p:spPr>
          <a:xfrm>
            <a:off x="5486400" y="1828800"/>
            <a:ext cx="836613" cy="487363"/>
          </a:xfrm>
          <a:prstGeom prst="rect">
            <a:avLst/>
          </a:prstGeom>
          <a:noFill/>
          <a:ln w="22225">
            <a:noFill/>
          </a:ln>
        </p:spPr>
        <p:txBody>
          <a:bodyPr wrap="none" lIns="0" tIns="0" rIns="0" bIns="0" anchor="t" anchorCtr="0">
            <a:spAutoFit/>
          </a:bodyPr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b="1" i="1" u="none" dirty="0">
                <a:latin typeface="Times New Roman" panose="02020603050405020304" pitchFamily="18" charset="0"/>
              </a:rPr>
              <a:t>NFA</a:t>
            </a:r>
            <a:endParaRPr lang="en-US" altLang="zh-CN" b="1" i="1" u="none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  </a:t>
            </a:r>
            <a:r>
              <a:rPr lang="en-US" altLang="zh-CN" dirty="0"/>
              <a:t>NFA</a:t>
            </a:r>
            <a:r>
              <a:rPr lang="zh-CN" altLang="en-US" dirty="0"/>
              <a:t>的确定化 </a:t>
            </a:r>
            <a:endParaRPr lang="zh-CN" altLang="en-US" dirty="0"/>
          </a:p>
        </p:txBody>
      </p:sp>
      <p:sp>
        <p:nvSpPr>
          <p:cNvPr id="706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zh-CN" dirty="0"/>
              <a:t>例子</a:t>
            </a:r>
            <a:endParaRPr lang="zh-CN" altLang="zh-CN" dirty="0"/>
          </a:p>
          <a:p>
            <a:pPr eaLnBrk="1" hangingPunct="1"/>
            <a:endParaRPr lang="zh-CN" altLang="zh-CN" dirty="0"/>
          </a:p>
        </p:txBody>
      </p:sp>
      <p:sp>
        <p:nvSpPr>
          <p:cNvPr id="70659" name="AutoShape 4">
            <a:hlinkClick r:id="" action="ppaction://hlinkshowjump?jump=previousslide"/>
          </p:cNvPr>
          <p:cNvSpPr/>
          <p:nvPr/>
        </p:nvSpPr>
        <p:spPr>
          <a:xfrm>
            <a:off x="6934200" y="5943600"/>
            <a:ext cx="539750" cy="539750"/>
          </a:xfrm>
          <a:prstGeom prst="actionButtonBackPrevious">
            <a:avLst/>
          </a:prstGeom>
          <a:solidFill>
            <a:srgbClr val="00FFFF">
              <a:alpha val="50195"/>
            </a:srgbClr>
          </a:solidFill>
          <a:ln w="9525">
            <a:noFill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70660" name="AutoShape 5">
            <a:hlinkClick r:id="" action="ppaction://hlinkshowjump?jump=nextslide"/>
          </p:cNvPr>
          <p:cNvSpPr/>
          <p:nvPr/>
        </p:nvSpPr>
        <p:spPr>
          <a:xfrm>
            <a:off x="7461250" y="5943600"/>
            <a:ext cx="539750" cy="539750"/>
          </a:xfrm>
          <a:prstGeom prst="actionButtonForwardNext">
            <a:avLst/>
          </a:prstGeom>
          <a:solidFill>
            <a:srgbClr val="00FFFF">
              <a:alpha val="50195"/>
            </a:srgbClr>
          </a:solidFill>
          <a:ln w="9525">
            <a:noFill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grpSp>
        <p:nvGrpSpPr>
          <p:cNvPr id="70661" name="Group 6"/>
          <p:cNvGrpSpPr/>
          <p:nvPr/>
        </p:nvGrpSpPr>
        <p:grpSpPr>
          <a:xfrm>
            <a:off x="1219200" y="2895600"/>
            <a:ext cx="7467600" cy="2057400"/>
            <a:chOff x="768" y="1824"/>
            <a:chExt cx="4704" cy="1296"/>
          </a:xfrm>
        </p:grpSpPr>
        <p:sp>
          <p:nvSpPr>
            <p:cNvPr id="70662" name="Oval 7"/>
            <p:cNvSpPr/>
            <p:nvPr/>
          </p:nvSpPr>
          <p:spPr>
            <a:xfrm>
              <a:off x="2928" y="278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4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0663" name="Group 8"/>
            <p:cNvGrpSpPr/>
            <p:nvPr/>
          </p:nvGrpSpPr>
          <p:grpSpPr>
            <a:xfrm>
              <a:off x="5136" y="2304"/>
              <a:ext cx="336" cy="336"/>
              <a:chOff x="3264" y="2256"/>
              <a:chExt cx="336" cy="336"/>
            </a:xfrm>
          </p:grpSpPr>
          <p:sp>
            <p:nvSpPr>
              <p:cNvPr id="70664" name="Oval 9"/>
              <p:cNvSpPr/>
              <p:nvPr/>
            </p:nvSpPr>
            <p:spPr>
              <a:xfrm>
                <a:off x="3264" y="225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0665" name="Oval 10"/>
              <p:cNvSpPr/>
              <p:nvPr/>
            </p:nvSpPr>
            <p:spPr>
              <a:xfrm>
                <a:off x="3312" y="23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u="none" dirty="0">
                    <a:latin typeface="Times New Roman" panose="02020603050405020304" pitchFamily="18" charset="0"/>
                  </a:rPr>
                  <a:t>f</a:t>
                </a:r>
                <a:endParaRPr lang="en-US" altLang="zh-CN" sz="2400" u="none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0666" name="Oval 11"/>
            <p:cNvSpPr/>
            <p:nvPr/>
          </p:nvSpPr>
          <p:spPr>
            <a:xfrm>
              <a:off x="2928" y="1872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3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67" name="Oval 12"/>
            <p:cNvSpPr/>
            <p:nvPr/>
          </p:nvSpPr>
          <p:spPr>
            <a:xfrm>
              <a:off x="3648" y="230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5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68" name="Oval 13"/>
            <p:cNvSpPr/>
            <p:nvPr/>
          </p:nvSpPr>
          <p:spPr>
            <a:xfrm>
              <a:off x="4416" y="230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6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69" name="Oval 14"/>
            <p:cNvSpPr/>
            <p:nvPr/>
          </p:nvSpPr>
          <p:spPr>
            <a:xfrm>
              <a:off x="2160" y="230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2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70" name="Oval 15"/>
            <p:cNvSpPr/>
            <p:nvPr/>
          </p:nvSpPr>
          <p:spPr>
            <a:xfrm>
              <a:off x="1536" y="230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1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71" name="Oval 16"/>
            <p:cNvSpPr/>
            <p:nvPr/>
          </p:nvSpPr>
          <p:spPr>
            <a:xfrm>
              <a:off x="768" y="230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i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70672" name="AutoShape 17"/>
            <p:cNvCxnSpPr>
              <a:stCxn id="70671" idx="6"/>
              <a:endCxn id="70670" idx="2"/>
            </p:cNvCxnSpPr>
            <p:nvPr/>
          </p:nvCxnSpPr>
          <p:spPr>
            <a:xfrm>
              <a:off x="1104" y="2472"/>
              <a:ext cx="432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673" name="AutoShape 18"/>
            <p:cNvCxnSpPr>
              <a:stCxn id="70670" idx="3"/>
              <a:endCxn id="70670" idx="5"/>
            </p:cNvCxnSpPr>
            <p:nvPr/>
          </p:nvCxnSpPr>
          <p:spPr>
            <a:xfrm rot="-5400000" flipH="1">
              <a:off x="1698" y="2467"/>
              <a:ext cx="1" cy="238"/>
            </a:xfrm>
            <a:prstGeom prst="curvedConnector3">
              <a:avLst>
                <a:gd name="adj1" fmla="val 19300009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674" name="AutoShape 19"/>
            <p:cNvCxnSpPr>
              <a:stCxn id="70670" idx="6"/>
              <a:endCxn id="70669" idx="2"/>
            </p:cNvCxnSpPr>
            <p:nvPr/>
          </p:nvCxnSpPr>
          <p:spPr>
            <a:xfrm>
              <a:off x="1872" y="2472"/>
              <a:ext cx="288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675" name="AutoShape 20"/>
            <p:cNvCxnSpPr>
              <a:stCxn id="70669" idx="7"/>
              <a:endCxn id="70666" idx="2"/>
            </p:cNvCxnSpPr>
            <p:nvPr/>
          </p:nvCxnSpPr>
          <p:spPr>
            <a:xfrm rot="-5400000">
              <a:off x="2526" y="1951"/>
              <a:ext cx="313" cy="481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676" name="AutoShape 21"/>
            <p:cNvCxnSpPr>
              <a:stCxn id="70669" idx="5"/>
              <a:endCxn id="70662" idx="2"/>
            </p:cNvCxnSpPr>
            <p:nvPr/>
          </p:nvCxnSpPr>
          <p:spPr>
            <a:xfrm rot="-5400000" flipH="1">
              <a:off x="2502" y="2526"/>
              <a:ext cx="361" cy="481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677" name="AutoShape 22"/>
            <p:cNvCxnSpPr>
              <a:stCxn id="70666" idx="6"/>
              <a:endCxn id="70667" idx="1"/>
            </p:cNvCxnSpPr>
            <p:nvPr/>
          </p:nvCxnSpPr>
          <p:spPr>
            <a:xfrm>
              <a:off x="3264" y="2040"/>
              <a:ext cx="433" cy="313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678" name="AutoShape 23"/>
            <p:cNvCxnSpPr>
              <a:stCxn id="70662" idx="6"/>
              <a:endCxn id="70667" idx="3"/>
            </p:cNvCxnSpPr>
            <p:nvPr/>
          </p:nvCxnSpPr>
          <p:spPr>
            <a:xfrm flipV="1">
              <a:off x="3264" y="2591"/>
              <a:ext cx="433" cy="361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679" name="AutoShape 24"/>
            <p:cNvCxnSpPr>
              <a:stCxn id="70667" idx="6"/>
              <a:endCxn id="70668" idx="2"/>
            </p:cNvCxnSpPr>
            <p:nvPr/>
          </p:nvCxnSpPr>
          <p:spPr>
            <a:xfrm>
              <a:off x="3984" y="2472"/>
              <a:ext cx="432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680" name="AutoShape 25"/>
            <p:cNvCxnSpPr>
              <a:stCxn id="70668" idx="6"/>
              <a:endCxn id="70664" idx="2"/>
            </p:cNvCxnSpPr>
            <p:nvPr/>
          </p:nvCxnSpPr>
          <p:spPr>
            <a:xfrm>
              <a:off x="4752" y="2472"/>
              <a:ext cx="384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681" name="AutoShape 26"/>
            <p:cNvCxnSpPr>
              <a:stCxn id="70670" idx="1"/>
              <a:endCxn id="70670" idx="7"/>
            </p:cNvCxnSpPr>
            <p:nvPr/>
          </p:nvCxnSpPr>
          <p:spPr>
            <a:xfrm rot="5400000" flipV="1">
              <a:off x="1698" y="2229"/>
              <a:ext cx="1" cy="238"/>
            </a:xfrm>
            <a:prstGeom prst="curvedConnector3">
              <a:avLst>
                <a:gd name="adj1" fmla="val -19300009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0682" name="Text Box 27"/>
            <p:cNvSpPr txBox="1"/>
            <p:nvPr/>
          </p:nvSpPr>
          <p:spPr>
            <a:xfrm>
              <a:off x="1200" y="2208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83" name="Text Box 28"/>
            <p:cNvSpPr txBox="1"/>
            <p:nvPr/>
          </p:nvSpPr>
          <p:spPr>
            <a:xfrm>
              <a:off x="1920" y="2208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84" name="Text Box 29"/>
            <p:cNvSpPr txBox="1"/>
            <p:nvPr/>
          </p:nvSpPr>
          <p:spPr>
            <a:xfrm>
              <a:off x="4080" y="2208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85" name="Text Box 30"/>
            <p:cNvSpPr txBox="1"/>
            <p:nvPr/>
          </p:nvSpPr>
          <p:spPr>
            <a:xfrm>
              <a:off x="4848" y="2208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86" name="Text Box 31"/>
            <p:cNvSpPr txBox="1"/>
            <p:nvPr/>
          </p:nvSpPr>
          <p:spPr>
            <a:xfrm>
              <a:off x="1532" y="1920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87" name="Text Box 32"/>
            <p:cNvSpPr txBox="1"/>
            <p:nvPr/>
          </p:nvSpPr>
          <p:spPr>
            <a:xfrm>
              <a:off x="3408" y="1824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88" name="Text Box 33"/>
            <p:cNvSpPr txBox="1"/>
            <p:nvPr/>
          </p:nvSpPr>
          <p:spPr>
            <a:xfrm>
              <a:off x="4512" y="1920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89" name="Text Box 34"/>
            <p:cNvSpPr txBox="1"/>
            <p:nvPr/>
          </p:nvSpPr>
          <p:spPr>
            <a:xfrm>
              <a:off x="2496" y="1824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70690" name="AutoShape 35"/>
            <p:cNvCxnSpPr>
              <a:stCxn id="70668" idx="1"/>
              <a:endCxn id="70668" idx="7"/>
            </p:cNvCxnSpPr>
            <p:nvPr/>
          </p:nvCxnSpPr>
          <p:spPr>
            <a:xfrm rot="5400000" flipV="1">
              <a:off x="4578" y="2229"/>
              <a:ext cx="1" cy="238"/>
            </a:xfrm>
            <a:prstGeom prst="curvedConnector3">
              <a:avLst>
                <a:gd name="adj1" fmla="val -19300009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691" name="AutoShape 36"/>
            <p:cNvCxnSpPr>
              <a:stCxn id="70668" idx="3"/>
              <a:endCxn id="70668" idx="5"/>
            </p:cNvCxnSpPr>
            <p:nvPr/>
          </p:nvCxnSpPr>
          <p:spPr>
            <a:xfrm rot="-5400000" flipH="1">
              <a:off x="4578" y="2467"/>
              <a:ext cx="1" cy="238"/>
            </a:xfrm>
            <a:prstGeom prst="curvedConnector3">
              <a:avLst>
                <a:gd name="adj1" fmla="val 19300009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0692" name="Text Box 37"/>
            <p:cNvSpPr txBox="1"/>
            <p:nvPr/>
          </p:nvSpPr>
          <p:spPr>
            <a:xfrm>
              <a:off x="1482" y="26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93" name="Text Box 38"/>
            <p:cNvSpPr txBox="1"/>
            <p:nvPr/>
          </p:nvSpPr>
          <p:spPr>
            <a:xfrm>
              <a:off x="2496" y="278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94" name="Text Box 39"/>
            <p:cNvSpPr txBox="1"/>
            <p:nvPr/>
          </p:nvSpPr>
          <p:spPr>
            <a:xfrm>
              <a:off x="3552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0695" name="Text Box 40"/>
            <p:cNvSpPr txBox="1"/>
            <p:nvPr/>
          </p:nvSpPr>
          <p:spPr>
            <a:xfrm>
              <a:off x="4512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0696" name="AutoShape 41"/>
          <p:cNvSpPr/>
          <p:nvPr/>
        </p:nvSpPr>
        <p:spPr>
          <a:xfrm>
            <a:off x="914400" y="3733800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134153" name="Object 9"/>
          <p:cNvGraphicFramePr/>
          <p:nvPr/>
        </p:nvGraphicFramePr>
        <p:xfrm>
          <a:off x="1181100" y="2782888"/>
          <a:ext cx="7956550" cy="384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7938770" imgH="3844925" progId="Word.Document.8">
                  <p:embed/>
                </p:oleObj>
              </mc:Choice>
              <mc:Fallback>
                <p:oleObj name="" r:id="rId1" imgW="7938770" imgH="3844925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1100" y="2782888"/>
                        <a:ext cx="7956550" cy="3846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4" name="Object 10"/>
          <p:cNvGraphicFramePr/>
          <p:nvPr/>
        </p:nvGraphicFramePr>
        <p:xfrm>
          <a:off x="1125538" y="2778125"/>
          <a:ext cx="7956550" cy="377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7938770" imgH="3775075" progId="Word.Document.8">
                  <p:embed/>
                </p:oleObj>
              </mc:Choice>
              <mc:Fallback>
                <p:oleObj name="" r:id="rId3" imgW="7938770" imgH="3775075" progId="Word.Documen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5538" y="2778125"/>
                        <a:ext cx="7956550" cy="377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3" name="AutoShape 3"/>
          <p:cNvSpPr>
            <a:spLocks noChangeAspect="1"/>
          </p:cNvSpPr>
          <p:nvPr/>
        </p:nvSpPr>
        <p:spPr>
          <a:xfrm>
            <a:off x="1295400" y="2133600"/>
            <a:ext cx="6477000" cy="342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grpSp>
        <p:nvGrpSpPr>
          <p:cNvPr id="71684" name="Group 11"/>
          <p:cNvGrpSpPr/>
          <p:nvPr/>
        </p:nvGrpSpPr>
        <p:grpSpPr>
          <a:xfrm>
            <a:off x="1371600" y="304800"/>
            <a:ext cx="6705600" cy="2012950"/>
            <a:chOff x="768" y="1821"/>
            <a:chExt cx="4704" cy="1299"/>
          </a:xfrm>
        </p:grpSpPr>
        <p:sp>
          <p:nvSpPr>
            <p:cNvPr id="71685" name="Oval 12"/>
            <p:cNvSpPr/>
            <p:nvPr/>
          </p:nvSpPr>
          <p:spPr>
            <a:xfrm>
              <a:off x="2928" y="278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4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1686" name="Group 13"/>
            <p:cNvGrpSpPr/>
            <p:nvPr/>
          </p:nvGrpSpPr>
          <p:grpSpPr>
            <a:xfrm>
              <a:off x="5136" y="2304"/>
              <a:ext cx="336" cy="336"/>
              <a:chOff x="3264" y="2256"/>
              <a:chExt cx="336" cy="336"/>
            </a:xfrm>
          </p:grpSpPr>
          <p:sp>
            <p:nvSpPr>
              <p:cNvPr id="71687" name="Oval 14"/>
              <p:cNvSpPr/>
              <p:nvPr/>
            </p:nvSpPr>
            <p:spPr>
              <a:xfrm>
                <a:off x="3264" y="225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1688" name="Oval 15"/>
              <p:cNvSpPr/>
              <p:nvPr/>
            </p:nvSpPr>
            <p:spPr>
              <a:xfrm>
                <a:off x="3312" y="23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u="none" dirty="0">
                    <a:latin typeface="Times New Roman" panose="02020603050405020304" pitchFamily="18" charset="0"/>
                  </a:rPr>
                  <a:t>f</a:t>
                </a:r>
                <a:endParaRPr lang="en-US" altLang="zh-CN" sz="2400" u="none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1689" name="Oval 16"/>
            <p:cNvSpPr/>
            <p:nvPr/>
          </p:nvSpPr>
          <p:spPr>
            <a:xfrm>
              <a:off x="2928" y="1872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3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690" name="Oval 17"/>
            <p:cNvSpPr/>
            <p:nvPr/>
          </p:nvSpPr>
          <p:spPr>
            <a:xfrm>
              <a:off x="3648" y="230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5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691" name="Oval 18"/>
            <p:cNvSpPr/>
            <p:nvPr/>
          </p:nvSpPr>
          <p:spPr>
            <a:xfrm>
              <a:off x="4416" y="230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6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692" name="Oval 19"/>
            <p:cNvSpPr/>
            <p:nvPr/>
          </p:nvSpPr>
          <p:spPr>
            <a:xfrm>
              <a:off x="2160" y="230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2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693" name="Oval 20"/>
            <p:cNvSpPr/>
            <p:nvPr/>
          </p:nvSpPr>
          <p:spPr>
            <a:xfrm>
              <a:off x="1536" y="230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</a:rPr>
                <a:t>1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694" name="Oval 21"/>
            <p:cNvSpPr/>
            <p:nvPr/>
          </p:nvSpPr>
          <p:spPr>
            <a:xfrm>
              <a:off x="768" y="230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i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71695" name="AutoShape 22"/>
            <p:cNvCxnSpPr>
              <a:stCxn id="71694" idx="6"/>
              <a:endCxn id="71693" idx="2"/>
            </p:cNvCxnSpPr>
            <p:nvPr/>
          </p:nvCxnSpPr>
          <p:spPr>
            <a:xfrm>
              <a:off x="1104" y="2472"/>
              <a:ext cx="432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696" name="AutoShape 23"/>
            <p:cNvCxnSpPr>
              <a:stCxn id="71693" idx="3"/>
              <a:endCxn id="71693" idx="5"/>
            </p:cNvCxnSpPr>
            <p:nvPr/>
          </p:nvCxnSpPr>
          <p:spPr>
            <a:xfrm rot="-5400000" flipH="1">
              <a:off x="1698" y="2467"/>
              <a:ext cx="1" cy="238"/>
            </a:xfrm>
            <a:prstGeom prst="curvedConnector3">
              <a:avLst>
                <a:gd name="adj1" fmla="val 19300009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697" name="AutoShape 24"/>
            <p:cNvCxnSpPr>
              <a:stCxn id="71693" idx="6"/>
              <a:endCxn id="71692" idx="2"/>
            </p:cNvCxnSpPr>
            <p:nvPr/>
          </p:nvCxnSpPr>
          <p:spPr>
            <a:xfrm>
              <a:off x="1872" y="2472"/>
              <a:ext cx="288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698" name="AutoShape 25"/>
            <p:cNvCxnSpPr>
              <a:stCxn id="71692" idx="7"/>
              <a:endCxn id="71689" idx="2"/>
            </p:cNvCxnSpPr>
            <p:nvPr/>
          </p:nvCxnSpPr>
          <p:spPr>
            <a:xfrm rot="-5400000">
              <a:off x="2526" y="1951"/>
              <a:ext cx="313" cy="481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699" name="AutoShape 26"/>
            <p:cNvCxnSpPr>
              <a:stCxn id="71692" idx="5"/>
              <a:endCxn id="71685" idx="2"/>
            </p:cNvCxnSpPr>
            <p:nvPr/>
          </p:nvCxnSpPr>
          <p:spPr>
            <a:xfrm rot="-5400000" flipH="1">
              <a:off x="2502" y="2526"/>
              <a:ext cx="361" cy="481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700" name="AutoShape 27"/>
            <p:cNvCxnSpPr>
              <a:stCxn id="71689" idx="6"/>
              <a:endCxn id="71690" idx="1"/>
            </p:cNvCxnSpPr>
            <p:nvPr/>
          </p:nvCxnSpPr>
          <p:spPr>
            <a:xfrm>
              <a:off x="3264" y="2040"/>
              <a:ext cx="433" cy="313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701" name="AutoShape 28"/>
            <p:cNvCxnSpPr>
              <a:stCxn id="71685" idx="6"/>
              <a:endCxn id="71690" idx="3"/>
            </p:cNvCxnSpPr>
            <p:nvPr/>
          </p:nvCxnSpPr>
          <p:spPr>
            <a:xfrm flipV="1">
              <a:off x="3264" y="2591"/>
              <a:ext cx="433" cy="361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702" name="AutoShape 29"/>
            <p:cNvCxnSpPr>
              <a:stCxn id="71690" idx="6"/>
              <a:endCxn id="71691" idx="2"/>
            </p:cNvCxnSpPr>
            <p:nvPr/>
          </p:nvCxnSpPr>
          <p:spPr>
            <a:xfrm>
              <a:off x="3984" y="2472"/>
              <a:ext cx="432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703" name="AutoShape 30"/>
            <p:cNvCxnSpPr>
              <a:stCxn id="71691" idx="6"/>
              <a:endCxn id="71687" idx="2"/>
            </p:cNvCxnSpPr>
            <p:nvPr/>
          </p:nvCxnSpPr>
          <p:spPr>
            <a:xfrm>
              <a:off x="4752" y="2472"/>
              <a:ext cx="384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704" name="AutoShape 31"/>
            <p:cNvCxnSpPr>
              <a:stCxn id="71693" idx="1"/>
              <a:endCxn id="71693" idx="7"/>
            </p:cNvCxnSpPr>
            <p:nvPr/>
          </p:nvCxnSpPr>
          <p:spPr>
            <a:xfrm rot="5400000" flipV="1">
              <a:off x="1698" y="2229"/>
              <a:ext cx="1" cy="238"/>
            </a:xfrm>
            <a:prstGeom prst="curvedConnector3">
              <a:avLst>
                <a:gd name="adj1" fmla="val -19300009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1705" name="Text Box 32"/>
            <p:cNvSpPr txBox="1"/>
            <p:nvPr/>
          </p:nvSpPr>
          <p:spPr>
            <a:xfrm>
              <a:off x="1190" y="2204"/>
              <a:ext cx="223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706" name="Text Box 33"/>
            <p:cNvSpPr txBox="1"/>
            <p:nvPr/>
          </p:nvSpPr>
          <p:spPr>
            <a:xfrm>
              <a:off x="1909" y="2204"/>
              <a:ext cx="223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707" name="Text Box 34"/>
            <p:cNvSpPr txBox="1"/>
            <p:nvPr/>
          </p:nvSpPr>
          <p:spPr>
            <a:xfrm>
              <a:off x="4070" y="2204"/>
              <a:ext cx="223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708" name="Text Box 35"/>
            <p:cNvSpPr txBox="1"/>
            <p:nvPr/>
          </p:nvSpPr>
          <p:spPr>
            <a:xfrm>
              <a:off x="4836" y="2204"/>
              <a:ext cx="223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u="none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zh-CN" altLang="en-US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709" name="Text Box 36"/>
            <p:cNvSpPr txBox="1"/>
            <p:nvPr/>
          </p:nvSpPr>
          <p:spPr>
            <a:xfrm>
              <a:off x="1523" y="1916"/>
              <a:ext cx="224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710" name="Text Box 37"/>
            <p:cNvSpPr txBox="1"/>
            <p:nvPr/>
          </p:nvSpPr>
          <p:spPr>
            <a:xfrm>
              <a:off x="3397" y="1821"/>
              <a:ext cx="224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711" name="Text Box 38"/>
            <p:cNvSpPr txBox="1"/>
            <p:nvPr/>
          </p:nvSpPr>
          <p:spPr>
            <a:xfrm>
              <a:off x="4502" y="1916"/>
              <a:ext cx="224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712" name="Text Box 39"/>
            <p:cNvSpPr txBox="1"/>
            <p:nvPr/>
          </p:nvSpPr>
          <p:spPr>
            <a:xfrm>
              <a:off x="2485" y="1821"/>
              <a:ext cx="224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71713" name="AutoShape 40"/>
            <p:cNvCxnSpPr>
              <a:stCxn id="71691" idx="1"/>
              <a:endCxn id="71691" idx="7"/>
            </p:cNvCxnSpPr>
            <p:nvPr/>
          </p:nvCxnSpPr>
          <p:spPr>
            <a:xfrm rot="5400000" flipV="1">
              <a:off x="4578" y="2229"/>
              <a:ext cx="1" cy="238"/>
            </a:xfrm>
            <a:prstGeom prst="curvedConnector3">
              <a:avLst>
                <a:gd name="adj1" fmla="val -19300009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714" name="AutoShape 41"/>
            <p:cNvCxnSpPr>
              <a:stCxn id="71691" idx="3"/>
              <a:endCxn id="71691" idx="5"/>
            </p:cNvCxnSpPr>
            <p:nvPr/>
          </p:nvCxnSpPr>
          <p:spPr>
            <a:xfrm rot="-5400000" flipH="1">
              <a:off x="4578" y="2467"/>
              <a:ext cx="1" cy="238"/>
            </a:xfrm>
            <a:prstGeom prst="curvedConnector3">
              <a:avLst>
                <a:gd name="adj1" fmla="val 19300009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1715" name="Text Box 42"/>
            <p:cNvSpPr txBox="1"/>
            <p:nvPr/>
          </p:nvSpPr>
          <p:spPr>
            <a:xfrm>
              <a:off x="1471" y="2636"/>
              <a:ext cx="236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716" name="Text Box 43"/>
            <p:cNvSpPr txBox="1"/>
            <p:nvPr/>
          </p:nvSpPr>
          <p:spPr>
            <a:xfrm>
              <a:off x="2484" y="2781"/>
              <a:ext cx="236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717" name="Text Box 44"/>
            <p:cNvSpPr txBox="1"/>
            <p:nvPr/>
          </p:nvSpPr>
          <p:spPr>
            <a:xfrm>
              <a:off x="3542" y="2734"/>
              <a:ext cx="236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1718" name="Text Box 45"/>
            <p:cNvSpPr txBox="1"/>
            <p:nvPr/>
          </p:nvSpPr>
          <p:spPr>
            <a:xfrm>
              <a:off x="4501" y="2734"/>
              <a:ext cx="236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  等价的</a:t>
            </a:r>
            <a:r>
              <a:rPr lang="en-US" altLang="zh-CN" dirty="0"/>
              <a:t>DFA</a:t>
            </a:r>
            <a:endParaRPr lang="en-US" altLang="zh-CN" dirty="0"/>
          </a:p>
        </p:txBody>
      </p:sp>
      <p:sp>
        <p:nvSpPr>
          <p:cNvPr id="72706" name="AutoShape 3">
            <a:hlinkClick r:id="" action="ppaction://hlinkshowjump?jump=previousslide"/>
          </p:cNvPr>
          <p:cNvSpPr/>
          <p:nvPr/>
        </p:nvSpPr>
        <p:spPr>
          <a:xfrm>
            <a:off x="6934200" y="5943600"/>
            <a:ext cx="539750" cy="539750"/>
          </a:xfrm>
          <a:prstGeom prst="actionButtonBackPrevious">
            <a:avLst/>
          </a:prstGeom>
          <a:solidFill>
            <a:srgbClr val="00FFFF">
              <a:alpha val="50195"/>
            </a:srgbClr>
          </a:solidFill>
          <a:ln w="9525">
            <a:noFill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72707" name="AutoShape 4">
            <a:hlinkClick r:id="" action="ppaction://hlinkshowjump?jump=nextslide"/>
          </p:cNvPr>
          <p:cNvSpPr/>
          <p:nvPr/>
        </p:nvSpPr>
        <p:spPr>
          <a:xfrm>
            <a:off x="7461250" y="5943600"/>
            <a:ext cx="539750" cy="539750"/>
          </a:xfrm>
          <a:prstGeom prst="actionButtonForwardNext">
            <a:avLst/>
          </a:prstGeom>
          <a:solidFill>
            <a:srgbClr val="00FFFF">
              <a:alpha val="50195"/>
            </a:srgbClr>
          </a:solidFill>
          <a:ln w="9525">
            <a:noFill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72708" name="Text Box 5"/>
          <p:cNvSpPr txBox="1"/>
          <p:nvPr/>
        </p:nvSpPr>
        <p:spPr>
          <a:xfrm>
            <a:off x="5410200" y="17526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a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grpSp>
        <p:nvGrpSpPr>
          <p:cNvPr id="72709" name="Group 6"/>
          <p:cNvGrpSpPr/>
          <p:nvPr/>
        </p:nvGrpSpPr>
        <p:grpSpPr>
          <a:xfrm>
            <a:off x="1371600" y="2438400"/>
            <a:ext cx="7194550" cy="3276600"/>
            <a:chOff x="864" y="1536"/>
            <a:chExt cx="4532" cy="2064"/>
          </a:xfrm>
        </p:grpSpPr>
        <p:grpSp>
          <p:nvGrpSpPr>
            <p:cNvPr id="72710" name="Group 7"/>
            <p:cNvGrpSpPr/>
            <p:nvPr/>
          </p:nvGrpSpPr>
          <p:grpSpPr>
            <a:xfrm>
              <a:off x="3264" y="1536"/>
              <a:ext cx="432" cy="432"/>
              <a:chOff x="4320" y="2160"/>
              <a:chExt cx="432" cy="432"/>
            </a:xfrm>
          </p:grpSpPr>
          <p:sp>
            <p:nvSpPr>
              <p:cNvPr id="72711" name="Oval 8"/>
              <p:cNvSpPr/>
              <p:nvPr/>
            </p:nvSpPr>
            <p:spPr>
              <a:xfrm>
                <a:off x="4320" y="2160"/>
                <a:ext cx="432" cy="4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2712" name="Oval 9"/>
              <p:cNvSpPr/>
              <p:nvPr/>
            </p:nvSpPr>
            <p:spPr>
              <a:xfrm>
                <a:off x="4368" y="2208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u="none" dirty="0">
                    <a:latin typeface="Times New Roman" panose="02020603050405020304" pitchFamily="18" charset="0"/>
                  </a:rPr>
                  <a:t>C</a:t>
                </a:r>
                <a:endParaRPr lang="en-US" altLang="zh-CN" sz="2400" u="none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13" name="Group 10"/>
            <p:cNvGrpSpPr/>
            <p:nvPr/>
          </p:nvGrpSpPr>
          <p:grpSpPr>
            <a:xfrm>
              <a:off x="3264" y="2784"/>
              <a:ext cx="432" cy="432"/>
              <a:chOff x="3456" y="2688"/>
              <a:chExt cx="432" cy="432"/>
            </a:xfrm>
          </p:grpSpPr>
          <p:sp>
            <p:nvSpPr>
              <p:cNvPr id="72714" name="Oval 11"/>
              <p:cNvSpPr/>
              <p:nvPr/>
            </p:nvSpPr>
            <p:spPr>
              <a:xfrm>
                <a:off x="3456" y="2688"/>
                <a:ext cx="432" cy="4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2715" name="Oval 12"/>
              <p:cNvSpPr/>
              <p:nvPr/>
            </p:nvSpPr>
            <p:spPr>
              <a:xfrm>
                <a:off x="3504" y="273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u="none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u="none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2716" name="Oval 13"/>
            <p:cNvSpPr/>
            <p:nvPr/>
          </p:nvSpPr>
          <p:spPr>
            <a:xfrm>
              <a:off x="1872" y="2784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2717" name="Oval 14"/>
            <p:cNvSpPr/>
            <p:nvPr/>
          </p:nvSpPr>
          <p:spPr>
            <a:xfrm>
              <a:off x="1872" y="1536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2718" name="Group 15"/>
            <p:cNvGrpSpPr/>
            <p:nvPr/>
          </p:nvGrpSpPr>
          <p:grpSpPr>
            <a:xfrm>
              <a:off x="4608" y="1536"/>
              <a:ext cx="432" cy="432"/>
              <a:chOff x="3120" y="1536"/>
              <a:chExt cx="432" cy="432"/>
            </a:xfrm>
          </p:grpSpPr>
          <p:sp>
            <p:nvSpPr>
              <p:cNvPr id="72719" name="Oval 16"/>
              <p:cNvSpPr/>
              <p:nvPr/>
            </p:nvSpPr>
            <p:spPr>
              <a:xfrm>
                <a:off x="3120" y="1536"/>
                <a:ext cx="432" cy="4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2720" name="Oval 17"/>
              <p:cNvSpPr/>
              <p:nvPr/>
            </p:nvSpPr>
            <p:spPr>
              <a:xfrm>
                <a:off x="3168" y="158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u="none" dirty="0">
                    <a:latin typeface="Times New Roman" panose="02020603050405020304" pitchFamily="18" charset="0"/>
                  </a:rPr>
                  <a:t>E</a:t>
                </a:r>
                <a:endParaRPr lang="en-US" altLang="zh-CN" sz="2400" u="none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21" name="Group 18"/>
            <p:cNvGrpSpPr/>
            <p:nvPr/>
          </p:nvGrpSpPr>
          <p:grpSpPr>
            <a:xfrm>
              <a:off x="4608" y="2784"/>
              <a:ext cx="432" cy="432"/>
              <a:chOff x="4224" y="2688"/>
              <a:chExt cx="432" cy="432"/>
            </a:xfrm>
          </p:grpSpPr>
          <p:sp>
            <p:nvSpPr>
              <p:cNvPr id="72722" name="Oval 19"/>
              <p:cNvSpPr/>
              <p:nvPr/>
            </p:nvSpPr>
            <p:spPr>
              <a:xfrm>
                <a:off x="4224" y="2688"/>
                <a:ext cx="432" cy="4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2723" name="Oval 20"/>
              <p:cNvSpPr/>
              <p:nvPr/>
            </p:nvSpPr>
            <p:spPr>
              <a:xfrm>
                <a:off x="4272" y="273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u="none" dirty="0">
                    <a:latin typeface="Times New Roman" panose="02020603050405020304" pitchFamily="18" charset="0"/>
                  </a:rPr>
                  <a:t>F</a:t>
                </a:r>
                <a:endParaRPr lang="en-US" altLang="zh-CN" sz="2400" u="none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2724" name="Oval 21"/>
            <p:cNvSpPr/>
            <p:nvPr/>
          </p:nvSpPr>
          <p:spPr>
            <a:xfrm>
              <a:off x="864" y="2208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S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72725" name="AutoShape 22"/>
            <p:cNvCxnSpPr>
              <a:stCxn id="72724" idx="0"/>
              <a:endCxn id="72717" idx="2"/>
            </p:cNvCxnSpPr>
            <p:nvPr/>
          </p:nvCxnSpPr>
          <p:spPr>
            <a:xfrm rot="-5400000">
              <a:off x="1248" y="1584"/>
              <a:ext cx="456" cy="792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726" name="AutoShape 23"/>
            <p:cNvCxnSpPr>
              <a:stCxn id="72724" idx="4"/>
              <a:endCxn id="72716" idx="2"/>
            </p:cNvCxnSpPr>
            <p:nvPr/>
          </p:nvCxnSpPr>
          <p:spPr>
            <a:xfrm rot="-5400000" flipH="1">
              <a:off x="1296" y="2424"/>
              <a:ext cx="360" cy="792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727" name="AutoShape 24"/>
            <p:cNvCxnSpPr>
              <a:stCxn id="72716" idx="7"/>
              <a:endCxn id="72717" idx="5"/>
            </p:cNvCxnSpPr>
            <p:nvPr/>
          </p:nvCxnSpPr>
          <p:spPr>
            <a:xfrm rot="-5400000">
              <a:off x="1770" y="2376"/>
              <a:ext cx="942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728" name="AutoShape 25"/>
            <p:cNvCxnSpPr>
              <a:stCxn id="72717" idx="3"/>
              <a:endCxn id="72716" idx="1"/>
            </p:cNvCxnSpPr>
            <p:nvPr/>
          </p:nvCxnSpPr>
          <p:spPr>
            <a:xfrm rot="5400000">
              <a:off x="1464" y="2376"/>
              <a:ext cx="942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729" name="AutoShape 26"/>
            <p:cNvCxnSpPr>
              <a:stCxn id="72717" idx="6"/>
              <a:endCxn id="72711" idx="2"/>
            </p:cNvCxnSpPr>
            <p:nvPr/>
          </p:nvCxnSpPr>
          <p:spPr>
            <a:xfrm>
              <a:off x="2304" y="1752"/>
              <a:ext cx="960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730" name="AutoShape 27"/>
            <p:cNvCxnSpPr>
              <a:stCxn id="72716" idx="6"/>
              <a:endCxn id="72714" idx="2"/>
            </p:cNvCxnSpPr>
            <p:nvPr/>
          </p:nvCxnSpPr>
          <p:spPr>
            <a:xfrm>
              <a:off x="2304" y="3000"/>
              <a:ext cx="960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731" name="AutoShape 28"/>
            <p:cNvCxnSpPr>
              <a:stCxn id="72714" idx="6"/>
              <a:endCxn id="72722" idx="2"/>
            </p:cNvCxnSpPr>
            <p:nvPr/>
          </p:nvCxnSpPr>
          <p:spPr>
            <a:xfrm>
              <a:off x="3696" y="3000"/>
              <a:ext cx="912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732" name="AutoShape 29"/>
            <p:cNvCxnSpPr>
              <a:stCxn id="72711" idx="6"/>
              <a:endCxn id="72719" idx="2"/>
            </p:cNvCxnSpPr>
            <p:nvPr/>
          </p:nvCxnSpPr>
          <p:spPr>
            <a:xfrm>
              <a:off x="3696" y="1752"/>
              <a:ext cx="912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733" name="AutoShape 30"/>
            <p:cNvCxnSpPr>
              <a:stCxn id="72719" idx="4"/>
              <a:endCxn id="72722" idx="0"/>
            </p:cNvCxnSpPr>
            <p:nvPr/>
          </p:nvCxnSpPr>
          <p:spPr>
            <a:xfrm rot="5400000">
              <a:off x="4416" y="2376"/>
              <a:ext cx="816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734" name="AutoShape 31"/>
            <p:cNvCxnSpPr>
              <a:stCxn id="72722" idx="6"/>
              <a:endCxn id="72719" idx="6"/>
            </p:cNvCxnSpPr>
            <p:nvPr/>
          </p:nvCxnSpPr>
          <p:spPr>
            <a:xfrm flipV="1">
              <a:off x="5040" y="1752"/>
              <a:ext cx="1" cy="1248"/>
            </a:xfrm>
            <a:prstGeom prst="curvedConnector3">
              <a:avLst>
                <a:gd name="adj1" fmla="val 14400005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735" name="AutoShape 32"/>
            <p:cNvCxnSpPr>
              <a:stCxn id="72711" idx="1"/>
              <a:endCxn id="72712" idx="7"/>
            </p:cNvCxnSpPr>
            <p:nvPr/>
          </p:nvCxnSpPr>
          <p:spPr>
            <a:xfrm rot="5400000" flipV="1">
              <a:off x="3446" y="1480"/>
              <a:ext cx="34" cy="272"/>
            </a:xfrm>
            <a:prstGeom prst="curvedConnector3">
              <a:avLst>
                <a:gd name="adj1" fmla="val -608824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736" name="AutoShape 33"/>
            <p:cNvCxnSpPr>
              <a:stCxn id="72714" idx="3"/>
              <a:endCxn id="72714" idx="5"/>
            </p:cNvCxnSpPr>
            <p:nvPr/>
          </p:nvCxnSpPr>
          <p:spPr>
            <a:xfrm rot="-5400000" flipH="1">
              <a:off x="3474" y="2995"/>
              <a:ext cx="1" cy="306"/>
            </a:xfrm>
            <a:prstGeom prst="curvedConnector3">
              <a:avLst>
                <a:gd name="adj1" fmla="val 20700009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2737" name="Text Box 34"/>
            <p:cNvSpPr txBox="1"/>
            <p:nvPr/>
          </p:nvSpPr>
          <p:spPr>
            <a:xfrm>
              <a:off x="5184" y="23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2738" name="Text Box 35"/>
            <p:cNvSpPr txBox="1"/>
            <p:nvPr/>
          </p:nvSpPr>
          <p:spPr>
            <a:xfrm>
              <a:off x="1200" y="1632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2739" name="Text Box 36"/>
            <p:cNvSpPr txBox="1"/>
            <p:nvPr/>
          </p:nvSpPr>
          <p:spPr>
            <a:xfrm>
              <a:off x="2208" y="2256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2740" name="Text Box 37"/>
            <p:cNvSpPr txBox="1"/>
            <p:nvPr/>
          </p:nvSpPr>
          <p:spPr>
            <a:xfrm>
              <a:off x="2736" y="1536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2741" name="Text Box 38"/>
            <p:cNvSpPr txBox="1"/>
            <p:nvPr/>
          </p:nvSpPr>
          <p:spPr>
            <a:xfrm>
              <a:off x="4656" y="2256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2742" name="Text Box 39"/>
            <p:cNvSpPr txBox="1"/>
            <p:nvPr/>
          </p:nvSpPr>
          <p:spPr>
            <a:xfrm>
              <a:off x="4176" y="2928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2743" name="Text Box 40"/>
            <p:cNvSpPr txBox="1"/>
            <p:nvPr/>
          </p:nvSpPr>
          <p:spPr>
            <a:xfrm>
              <a:off x="1344" y="288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2744" name="Text Box 41"/>
            <p:cNvSpPr txBox="1"/>
            <p:nvPr/>
          </p:nvSpPr>
          <p:spPr>
            <a:xfrm>
              <a:off x="1728" y="23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2745" name="Text Box 42"/>
            <p:cNvSpPr txBox="1"/>
            <p:nvPr/>
          </p:nvSpPr>
          <p:spPr>
            <a:xfrm>
              <a:off x="2784" y="297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2746" name="Text Box 43"/>
            <p:cNvSpPr txBox="1"/>
            <p:nvPr/>
          </p:nvSpPr>
          <p:spPr>
            <a:xfrm>
              <a:off x="4080" y="15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72747" name="Text Box 44"/>
            <p:cNvSpPr txBox="1"/>
            <p:nvPr/>
          </p:nvSpPr>
          <p:spPr>
            <a:xfrm>
              <a:off x="3408" y="331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2748" name="AutoShape 45"/>
          <p:cNvSpPr/>
          <p:nvPr/>
        </p:nvSpPr>
        <p:spPr>
          <a:xfrm>
            <a:off x="1143000" y="3810000"/>
            <a:ext cx="76200" cy="76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72749" name="AutoShape 46"/>
          <p:cNvSpPr/>
          <p:nvPr/>
        </p:nvSpPr>
        <p:spPr>
          <a:xfrm>
            <a:off x="990600" y="3675063"/>
            <a:ext cx="415925" cy="381000"/>
          </a:xfrm>
          <a:prstGeom prst="rightArrow">
            <a:avLst>
              <a:gd name="adj1" fmla="val 50000"/>
              <a:gd name="adj2" fmla="val 2726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endParaRPr lang="zh-CN" altLang="en-US" dirty="0">
              <a:latin typeface="Tahoma" panose="020B0604030504040204" pitchFamily="34" charset="0"/>
            </a:endParaRPr>
          </a:p>
        </p:txBody>
      </p:sp>
      <p:cxnSp>
        <p:nvCxnSpPr>
          <p:cNvPr id="72750" name="AutoShape 47"/>
          <p:cNvCxnSpPr>
            <a:stCxn id="72723" idx="1"/>
            <a:endCxn id="72712" idx="5"/>
          </p:cNvCxnSpPr>
          <p:nvPr/>
        </p:nvCxnSpPr>
        <p:spPr>
          <a:xfrm flipH="1" flipV="1">
            <a:off x="5713413" y="2970213"/>
            <a:ext cx="1755775" cy="16033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72751" name="AutoShape 48"/>
          <p:cNvCxnSpPr>
            <a:stCxn id="72720" idx="3"/>
            <a:endCxn id="72715" idx="7"/>
          </p:cNvCxnSpPr>
          <p:nvPr/>
        </p:nvCxnSpPr>
        <p:spPr>
          <a:xfrm flipH="1">
            <a:off x="5713413" y="2970213"/>
            <a:ext cx="1755775" cy="16033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72752" name="Text Box 49"/>
          <p:cNvSpPr txBox="1"/>
          <p:nvPr/>
        </p:nvSpPr>
        <p:spPr>
          <a:xfrm>
            <a:off x="5867400" y="32004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a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72753" name="Text Box 50"/>
          <p:cNvSpPr txBox="1"/>
          <p:nvPr/>
        </p:nvSpPr>
        <p:spPr>
          <a:xfrm>
            <a:off x="5943600" y="3962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b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grpSp>
        <p:nvGrpSpPr>
          <p:cNvPr id="72754" name="Group 51"/>
          <p:cNvGrpSpPr/>
          <p:nvPr/>
        </p:nvGrpSpPr>
        <p:grpSpPr>
          <a:xfrm>
            <a:off x="7315200" y="4419600"/>
            <a:ext cx="685800" cy="685800"/>
            <a:chOff x="4224" y="2688"/>
            <a:chExt cx="432" cy="432"/>
          </a:xfrm>
        </p:grpSpPr>
        <p:sp>
          <p:nvSpPr>
            <p:cNvPr id="72755" name="Oval 52"/>
            <p:cNvSpPr/>
            <p:nvPr/>
          </p:nvSpPr>
          <p:spPr>
            <a:xfrm>
              <a:off x="4224" y="2688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72756" name="Oval 53"/>
            <p:cNvSpPr/>
            <p:nvPr/>
          </p:nvSpPr>
          <p:spPr>
            <a:xfrm>
              <a:off x="4272" y="273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F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 </a:t>
            </a:r>
            <a:r>
              <a:rPr lang="zh-CN" altLang="en-US" sz="2800" dirty="0"/>
              <a:t> </a:t>
            </a:r>
            <a:r>
              <a:rPr lang="en-US" altLang="zh-CN" dirty="0"/>
              <a:t>DFA</a:t>
            </a:r>
            <a:r>
              <a:rPr lang="zh-CN" altLang="en-US" dirty="0"/>
              <a:t>的最小化</a:t>
            </a:r>
            <a:endParaRPr lang="zh-CN" altLang="en-US" dirty="0"/>
          </a:p>
        </p:txBody>
      </p:sp>
      <p:grpSp>
        <p:nvGrpSpPr>
          <p:cNvPr id="81923" name="Group 4"/>
          <p:cNvGrpSpPr/>
          <p:nvPr/>
        </p:nvGrpSpPr>
        <p:grpSpPr>
          <a:xfrm>
            <a:off x="392430" y="1828800"/>
            <a:ext cx="4208463" cy="2163763"/>
            <a:chOff x="2688" y="1152"/>
            <a:chExt cx="2651" cy="1363"/>
          </a:xfrm>
        </p:grpSpPr>
        <p:grpSp>
          <p:nvGrpSpPr>
            <p:cNvPr id="81924" name="Group 5"/>
            <p:cNvGrpSpPr/>
            <p:nvPr/>
          </p:nvGrpSpPr>
          <p:grpSpPr>
            <a:xfrm>
              <a:off x="4068" y="1208"/>
              <a:ext cx="248" cy="262"/>
              <a:chOff x="4320" y="2160"/>
              <a:chExt cx="432" cy="432"/>
            </a:xfrm>
          </p:grpSpPr>
          <p:sp>
            <p:nvSpPr>
              <p:cNvPr id="81925" name="Oval 6"/>
              <p:cNvSpPr/>
              <p:nvPr/>
            </p:nvSpPr>
            <p:spPr>
              <a:xfrm>
                <a:off x="4320" y="2160"/>
                <a:ext cx="432" cy="4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1926" name="Oval 7"/>
              <p:cNvSpPr/>
              <p:nvPr/>
            </p:nvSpPr>
            <p:spPr>
              <a:xfrm>
                <a:off x="4368" y="2208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u="none" dirty="0">
                    <a:latin typeface="Times New Roman" panose="02020603050405020304" pitchFamily="18" charset="0"/>
                  </a:rPr>
                  <a:t>C</a:t>
                </a:r>
                <a:endParaRPr lang="en-US" altLang="zh-CN" sz="2400" u="none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1927" name="Group 8"/>
            <p:cNvGrpSpPr/>
            <p:nvPr/>
          </p:nvGrpSpPr>
          <p:grpSpPr>
            <a:xfrm>
              <a:off x="4068" y="1964"/>
              <a:ext cx="248" cy="262"/>
              <a:chOff x="3456" y="2688"/>
              <a:chExt cx="432" cy="432"/>
            </a:xfrm>
          </p:grpSpPr>
          <p:sp>
            <p:nvSpPr>
              <p:cNvPr id="81928" name="Oval 9"/>
              <p:cNvSpPr/>
              <p:nvPr/>
            </p:nvSpPr>
            <p:spPr>
              <a:xfrm>
                <a:off x="3456" y="2688"/>
                <a:ext cx="432" cy="4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1929" name="Oval 10"/>
              <p:cNvSpPr/>
              <p:nvPr/>
            </p:nvSpPr>
            <p:spPr>
              <a:xfrm>
                <a:off x="3504" y="273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u="none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u="none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1930" name="Oval 11"/>
            <p:cNvSpPr/>
            <p:nvPr/>
          </p:nvSpPr>
          <p:spPr>
            <a:xfrm>
              <a:off x="3267" y="1964"/>
              <a:ext cx="249" cy="26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31" name="Oval 12"/>
            <p:cNvSpPr/>
            <p:nvPr/>
          </p:nvSpPr>
          <p:spPr>
            <a:xfrm>
              <a:off x="3267" y="1208"/>
              <a:ext cx="249" cy="26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81932" name="Group 13"/>
            <p:cNvGrpSpPr/>
            <p:nvPr/>
          </p:nvGrpSpPr>
          <p:grpSpPr>
            <a:xfrm>
              <a:off x="4840" y="1208"/>
              <a:ext cx="248" cy="262"/>
              <a:chOff x="3120" y="1536"/>
              <a:chExt cx="432" cy="432"/>
            </a:xfrm>
          </p:grpSpPr>
          <p:sp>
            <p:nvSpPr>
              <p:cNvPr id="81933" name="Oval 14"/>
              <p:cNvSpPr/>
              <p:nvPr/>
            </p:nvSpPr>
            <p:spPr>
              <a:xfrm>
                <a:off x="3120" y="1536"/>
                <a:ext cx="432" cy="4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1934" name="Oval 15"/>
              <p:cNvSpPr/>
              <p:nvPr/>
            </p:nvSpPr>
            <p:spPr>
              <a:xfrm>
                <a:off x="3168" y="158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u="none" dirty="0">
                    <a:latin typeface="Times New Roman" panose="02020603050405020304" pitchFamily="18" charset="0"/>
                  </a:rPr>
                  <a:t>E</a:t>
                </a:r>
                <a:endParaRPr lang="en-US" altLang="zh-CN" sz="2400" u="none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1935" name="Group 16"/>
            <p:cNvGrpSpPr/>
            <p:nvPr/>
          </p:nvGrpSpPr>
          <p:grpSpPr>
            <a:xfrm>
              <a:off x="4840" y="1964"/>
              <a:ext cx="248" cy="262"/>
              <a:chOff x="4224" y="2688"/>
              <a:chExt cx="432" cy="432"/>
            </a:xfrm>
          </p:grpSpPr>
          <p:sp>
            <p:nvSpPr>
              <p:cNvPr id="81936" name="Oval 17"/>
              <p:cNvSpPr/>
              <p:nvPr/>
            </p:nvSpPr>
            <p:spPr>
              <a:xfrm>
                <a:off x="4224" y="2688"/>
                <a:ext cx="432" cy="4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1937" name="Oval 18"/>
              <p:cNvSpPr/>
              <p:nvPr/>
            </p:nvSpPr>
            <p:spPr>
              <a:xfrm>
                <a:off x="4272" y="273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u="none" dirty="0">
                    <a:latin typeface="Times New Roman" panose="02020603050405020304" pitchFamily="18" charset="0"/>
                  </a:rPr>
                  <a:t>F</a:t>
                </a:r>
                <a:endParaRPr lang="en-US" altLang="zh-CN" sz="2400" u="none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1938" name="Oval 19"/>
            <p:cNvSpPr/>
            <p:nvPr/>
          </p:nvSpPr>
          <p:spPr>
            <a:xfrm>
              <a:off x="2688" y="1615"/>
              <a:ext cx="248" cy="26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S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81939" name="AutoShape 20"/>
            <p:cNvCxnSpPr>
              <a:stCxn id="81938" idx="0"/>
              <a:endCxn id="81931" idx="2"/>
            </p:cNvCxnSpPr>
            <p:nvPr/>
          </p:nvCxnSpPr>
          <p:spPr>
            <a:xfrm rot="-5400000">
              <a:off x="2896" y="1244"/>
              <a:ext cx="276" cy="455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40" name="AutoShape 21"/>
            <p:cNvCxnSpPr>
              <a:stCxn id="81938" idx="4"/>
              <a:endCxn id="81930" idx="2"/>
            </p:cNvCxnSpPr>
            <p:nvPr/>
          </p:nvCxnSpPr>
          <p:spPr>
            <a:xfrm rot="-5400000" flipH="1">
              <a:off x="2925" y="1753"/>
              <a:ext cx="218" cy="455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41" name="AutoShape 22"/>
            <p:cNvCxnSpPr>
              <a:stCxn id="81930" idx="7"/>
              <a:endCxn id="81931" idx="5"/>
            </p:cNvCxnSpPr>
            <p:nvPr/>
          </p:nvCxnSpPr>
          <p:spPr>
            <a:xfrm rot="-5400000">
              <a:off x="3195" y="1717"/>
              <a:ext cx="570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42" name="AutoShape 23"/>
            <p:cNvCxnSpPr>
              <a:stCxn id="81931" idx="3"/>
              <a:endCxn id="81930" idx="1"/>
            </p:cNvCxnSpPr>
            <p:nvPr/>
          </p:nvCxnSpPr>
          <p:spPr>
            <a:xfrm rot="5400000">
              <a:off x="3019" y="1717"/>
              <a:ext cx="570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43" name="AutoShape 24"/>
            <p:cNvCxnSpPr>
              <a:stCxn id="81931" idx="6"/>
              <a:endCxn id="81925" idx="2"/>
            </p:cNvCxnSpPr>
            <p:nvPr/>
          </p:nvCxnSpPr>
          <p:spPr>
            <a:xfrm>
              <a:off x="3516" y="1339"/>
              <a:ext cx="552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44" name="AutoShape 25"/>
            <p:cNvCxnSpPr>
              <a:stCxn id="81930" idx="6"/>
              <a:endCxn id="81928" idx="2"/>
            </p:cNvCxnSpPr>
            <p:nvPr/>
          </p:nvCxnSpPr>
          <p:spPr>
            <a:xfrm>
              <a:off x="3516" y="2095"/>
              <a:ext cx="552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45" name="AutoShape 26"/>
            <p:cNvCxnSpPr>
              <a:stCxn id="81928" idx="6"/>
              <a:endCxn id="81936" idx="2"/>
            </p:cNvCxnSpPr>
            <p:nvPr/>
          </p:nvCxnSpPr>
          <p:spPr>
            <a:xfrm>
              <a:off x="4316" y="2095"/>
              <a:ext cx="524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46" name="AutoShape 27"/>
            <p:cNvCxnSpPr>
              <a:stCxn id="81925" idx="6"/>
              <a:endCxn id="81933" idx="2"/>
            </p:cNvCxnSpPr>
            <p:nvPr/>
          </p:nvCxnSpPr>
          <p:spPr>
            <a:xfrm>
              <a:off x="4316" y="1339"/>
              <a:ext cx="524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47" name="AutoShape 28"/>
            <p:cNvCxnSpPr>
              <a:stCxn id="81933" idx="4"/>
              <a:endCxn id="81936" idx="0"/>
            </p:cNvCxnSpPr>
            <p:nvPr/>
          </p:nvCxnSpPr>
          <p:spPr>
            <a:xfrm rot="5400000">
              <a:off x="4717" y="1717"/>
              <a:ext cx="494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48" name="AutoShape 29"/>
            <p:cNvCxnSpPr>
              <a:stCxn id="81936" idx="6"/>
              <a:endCxn id="81933" idx="6"/>
            </p:cNvCxnSpPr>
            <p:nvPr/>
          </p:nvCxnSpPr>
          <p:spPr>
            <a:xfrm flipV="1">
              <a:off x="5088" y="1339"/>
              <a:ext cx="1" cy="756"/>
            </a:xfrm>
            <a:prstGeom prst="curvedConnector3">
              <a:avLst>
                <a:gd name="adj1" fmla="val 14400005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49" name="AutoShape 30"/>
            <p:cNvCxnSpPr>
              <a:stCxn id="81925" idx="1"/>
              <a:endCxn id="81926" idx="7"/>
            </p:cNvCxnSpPr>
            <p:nvPr/>
          </p:nvCxnSpPr>
          <p:spPr>
            <a:xfrm rot="5400000" flipV="1">
              <a:off x="4166" y="1173"/>
              <a:ext cx="21" cy="156"/>
            </a:xfrm>
            <a:prstGeom prst="curvedConnector3">
              <a:avLst>
                <a:gd name="adj1" fmla="val -608824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50" name="AutoShape 31"/>
            <p:cNvCxnSpPr>
              <a:stCxn id="81928" idx="3"/>
              <a:endCxn id="81928" idx="5"/>
            </p:cNvCxnSpPr>
            <p:nvPr/>
          </p:nvCxnSpPr>
          <p:spPr>
            <a:xfrm rot="-5400000" flipH="1">
              <a:off x="4186" y="2094"/>
              <a:ext cx="1" cy="176"/>
            </a:xfrm>
            <a:prstGeom prst="curvedConnector3">
              <a:avLst>
                <a:gd name="adj1" fmla="val 20700009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1951" name="Text Box 32"/>
            <p:cNvSpPr txBox="1"/>
            <p:nvPr/>
          </p:nvSpPr>
          <p:spPr>
            <a:xfrm>
              <a:off x="5127" y="1617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52" name="Text Box 33"/>
            <p:cNvSpPr txBox="1"/>
            <p:nvPr/>
          </p:nvSpPr>
          <p:spPr>
            <a:xfrm>
              <a:off x="2839" y="1210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53" name="Text Box 34"/>
            <p:cNvSpPr txBox="1"/>
            <p:nvPr/>
          </p:nvSpPr>
          <p:spPr>
            <a:xfrm>
              <a:off x="3419" y="1587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54" name="Text Box 35"/>
            <p:cNvSpPr txBox="1"/>
            <p:nvPr/>
          </p:nvSpPr>
          <p:spPr>
            <a:xfrm>
              <a:off x="3722" y="1152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55" name="Text Box 36"/>
            <p:cNvSpPr txBox="1"/>
            <p:nvPr/>
          </p:nvSpPr>
          <p:spPr>
            <a:xfrm>
              <a:off x="4320" y="1392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56" name="Text Box 37"/>
            <p:cNvSpPr txBox="1"/>
            <p:nvPr/>
          </p:nvSpPr>
          <p:spPr>
            <a:xfrm>
              <a:off x="4825" y="1587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57" name="Text Box 38"/>
            <p:cNvSpPr txBox="1"/>
            <p:nvPr/>
          </p:nvSpPr>
          <p:spPr>
            <a:xfrm>
              <a:off x="4549" y="1994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58" name="Text Box 39"/>
            <p:cNvSpPr txBox="1"/>
            <p:nvPr/>
          </p:nvSpPr>
          <p:spPr>
            <a:xfrm>
              <a:off x="2919" y="196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59" name="Text Box 40"/>
            <p:cNvSpPr txBox="1"/>
            <p:nvPr/>
          </p:nvSpPr>
          <p:spPr>
            <a:xfrm>
              <a:off x="3140" y="1617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60" name="Text Box 41"/>
            <p:cNvSpPr txBox="1"/>
            <p:nvPr/>
          </p:nvSpPr>
          <p:spPr>
            <a:xfrm>
              <a:off x="3747" y="20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61" name="Text Box 42"/>
            <p:cNvSpPr txBox="1"/>
            <p:nvPr/>
          </p:nvSpPr>
          <p:spPr>
            <a:xfrm>
              <a:off x="4272" y="17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62" name="Text Box 43"/>
            <p:cNvSpPr txBox="1"/>
            <p:nvPr/>
          </p:nvSpPr>
          <p:spPr>
            <a:xfrm>
              <a:off x="4491" y="115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63" name="Text Box 44"/>
            <p:cNvSpPr txBox="1"/>
            <p:nvPr/>
          </p:nvSpPr>
          <p:spPr>
            <a:xfrm>
              <a:off x="4105" y="2227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1980" name="Group 63"/>
          <p:cNvGrpSpPr/>
          <p:nvPr/>
        </p:nvGrpSpPr>
        <p:grpSpPr>
          <a:xfrm>
            <a:off x="5408295" y="4437380"/>
            <a:ext cx="2898775" cy="2237633"/>
            <a:chOff x="2976" y="2792"/>
            <a:chExt cx="1629" cy="1297"/>
          </a:xfrm>
        </p:grpSpPr>
        <p:grpSp>
          <p:nvGrpSpPr>
            <p:cNvPr id="81981" name="Group 64"/>
            <p:cNvGrpSpPr/>
            <p:nvPr/>
          </p:nvGrpSpPr>
          <p:grpSpPr>
            <a:xfrm>
              <a:off x="4356" y="3548"/>
              <a:ext cx="248" cy="262"/>
              <a:chOff x="3456" y="2688"/>
              <a:chExt cx="432" cy="432"/>
            </a:xfrm>
          </p:grpSpPr>
          <p:sp>
            <p:nvSpPr>
              <p:cNvPr id="81982" name="Oval 65"/>
              <p:cNvSpPr/>
              <p:nvPr/>
            </p:nvSpPr>
            <p:spPr>
              <a:xfrm>
                <a:off x="3456" y="2688"/>
                <a:ext cx="432" cy="4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1983" name="Oval 66"/>
              <p:cNvSpPr/>
              <p:nvPr/>
            </p:nvSpPr>
            <p:spPr>
              <a:xfrm>
                <a:off x="3504" y="273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u="none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u="none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1984" name="Oval 67"/>
            <p:cNvSpPr/>
            <p:nvPr/>
          </p:nvSpPr>
          <p:spPr>
            <a:xfrm>
              <a:off x="3555" y="3548"/>
              <a:ext cx="249" cy="26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85" name="Oval 68"/>
            <p:cNvSpPr/>
            <p:nvPr/>
          </p:nvSpPr>
          <p:spPr>
            <a:xfrm>
              <a:off x="3555" y="2792"/>
              <a:ext cx="249" cy="26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86" name="Oval 69"/>
            <p:cNvSpPr/>
            <p:nvPr/>
          </p:nvSpPr>
          <p:spPr>
            <a:xfrm>
              <a:off x="2976" y="3199"/>
              <a:ext cx="248" cy="26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S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81987" name="AutoShape 70"/>
            <p:cNvCxnSpPr>
              <a:stCxn id="81986" idx="0"/>
              <a:endCxn id="81985" idx="2"/>
            </p:cNvCxnSpPr>
            <p:nvPr/>
          </p:nvCxnSpPr>
          <p:spPr>
            <a:xfrm rot="-5400000">
              <a:off x="3184" y="2828"/>
              <a:ext cx="276" cy="455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88" name="AutoShape 71"/>
            <p:cNvCxnSpPr>
              <a:stCxn id="81986" idx="4"/>
              <a:endCxn id="81984" idx="2"/>
            </p:cNvCxnSpPr>
            <p:nvPr/>
          </p:nvCxnSpPr>
          <p:spPr>
            <a:xfrm rot="-5400000" flipH="1">
              <a:off x="3213" y="3337"/>
              <a:ext cx="218" cy="455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89" name="AutoShape 72"/>
            <p:cNvCxnSpPr>
              <a:stCxn id="81984" idx="7"/>
              <a:endCxn id="81985" idx="5"/>
            </p:cNvCxnSpPr>
            <p:nvPr/>
          </p:nvCxnSpPr>
          <p:spPr>
            <a:xfrm rot="-5400000">
              <a:off x="3483" y="3301"/>
              <a:ext cx="570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90" name="AutoShape 73"/>
            <p:cNvCxnSpPr>
              <a:stCxn id="81985" idx="3"/>
              <a:endCxn id="81984" idx="1"/>
            </p:cNvCxnSpPr>
            <p:nvPr/>
          </p:nvCxnSpPr>
          <p:spPr>
            <a:xfrm rot="5400000">
              <a:off x="3307" y="3301"/>
              <a:ext cx="570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91" name="AutoShape 74"/>
            <p:cNvCxnSpPr>
              <a:stCxn id="81984" idx="6"/>
              <a:endCxn id="81982" idx="2"/>
            </p:cNvCxnSpPr>
            <p:nvPr/>
          </p:nvCxnSpPr>
          <p:spPr>
            <a:xfrm>
              <a:off x="3804" y="3679"/>
              <a:ext cx="552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992" name="AutoShape 75"/>
            <p:cNvCxnSpPr>
              <a:stCxn id="81982" idx="3"/>
              <a:endCxn id="81982" idx="5"/>
            </p:cNvCxnSpPr>
            <p:nvPr/>
          </p:nvCxnSpPr>
          <p:spPr>
            <a:xfrm rot="-5400000" flipH="1">
              <a:off x="4474" y="3678"/>
              <a:ext cx="1" cy="176"/>
            </a:xfrm>
            <a:prstGeom prst="curvedConnector3">
              <a:avLst>
                <a:gd name="adj1" fmla="val 20700009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1993" name="Text Box 76"/>
            <p:cNvSpPr txBox="1"/>
            <p:nvPr/>
          </p:nvSpPr>
          <p:spPr>
            <a:xfrm>
              <a:off x="3127" y="2805"/>
              <a:ext cx="201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94" name="Text Box 77"/>
            <p:cNvSpPr txBox="1"/>
            <p:nvPr/>
          </p:nvSpPr>
          <p:spPr>
            <a:xfrm>
              <a:off x="3707" y="3182"/>
              <a:ext cx="201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95" name="Text Box 78"/>
            <p:cNvSpPr txBox="1"/>
            <p:nvPr/>
          </p:nvSpPr>
          <p:spPr>
            <a:xfrm>
              <a:off x="4032" y="2987"/>
              <a:ext cx="201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a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96" name="Text Box 79"/>
            <p:cNvSpPr txBox="1"/>
            <p:nvPr/>
          </p:nvSpPr>
          <p:spPr>
            <a:xfrm>
              <a:off x="3207" y="3561"/>
              <a:ext cx="212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97" name="Text Box 80"/>
            <p:cNvSpPr txBox="1"/>
            <p:nvPr/>
          </p:nvSpPr>
          <p:spPr>
            <a:xfrm>
              <a:off x="3428" y="3212"/>
              <a:ext cx="212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98" name="Text Box 81"/>
            <p:cNvSpPr txBox="1"/>
            <p:nvPr/>
          </p:nvSpPr>
          <p:spPr>
            <a:xfrm>
              <a:off x="4035" y="3619"/>
              <a:ext cx="212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81999" name="Text Box 82"/>
            <p:cNvSpPr txBox="1"/>
            <p:nvPr/>
          </p:nvSpPr>
          <p:spPr>
            <a:xfrm>
              <a:off x="4393" y="3822"/>
              <a:ext cx="212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u="none" dirty="0">
                  <a:latin typeface="Times New Roman" panose="02020603050405020304" pitchFamily="18" charset="0"/>
                </a:rPr>
                <a:t>b</a:t>
              </a:r>
              <a:endParaRPr lang="en-US" altLang="zh-CN" sz="240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2000" name="Text Box 83"/>
          <p:cNvSpPr txBox="1"/>
          <p:nvPr/>
        </p:nvSpPr>
        <p:spPr>
          <a:xfrm>
            <a:off x="7747635" y="6019800"/>
            <a:ext cx="358140" cy="4965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no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a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  <p:sp>
        <p:nvSpPr>
          <p:cNvPr id="82001" name="Line 84"/>
          <p:cNvSpPr/>
          <p:nvPr/>
        </p:nvSpPr>
        <p:spPr>
          <a:xfrm>
            <a:off x="6913880" y="4724400"/>
            <a:ext cx="1024890" cy="9937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2002" name="Line 85"/>
          <p:cNvSpPr/>
          <p:nvPr/>
        </p:nvSpPr>
        <p:spPr>
          <a:xfrm flipH="1" flipV="1">
            <a:off x="2907030" y="2362200"/>
            <a:ext cx="91440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2003" name="Line 86"/>
          <p:cNvSpPr/>
          <p:nvPr/>
        </p:nvSpPr>
        <p:spPr>
          <a:xfrm flipH="1">
            <a:off x="2907030" y="2362200"/>
            <a:ext cx="99060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2004" name="Text Box 87"/>
          <p:cNvSpPr txBox="1"/>
          <p:nvPr/>
        </p:nvSpPr>
        <p:spPr>
          <a:xfrm>
            <a:off x="2602230" y="14478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a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14478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正规文法和正规式</a:t>
            </a:r>
            <a:br>
              <a:rPr lang="zh-CN" altLang="en-US" sz="2800" dirty="0">
                <a:sym typeface="Symbol" panose="05050102010706020507" pitchFamily="18" charset="2"/>
              </a:rPr>
            </a:br>
            <a:r>
              <a:rPr lang="zh-CN" altLang="en-US" sz="2800" dirty="0">
                <a:sym typeface="Symbol" panose="05050102010706020507" pitchFamily="18" charset="2"/>
              </a:rPr>
              <a:t> 对上的正规式</a:t>
            </a:r>
            <a:r>
              <a:rPr lang="en-US" altLang="zh-CN" sz="2800" dirty="0">
                <a:sym typeface="Symbol" panose="05050102010706020507" pitchFamily="18" charset="2"/>
              </a:rPr>
              <a:t>r ,</a:t>
            </a:r>
            <a:r>
              <a:rPr lang="zh-CN" altLang="en-US" sz="2800" dirty="0">
                <a:sym typeface="Symbol" panose="05050102010706020507" pitchFamily="18" charset="2"/>
              </a:rPr>
              <a:t>存在一个</a:t>
            </a:r>
            <a:r>
              <a:rPr lang="en-US" altLang="zh-CN" sz="2800" dirty="0">
                <a:sym typeface="Symbol" panose="05050102010706020507" pitchFamily="18" charset="2"/>
              </a:rPr>
              <a:t>R</a:t>
            </a:r>
            <a:r>
              <a:rPr lang="en-US" altLang="zh-CN" sz="2800" dirty="0"/>
              <a:t>G=(V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,V</a:t>
            </a:r>
            <a:r>
              <a:rPr lang="en-US" altLang="zh-CN" sz="2800" baseline="-25000" dirty="0"/>
              <a:t>T</a:t>
            </a:r>
            <a:r>
              <a:rPr lang="en-US" altLang="zh-CN" sz="2800" dirty="0"/>
              <a:t>,P,S)</a:t>
            </a:r>
            <a:r>
              <a:rPr lang="zh-CN" altLang="en-US" sz="2800" dirty="0"/>
              <a:t>：</a:t>
            </a:r>
            <a:r>
              <a:rPr lang="en-US" altLang="zh-CN" sz="2800" dirty="0"/>
              <a:t>L(G)=L(r)</a:t>
            </a:r>
            <a:endParaRPr lang="en-US" altLang="zh-CN" sz="2800" dirty="0"/>
          </a:p>
        </p:txBody>
      </p:sp>
      <p:sp>
        <p:nvSpPr>
          <p:cNvPr id="318467" name="Rectangle 3"/>
          <p:cNvSpPr>
            <a:spLocks noGrp="1"/>
          </p:cNvSpPr>
          <p:nvPr>
            <p:ph idx="1"/>
          </p:nvPr>
        </p:nvSpPr>
        <p:spPr>
          <a:xfrm>
            <a:off x="533400" y="1752600"/>
            <a:ext cx="8305800" cy="48006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zh-CN" dirty="0"/>
              <a:t>  </a:t>
            </a:r>
            <a:r>
              <a:rPr lang="zh-CN" altLang="zh-CN" sz="2400" dirty="0"/>
              <a:t>初始， </a:t>
            </a:r>
            <a:r>
              <a:rPr lang="en-US" altLang="zh-CN" sz="2000" dirty="0"/>
              <a:t>V</a:t>
            </a:r>
            <a:r>
              <a:rPr lang="en-US" altLang="zh-CN" sz="2000" baseline="-25000" dirty="0"/>
              <a:t>T</a:t>
            </a:r>
            <a:r>
              <a:rPr lang="en-US" altLang="zh-CN" sz="2000" dirty="0"/>
              <a:t>=</a:t>
            </a:r>
            <a:r>
              <a:rPr lang="en-US" altLang="zh-CN" sz="2000" baseline="-25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,S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N </a:t>
            </a:r>
            <a:r>
              <a:rPr lang="zh-CN" altLang="en-US" sz="2400" baseline="-25000" dirty="0"/>
              <a:t>，</a:t>
            </a:r>
            <a:r>
              <a:rPr lang="zh-CN" altLang="zh-CN" sz="2400" dirty="0"/>
              <a:t>生成正规产生式   S</a:t>
            </a:r>
            <a:r>
              <a:rPr lang="en-US" altLang="zh-CN" sz="2400" dirty="0">
                <a:sym typeface="Symbol" panose="05050102010706020507" pitchFamily="18" charset="2"/>
              </a:rPr>
              <a:t>r                                                       (R.1) </a:t>
            </a:r>
            <a:r>
              <a:rPr lang="zh-CN" altLang="en-US" sz="2400" dirty="0">
                <a:sym typeface="Symbol" panose="05050102010706020507" pitchFamily="18" charset="2"/>
              </a:rPr>
              <a:t>对形如  </a:t>
            </a:r>
            <a:r>
              <a:rPr lang="en-US" altLang="zh-CN" sz="2400" dirty="0">
                <a:sym typeface="Symbol" panose="05050102010706020507" pitchFamily="18" charset="2"/>
              </a:rPr>
              <a:t>Ar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的</a:t>
            </a:r>
            <a:r>
              <a:rPr lang="zh-CN" altLang="zh-CN" sz="2400" dirty="0"/>
              <a:t>正规产生式：</a:t>
            </a:r>
            <a:r>
              <a:rPr lang="en-US" altLang="zh-CN" sz="2400" dirty="0">
                <a:sym typeface="Symbol" panose="05050102010706020507" pitchFamily="18" charset="2"/>
              </a:rPr>
              <a:t>Ar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B						                   Br</a:t>
            </a:r>
            <a:r>
              <a:rPr lang="en-US" altLang="zh-CN" sz="2400" baseline="-25000" dirty="0">
                <a:sym typeface="Symbol" panose="05050102010706020507" pitchFamily="18" charset="2"/>
              </a:rPr>
              <a:t>2						                            </a:t>
            </a:r>
            <a:r>
              <a:rPr lang="en-US" altLang="zh-CN" sz="2400" dirty="0">
                <a:sym typeface="Symbol" panose="05050102010706020507" pitchFamily="18" charset="2"/>
              </a:rPr>
              <a:t>B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N                                     </a:t>
            </a:r>
            <a:r>
              <a:rPr lang="en-US" altLang="zh-CN" sz="2400" dirty="0"/>
              <a:t>(R</a:t>
            </a:r>
            <a:r>
              <a:rPr lang="en-US" altLang="zh-CN" sz="2400" dirty="0">
                <a:sym typeface="Symbol" panose="05050102010706020507" pitchFamily="18" charset="2"/>
              </a:rPr>
              <a:t>.</a:t>
            </a:r>
            <a:r>
              <a:rPr lang="en-US" altLang="zh-CN" sz="2400" dirty="0"/>
              <a:t>2)</a:t>
            </a:r>
            <a:r>
              <a:rPr lang="zh-CN" altLang="en-US" sz="2400" dirty="0">
                <a:sym typeface="Symbol" panose="05050102010706020507" pitchFamily="18" charset="2"/>
              </a:rPr>
              <a:t>对形如</a:t>
            </a:r>
            <a:r>
              <a:rPr lang="en-US" altLang="zh-CN" sz="2400" dirty="0"/>
              <a:t>A</a:t>
            </a:r>
            <a:r>
              <a:rPr lang="en-US" altLang="zh-CN" sz="2400" dirty="0">
                <a:sym typeface="Symbol" panose="05050102010706020507" pitchFamily="18" charset="2"/>
              </a:rPr>
              <a:t>r</a:t>
            </a:r>
            <a:r>
              <a:rPr lang="en-US" altLang="zh-CN" sz="2400" baseline="30000" dirty="0">
                <a:sym typeface="Symbol" panose="05050102010706020507" pitchFamily="18" charset="2"/>
              </a:rPr>
              <a:t></a:t>
            </a:r>
            <a:r>
              <a:rPr lang="en-US" altLang="zh-CN" sz="2400" dirty="0"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的</a:t>
            </a:r>
            <a:r>
              <a:rPr lang="zh-CN" altLang="zh-CN" sz="2400" dirty="0"/>
              <a:t>正规产生式：   </a:t>
            </a:r>
            <a:r>
              <a:rPr lang="en-US" altLang="zh-CN" sz="2400" dirty="0">
                <a:sym typeface="Symbol" panose="05050102010706020507" pitchFamily="18" charset="2"/>
              </a:rPr>
              <a:t>ArB						                  Ar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						                  BrB						                  Br</a:t>
            </a:r>
            <a:r>
              <a:rPr lang="en-US" altLang="zh-CN" sz="2400" baseline="-25000" dirty="0">
                <a:sym typeface="Symbol" panose="05050102010706020507" pitchFamily="18" charset="2"/>
              </a:rPr>
              <a:t>1     </a:t>
            </a:r>
            <a:r>
              <a:rPr lang="en-US" altLang="zh-CN" sz="2400" dirty="0">
                <a:sym typeface="Symbol" panose="05050102010706020507" pitchFamily="18" charset="2"/>
              </a:rPr>
              <a:t>B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N                                                               </a:t>
            </a:r>
            <a:r>
              <a:rPr lang="en-US" altLang="zh-CN" sz="2400" dirty="0"/>
              <a:t>(R</a:t>
            </a:r>
            <a:r>
              <a:rPr lang="en-US" altLang="zh-CN" sz="2400" dirty="0">
                <a:sym typeface="Symbol" panose="05050102010706020507" pitchFamily="18" charset="2"/>
              </a:rPr>
              <a:t>.</a:t>
            </a:r>
            <a:r>
              <a:rPr lang="en-US" altLang="zh-CN" sz="2400" dirty="0"/>
              <a:t>3)</a:t>
            </a:r>
            <a:r>
              <a:rPr lang="zh-CN" altLang="en-US" sz="2400" dirty="0">
                <a:sym typeface="Symbol" panose="05050102010706020507" pitchFamily="18" charset="2"/>
              </a:rPr>
              <a:t>对形如</a:t>
            </a:r>
            <a:r>
              <a:rPr lang="en-US" altLang="zh-CN" sz="2400" dirty="0"/>
              <a:t>A</a:t>
            </a:r>
            <a:r>
              <a:rPr lang="en-US" altLang="zh-CN" sz="2400" dirty="0">
                <a:sym typeface="Symbol" panose="05050102010706020507" pitchFamily="18" charset="2"/>
              </a:rPr>
              <a:t>r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r</a:t>
            </a:r>
            <a:r>
              <a:rPr lang="en-US" altLang="zh-CN" sz="2400" baseline="-250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的</a:t>
            </a:r>
            <a:r>
              <a:rPr lang="zh-CN" altLang="zh-CN" sz="2400" dirty="0"/>
              <a:t>正规产生式:</a:t>
            </a:r>
            <a:r>
              <a:rPr lang="zh-CN" altLang="zh-CN" sz="2400" dirty="0">
                <a:sym typeface="Symbol" panose="05050102010706020507" pitchFamily="18" charset="2"/>
              </a:rPr>
              <a:t>	</a:t>
            </a:r>
            <a:r>
              <a:rPr lang="en-US" altLang="zh-CN" sz="2400" dirty="0">
                <a:sym typeface="Symbol" panose="05050102010706020507" pitchFamily="18" charset="2"/>
              </a:rPr>
              <a:t>Ar</a:t>
            </a:r>
            <a:r>
              <a:rPr lang="en-US" altLang="zh-CN" sz="2400" baseline="-25000" dirty="0">
                <a:sym typeface="Symbol" panose="05050102010706020507" pitchFamily="18" charset="2"/>
              </a:rPr>
              <a:t>1							               </a:t>
            </a:r>
            <a:r>
              <a:rPr lang="en-US" altLang="zh-CN" sz="2400" dirty="0">
                <a:sym typeface="Symbol" panose="05050102010706020507" pitchFamily="18" charset="2"/>
              </a:rPr>
              <a:t>A r</a:t>
            </a:r>
            <a:r>
              <a:rPr lang="en-US" altLang="zh-CN" sz="2400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baseline="-25000" dirty="0"/>
              <a:t> </a:t>
            </a:r>
            <a:endParaRPr lang="en-US" altLang="zh-CN" sz="2400" baseline="-25000" dirty="0"/>
          </a:p>
          <a:p>
            <a:pPr eaLnBrk="1" hangingPunct="1">
              <a:buNone/>
            </a:pPr>
            <a:r>
              <a:rPr lang="zh-CN" altLang="zh-CN" sz="2400" dirty="0">
                <a:sym typeface="Symbol" panose="05050102010706020507" pitchFamily="18" charset="2"/>
              </a:rPr>
              <a:t>不断应用</a:t>
            </a:r>
            <a:r>
              <a:rPr lang="en-US" altLang="zh-CN" sz="2400" dirty="0"/>
              <a:t>(R</a:t>
            </a:r>
            <a:r>
              <a:rPr lang="en-US" altLang="zh-CN" sz="2400" dirty="0">
                <a:sym typeface="Symbol" panose="05050102010706020507" pitchFamily="18" charset="2"/>
              </a:rPr>
              <a:t>.x</a:t>
            </a:r>
            <a:r>
              <a:rPr lang="en-US" altLang="zh-CN" sz="2400" dirty="0"/>
              <a:t>)</a:t>
            </a:r>
            <a:r>
              <a:rPr lang="zh-CN" altLang="zh-CN" sz="2400" dirty="0">
                <a:sym typeface="Symbol" panose="05050102010706020507" pitchFamily="18" charset="2"/>
              </a:rPr>
              <a:t>做变换，直到每个产生式右端至多有一个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N</a:t>
            </a:r>
            <a:endParaRPr lang="zh-CN" altLang="zh-CN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charRg st="0" end="4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18467">
                                            <p:txEl>
                                              <p:charRg st="0" end="4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charRg st="461" end="4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18467">
                                            <p:txEl>
                                              <p:charRg st="461" end="4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2"/>
          <p:cNvSpPr>
            <a:spLocks noGrp="1"/>
          </p:cNvSpPr>
          <p:nvPr>
            <p:ph type="title"/>
          </p:nvPr>
        </p:nvSpPr>
        <p:spPr>
          <a:xfrm>
            <a:off x="381000" y="304800"/>
            <a:ext cx="7848600" cy="533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例	 </a:t>
            </a:r>
            <a:r>
              <a:rPr lang="en-US" altLang="zh-CN" dirty="0">
                <a:sym typeface="Symbol" panose="05050102010706020507" pitchFamily="18" charset="2"/>
              </a:rPr>
              <a:t>r=a(ad)</a:t>
            </a:r>
            <a:r>
              <a:rPr lang="en-US" altLang="zh-CN" baseline="30000" dirty="0">
                <a:sym typeface="Symbol" panose="05050102010706020507" pitchFamily="18" charset="2"/>
              </a:rPr>
              <a:t></a:t>
            </a:r>
            <a:endParaRPr lang="en-US" altLang="zh-CN" baseline="30000" dirty="0">
              <a:sym typeface="Symbol" panose="05050102010706020507" pitchFamily="18" charset="2"/>
            </a:endParaRPr>
          </a:p>
        </p:txBody>
      </p:sp>
      <p:sp>
        <p:nvSpPr>
          <p:cNvPr id="56322" name="Rectangle 3"/>
          <p:cNvSpPr>
            <a:spLocks noGrp="1"/>
          </p:cNvSpPr>
          <p:nvPr>
            <p:ph idx="1"/>
          </p:nvPr>
        </p:nvSpPr>
        <p:spPr>
          <a:xfrm>
            <a:off x="179388" y="765175"/>
            <a:ext cx="8736012" cy="6092825"/>
          </a:xfrm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(1) Sa(ad)</a:t>
            </a:r>
            <a:r>
              <a:rPr lang="en-US" altLang="zh-CN" sz="2800" baseline="30000" dirty="0">
                <a:sym typeface="Symbol" panose="05050102010706020507" pitchFamily="18" charset="2"/>
              </a:rPr>
              <a:t></a:t>
            </a:r>
            <a:endParaRPr lang="en-US" altLang="zh-CN" sz="2800" baseline="30000" dirty="0"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(2)  SaA        A(ad)</a:t>
            </a:r>
            <a:r>
              <a:rPr lang="en-US" altLang="zh-CN" sz="2800" baseline="30000" dirty="0">
                <a:sym typeface="Symbol" panose="05050102010706020507" pitchFamily="18" charset="2"/>
              </a:rPr>
              <a:t></a:t>
            </a:r>
            <a:r>
              <a:rPr lang="en-US" altLang="en-US" sz="2800" dirty="0"/>
              <a:t>          </a:t>
            </a:r>
            <a:endParaRPr lang="en-US" altLang="en-US" sz="2800" dirty="0"/>
          </a:p>
          <a:p>
            <a:pPr marL="533400" indent="-533400" eaLnBrk="1" hangingPunct="1">
              <a:lnSpc>
                <a:spcPct val="90000"/>
              </a:lnSpc>
              <a:buFont typeface="Monotype Sorts" pitchFamily="2" charset="2"/>
              <a:buAutoNum type="arabicParenBoth" startAt="3"/>
            </a:pPr>
            <a:r>
              <a:rPr lang="en-US" altLang="en-US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(ad)B						                        A		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   B(ad)B	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   B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en-US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G[s]: 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   SaA						      	      A 		V</a:t>
            </a:r>
            <a:r>
              <a:rPr lang="en-US" altLang="zh-CN" sz="2800" baseline="-25000" dirty="0">
                <a:sym typeface="Symbol" panose="05050102010706020507" pitchFamily="18" charset="2"/>
              </a:rPr>
              <a:t>T</a:t>
            </a:r>
            <a:r>
              <a:rPr lang="en-US" altLang="zh-CN" sz="2800" dirty="0">
                <a:sym typeface="Symbol" panose="05050102010706020507" pitchFamily="18" charset="2"/>
              </a:rPr>
              <a:t>={a,d}				      AaB		V</a:t>
            </a:r>
            <a:r>
              <a:rPr lang="en-US" altLang="zh-CN" sz="2800" baseline="-25000" dirty="0"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sym typeface="Symbol" panose="05050102010706020507" pitchFamily="18" charset="2"/>
              </a:rPr>
              <a:t>={S,A,B} 			      AdB						 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   BaB 			 			  	      BdB							      B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924800" cy="1524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正规文法和正规式</a:t>
            </a:r>
            <a:br>
              <a:rPr lang="zh-CN" altLang="en-US" sz="2800" dirty="0">
                <a:sym typeface="Symbol" panose="05050102010706020507" pitchFamily="18" charset="2"/>
              </a:rPr>
            </a:br>
            <a:r>
              <a:rPr lang="zh-CN" altLang="en-US" sz="2800" dirty="0">
                <a:sym typeface="Symbol" panose="05050102010706020507" pitchFamily="18" charset="2"/>
              </a:rPr>
              <a:t> 对</a:t>
            </a:r>
            <a:r>
              <a:rPr lang="en-US" altLang="zh-CN" sz="2800" dirty="0"/>
              <a:t>G=(V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,V</a:t>
            </a:r>
            <a:r>
              <a:rPr lang="en-US" altLang="zh-CN" sz="2800" baseline="-25000" dirty="0"/>
              <a:t>T</a:t>
            </a:r>
            <a:r>
              <a:rPr lang="en-US" altLang="zh-CN" sz="2800" dirty="0"/>
              <a:t>,P,S),</a:t>
            </a:r>
            <a:r>
              <a:rPr lang="zh-CN" altLang="en-US" sz="2800" dirty="0">
                <a:sym typeface="Symbol" panose="05050102010706020507" pitchFamily="18" charset="2"/>
              </a:rPr>
              <a:t>存在一个 </a:t>
            </a:r>
            <a:r>
              <a:rPr lang="en-US" altLang="zh-CN" sz="2800" dirty="0">
                <a:sym typeface="Symbol" panose="05050102010706020507" pitchFamily="18" charset="2"/>
              </a:rPr>
              <a:t>=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T</a:t>
            </a:r>
            <a:r>
              <a:rPr lang="zh-CN" altLang="en-US" sz="2800" dirty="0">
                <a:sym typeface="Symbol" panose="05050102010706020507" pitchFamily="18" charset="2"/>
              </a:rPr>
              <a:t>上的正规式</a:t>
            </a:r>
            <a:r>
              <a:rPr lang="en-US" altLang="zh-CN" sz="2800" dirty="0">
                <a:sym typeface="Symbol" panose="05050102010706020507" pitchFamily="18" charset="2"/>
              </a:rPr>
              <a:t>r : </a:t>
            </a:r>
            <a:r>
              <a:rPr lang="en-US" altLang="zh-CN" sz="2800" dirty="0"/>
              <a:t>L(r)=L(G)</a:t>
            </a:r>
            <a:endParaRPr lang="en-US" altLang="zh-CN" sz="2800" dirty="0"/>
          </a:p>
        </p:txBody>
      </p:sp>
      <p:sp>
        <p:nvSpPr>
          <p:cNvPr id="320515" name="Rectangle 3"/>
          <p:cNvSpPr>
            <a:spLocks noGrp="1"/>
          </p:cNvSpPr>
          <p:nvPr>
            <p:ph idx="1"/>
          </p:nvPr>
        </p:nvSpPr>
        <p:spPr>
          <a:xfrm>
            <a:off x="381000" y="1905000"/>
            <a:ext cx="8178800" cy="3786188"/>
          </a:xfrm>
        </p:spPr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AxB	,   By      </a:t>
            </a:r>
            <a:r>
              <a:rPr lang="zh-CN" altLang="en-US" dirty="0">
                <a:sym typeface="Symbol" panose="05050102010706020507" pitchFamily="18" charset="2"/>
              </a:rPr>
              <a:t>形成正规式     </a:t>
            </a:r>
            <a:r>
              <a:rPr lang="en-US" altLang="zh-CN" dirty="0">
                <a:sym typeface="Symbol" panose="05050102010706020507" pitchFamily="18" charset="2"/>
              </a:rPr>
              <a:t>A=xy 	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dirty="0">
                <a:sym typeface="Symbol" panose="05050102010706020507" pitchFamily="18" charset="2"/>
              </a:rPr>
              <a:t> AxAy	         </a:t>
            </a:r>
            <a:r>
              <a:rPr lang="zh-CN" altLang="en-US" dirty="0">
                <a:sym typeface="Symbol" panose="05050102010706020507" pitchFamily="18" charset="2"/>
              </a:rPr>
              <a:t>形成正规式    </a:t>
            </a:r>
            <a:r>
              <a:rPr lang="en-US" altLang="zh-CN" dirty="0">
                <a:sym typeface="Symbol" panose="05050102010706020507" pitchFamily="18" charset="2"/>
              </a:rPr>
              <a:t>A=x</a:t>
            </a:r>
            <a:r>
              <a:rPr lang="en-US" altLang="zh-CN" baseline="30000" dirty="0">
                <a:sym typeface="Symbol" panose="05050102010706020507" pitchFamily="18" charset="2"/>
              </a:rPr>
              <a:t></a:t>
            </a:r>
            <a:r>
              <a:rPr lang="en-US" altLang="zh-CN" dirty="0">
                <a:sym typeface="Symbol" panose="05050102010706020507" pitchFamily="18" charset="2"/>
              </a:rPr>
              <a:t>y	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dirty="0">
                <a:sym typeface="Symbol" panose="05050102010706020507" pitchFamily="18" charset="2"/>
              </a:rPr>
              <a:t> Axy		          </a:t>
            </a:r>
            <a:r>
              <a:rPr lang="zh-CN" altLang="en-US" dirty="0">
                <a:sym typeface="Symbol" panose="05050102010706020507" pitchFamily="18" charset="2"/>
              </a:rPr>
              <a:t>形成正规式   </a:t>
            </a:r>
            <a:r>
              <a:rPr lang="en-US" altLang="zh-CN" dirty="0">
                <a:sym typeface="Symbol" panose="05050102010706020507" pitchFamily="18" charset="2"/>
              </a:rPr>
              <a:t>A=xy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2051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charRg st="36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320515">
                                            <p:txEl>
                                              <p:charRg st="36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charRg st="69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320515">
                                            <p:txEl>
                                              <p:charRg st="69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正规文法和正规式</a:t>
            </a:r>
            <a:br>
              <a:rPr lang="zh-CN" altLang="en-US" dirty="0">
                <a:sym typeface="Symbol" panose="05050102010706020507" pitchFamily="18" charset="2"/>
              </a:rPr>
            </a:b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321539" name="Rectangle 3"/>
          <p:cNvSpPr>
            <a:spLocks noGrp="1"/>
          </p:cNvSpPr>
          <p:nvPr>
            <p:ph idx="1"/>
          </p:nvPr>
        </p:nvSpPr>
        <p:spPr>
          <a:xfrm>
            <a:off x="304800" y="914400"/>
            <a:ext cx="8534400" cy="5638800"/>
          </a:xfrm>
        </p:spPr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en-US" altLang="zh-CN" dirty="0"/>
              <a:t>G[s]:S</a:t>
            </a:r>
            <a:r>
              <a:rPr lang="en-US" altLang="zh-CN" dirty="0">
                <a:sym typeface="Symbol" panose="05050102010706020507" pitchFamily="18" charset="2"/>
              </a:rPr>
              <a:t>aA|a							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dirty="0">
                <a:sym typeface="Wingdings" panose="05000000000000000000" pitchFamily="2" charset="2"/>
              </a:rPr>
              <a:t>       A</a:t>
            </a:r>
            <a:r>
              <a:rPr lang="en-US" altLang="zh-CN" dirty="0">
                <a:sym typeface="Symbol" panose="05050102010706020507" pitchFamily="18" charset="2"/>
              </a:rPr>
              <a:t>aAadAd</a:t>
            </a:r>
            <a:r>
              <a:rPr lang="en-US" altLang="zh-CN" dirty="0">
                <a:sym typeface="Wingdings" panose="05000000000000000000" pitchFamily="2" charset="2"/>
              </a:rPr>
              <a:t> 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 eaLnBrk="1" hangingPunct="1">
              <a:buNone/>
            </a:pPr>
            <a:endParaRPr lang="en-US" altLang="zh-CN" dirty="0">
              <a:sym typeface="Wingdings" panose="05000000000000000000" pitchFamily="2" charset="2"/>
            </a:endParaRPr>
          </a:p>
          <a:p>
            <a:pPr lvl="1" eaLnBrk="1" hangingPunct="1">
              <a:buNone/>
            </a:pPr>
            <a:r>
              <a:rPr lang="en-US" altLang="zh-CN" dirty="0">
                <a:sym typeface="Wingdings" panose="05000000000000000000" pitchFamily="2" charset="2"/>
              </a:rPr>
              <a:t>  A</a:t>
            </a:r>
            <a:r>
              <a:rPr lang="en-US" altLang="zh-CN" dirty="0">
                <a:sym typeface="Symbol" panose="05050102010706020507" pitchFamily="18" charset="2"/>
              </a:rPr>
              <a:t>(ad)A(ad)				</a:t>
            </a:r>
            <a:r>
              <a:rPr lang="en-US" altLang="zh-CN" dirty="0">
                <a:sym typeface="Wingdings" panose="05000000000000000000" pitchFamily="2" charset="2"/>
              </a:rPr>
              <a:t>   A</a:t>
            </a:r>
            <a:r>
              <a:rPr lang="en-US" altLang="zh-CN" dirty="0">
                <a:sym typeface="Symbol" panose="05050102010706020507" pitchFamily="18" charset="2"/>
              </a:rPr>
              <a:t>(ad)</a:t>
            </a:r>
            <a:r>
              <a:rPr lang="en-US" altLang="zh-CN" baseline="30000" dirty="0">
                <a:sym typeface="Symbol" panose="05050102010706020507" pitchFamily="18" charset="2"/>
              </a:rPr>
              <a:t></a:t>
            </a:r>
            <a:r>
              <a:rPr lang="en-US" altLang="zh-CN" dirty="0">
                <a:sym typeface="Symbol" panose="05050102010706020507" pitchFamily="18" charset="2"/>
              </a:rPr>
              <a:t>(ad)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dirty="0"/>
              <a:t>   S=a</a:t>
            </a:r>
            <a:r>
              <a:rPr lang="en-US" altLang="zh-CN" dirty="0">
                <a:sym typeface="Symbol" panose="05050102010706020507" pitchFamily="18" charset="2"/>
              </a:rPr>
              <a:t>(ad)</a:t>
            </a:r>
            <a:r>
              <a:rPr lang="en-US" altLang="zh-CN" baseline="30000" dirty="0">
                <a:sym typeface="Symbol" panose="05050102010706020507" pitchFamily="18" charset="2"/>
              </a:rPr>
              <a:t></a:t>
            </a:r>
            <a:r>
              <a:rPr lang="en-US" altLang="zh-CN" dirty="0">
                <a:sym typeface="Symbol" panose="05050102010706020507" pitchFamily="18" charset="2"/>
              </a:rPr>
              <a:t>(ad)a						=a((ad)</a:t>
            </a:r>
            <a:r>
              <a:rPr lang="en-US" altLang="zh-CN" baseline="30000" dirty="0">
                <a:sym typeface="Symbol" panose="05050102010706020507" pitchFamily="18" charset="2"/>
              </a:rPr>
              <a:t></a:t>
            </a:r>
            <a:r>
              <a:rPr lang="en-US" altLang="zh-CN" dirty="0">
                <a:sym typeface="Symbol" panose="05050102010706020507" pitchFamily="18" charset="2"/>
              </a:rPr>
              <a:t>(ad))						=a((ad)</a:t>
            </a:r>
            <a:r>
              <a:rPr lang="en-US" altLang="zh-CN" baseline="30000" dirty="0">
                <a:sym typeface="Symbol" panose="05050102010706020507" pitchFamily="18" charset="2"/>
              </a:rPr>
              <a:t></a:t>
            </a:r>
            <a:r>
              <a:rPr lang="en-US" altLang="zh-CN" dirty="0">
                <a:sym typeface="Symbol" panose="05050102010706020507" pitchFamily="18" charset="2"/>
              </a:rPr>
              <a:t>)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dirty="0">
                <a:sym typeface="Symbol" panose="05050102010706020507" pitchFamily="18" charset="2"/>
              </a:rPr>
              <a:t>  R=a(ad)</a:t>
            </a:r>
            <a:r>
              <a:rPr lang="en-US" altLang="zh-CN" baseline="30000" dirty="0">
                <a:sym typeface="Symbol" panose="05050102010706020507" pitchFamily="18" charset="2"/>
              </a:rPr>
              <a:t></a:t>
            </a:r>
            <a:endParaRPr lang="en-US" altLang="zh-CN" dirty="0"/>
          </a:p>
          <a:p>
            <a:pPr lvl="1" eaLnBrk="1" hangingPunct="1"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endParaRPr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2153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321539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charRg st="4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321539">
                                            <p:txEl>
                                              <p:charRg st="40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charRg st="78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321539">
                                            <p:txEl>
                                              <p:charRg st="78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charRg st="140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321539">
                                            <p:txEl>
                                              <p:charRg st="140" end="1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型文法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有穷自动机（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394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885950"/>
            <a:ext cx="3200400" cy="417195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accent2"/>
              </a:buClr>
              <a:buSzTx/>
              <a:buFont typeface="Monotype Sorts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［Ｓ］：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accent2"/>
              </a:buClr>
              <a:buSzTx/>
              <a:buFont typeface="Monotype Sorts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S→aA|bB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accent2"/>
              </a:buClr>
              <a:buSzTx/>
              <a:buFont typeface="Monotype Sorts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→bB|aD|a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accent2"/>
              </a:buClr>
              <a:buSzTx/>
              <a:buFont typeface="Monotype Sorts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B→aA|bD|b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accent2"/>
              </a:buClr>
              <a:buSzTx/>
              <a:buFont typeface="Monotype Sorts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D→aD|bD|a|b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396" name="Oval 5"/>
          <p:cNvSpPr/>
          <p:nvPr/>
        </p:nvSpPr>
        <p:spPr>
          <a:xfrm>
            <a:off x="5507038" y="3276600"/>
            <a:ext cx="398462" cy="3492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None/>
            </a:pPr>
            <a:r>
              <a:rPr lang="en-US" altLang="zh-CN" sz="2000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en-US" altLang="zh-CN" sz="2000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397" name="Oval 6"/>
          <p:cNvSpPr/>
          <p:nvPr/>
        </p:nvSpPr>
        <p:spPr>
          <a:xfrm>
            <a:off x="5507038" y="2179638"/>
            <a:ext cx="398462" cy="3492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None/>
            </a:pPr>
            <a:r>
              <a:rPr lang="en-US" altLang="zh-CN" sz="2000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en-US" altLang="zh-CN" sz="2000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398" name="Oval 7"/>
          <p:cNvSpPr/>
          <p:nvPr/>
        </p:nvSpPr>
        <p:spPr>
          <a:xfrm>
            <a:off x="4586288" y="2770188"/>
            <a:ext cx="395287" cy="3492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None/>
            </a:pPr>
            <a:r>
              <a:rPr lang="en-US" altLang="zh-CN" sz="2000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lang="en-US" altLang="zh-CN" sz="2000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9399" name="AutoShape 8"/>
          <p:cNvCxnSpPr>
            <a:stCxn id="59398" idx="0"/>
            <a:endCxn id="59397" idx="2"/>
          </p:cNvCxnSpPr>
          <p:nvPr/>
        </p:nvCxnSpPr>
        <p:spPr>
          <a:xfrm rot="-5400000">
            <a:off x="4935538" y="2198688"/>
            <a:ext cx="415925" cy="720725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400" name="AutoShape 9"/>
          <p:cNvCxnSpPr>
            <a:stCxn id="59398" idx="4"/>
            <a:endCxn id="59396" idx="2"/>
          </p:cNvCxnSpPr>
          <p:nvPr/>
        </p:nvCxnSpPr>
        <p:spPr>
          <a:xfrm rot="-5400000" flipH="1">
            <a:off x="4979988" y="2924175"/>
            <a:ext cx="331787" cy="722313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401" name="AutoShape 10"/>
          <p:cNvCxnSpPr>
            <a:stCxn id="59396" idx="7"/>
            <a:endCxn id="59397" idx="5"/>
          </p:cNvCxnSpPr>
          <p:nvPr/>
        </p:nvCxnSpPr>
        <p:spPr>
          <a:xfrm rot="-5400000">
            <a:off x="5422900" y="2901950"/>
            <a:ext cx="847725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402" name="AutoShape 11"/>
          <p:cNvCxnSpPr>
            <a:stCxn id="59397" idx="3"/>
            <a:endCxn id="59396" idx="1"/>
          </p:cNvCxnSpPr>
          <p:nvPr/>
        </p:nvCxnSpPr>
        <p:spPr>
          <a:xfrm rot="5400000">
            <a:off x="5138738" y="2900363"/>
            <a:ext cx="849312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403" name="AutoShape 12"/>
          <p:cNvCxnSpPr>
            <a:stCxn id="59396" idx="6"/>
            <a:endCxn id="59396" idx="1"/>
          </p:cNvCxnSpPr>
          <p:nvPr/>
        </p:nvCxnSpPr>
        <p:spPr>
          <a:xfrm>
            <a:off x="5905500" y="3451225"/>
            <a:ext cx="8763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404" name="AutoShape 13"/>
          <p:cNvCxnSpPr>
            <a:stCxn id="59396" idx="6"/>
            <a:endCxn id="59396" idx="1"/>
          </p:cNvCxnSpPr>
          <p:nvPr/>
        </p:nvCxnSpPr>
        <p:spPr>
          <a:xfrm rot="-5400000" flipH="1">
            <a:off x="6978650" y="3435350"/>
            <a:ext cx="1588" cy="280988"/>
          </a:xfrm>
          <a:prstGeom prst="curvedConnector3">
            <a:avLst>
              <a:gd name="adj1" fmla="val 17600009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405" name="Text Box 14"/>
          <p:cNvSpPr txBox="1"/>
          <p:nvPr/>
        </p:nvSpPr>
        <p:spPr>
          <a:xfrm>
            <a:off x="4800600" y="2070418"/>
            <a:ext cx="3632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06" name="Text Box 15"/>
          <p:cNvSpPr txBox="1"/>
          <p:nvPr/>
        </p:nvSpPr>
        <p:spPr>
          <a:xfrm>
            <a:off x="5748338" y="2635568"/>
            <a:ext cx="3632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07" name="Text Box 16"/>
          <p:cNvSpPr txBox="1"/>
          <p:nvPr/>
        </p:nvSpPr>
        <p:spPr>
          <a:xfrm>
            <a:off x="6265863" y="2352993"/>
            <a:ext cx="3632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08" name="Text Box 17"/>
          <p:cNvSpPr txBox="1"/>
          <p:nvPr/>
        </p:nvSpPr>
        <p:spPr>
          <a:xfrm>
            <a:off x="4953000" y="3186431"/>
            <a:ext cx="38100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09" name="Text Box 18"/>
          <p:cNvSpPr txBox="1"/>
          <p:nvPr/>
        </p:nvSpPr>
        <p:spPr>
          <a:xfrm>
            <a:off x="5305425" y="2681606"/>
            <a:ext cx="386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10" name="Text Box 19"/>
          <p:cNvSpPr txBox="1"/>
          <p:nvPr/>
        </p:nvSpPr>
        <p:spPr>
          <a:xfrm>
            <a:off x="6270625" y="3270568"/>
            <a:ext cx="386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11" name="Text Box 20"/>
          <p:cNvSpPr txBox="1"/>
          <p:nvPr/>
        </p:nvSpPr>
        <p:spPr>
          <a:xfrm>
            <a:off x="6781800" y="3670618"/>
            <a:ext cx="6680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9412" name="AutoShape 21"/>
          <p:cNvCxnSpPr>
            <a:stCxn id="59396" idx="6"/>
            <a:endCxn id="59396" idx="1"/>
          </p:cNvCxnSpPr>
          <p:nvPr/>
        </p:nvCxnSpPr>
        <p:spPr>
          <a:xfrm>
            <a:off x="7239000" y="3505200"/>
            <a:ext cx="795338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413" name="AutoShape 22"/>
          <p:cNvCxnSpPr>
            <a:stCxn id="59396" idx="6"/>
            <a:endCxn id="59396" idx="1"/>
          </p:cNvCxnSpPr>
          <p:nvPr/>
        </p:nvCxnSpPr>
        <p:spPr>
          <a:xfrm>
            <a:off x="6019800" y="2286000"/>
            <a:ext cx="1020763" cy="927100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414" name="Oval 23"/>
          <p:cNvSpPr/>
          <p:nvPr/>
        </p:nvSpPr>
        <p:spPr>
          <a:xfrm>
            <a:off x="6781800" y="3200400"/>
            <a:ext cx="381000" cy="37941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None/>
            </a:pPr>
            <a:r>
              <a:rPr lang="en-US" altLang="zh-CN" sz="2000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en-US" altLang="zh-CN" sz="2000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9415" name="Group 24"/>
          <p:cNvGrpSpPr/>
          <p:nvPr/>
        </p:nvGrpSpPr>
        <p:grpSpPr>
          <a:xfrm>
            <a:off x="8001000" y="3200400"/>
            <a:ext cx="357188" cy="379413"/>
            <a:chOff x="3456" y="2688"/>
            <a:chExt cx="432" cy="432"/>
          </a:xfrm>
        </p:grpSpPr>
        <p:sp>
          <p:nvSpPr>
            <p:cNvPr id="59416" name="Oval 25"/>
            <p:cNvSpPr/>
            <p:nvPr/>
          </p:nvSpPr>
          <p:spPr>
            <a:xfrm>
              <a:off x="3456" y="2688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417" name="Oval 26"/>
            <p:cNvSpPr/>
            <p:nvPr/>
          </p:nvSpPr>
          <p:spPr>
            <a:xfrm>
              <a:off x="3504" y="273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None/>
              </a:pPr>
              <a:r>
                <a:rPr lang="en-US" altLang="zh-CN" sz="2000" u="none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endParaRPr lang="en-US" altLang="zh-CN" sz="2000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9418" name="AutoShape 27"/>
          <p:cNvCxnSpPr>
            <a:stCxn id="59396" idx="6"/>
            <a:endCxn id="59396" idx="1"/>
          </p:cNvCxnSpPr>
          <p:nvPr/>
        </p:nvCxnSpPr>
        <p:spPr>
          <a:xfrm flipV="1">
            <a:off x="5867400" y="3505200"/>
            <a:ext cx="2214563" cy="11113"/>
          </a:xfrm>
          <a:prstGeom prst="curvedConnector4">
            <a:avLst>
              <a:gd name="adj1" fmla="val 19282"/>
              <a:gd name="adj2" fmla="val -6528574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419" name="AutoShape 28"/>
          <p:cNvCxnSpPr>
            <a:stCxn id="59396" idx="6"/>
            <a:endCxn id="59417" idx="0"/>
          </p:cNvCxnSpPr>
          <p:nvPr/>
        </p:nvCxnSpPr>
        <p:spPr>
          <a:xfrm>
            <a:off x="5943600" y="2209800"/>
            <a:ext cx="2236788" cy="1033463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420" name="Text Box 29"/>
          <p:cNvSpPr txBox="1"/>
          <p:nvPr/>
        </p:nvSpPr>
        <p:spPr>
          <a:xfrm>
            <a:off x="7239000" y="1994218"/>
            <a:ext cx="439738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21" name="Text Box 30"/>
          <p:cNvSpPr txBox="1"/>
          <p:nvPr/>
        </p:nvSpPr>
        <p:spPr>
          <a:xfrm>
            <a:off x="6248400" y="3899218"/>
            <a:ext cx="38100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9422" name="AutoShape 31"/>
          <p:cNvCxnSpPr>
            <a:stCxn id="59396" idx="6"/>
            <a:endCxn id="59417" idx="1"/>
          </p:cNvCxnSpPr>
          <p:nvPr/>
        </p:nvCxnSpPr>
        <p:spPr>
          <a:xfrm>
            <a:off x="7162800" y="3276600"/>
            <a:ext cx="919163" cy="9525"/>
          </a:xfrm>
          <a:prstGeom prst="curvedConnector4">
            <a:avLst>
              <a:gd name="adj1" fmla="val 47667"/>
              <a:gd name="adj2" fmla="val -316667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423" name="Text Box 32"/>
          <p:cNvSpPr txBox="1"/>
          <p:nvPr/>
        </p:nvSpPr>
        <p:spPr>
          <a:xfrm>
            <a:off x="7391400" y="2832418"/>
            <a:ext cx="38100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24" name="Text Box 33"/>
          <p:cNvSpPr txBox="1"/>
          <p:nvPr/>
        </p:nvSpPr>
        <p:spPr>
          <a:xfrm>
            <a:off x="7315200" y="3289618"/>
            <a:ext cx="45720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25" name="Text Box 34"/>
          <p:cNvSpPr txBox="1"/>
          <p:nvPr/>
        </p:nvSpPr>
        <p:spPr>
          <a:xfrm>
            <a:off x="4168775" y="2635409"/>
            <a:ext cx="49974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Rectangle 2"/>
          <p:cNvSpPr>
            <a:spLocks noGrp="1"/>
          </p:cNvSpPr>
          <p:nvPr>
            <p:ph type="title"/>
          </p:nvPr>
        </p:nvSpPr>
        <p:spPr>
          <a:xfrm>
            <a:off x="457200" y="304800"/>
            <a:ext cx="7543800" cy="1066800"/>
          </a:xfrm>
        </p:spPr>
        <p:txBody>
          <a:bodyPr vert="horz" wrap="square" lIns="91440" tIns="45720" rIns="91440" bIns="45720" anchor="b" anchorCtr="0"/>
          <a:p>
            <a:pPr eaLnBrk="1" hangingPunct="1"/>
            <a:br>
              <a:rPr lang="zh-CN" altLang="en-US" sz="2800" b="1" dirty="0"/>
            </a:br>
            <a:r>
              <a:rPr lang="zh-CN" altLang="en-US" sz="2800" b="1" dirty="0"/>
              <a:t>                                                                                      </a:t>
            </a:r>
            <a:br>
              <a:rPr lang="zh-CN" altLang="en-US" sz="2800" b="1" dirty="0"/>
            </a:br>
            <a:r>
              <a:rPr lang="en-US" altLang="zh-CN" sz="2800" b="1" dirty="0"/>
              <a:t>3</a:t>
            </a:r>
            <a:r>
              <a:rPr lang="zh-CN" altLang="en-US" sz="2800" b="1" dirty="0"/>
              <a:t>型文法产生的语言是有穷自动机（</a:t>
            </a:r>
            <a:r>
              <a:rPr lang="en-US" altLang="zh-CN" sz="2800" b="1" dirty="0"/>
              <a:t>FA</a:t>
            </a:r>
            <a:r>
              <a:rPr lang="zh-CN" altLang="en-US" sz="2800" b="1" dirty="0"/>
              <a:t>）所接受的集合</a:t>
            </a:r>
            <a:r>
              <a:rPr lang="en-US" altLang="zh-CN" sz="2800" b="1" dirty="0"/>
              <a:t>.</a:t>
            </a:r>
            <a:endParaRPr lang="en-US" altLang="zh-CN" sz="2800" b="1" dirty="0"/>
          </a:p>
        </p:txBody>
      </p:sp>
      <p:sp>
        <p:nvSpPr>
          <p:cNvPr id="60418" name="Rectangle 3"/>
          <p:cNvSpPr>
            <a:spLocks noGrp="1"/>
          </p:cNvSpPr>
          <p:nvPr>
            <p:ph idx="1"/>
          </p:nvPr>
        </p:nvSpPr>
        <p:spPr>
          <a:xfrm>
            <a:off x="304800" y="1828800"/>
            <a:ext cx="8305800" cy="43434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u="sng" dirty="0"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 设</a:t>
            </a:r>
            <a:r>
              <a:rPr lang="en-US" altLang="zh-CN" sz="2400" dirty="0">
                <a:latin typeface="宋体" panose="02010600030101010101" pitchFamily="2" charset="-122"/>
              </a:rPr>
              <a:t>G=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V</a:t>
            </a:r>
            <a:r>
              <a:rPr lang="en-US" altLang="zh-CN" sz="2400" baseline="-25000" dirty="0">
                <a:latin typeface="宋体" panose="02010600030101010101" pitchFamily="2" charset="-12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</a:rPr>
              <a:t>V</a:t>
            </a:r>
            <a:r>
              <a:rPr lang="en-US" altLang="zh-CN" sz="2400" baseline="-25000" dirty="0">
                <a:latin typeface="宋体" panose="02010600030101010101" pitchFamily="2" charset="-122"/>
              </a:rPr>
              <a:t>T</a:t>
            </a:r>
            <a:r>
              <a:rPr lang="zh-CN" altLang="en-US" sz="2400" dirty="0"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</a:rPr>
              <a:t>P</a:t>
            </a:r>
            <a:r>
              <a:rPr lang="zh-CN" altLang="en-US" sz="2400" dirty="0"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</a:rPr>
              <a:t>S</a:t>
            </a:r>
            <a:r>
              <a:rPr lang="zh-CN" altLang="en-US" sz="2400" dirty="0">
                <a:latin typeface="宋体" panose="02010600030101010101" pitchFamily="2" charset="-122"/>
              </a:rPr>
              <a:t>）是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型文法，则存在一个有穷自   动机 </a:t>
            </a:r>
            <a:r>
              <a:rPr lang="en-US" altLang="zh-CN" sz="2400" b="1" dirty="0">
                <a:latin typeface="宋体" panose="02010600030101010101" pitchFamily="2" charset="-122"/>
              </a:rPr>
              <a:t>M=(K, ∑ , f, A, Z)</a:t>
            </a:r>
            <a:r>
              <a:rPr lang="zh-CN" altLang="en-US" sz="2400" b="1" dirty="0">
                <a:latin typeface="宋体" panose="02010600030101010101" pitchFamily="2" charset="-122"/>
              </a:rPr>
              <a:t>，使得</a:t>
            </a:r>
            <a:r>
              <a:rPr lang="en-US" altLang="zh-CN" sz="2400" b="1" dirty="0">
                <a:latin typeface="宋体" panose="02010600030101010101" pitchFamily="2" charset="-122"/>
              </a:rPr>
              <a:t>L(M)=L(G)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有穷自动机</a:t>
            </a:r>
            <a:r>
              <a:rPr lang="en-US" altLang="zh-CN" sz="2400" b="1" dirty="0">
                <a:latin typeface="宋体" panose="02010600030101010101" pitchFamily="2" charset="-122"/>
              </a:rPr>
              <a:t>NFA M </a:t>
            </a:r>
            <a:r>
              <a:rPr lang="zh-CN" altLang="en-US" sz="2400" b="1" dirty="0">
                <a:latin typeface="宋体" panose="02010600030101010101" pitchFamily="2" charset="-122"/>
              </a:rPr>
              <a:t>这样构造：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·</a:t>
            </a:r>
            <a:r>
              <a:rPr lang="en-US" altLang="zh-CN" sz="2400" b="1" dirty="0">
                <a:latin typeface="宋体" panose="02010600030101010101" pitchFamily="2" charset="-122"/>
              </a:rPr>
              <a:t>  ∑= </a:t>
            </a:r>
            <a:r>
              <a:rPr lang="en-US" altLang="zh-CN" sz="2400" dirty="0">
                <a:latin typeface="宋体" panose="02010600030101010101" pitchFamily="2" charset="-122"/>
              </a:rPr>
              <a:t>V</a:t>
            </a:r>
            <a:r>
              <a:rPr lang="en-US" altLang="zh-CN" sz="2400" baseline="-25000" dirty="0">
                <a:latin typeface="宋体" panose="02010600030101010101" pitchFamily="2" charset="-122"/>
              </a:rPr>
              <a:t>T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·</a:t>
            </a:r>
            <a:r>
              <a:rPr lang="en-US" altLang="zh-CN" sz="2400" b="1" dirty="0">
                <a:latin typeface="宋体" panose="02010600030101010101" pitchFamily="2" charset="-122"/>
              </a:rPr>
              <a:t>  K= </a:t>
            </a:r>
            <a:r>
              <a:rPr lang="en-US" altLang="zh-CN" sz="2400" dirty="0">
                <a:latin typeface="宋体" panose="02010600030101010101" pitchFamily="2" charset="-122"/>
              </a:rPr>
              <a:t>V</a:t>
            </a:r>
            <a:r>
              <a:rPr lang="en-US" altLang="zh-CN" sz="2400" baseline="-25000" dirty="0">
                <a:latin typeface="宋体" panose="02010600030101010101" pitchFamily="2" charset="-122"/>
              </a:rPr>
              <a:t>N </a:t>
            </a:r>
            <a:r>
              <a:rPr lang="en-US" altLang="zh-CN" sz="2400" dirty="0">
                <a:latin typeface="宋体" panose="02010600030101010101" pitchFamily="2" charset="-122"/>
              </a:rPr>
              <a:t>∪{</a:t>
            </a:r>
            <a:r>
              <a:rPr lang="en-US" altLang="zh-CN" sz="2400" b="1" dirty="0">
                <a:latin typeface="宋体" panose="02010600030101010101" pitchFamily="2" charset="-122"/>
              </a:rPr>
              <a:t>N}, N</a:t>
            </a:r>
            <a:r>
              <a:rPr lang="zh-CN" altLang="en-US" sz="2400" b="1" dirty="0">
                <a:latin typeface="宋体" panose="02010600030101010101" pitchFamily="2" charset="-122"/>
              </a:rPr>
              <a:t>为一个新状态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</a:rPr>
              <a:t>它不在</a:t>
            </a:r>
            <a:r>
              <a:rPr lang="en-US" altLang="zh-CN" sz="2400" dirty="0">
                <a:latin typeface="宋体" panose="02010600030101010101" pitchFamily="2" charset="-122"/>
              </a:rPr>
              <a:t>V</a:t>
            </a:r>
            <a:r>
              <a:rPr lang="en-US" altLang="zh-CN" sz="2400" baseline="-25000" dirty="0">
                <a:latin typeface="宋体" panose="02010600030101010101" pitchFamily="2" charset="-12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</a:rPr>
              <a:t>中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·</a:t>
            </a:r>
            <a:r>
              <a:rPr lang="en-US" altLang="zh-CN" sz="2400" b="1" dirty="0">
                <a:latin typeface="宋体" panose="02010600030101010101" pitchFamily="2" charset="-122"/>
              </a:rPr>
              <a:t>  A=S 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·</a:t>
            </a:r>
            <a:r>
              <a:rPr lang="en-US" altLang="zh-CN" sz="2400" b="1" dirty="0">
                <a:latin typeface="宋体" panose="02010600030101010101" pitchFamily="2" charset="-122"/>
              </a:rPr>
              <a:t>  Z={N} 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·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对</a:t>
            </a:r>
            <a:r>
              <a:rPr lang="en-US" altLang="zh-CN" sz="2400" b="1" dirty="0">
                <a:latin typeface="宋体" panose="02010600030101010101" pitchFamily="2" charset="-122"/>
              </a:rPr>
              <a:t>G</a:t>
            </a:r>
            <a:r>
              <a:rPr lang="zh-CN" altLang="en-US" sz="2400" b="1" dirty="0">
                <a:latin typeface="宋体" panose="02010600030101010101" pitchFamily="2" charset="-122"/>
              </a:rPr>
              <a:t>中的形如 </a:t>
            </a:r>
            <a:r>
              <a:rPr lang="en-US" altLang="zh-CN" sz="2400" b="1" dirty="0">
                <a:latin typeface="宋体" panose="02010600030101010101" pitchFamily="2" charset="-122"/>
              </a:rPr>
              <a:t>D→tB</a:t>
            </a:r>
            <a:r>
              <a:rPr lang="zh-CN" altLang="en-US" sz="2400" b="1" dirty="0">
                <a:latin typeface="宋体" panose="02010600030101010101" pitchFamily="2" charset="-122"/>
              </a:rPr>
              <a:t>的产生式</a:t>
            </a:r>
            <a:r>
              <a:rPr lang="en-US" altLang="zh-CN" sz="2400" b="1" dirty="0">
                <a:latin typeface="宋体" panose="02010600030101010101" pitchFamily="2" charset="-122"/>
              </a:rPr>
              <a:t>,t</a:t>
            </a:r>
            <a:r>
              <a:rPr lang="zh-CN" altLang="en-US" sz="2400" b="1" dirty="0">
                <a:latin typeface="宋体" panose="02010600030101010101" pitchFamily="2" charset="-122"/>
              </a:rPr>
              <a:t>为终结符或</a:t>
            </a:r>
            <a:r>
              <a:rPr lang="en-US" altLang="zh-CN" sz="2400" b="1" dirty="0">
                <a:latin typeface="宋体" panose="02010600030101010101" pitchFamily="2" charset="-122"/>
              </a:rPr>
              <a:t>ε,</a:t>
            </a:r>
            <a:r>
              <a:rPr lang="zh-CN" altLang="en-US" sz="2400" b="1" dirty="0">
                <a:latin typeface="宋体" panose="02010600030101010101" pitchFamily="2" charset="-122"/>
              </a:rPr>
              <a:t>有</a:t>
            </a:r>
            <a:r>
              <a:rPr lang="en-US" altLang="zh-CN" sz="2400" b="1" dirty="0">
                <a:latin typeface="宋体" panose="02010600030101010101" pitchFamily="2" charset="-122"/>
              </a:rPr>
              <a:t>f(D,t)=B</a:t>
            </a:r>
            <a:r>
              <a:rPr lang="zh-CN" altLang="en-US" sz="2400" b="1" dirty="0">
                <a:latin typeface="宋体" panose="02010600030101010101" pitchFamily="2" charset="-122"/>
              </a:rPr>
              <a:t>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对</a:t>
            </a:r>
            <a:r>
              <a:rPr lang="en-US" altLang="zh-CN" sz="2400" b="1" dirty="0">
                <a:latin typeface="宋体" panose="02010600030101010101" pitchFamily="2" charset="-122"/>
              </a:rPr>
              <a:t>G</a:t>
            </a:r>
            <a:r>
              <a:rPr lang="zh-CN" altLang="en-US" sz="2400" b="1" dirty="0">
                <a:latin typeface="宋体" panose="02010600030101010101" pitchFamily="2" charset="-122"/>
              </a:rPr>
              <a:t>中形如</a:t>
            </a:r>
            <a:r>
              <a:rPr lang="en-US" altLang="zh-CN" sz="2400" b="1" dirty="0">
                <a:latin typeface="宋体" panose="02010600030101010101" pitchFamily="2" charset="-122"/>
              </a:rPr>
              <a:t>D→t</a:t>
            </a:r>
            <a:r>
              <a:rPr lang="zh-CN" altLang="en-US" sz="2400" b="1" dirty="0">
                <a:latin typeface="宋体" panose="02010600030101010101" pitchFamily="2" charset="-122"/>
              </a:rPr>
              <a:t>的产生式， 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zh-CN" altLang="en-US" sz="2400" b="1" dirty="0">
                <a:latin typeface="宋体" panose="02010600030101010101" pitchFamily="2" charset="-122"/>
              </a:rPr>
              <a:t>为终结符或</a:t>
            </a:r>
            <a:r>
              <a:rPr lang="en-US" altLang="zh-CN" sz="2400" b="1" dirty="0">
                <a:latin typeface="宋体" panose="02010600030101010101" pitchFamily="2" charset="-122"/>
              </a:rPr>
              <a:t>ε,</a:t>
            </a:r>
            <a:r>
              <a:rPr lang="zh-CN" altLang="en-US" sz="2400" b="1" dirty="0">
                <a:latin typeface="宋体" panose="02010600030101010101" pitchFamily="2" charset="-122"/>
              </a:rPr>
              <a:t>有</a:t>
            </a:r>
            <a:r>
              <a:rPr lang="en-US" altLang="zh-CN" sz="2400" b="1" dirty="0">
                <a:latin typeface="宋体" panose="02010600030101010101" pitchFamily="2" charset="-122"/>
              </a:rPr>
              <a:t>f(D,t)=N;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 </a:t>
            </a: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</a:rPr>
              <a:t>对</a:t>
            </a:r>
            <a:r>
              <a:rPr lang="en-US" altLang="zh-CN" sz="2400" dirty="0">
                <a:latin typeface="宋体" panose="02010600030101010101" pitchFamily="2" charset="-122"/>
              </a:rPr>
              <a:t>V</a:t>
            </a:r>
            <a:r>
              <a:rPr lang="en-US" altLang="zh-CN" sz="2400" baseline="-25000" dirty="0">
                <a:latin typeface="宋体" panose="02010600030101010101" pitchFamily="2" charset="-122"/>
              </a:rPr>
              <a:t>T</a:t>
            </a:r>
            <a:r>
              <a:rPr lang="zh-CN" altLang="en-US" sz="2400" dirty="0">
                <a:latin typeface="宋体" panose="02010600030101010101" pitchFamily="2" charset="-122"/>
              </a:rPr>
              <a:t>中的每一个</a:t>
            </a:r>
            <a:r>
              <a:rPr lang="en-US" altLang="zh-CN" sz="2400" dirty="0">
                <a:latin typeface="宋体" panose="02010600030101010101" pitchFamily="2" charset="-122"/>
              </a:rPr>
              <a:t>a ,</a:t>
            </a:r>
            <a:r>
              <a:rPr lang="zh-CN" altLang="en-US" sz="2400" b="1" dirty="0">
                <a:latin typeface="宋体" panose="02010600030101010101" pitchFamily="2" charset="-122"/>
              </a:rPr>
              <a:t>有</a:t>
            </a:r>
            <a:r>
              <a:rPr lang="en-US" altLang="zh-CN" sz="2400" b="1" dirty="0">
                <a:latin typeface="宋体" panose="02010600030101010101" pitchFamily="2" charset="-122"/>
              </a:rPr>
              <a:t>f(N,a)=</a:t>
            </a:r>
            <a:r>
              <a:rPr lang="en-US" altLang="zh-CN" sz="2800" b="1" dirty="0">
                <a:latin typeface="宋体" panose="02010600030101010101" pitchFamily="2" charset="-122"/>
              </a:rPr>
              <a:t>φ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b="1" dirty="0"/>
              <a:t>3</a:t>
            </a:r>
            <a:r>
              <a:rPr lang="zh-CN" altLang="en-US" sz="3200" b="1" dirty="0"/>
              <a:t>型文法   </a:t>
            </a:r>
            <a:r>
              <a:rPr lang="zh-CN" altLang="en-US" sz="2400" dirty="0"/>
              <a:t>和 </a:t>
            </a:r>
            <a:r>
              <a:rPr lang="zh-CN" altLang="en-US" sz="3200" b="1" dirty="0"/>
              <a:t>有穷自动机（</a:t>
            </a:r>
            <a:r>
              <a:rPr lang="en-US" altLang="zh-CN" sz="3200" b="1" dirty="0"/>
              <a:t>FA</a:t>
            </a:r>
            <a:r>
              <a:rPr lang="zh-CN" altLang="en-US" sz="3200" b="1" dirty="0"/>
              <a:t>）</a:t>
            </a:r>
            <a:endParaRPr lang="zh-CN" altLang="en-US" sz="3200" b="1" dirty="0"/>
          </a:p>
        </p:txBody>
      </p:sp>
      <p:sp>
        <p:nvSpPr>
          <p:cNvPr id="61442" name="Rectangle 3"/>
          <p:cNvSpPr>
            <a:spLocks noGrp="1"/>
          </p:cNvSpPr>
          <p:nvPr>
            <p:ph sz="half" idx="2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Tx/>
              <a:buFont typeface="Monotype Sorts" pitchFamily="2" charset="2"/>
              <a:buNone/>
            </a:pP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G</a:t>
            </a:r>
            <a:r>
              <a:rPr kumimoji="1" lang="zh-CN" altLang="en-US" dirty="0">
                <a:latin typeface="Times New Roman" panose="02020603050405020304" pitchFamily="18" charset="0"/>
                <a:ea typeface="+mn-ea"/>
                <a:cs typeface="+mn-cs"/>
              </a:rPr>
              <a:t>［Ｓ］：</a:t>
            </a:r>
            <a:endParaRPr kumimoji="1" lang="zh-CN" altLang="en-US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+mn-ea"/>
                <a:cs typeface="+mn-cs"/>
              </a:rPr>
              <a:t>       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S→aA|bB</a:t>
            </a:r>
            <a:endParaRPr kumimoji="1" lang="en-US" altLang="zh-CN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     </a:t>
            </a:r>
            <a:r>
              <a:rPr kumimoji="1" lang="en-US" altLang="zh-CN" dirty="0">
                <a:latin typeface="Arial" panose="020B0604020202020204" pitchFamily="34" charset="0"/>
                <a:ea typeface="+mn-ea"/>
                <a:cs typeface="+mn-cs"/>
              </a:rPr>
              <a:t>A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→bB|aD|a</a:t>
            </a:r>
            <a:endParaRPr kumimoji="1" lang="en-US" altLang="zh-CN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     B→aA|bD|b</a:t>
            </a:r>
            <a:endParaRPr kumimoji="1" lang="en-US" altLang="zh-CN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     D→aD|bD|a|b</a:t>
            </a:r>
            <a:endParaRPr kumimoji="1" lang="en-US" altLang="zh-CN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Tx/>
              <a:buFont typeface="Monotype Sorts" pitchFamily="2" charset="2"/>
              <a:buNone/>
            </a:pPr>
            <a:endParaRPr kumimoji="1" lang="zh-CN" altLang="en-US" dirty="0">
              <a:latin typeface="+mn-lt"/>
              <a:ea typeface="+mn-ea"/>
              <a:cs typeface="+mn-cs"/>
            </a:endParaRPr>
          </a:p>
        </p:txBody>
      </p:sp>
      <p:grpSp>
        <p:nvGrpSpPr>
          <p:cNvPr id="61443" name="Group 4"/>
          <p:cNvGrpSpPr/>
          <p:nvPr/>
        </p:nvGrpSpPr>
        <p:grpSpPr>
          <a:xfrm>
            <a:off x="3124200" y="4038600"/>
            <a:ext cx="357188" cy="379413"/>
            <a:chOff x="3456" y="2688"/>
            <a:chExt cx="432" cy="432"/>
          </a:xfrm>
        </p:grpSpPr>
        <p:sp>
          <p:nvSpPr>
            <p:cNvPr id="61444" name="Oval 5"/>
            <p:cNvSpPr/>
            <p:nvPr/>
          </p:nvSpPr>
          <p:spPr>
            <a:xfrm>
              <a:off x="3456" y="2688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45" name="Oval 6"/>
            <p:cNvSpPr/>
            <p:nvPr/>
          </p:nvSpPr>
          <p:spPr>
            <a:xfrm>
              <a:off x="3504" y="273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None/>
              </a:pPr>
              <a:r>
                <a:rPr lang="en-US" altLang="zh-CN" sz="2000" u="none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000" u="none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446" name="Oval 7"/>
          <p:cNvSpPr/>
          <p:nvPr/>
        </p:nvSpPr>
        <p:spPr>
          <a:xfrm>
            <a:off x="1981200" y="4038600"/>
            <a:ext cx="381000" cy="37941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None/>
            </a:pPr>
            <a:r>
              <a:rPr lang="en-US" altLang="zh-CN" sz="20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000" u="none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7" name="Oval 8"/>
          <p:cNvSpPr/>
          <p:nvPr/>
        </p:nvSpPr>
        <p:spPr>
          <a:xfrm>
            <a:off x="1978025" y="2911475"/>
            <a:ext cx="358775" cy="37941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None/>
            </a:pPr>
            <a:r>
              <a:rPr lang="en-US" altLang="zh-CN" sz="20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000" u="none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8" name="Oval 9"/>
          <p:cNvSpPr/>
          <p:nvPr/>
        </p:nvSpPr>
        <p:spPr>
          <a:xfrm>
            <a:off x="1143000" y="3505200"/>
            <a:ext cx="357188" cy="37941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None/>
            </a:pPr>
            <a:r>
              <a:rPr lang="en-US" altLang="zh-CN" sz="20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lang="en-US" altLang="zh-CN" sz="2000" u="none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1449" name="AutoShape 10"/>
          <p:cNvCxnSpPr/>
          <p:nvPr/>
        </p:nvCxnSpPr>
        <p:spPr>
          <a:xfrm rot="-5400000">
            <a:off x="1420813" y="2994025"/>
            <a:ext cx="400050" cy="655638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50" name="AutoShape 11"/>
          <p:cNvCxnSpPr>
            <a:stCxn id="61448" idx="4"/>
            <a:endCxn id="61446" idx="2"/>
          </p:cNvCxnSpPr>
          <p:nvPr/>
        </p:nvCxnSpPr>
        <p:spPr>
          <a:xfrm rot="-5400000" flipH="1">
            <a:off x="1479550" y="3727450"/>
            <a:ext cx="344488" cy="658813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51" name="AutoShape 12"/>
          <p:cNvCxnSpPr>
            <a:stCxn id="61446" idx="7"/>
            <a:endCxn id="61447" idx="5"/>
          </p:cNvCxnSpPr>
          <p:nvPr/>
        </p:nvCxnSpPr>
        <p:spPr>
          <a:xfrm rot="5400000" flipH="1">
            <a:off x="1862138" y="3649663"/>
            <a:ext cx="858837" cy="22225"/>
          </a:xfrm>
          <a:prstGeom prst="curvedConnector3">
            <a:avLst>
              <a:gd name="adj1" fmla="val 49907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52" name="AutoShape 13"/>
          <p:cNvCxnSpPr>
            <a:stCxn id="61447" idx="3"/>
            <a:endCxn id="61446" idx="1"/>
          </p:cNvCxnSpPr>
          <p:nvPr/>
        </p:nvCxnSpPr>
        <p:spPr>
          <a:xfrm rot="-5400000" flipH="1">
            <a:off x="1603375" y="3660775"/>
            <a:ext cx="860425" cy="6350"/>
          </a:xfrm>
          <a:prstGeom prst="curvedConnector3">
            <a:avLst>
              <a:gd name="adj1" fmla="val 49907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53" name="AutoShape 14"/>
          <p:cNvCxnSpPr>
            <a:stCxn id="61447" idx="3"/>
            <a:endCxn id="61446" idx="1"/>
          </p:cNvCxnSpPr>
          <p:nvPr/>
        </p:nvCxnSpPr>
        <p:spPr>
          <a:xfrm>
            <a:off x="2362200" y="4191000"/>
            <a:ext cx="795338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54" name="AutoShape 15"/>
          <p:cNvCxnSpPr>
            <a:stCxn id="61444" idx="3"/>
            <a:endCxn id="61444" idx="5"/>
          </p:cNvCxnSpPr>
          <p:nvPr/>
        </p:nvCxnSpPr>
        <p:spPr>
          <a:xfrm rot="-5400000" flipH="1">
            <a:off x="3302000" y="4237038"/>
            <a:ext cx="1588" cy="252412"/>
          </a:xfrm>
          <a:prstGeom prst="curvedConnector3">
            <a:avLst>
              <a:gd name="adj1" fmla="val 17900009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455" name="Text Box 16"/>
          <p:cNvSpPr txBox="1"/>
          <p:nvPr/>
        </p:nvSpPr>
        <p:spPr>
          <a:xfrm>
            <a:off x="1346200" y="2832418"/>
            <a:ext cx="3632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6" name="Text Box 17"/>
          <p:cNvSpPr txBox="1"/>
          <p:nvPr/>
        </p:nvSpPr>
        <p:spPr>
          <a:xfrm>
            <a:off x="2209800" y="3365818"/>
            <a:ext cx="3632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7" name="Text Box 18"/>
          <p:cNvSpPr txBox="1"/>
          <p:nvPr/>
        </p:nvSpPr>
        <p:spPr>
          <a:xfrm>
            <a:off x="2987358" y="3097531"/>
            <a:ext cx="3632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8" name="Text Box 19"/>
          <p:cNvSpPr txBox="1"/>
          <p:nvPr/>
        </p:nvSpPr>
        <p:spPr>
          <a:xfrm>
            <a:off x="1462088" y="4141153"/>
            <a:ext cx="386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9" name="Text Box 20"/>
          <p:cNvSpPr txBox="1"/>
          <p:nvPr/>
        </p:nvSpPr>
        <p:spPr>
          <a:xfrm>
            <a:off x="1779588" y="3424556"/>
            <a:ext cx="386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0" name="Text Box 21"/>
          <p:cNvSpPr txBox="1"/>
          <p:nvPr/>
        </p:nvSpPr>
        <p:spPr>
          <a:xfrm>
            <a:off x="3019425" y="4508818"/>
            <a:ext cx="6680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a,b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1461" name="AutoShape 22"/>
          <p:cNvCxnSpPr>
            <a:stCxn id="61444" idx="3"/>
            <a:endCxn id="61444" idx="5"/>
          </p:cNvCxnSpPr>
          <p:nvPr/>
        </p:nvCxnSpPr>
        <p:spPr>
          <a:xfrm>
            <a:off x="2286000" y="3124200"/>
            <a:ext cx="1020763" cy="927100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463" name="Text Box 24"/>
          <p:cNvSpPr txBox="1"/>
          <p:nvPr/>
        </p:nvSpPr>
        <p:spPr>
          <a:xfrm>
            <a:off x="2700020" y="4007803"/>
            <a:ext cx="386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en-US" altLang="zh-CN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u="none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4" name="Text Box 25"/>
          <p:cNvSpPr txBox="1"/>
          <p:nvPr/>
        </p:nvSpPr>
        <p:spPr>
          <a:xfrm>
            <a:off x="371475" y="3397409"/>
            <a:ext cx="53467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Rectangle 2"/>
          <p:cNvSpPr>
            <a:spLocks noGrp="1"/>
          </p:cNvSpPr>
          <p:nvPr>
            <p:ph type="title"/>
          </p:nvPr>
        </p:nvSpPr>
        <p:spPr>
          <a:xfrm>
            <a:off x="468313" y="260350"/>
            <a:ext cx="7639050" cy="750888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b="1" dirty="0"/>
              <a:t>3</a:t>
            </a:r>
            <a:r>
              <a:rPr lang="zh-CN" altLang="en-US" sz="3200" b="1" dirty="0"/>
              <a:t>型文法   </a:t>
            </a:r>
            <a:r>
              <a:rPr lang="zh-CN" altLang="en-US" sz="2400" dirty="0"/>
              <a:t>和 </a:t>
            </a:r>
            <a:r>
              <a:rPr lang="zh-CN" altLang="en-US" sz="3200" b="1" dirty="0"/>
              <a:t>有穷自动机（</a:t>
            </a:r>
            <a:r>
              <a:rPr lang="en-US" altLang="zh-CN" sz="3200" b="1" dirty="0"/>
              <a:t>FA</a:t>
            </a:r>
            <a:r>
              <a:rPr lang="zh-CN" altLang="en-US" sz="3200" b="1" dirty="0"/>
              <a:t>）</a:t>
            </a:r>
            <a:endParaRPr lang="zh-CN" altLang="en-US" sz="3200" b="1" dirty="0"/>
          </a:p>
        </p:txBody>
      </p:sp>
      <p:sp>
        <p:nvSpPr>
          <p:cNvPr id="6246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b="1" u="sng" dirty="0">
                <a:latin typeface="Times New Roman" panose="02020603050405020304" pitchFamily="18" charset="0"/>
              </a:rPr>
              <a:t>定理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宋体" panose="02010600030101010101" pitchFamily="2" charset="-122"/>
              </a:rPr>
              <a:t>已知一有穷自动机</a:t>
            </a:r>
            <a:r>
              <a:rPr lang="en-US" altLang="zh-CN" dirty="0">
                <a:latin typeface="宋体" panose="02010600030101010101" pitchFamily="2" charset="-122"/>
              </a:rPr>
              <a:t>M= </a:t>
            </a:r>
            <a:r>
              <a:rPr lang="en-US" altLang="zh-CN" sz="2800" dirty="0">
                <a:latin typeface="宋体" panose="02010600030101010101" pitchFamily="2" charset="-122"/>
              </a:rPr>
              <a:t>(K, ∑ , f, A, Z)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>
                <a:latin typeface="宋体" panose="02010600030101010101" pitchFamily="2" charset="-122"/>
              </a:rPr>
              <a:t>存在有一个</a:t>
            </a:r>
            <a:r>
              <a:rPr lang="en-US" altLang="zh-CN" dirty="0">
                <a:latin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</a:rPr>
              <a:t>型文法</a:t>
            </a:r>
            <a:r>
              <a:rPr lang="en-US" altLang="zh-CN" dirty="0">
                <a:latin typeface="宋体" panose="02010600030101010101" pitchFamily="2" charset="-122"/>
              </a:rPr>
              <a:t>G = </a:t>
            </a:r>
            <a:r>
              <a:rPr lang="zh-CN" altLang="en-US" sz="2800" dirty="0"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latin typeface="宋体" panose="02010600030101010101" pitchFamily="2" charset="-122"/>
              </a:rPr>
              <a:t>V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N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V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T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S</a:t>
            </a:r>
            <a:r>
              <a:rPr lang="zh-CN" altLang="en-US" sz="2800" dirty="0">
                <a:latin typeface="宋体" panose="02010600030101010101" pitchFamily="2" charset="-122"/>
              </a:rPr>
              <a:t>）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>
                <a:latin typeface="宋体" panose="02010600030101010101" pitchFamily="2" charset="-122"/>
              </a:rPr>
              <a:t>使得</a:t>
            </a:r>
            <a:r>
              <a:rPr lang="en-US" altLang="zh-CN" dirty="0">
                <a:latin typeface="宋体" panose="02010600030101010101" pitchFamily="2" charset="-122"/>
              </a:rPr>
              <a:t>L(G)=L(M)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宋体" panose="02010600030101010101" pitchFamily="2" charset="-122"/>
              </a:rPr>
              <a:t>G </a:t>
            </a:r>
            <a:r>
              <a:rPr lang="zh-CN" altLang="en-US" dirty="0">
                <a:latin typeface="宋体" panose="02010600030101010101" pitchFamily="2" charset="-122"/>
              </a:rPr>
              <a:t>的定义：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·</a:t>
            </a:r>
            <a:r>
              <a:rPr lang="en-US" altLang="zh-CN" sz="2800" dirty="0">
                <a:latin typeface="宋体" panose="02010600030101010101" pitchFamily="2" charset="-122"/>
              </a:rPr>
              <a:t>  V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T </a:t>
            </a:r>
            <a:r>
              <a:rPr lang="en-US" altLang="zh-CN" dirty="0">
                <a:latin typeface="宋体" panose="02010600030101010101" pitchFamily="2" charset="-122"/>
              </a:rPr>
              <a:t>=</a:t>
            </a:r>
            <a:r>
              <a:rPr lang="en-US" altLang="zh-CN" sz="2800" dirty="0">
                <a:latin typeface="宋体" panose="02010600030101010101" pitchFamily="2" charset="-122"/>
              </a:rPr>
              <a:t>∑ </a:t>
            </a:r>
            <a:r>
              <a:rPr lang="en-US" altLang="zh-CN" sz="2800" dirty="0">
                <a:latin typeface="Arial" panose="020B0604020202020204" pitchFamily="34" charset="0"/>
              </a:rPr>
              <a:t>·</a:t>
            </a:r>
            <a:r>
              <a:rPr lang="en-US" altLang="zh-CN" sz="2800" dirty="0">
                <a:latin typeface="宋体" panose="02010600030101010101" pitchFamily="2" charset="-122"/>
              </a:rPr>
              <a:t>  V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N</a:t>
            </a:r>
            <a:r>
              <a:rPr lang="en-US" altLang="zh-CN" dirty="0">
                <a:latin typeface="宋体" panose="02010600030101010101" pitchFamily="2" charset="-122"/>
              </a:rPr>
              <a:t>= </a:t>
            </a:r>
            <a:r>
              <a:rPr lang="en-US" altLang="zh-CN" sz="2800" dirty="0">
                <a:latin typeface="宋体" panose="02010600030101010101" pitchFamily="2" charset="-122"/>
              </a:rPr>
              <a:t>K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·</a:t>
            </a:r>
            <a:r>
              <a:rPr lang="en-US" altLang="zh-CN" sz="2800" dirty="0">
                <a:latin typeface="宋体" panose="02010600030101010101" pitchFamily="2" charset="-122"/>
              </a:rPr>
              <a:t>  S = A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·</a:t>
            </a:r>
            <a:r>
              <a:rPr lang="en-US" altLang="zh-CN" sz="2800" dirty="0"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</a:rPr>
              <a:t>若 </a:t>
            </a:r>
            <a:r>
              <a:rPr lang="en-US" altLang="zh-CN" sz="2800" dirty="0">
                <a:latin typeface="宋体" panose="02010600030101010101" pitchFamily="2" charset="-122"/>
              </a:rPr>
              <a:t>f(D,t)=B </a:t>
            </a:r>
            <a:r>
              <a:rPr lang="zh-CN" altLang="en-US" sz="2800" dirty="0">
                <a:latin typeface="宋体" panose="02010600030101010101" pitchFamily="2" charset="-122"/>
              </a:rPr>
              <a:t>，则</a:t>
            </a:r>
            <a:r>
              <a:rPr lang="en-US" altLang="zh-CN" sz="2800" dirty="0">
                <a:latin typeface="宋体" panose="02010600030101010101" pitchFamily="2" charset="-122"/>
              </a:rPr>
              <a:t>D→tB</a:t>
            </a:r>
            <a:r>
              <a:rPr lang="zh-CN" altLang="en-US" sz="2800" dirty="0">
                <a:latin typeface="宋体" panose="02010600030101010101" pitchFamily="2" charset="-122"/>
              </a:rPr>
              <a:t>在</a:t>
            </a:r>
            <a:r>
              <a:rPr lang="en-US" altLang="zh-CN" sz="2800" dirty="0">
                <a:latin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</a:rPr>
              <a:t>中  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若 </a:t>
            </a:r>
            <a:r>
              <a:rPr lang="en-US" altLang="zh-CN" sz="2800" dirty="0">
                <a:latin typeface="宋体" panose="02010600030101010101" pitchFamily="2" charset="-122"/>
              </a:rPr>
              <a:t>f(D,t)=B </a:t>
            </a:r>
            <a:r>
              <a:rPr lang="zh-CN" altLang="en-US" sz="2800" dirty="0">
                <a:latin typeface="宋体" panose="02010600030101010101" pitchFamily="2" charset="-122"/>
              </a:rPr>
              <a:t>，且</a:t>
            </a:r>
            <a:r>
              <a:rPr lang="en-US" altLang="zh-CN" sz="2800" dirty="0">
                <a:latin typeface="宋体" panose="02010600030101010101" pitchFamily="2" charset="-122"/>
              </a:rPr>
              <a:t>B</a:t>
            </a:r>
            <a:r>
              <a:rPr lang="zh-CN" altLang="en-US" sz="2800" dirty="0">
                <a:latin typeface="宋体" panose="02010600030101010101" pitchFamily="2" charset="-122"/>
              </a:rPr>
              <a:t>在</a:t>
            </a:r>
            <a:r>
              <a:rPr lang="en-US" altLang="zh-CN" sz="2800" dirty="0">
                <a:latin typeface="宋体" panose="02010600030101010101" pitchFamily="2" charset="-122"/>
              </a:rPr>
              <a:t>Z</a:t>
            </a:r>
            <a:r>
              <a:rPr lang="zh-CN" altLang="en-US" sz="2800" dirty="0">
                <a:latin typeface="宋体" panose="02010600030101010101" pitchFamily="2" charset="-122"/>
              </a:rPr>
              <a:t>中，则</a:t>
            </a:r>
            <a:r>
              <a:rPr lang="en-US" altLang="zh-CN" sz="2800" dirty="0">
                <a:latin typeface="宋体" panose="02010600030101010101" pitchFamily="2" charset="-122"/>
              </a:rPr>
              <a:t>D→t</a:t>
            </a:r>
            <a:r>
              <a:rPr lang="zh-CN" altLang="en-US" sz="2800" dirty="0">
                <a:latin typeface="宋体" panose="02010600030101010101" pitchFamily="2" charset="-122"/>
              </a:rPr>
              <a:t>在</a:t>
            </a:r>
            <a:r>
              <a:rPr lang="en-US" altLang="zh-CN" sz="2800" dirty="0">
                <a:latin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</a:rPr>
              <a:t>中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100354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/>
              <a:t>词法分析程序的设计技术可应用于其它领域，比如查询语言以及信息检索系统等，这种应用领域的程序设计特点是，通过字符串模式的匹配来引发动作</a:t>
            </a:r>
            <a:endParaRPr lang="zh-CN" altLang="en-US" sz="2400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又如</a:t>
            </a:r>
            <a:r>
              <a:rPr lang="en-US" altLang="zh-CN" sz="2400" dirty="0"/>
              <a:t>LEX，</a:t>
            </a:r>
            <a:r>
              <a:rPr lang="zh-CN" altLang="en-US" sz="2400" dirty="0"/>
              <a:t>说明词法分析程序的语言，可以看成是一个模式动作语言。</a:t>
            </a:r>
            <a:endParaRPr lang="zh-CN" altLang="en-US" sz="2400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/>
              <a:t>词法分析程序的自动构造工具也广泛应用于许多方面，如用以生成一个程序，可识别印刷电路板中的缺陷，又如开关线路设计和文本编辑的自动生成等。 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本章小结</a:t>
            </a:r>
            <a:endParaRPr lang="zh-CN" altLang="en-US" dirty="0"/>
          </a:p>
        </p:txBody>
      </p:sp>
      <p:sp>
        <p:nvSpPr>
          <p:cNvPr id="10137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dirty="0"/>
              <a:t>           词法分析程序是编译第一阶段的工作，它读入字符流的源程序，按照词法规则识别单词，交由语法分析程序接下去。</a:t>
            </a:r>
            <a:endParaRPr lang="zh-CN" altLang="en-US" sz="2800" dirty="0"/>
          </a:p>
          <a:p>
            <a:pPr eaLnBrk="1" hangingPunct="1">
              <a:buNone/>
            </a:pPr>
            <a:r>
              <a:rPr lang="zh-CN" altLang="en-US" sz="2800" dirty="0"/>
              <a:t>           本章讲述了词法分析程序设计原则，并介绍了分别作为正规集描述和识别机制的正规式和有穷动机。在此基础上给出了词法分析程序自动构造工具如</a:t>
            </a:r>
            <a:r>
              <a:rPr lang="en-US" altLang="zh-CN" sz="2800" dirty="0"/>
              <a:t>LEX</a:t>
            </a:r>
            <a:r>
              <a:rPr lang="zh-CN" altLang="en-US" sz="2800" dirty="0"/>
              <a:t>的原理。</a:t>
            </a:r>
            <a:endParaRPr lang="zh-CN" altLang="en-US" sz="2800" dirty="0"/>
          </a:p>
          <a:p>
            <a:pPr eaLnBrk="1" hangingPunct="1">
              <a:buNone/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1" name="Rectangle 2"/>
          <p:cNvSpPr>
            <a:spLocks noGrp="1"/>
          </p:cNvSpPr>
          <p:nvPr>
            <p:ph type="title"/>
          </p:nvPr>
        </p:nvSpPr>
        <p:spPr>
          <a:xfrm>
            <a:off x="914400" y="457200"/>
            <a:ext cx="7848600" cy="457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识别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PL/0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单词的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DFA</a:t>
            </a:r>
            <a:endParaRPr lang="en-US" altLang="zh-CN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02402" name="Picture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" y="877888"/>
            <a:ext cx="8839200" cy="5980112"/>
          </a:xfr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DQ2OWFiMTE1N2EyZmRkNmYzODI2ZTI4ZjdmNTNkMWIifQ=="/>
</p:tagLst>
</file>

<file path=ppt/theme/theme1.xml><?xml version="1.0" encoding="utf-8"?>
<a:theme xmlns:a="http://schemas.openxmlformats.org/drawingml/2006/main" name="简洁型模板">
  <a:themeElements>
    <a:clrScheme name="简洁型模板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简洁型模板">
      <a:majorFont>
        <a:latin typeface="Arial Black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Monotype Sorts" pitchFamily="2" charset="2"/>
          <a:buChar char="z"/>
          <a:defRPr kumimoji="1" lang="en-US" sz="32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Monotype Sorts" pitchFamily="2" charset="2"/>
          <a:buChar char="z"/>
          <a:defRPr kumimoji="1" lang="en-US" sz="32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简洁型模板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简洁型模板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洁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洁型模板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洁型模板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洁型模板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简洁型模板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简洁型模板">
  <a:themeElements>
    <a:clrScheme name="简洁型模板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简洁型模板">
      <a:majorFont>
        <a:latin typeface="Arial Black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Monotype Sorts" pitchFamily="2" charset="2"/>
          <a:buChar char="z"/>
          <a:defRPr kumimoji="1" lang="en-US" sz="32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Monotype Sorts" pitchFamily="2" charset="2"/>
          <a:buChar char="z"/>
          <a:defRPr kumimoji="1" lang="en-US" sz="32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简洁型模板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简洁型模板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洁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洁型模板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洁型模板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洁型模板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简洁型模板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编译原理</Template>
  <TotalTime>0</TotalTime>
  <Words>8119</Words>
  <Application>WPS 演示</Application>
  <PresentationFormat/>
  <Paragraphs>1364</Paragraphs>
  <Slides>58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58</vt:i4>
      </vt:variant>
    </vt:vector>
  </HeadingPairs>
  <TitlesOfParts>
    <vt:vector size="91" baseType="lpstr">
      <vt:lpstr>Arial</vt:lpstr>
      <vt:lpstr>宋体</vt:lpstr>
      <vt:lpstr>Wingdings</vt:lpstr>
      <vt:lpstr>Monotype Sorts</vt:lpstr>
      <vt:lpstr>Wingdings</vt:lpstr>
      <vt:lpstr>Tahoma</vt:lpstr>
      <vt:lpstr>Arial Black</vt:lpstr>
      <vt:lpstr>Times New Roman</vt:lpstr>
      <vt:lpstr>Symbol</vt:lpstr>
      <vt:lpstr>黑体</vt:lpstr>
      <vt:lpstr>方正舒体</vt:lpstr>
      <vt:lpstr>微软雅黑</vt:lpstr>
      <vt:lpstr>Arial Unicode MS</vt:lpstr>
      <vt:lpstr>Courier</vt:lpstr>
      <vt:lpstr>Courier New</vt:lpstr>
      <vt:lpstr>华文行楷</vt:lpstr>
      <vt:lpstr>楷体_GB2312</vt:lpstr>
      <vt:lpstr>新宋体</vt:lpstr>
      <vt:lpstr>简洁型模板</vt:lpstr>
      <vt:lpstr>1_简洁型模板</vt:lpstr>
      <vt:lpstr>Excel.Sheet.8</vt:lpstr>
      <vt:lpstr>Excel.Sheet.8</vt:lpstr>
      <vt:lpstr>Excel.Sheet.8</vt:lpstr>
      <vt:lpstr>Word.Document.8</vt:lpstr>
      <vt:lpstr>Word.Document.8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确定的有穷自动机DFA</vt:lpstr>
      <vt:lpstr>DFA定义</vt:lpstr>
      <vt:lpstr>一个DFA 的例子：</vt:lpstr>
      <vt:lpstr> DFA 的状态图表示</vt:lpstr>
      <vt:lpstr>DFA 的矩阵表示</vt:lpstr>
      <vt:lpstr>  为了说明DFA如何作为一种识别机制,我们还要理解下面的定义</vt:lpstr>
      <vt:lpstr>PowerPoint 演示文稿</vt:lpstr>
      <vt:lpstr>∑*上的符号串t被DFA M接受</vt:lpstr>
      <vt:lpstr> </vt:lpstr>
      <vt:lpstr>PowerPoint 演示文稿</vt:lpstr>
      <vt:lpstr>PowerPoint 演示文稿</vt:lpstr>
      <vt:lpstr>DFA                         å = {digit,not digit} </vt:lpstr>
      <vt:lpstr>不确定的有穷自动机NFA</vt:lpstr>
      <vt:lpstr>PowerPoint 演示文稿</vt:lpstr>
      <vt:lpstr> </vt:lpstr>
      <vt:lpstr>矩阵表示</vt:lpstr>
      <vt:lpstr>具有转移的不确定的有穷自动机</vt:lpstr>
      <vt:lpstr>有如下定理:</vt:lpstr>
      <vt:lpstr>类似DFA, 对NFA M=K，，f，S，Z也有如下定义</vt:lpstr>
      <vt:lpstr>  ∑*上的符号串t被NFA M接受也可以这样理解 </vt:lpstr>
      <vt:lpstr> </vt:lpstr>
      <vt:lpstr>词法分析程序的自动构造</vt:lpstr>
      <vt:lpstr>对于正规式R=  ,构造的NFA</vt:lpstr>
      <vt:lpstr>对于正规式R=,构造的NFA</vt:lpstr>
      <vt:lpstr>对于正规式R=a ,构造的NFA</vt:lpstr>
      <vt:lpstr>对于正规式r, r= s|t构造的NFA</vt:lpstr>
      <vt:lpstr>对于正规式r, r=st构造的NFA</vt:lpstr>
      <vt:lpstr>对于正规式r, r=s*构造的NFA</vt:lpstr>
      <vt:lpstr>PowerPoint 演示文稿</vt:lpstr>
      <vt:lpstr>PowerPoint 演示文稿</vt:lpstr>
      <vt:lpstr>例、由正规式构造NFA</vt:lpstr>
      <vt:lpstr>PowerPoint 演示文稿</vt:lpstr>
      <vt:lpstr>R=(a|ab)* b b*</vt:lpstr>
      <vt:lpstr>  NFA确定化算法</vt:lpstr>
      <vt:lpstr>PowerPoint 演示文稿</vt:lpstr>
      <vt:lpstr>PowerPoint 演示文稿</vt:lpstr>
      <vt:lpstr>状态集合I的有关运算的例子</vt:lpstr>
      <vt:lpstr>PowerPoint 演示文稿</vt:lpstr>
      <vt:lpstr>PowerPoint 演示文稿</vt:lpstr>
      <vt:lpstr>对带空边的NFA的变换－子集构造法</vt:lpstr>
      <vt:lpstr>PowerPoint 演示文稿</vt:lpstr>
      <vt:lpstr>PowerPoint 演示文稿</vt:lpstr>
      <vt:lpstr>PowerPoint 演示文稿</vt:lpstr>
      <vt:lpstr>  NFA的确定化 </vt:lpstr>
      <vt:lpstr>PowerPoint 演示文稿</vt:lpstr>
      <vt:lpstr>  等价的DFA</vt:lpstr>
      <vt:lpstr>  DFA的最小化</vt:lpstr>
      <vt:lpstr>正规文法和正规式  对上的正规式r ,存在一个RG=(VN,VT,P,S)：L(G)=L(r)</vt:lpstr>
      <vt:lpstr>例	 r=a(ad)</vt:lpstr>
      <vt:lpstr>正规文法和正规式  对G=(VN,VT,P,S),存在一个 =VT上的正规式r : L(r)=L(G)</vt:lpstr>
      <vt:lpstr>正规文法和正规式 </vt:lpstr>
      <vt:lpstr>3型文法和有穷自动机（FA）</vt:lpstr>
      <vt:lpstr>                                                                                        3型文法产生的语言是有穷自动机（FA）所接受的集合.</vt:lpstr>
      <vt:lpstr>3型文法   和 有穷自动机（FA）</vt:lpstr>
      <vt:lpstr>3型文法   和 有穷自动机（FA）</vt:lpstr>
      <vt:lpstr>PowerPoint 演示文稿</vt:lpstr>
      <vt:lpstr>本章小结</vt:lpstr>
      <vt:lpstr>识别PL/0单词的DFA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词法分析</dc:title>
  <dc:creator>四海浪游人</dc:creator>
  <cp:lastModifiedBy>panyun</cp:lastModifiedBy>
  <cp:revision>380</cp:revision>
  <cp:lastPrinted>2000-09-15T19:29:00Z</cp:lastPrinted>
  <dcterms:created xsi:type="dcterms:W3CDTF">1999-09-07T23:35:00Z</dcterms:created>
  <dcterms:modified xsi:type="dcterms:W3CDTF">2024-09-24T02:27:16Z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3E7269E7EA484A75A7A1E0752E7FB2CB_13</vt:lpwstr>
  </property>
</Properties>
</file>